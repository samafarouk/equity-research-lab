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67707" y="800100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0" y="0"/>
                </a:moveTo>
                <a:lnTo>
                  <a:pt x="15989935" y="0"/>
                </a:lnTo>
              </a:path>
            </a:pathLst>
          </a:custGeom>
          <a:ln w="25399">
            <a:solidFill>
              <a:srgbClr val="244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349307"/>
            <a:ext cx="18288000" cy="93769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9349307"/>
            <a:ext cx="8471535" cy="937894"/>
          </a:xfrm>
          <a:custGeom>
            <a:avLst/>
            <a:gdLst/>
            <a:ahLst/>
            <a:cxnLst/>
            <a:rect l="l" t="t" r="r" b="b"/>
            <a:pathLst>
              <a:path w="8471535" h="937895">
                <a:moveTo>
                  <a:pt x="1851177" y="481609"/>
                </a:moveTo>
                <a:lnTo>
                  <a:pt x="1396225" y="0"/>
                </a:lnTo>
                <a:lnTo>
                  <a:pt x="0" y="0"/>
                </a:lnTo>
                <a:lnTo>
                  <a:pt x="0" y="937691"/>
                </a:lnTo>
                <a:lnTo>
                  <a:pt x="1420317" y="937691"/>
                </a:lnTo>
                <a:lnTo>
                  <a:pt x="1851177" y="481609"/>
                </a:lnTo>
                <a:close/>
              </a:path>
              <a:path w="8471535" h="937895">
                <a:moveTo>
                  <a:pt x="3527742" y="481609"/>
                </a:moveTo>
                <a:lnTo>
                  <a:pt x="3072790" y="0"/>
                </a:lnTo>
                <a:lnTo>
                  <a:pt x="1519453" y="0"/>
                </a:lnTo>
                <a:lnTo>
                  <a:pt x="1974405" y="481609"/>
                </a:lnTo>
                <a:lnTo>
                  <a:pt x="1543545" y="937691"/>
                </a:lnTo>
                <a:lnTo>
                  <a:pt x="3096882" y="937691"/>
                </a:lnTo>
                <a:lnTo>
                  <a:pt x="3527742" y="481609"/>
                </a:lnTo>
                <a:close/>
              </a:path>
              <a:path w="8471535" h="937895">
                <a:moveTo>
                  <a:pt x="5245468" y="481609"/>
                </a:moveTo>
                <a:lnTo>
                  <a:pt x="4790503" y="0"/>
                </a:lnTo>
                <a:lnTo>
                  <a:pt x="3199714" y="0"/>
                </a:lnTo>
                <a:lnTo>
                  <a:pt x="3654679" y="481609"/>
                </a:lnTo>
                <a:lnTo>
                  <a:pt x="3223818" y="937691"/>
                </a:lnTo>
                <a:lnTo>
                  <a:pt x="4814608" y="937691"/>
                </a:lnTo>
                <a:lnTo>
                  <a:pt x="5245468" y="481609"/>
                </a:lnTo>
                <a:close/>
              </a:path>
              <a:path w="8471535" h="937895">
                <a:moveTo>
                  <a:pt x="6928790" y="481609"/>
                </a:moveTo>
                <a:lnTo>
                  <a:pt x="6473825" y="0"/>
                </a:lnTo>
                <a:lnTo>
                  <a:pt x="4916475" y="0"/>
                </a:lnTo>
                <a:lnTo>
                  <a:pt x="5371427" y="481609"/>
                </a:lnTo>
                <a:lnTo>
                  <a:pt x="4940566" y="937691"/>
                </a:lnTo>
                <a:lnTo>
                  <a:pt x="6497917" y="937691"/>
                </a:lnTo>
                <a:lnTo>
                  <a:pt x="6928790" y="481609"/>
                </a:lnTo>
                <a:close/>
              </a:path>
              <a:path w="8471535" h="937895">
                <a:moveTo>
                  <a:pt x="8471154" y="481609"/>
                </a:moveTo>
                <a:lnTo>
                  <a:pt x="8016202" y="0"/>
                </a:lnTo>
                <a:lnTo>
                  <a:pt x="6594818" y="0"/>
                </a:lnTo>
                <a:lnTo>
                  <a:pt x="7049783" y="481609"/>
                </a:lnTo>
                <a:lnTo>
                  <a:pt x="6618922" y="937691"/>
                </a:lnTo>
                <a:lnTo>
                  <a:pt x="8040306" y="937691"/>
                </a:lnTo>
                <a:lnTo>
                  <a:pt x="8471154" y="481609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166950" y="9349307"/>
            <a:ext cx="4658360" cy="937894"/>
          </a:xfrm>
          <a:custGeom>
            <a:avLst/>
            <a:gdLst/>
            <a:ahLst/>
            <a:cxnLst/>
            <a:rect l="l" t="t" r="r" b="b"/>
            <a:pathLst>
              <a:path w="4658359" h="937895">
                <a:moveTo>
                  <a:pt x="4202938" y="0"/>
                </a:moveTo>
                <a:lnTo>
                  <a:pt x="0" y="0"/>
                </a:lnTo>
                <a:lnTo>
                  <a:pt x="454957" y="481609"/>
                </a:lnTo>
                <a:lnTo>
                  <a:pt x="24102" y="937691"/>
                </a:lnTo>
                <a:lnTo>
                  <a:pt x="4227041" y="937691"/>
                </a:lnTo>
                <a:lnTo>
                  <a:pt x="4657902" y="481609"/>
                </a:lnTo>
                <a:lnTo>
                  <a:pt x="4202938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7707" y="9520503"/>
            <a:ext cx="810684" cy="6242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31275" y="9500425"/>
            <a:ext cx="584650" cy="66437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82297" y="9470681"/>
            <a:ext cx="679126" cy="76306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65549" y="9475558"/>
            <a:ext cx="714113" cy="71410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78878" y="9470681"/>
            <a:ext cx="737426" cy="71898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807983" y="9470681"/>
            <a:ext cx="560812" cy="718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9487" y="1016123"/>
            <a:ext cx="14768830" cy="89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7363" y="2576538"/>
            <a:ext cx="15144750" cy="6125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3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2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29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2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2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43.png"/><Relationship Id="rId8" Type="http://schemas.openxmlformats.org/officeDocument/2006/relationships/image" Target="../media/image45.png"/><Relationship Id="rId9" Type="http://schemas.openxmlformats.org/officeDocument/2006/relationships/image" Target="../media/image44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8.png"/><Relationship Id="rId10" Type="http://schemas.openxmlformats.org/officeDocument/2006/relationships/image" Target="../media/image77.png"/><Relationship Id="rId11" Type="http://schemas.openxmlformats.org/officeDocument/2006/relationships/image" Target="../media/image7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77.png"/><Relationship Id="rId9" Type="http://schemas.openxmlformats.org/officeDocument/2006/relationships/image" Target="../media/image7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77.png"/><Relationship Id="rId8" Type="http://schemas.openxmlformats.org/officeDocument/2006/relationships/image" Target="../media/image79.png"/><Relationship Id="rId9" Type="http://schemas.openxmlformats.org/officeDocument/2006/relationships/image" Target="../media/image8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2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Relationship Id="rId16" Type="http://schemas.openxmlformats.org/officeDocument/2006/relationships/image" Target="../media/image102.png"/><Relationship Id="rId17" Type="http://schemas.openxmlformats.org/officeDocument/2006/relationships/image" Target="../media/image103.png"/><Relationship Id="rId18" Type="http://schemas.openxmlformats.org/officeDocument/2006/relationships/image" Target="../media/image104.png"/><Relationship Id="rId19" Type="http://schemas.openxmlformats.org/officeDocument/2006/relationships/image" Target="../media/image105.png"/><Relationship Id="rId20" Type="http://schemas.openxmlformats.org/officeDocument/2006/relationships/image" Target="../media/image106.png"/><Relationship Id="rId21" Type="http://schemas.openxmlformats.org/officeDocument/2006/relationships/image" Target="../media/image107.png"/><Relationship Id="rId22" Type="http://schemas.openxmlformats.org/officeDocument/2006/relationships/image" Target="../media/image108.png"/><Relationship Id="rId23" Type="http://schemas.openxmlformats.org/officeDocument/2006/relationships/image" Target="../media/image109.png"/><Relationship Id="rId24" Type="http://schemas.openxmlformats.org/officeDocument/2006/relationships/image" Target="../media/image110.png"/><Relationship Id="rId25" Type="http://schemas.openxmlformats.org/officeDocument/2006/relationships/image" Target="../media/image111.png"/><Relationship Id="rId26" Type="http://schemas.openxmlformats.org/officeDocument/2006/relationships/image" Target="../media/image112.png"/><Relationship Id="rId27" Type="http://schemas.openxmlformats.org/officeDocument/2006/relationships/image" Target="../media/image113.png"/><Relationship Id="rId28" Type="http://schemas.openxmlformats.org/officeDocument/2006/relationships/image" Target="../media/image114.png"/><Relationship Id="rId29" Type="http://schemas.openxmlformats.org/officeDocument/2006/relationships/image" Target="../media/image11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2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3.png"/><Relationship Id="rId7" Type="http://schemas.openxmlformats.org/officeDocument/2006/relationships/image" Target="../media/image92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Relationship Id="rId15" Type="http://schemas.openxmlformats.org/officeDocument/2006/relationships/image" Target="../media/image121.png"/><Relationship Id="rId16" Type="http://schemas.openxmlformats.org/officeDocument/2006/relationships/image" Target="../media/image12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2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128.png"/><Relationship Id="rId16" Type="http://schemas.openxmlformats.org/officeDocument/2006/relationships/image" Target="../media/image129.png"/><Relationship Id="rId17" Type="http://schemas.openxmlformats.org/officeDocument/2006/relationships/image" Target="../media/image13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8.png"/><Relationship Id="rId4" Type="http://schemas.openxmlformats.org/officeDocument/2006/relationships/image" Target="../media/image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5.png"/><Relationship Id="rId8" Type="http://schemas.openxmlformats.org/officeDocument/2006/relationships/image" Target="../media/image134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39.png"/><Relationship Id="rId4" Type="http://schemas.openxmlformats.org/officeDocument/2006/relationships/image" Target="../media/image1.png"/><Relationship Id="rId5" Type="http://schemas.openxmlformats.org/officeDocument/2006/relationships/image" Target="../media/image133.png"/><Relationship Id="rId6" Type="http://schemas.openxmlformats.org/officeDocument/2006/relationships/image" Target="../media/image132.png"/><Relationship Id="rId7" Type="http://schemas.openxmlformats.org/officeDocument/2006/relationships/image" Target="../media/image134.png"/><Relationship Id="rId8" Type="http://schemas.openxmlformats.org/officeDocument/2006/relationships/image" Target="../media/image136.png"/><Relationship Id="rId9" Type="http://schemas.openxmlformats.org/officeDocument/2006/relationships/image" Target="../media/image135.png"/><Relationship Id="rId10" Type="http://schemas.openxmlformats.org/officeDocument/2006/relationships/image" Target="../media/image13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19.xml"/><Relationship Id="rId18" Type="http://schemas.openxmlformats.org/officeDocument/2006/relationships/slide" Target="slide21.xml"/><Relationship Id="rId19" Type="http://schemas.openxmlformats.org/officeDocument/2006/relationships/slide" Target="slide20.xml"/><Relationship Id="rId20" Type="http://schemas.openxmlformats.org/officeDocument/2006/relationships/slide" Target="slide22.xml"/><Relationship Id="rId21" Type="http://schemas.openxmlformats.org/officeDocument/2006/relationships/slide" Target="slide49.xml"/><Relationship Id="rId22" Type="http://schemas.openxmlformats.org/officeDocument/2006/relationships/slide" Target="slide24.xml"/><Relationship Id="rId23" Type="http://schemas.openxmlformats.org/officeDocument/2006/relationships/slide" Target="slide26.xml"/><Relationship Id="rId24" Type="http://schemas.openxmlformats.org/officeDocument/2006/relationships/slide" Target="slide27.xml"/><Relationship Id="rId25" Type="http://schemas.openxmlformats.org/officeDocument/2006/relationships/slide" Target="slide11.xml"/><Relationship Id="rId26" Type="http://schemas.openxmlformats.org/officeDocument/2006/relationships/slide" Target="slide28.xml"/><Relationship Id="rId27" Type="http://schemas.openxmlformats.org/officeDocument/2006/relationships/slide" Target="slide29.xml"/><Relationship Id="rId28" Type="http://schemas.openxmlformats.org/officeDocument/2006/relationships/slide" Target="slide30.xml"/><Relationship Id="rId29" Type="http://schemas.openxmlformats.org/officeDocument/2006/relationships/slide" Target="slide31.xml"/><Relationship Id="rId30" Type="http://schemas.openxmlformats.org/officeDocument/2006/relationships/slide" Target="slide32.xml"/><Relationship Id="rId31" Type="http://schemas.openxmlformats.org/officeDocument/2006/relationships/slide" Target="slide33.xml"/><Relationship Id="rId32" Type="http://schemas.openxmlformats.org/officeDocument/2006/relationships/slide" Target="slide34.xml"/><Relationship Id="rId33" Type="http://schemas.openxmlformats.org/officeDocument/2006/relationships/slide" Target="slide35.xml"/><Relationship Id="rId34" Type="http://schemas.openxmlformats.org/officeDocument/2006/relationships/slide" Target="slide36.xml"/><Relationship Id="rId35" Type="http://schemas.openxmlformats.org/officeDocument/2006/relationships/slide" Target="slide37.xml"/><Relationship Id="rId36" Type="http://schemas.openxmlformats.org/officeDocument/2006/relationships/slide" Target="slide38.xml"/><Relationship Id="rId37" Type="http://schemas.openxmlformats.org/officeDocument/2006/relationships/slide" Target="slide41.xml"/><Relationship Id="rId38" Type="http://schemas.openxmlformats.org/officeDocument/2006/relationships/slide" Target="slide42.xml"/><Relationship Id="rId39" Type="http://schemas.openxmlformats.org/officeDocument/2006/relationships/slide" Target="slide43.xml"/><Relationship Id="rId40" Type="http://schemas.openxmlformats.org/officeDocument/2006/relationships/slide" Target="slide44.xml"/><Relationship Id="rId41" Type="http://schemas.openxmlformats.org/officeDocument/2006/relationships/slide" Target="slide45.xml"/><Relationship Id="rId42" Type="http://schemas.openxmlformats.org/officeDocument/2006/relationships/slide" Target="slide46.xml"/><Relationship Id="rId43" Type="http://schemas.openxmlformats.org/officeDocument/2006/relationships/slide" Target="slide47.xml"/><Relationship Id="rId44" Type="http://schemas.openxmlformats.org/officeDocument/2006/relationships/slide" Target="slide48.xml"/><Relationship Id="rId45" Type="http://schemas.openxmlformats.org/officeDocument/2006/relationships/slide" Target="slide53.xml"/><Relationship Id="rId46" Type="http://schemas.openxmlformats.org/officeDocument/2006/relationships/image" Target="../media/image140.png"/><Relationship Id="rId47" Type="http://schemas.openxmlformats.org/officeDocument/2006/relationships/image" Target="../media/image2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14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7.png"/><Relationship Id="rId10" Type="http://schemas.openxmlformats.org/officeDocument/2006/relationships/image" Target="../media/image2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8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environdec.com/library/epd12619" TargetMode="External"/><Relationship Id="rId3" Type="http://schemas.openxmlformats.org/officeDocument/2006/relationships/hyperlink" Target="https://www.environdec.com/library/epd12620" TargetMode="External"/><Relationship Id="rId4" Type="http://schemas.openxmlformats.org/officeDocument/2006/relationships/hyperlink" Target="https://arabiancementcompany.com/wp-content/uploads/2025/12/F049-23-Sustainability-Report-2024.pdf" TargetMode="External"/><Relationship Id="rId5" Type="http://schemas.openxmlformats.org/officeDocument/2006/relationships/hyperlink" Target="https://cdm.unfccc.int/Projects/DB/RWTUV1356603354.08/view" TargetMode="External"/><Relationship Id="rId6" Type="http://schemas.openxmlformats.org/officeDocument/2006/relationships/hyperlink" Target="https://egx.com.eg/downloads/Bulletins/339125_1.pdf" TargetMode="External"/><Relationship Id="rId7" Type="http://schemas.openxmlformats.org/officeDocument/2006/relationships/hyperlink" Target="https://www.environdec.com/library/epd12618" TargetMode="External"/><Relationship Id="rId8" Type="http://schemas.openxmlformats.org/officeDocument/2006/relationships/hyperlink" Target="https://www.hc-si.com/hc-arabian-cement-shows-agility-amid-changing-industry-dynamics" TargetMode="External"/><Relationship Id="rId9" Type="http://schemas.openxmlformats.org/officeDocument/2006/relationships/hyperlink" Target="https://taxation-customs.ec.europa.eu/carbon-border-adjustment-mechanism/price-cbam-certificates_en" TargetMode="External"/><Relationship Id="rId10" Type="http://schemas.openxmlformats.org/officeDocument/2006/relationships/hyperlink" Target="https://www.cbe.org.eg/en/economic-research/statistics/exchange-rates" TargetMode="External"/><Relationship Id="rId11" Type="http://schemas.openxmlformats.org/officeDocument/2006/relationships/hyperlink" Target="https://a3cement.com/article/latest-thinking/260/decarbonizing-arabian-cement-a-data-driven-model" TargetMode="External"/><Relationship Id="rId12" Type="http://schemas.openxmlformats.org/officeDocument/2006/relationships/hyperlink" Target="https://gmk.center/en/infographic/carbon-price-in-the-eu-ets-to-hit-e126-t-by-2030/" TargetMode="External"/><Relationship Id="rId13" Type="http://schemas.openxmlformats.org/officeDocument/2006/relationships/hyperlink" Target="https://eur-lex.europa.eu/legal-content/EN/TXT/PDF/?uri=CELEX%3A02003L0087-20240301" TargetMode="External"/><Relationship Id="rId14" Type="http://schemas.openxmlformats.org/officeDocument/2006/relationships/image" Target="../media/image148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29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25.png"/><Relationship Id="rId9" Type="http://schemas.openxmlformats.org/officeDocument/2006/relationships/image" Target="../media/image153.png"/><Relationship Id="rId10" Type="http://schemas.openxmlformats.org/officeDocument/2006/relationships/image" Target="../media/image154.png"/><Relationship Id="rId11" Type="http://schemas.openxmlformats.org/officeDocument/2006/relationships/image" Target="../media/image155.png"/><Relationship Id="rId12" Type="http://schemas.openxmlformats.org/officeDocument/2006/relationships/image" Target="../media/image156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5.png"/><Relationship Id="rId17" Type="http://schemas.openxmlformats.org/officeDocument/2006/relationships/image" Target="../media/image6.png"/><Relationship Id="rId18" Type="http://schemas.openxmlformats.org/officeDocument/2006/relationships/image" Target="../media/image4.png"/><Relationship Id="rId19" Type="http://schemas.openxmlformats.org/officeDocument/2006/relationships/image" Target="../media/image7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29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5.png"/><Relationship Id="rId16" Type="http://schemas.openxmlformats.org/officeDocument/2006/relationships/image" Target="../media/image4.png"/><Relationship Id="rId17" Type="http://schemas.openxmlformats.org/officeDocument/2006/relationships/image" Target="../media/image6.png"/><Relationship Id="rId18" Type="http://schemas.openxmlformats.org/officeDocument/2006/relationships/image" Target="../media/image7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nglish.mubasher.info/markets/EGX/stocks/ARCC/profile?utm_source=chatgpt.com" TargetMode="External"/><Relationship Id="rId3" Type="http://schemas.openxmlformats.org/officeDocument/2006/relationships/hyperlink" Target="https://arabiancementcompany.com/sustainable-development/?utm_source=chatgpt.com" TargetMode="External"/><Relationship Id="rId4" Type="http://schemas.openxmlformats.org/officeDocument/2006/relationships/hyperlink" Target="https://static.mubasher.info/File.Mix_Announcement_File/5014E66E-60E3-40E6-B3B6-C398065B7E98.pdf?utm_source=chatgpt.com" TargetMode="External"/><Relationship Id="rId5" Type="http://schemas.openxmlformats.org/officeDocument/2006/relationships/hyperlink" Target="https://www.almosalah.com/andalus-ready-mix-concrete?utm_source=chatgpt.com" TargetMode="External"/><Relationship Id="rId6" Type="http://schemas.openxmlformats.org/officeDocument/2006/relationships/hyperlink" Target="https://www.almosalah.com/andalus-products--services?utm_source=chatgpt.com" TargetMode="External"/><Relationship Id="rId7" Type="http://schemas.openxmlformats.org/officeDocument/2006/relationships/hyperlink" Target="https://www.almosalah.com/andalus-company-profile?utm_source=chatgpt.com" TargetMode="External"/><Relationship Id="rId8" Type="http://schemas.openxmlformats.org/officeDocument/2006/relationships/hyperlink" Target="https://arabiancementcompany.com/sustainable-development/?tab=management-systems&amp;utm_source=chatgpt.com" TargetMode="External"/><Relationship Id="rId9" Type="http://schemas.openxmlformats.org/officeDocument/2006/relationships/hyperlink" Target="https://egx.com.eg/downloads/Bulletins/339125_1.pdf?utm_source=chatgpt.com" TargetMode="External"/><Relationship Id="rId10" Type="http://schemas.openxmlformats.org/officeDocument/2006/relationships/hyperlink" Target="https://theorg.com/org/arabian-cement-company?utm_source=chatgpt.com" TargetMode="External"/><Relationship Id="rId11" Type="http://schemas.openxmlformats.org/officeDocument/2006/relationships/hyperlink" Target="https://grokipedia.com/page/arabian_cement_co?utm_source=chatgpt.com" TargetMode="External"/><Relationship Id="rId12" Type="http://schemas.openxmlformats.org/officeDocument/2006/relationships/hyperlink" Target="https://www.cemnet.com/News/story/149930/arabian-cement-co-commissions-second-line-egypt.html?utm_source=chatgpt.com" TargetMode="External"/><Relationship Id="rId13" Type="http://schemas.openxmlformats.org/officeDocument/2006/relationships/hyperlink" Target="https://www.worldcement.com/special-reports/14012026/cement-2026-heating-up/?utm_source=chatgpt.com" TargetMode="External"/><Relationship Id="rId14" Type="http://schemas.openxmlformats.org/officeDocument/2006/relationships/hyperlink" Target="https://www.imarcgroup.com/egypt-cement-market?utm_source=chatgpt.com" TargetMode="External"/><Relationship Id="rId15" Type="http://schemas.openxmlformats.org/officeDocument/2006/relationships/hyperlink" Target="https://enterpriseam.com/egypt/inside_industry/how-egypts-cement-industry-is-mapping-out-a-new-international-strategy/?utm_source=chatgpt.com" TargetMode="External"/><Relationship Id="rId16" Type="http://schemas.openxmlformats.org/officeDocument/2006/relationships/hyperlink" Target="https://www.constrack360.com/reportstore/view/egypt-cement-industry-market-size--691?utm_source=chatgpt.com" TargetMode="External"/><Relationship Id="rId17" Type="http://schemas.openxmlformats.org/officeDocument/2006/relationships/hyperlink" Target="https://enterpriseam.com/egypt/inside_industry/how-did-egypts-cement-industry-fare-in-2025-and-whats-next/?utm_source=chatgpt.com" TargetMode="External"/><Relationship Id="rId18" Type="http://schemas.openxmlformats.org/officeDocument/2006/relationships/hyperlink" Target="https://www.cemnet.com/News/story/171872/arabian-cement-exports-advance-49-.html?utm_source=chatgpt.com" TargetMode="External"/><Relationship Id="rId19" Type="http://schemas.openxmlformats.org/officeDocument/2006/relationships/hyperlink" Target="https://vocal.media/futurism/egypt-construction-market-report-2026-2034-infrastructure-demand-and-forecast?utm_source=chatgpt.com" TargetMode="External"/><Relationship Id="rId20" Type="http://schemas.openxmlformats.org/officeDocument/2006/relationships/hyperlink" Target="https://www.businessresearchinsights.com/market-reports/cement-market-117719?utm_source=chatgpt.com" TargetMode="External"/><Relationship Id="rId21" Type="http://schemas.openxmlformats.org/officeDocument/2006/relationships/hyperlink" Target="https://www.cemnet.com/News/story/177710/egypt-s-cement-consumption-expected-to-fall-to-45mt-in-2024.html?utm_source=chatgpt.com" TargetMode="External"/><Relationship Id="rId22" Type="http://schemas.openxmlformats.org/officeDocument/2006/relationships/hyperlink" Target="https://www.cemnet.com/News/story/180742/egypt-s-cement-production-up-18-in-2025.html?utm_source=chatgpt.com" TargetMode="External"/><Relationship Id="rId23" Type="http://schemas.openxmlformats.org/officeDocument/2006/relationships/hyperlink" Target="https://www.globalcement.com/news/analysis/20011-update-on-egypt-october-2025?utm_source=chatgpt.com" TargetMode="External"/><Relationship Id="rId24" Type="http://schemas.openxmlformats.org/officeDocument/2006/relationships/image" Target="../media/image148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ata.worldbank.org/indicator/NY.GDP.MKTP.KD.ZG?locations=EG&amp;utm_source=chatgpt.com" TargetMode="External"/><Relationship Id="rId3" Type="http://schemas.openxmlformats.org/officeDocument/2006/relationships/hyperlink" Target="https://www.statista.com/statistics/377354/inflation-rate-in-egypt/?utm_source=chatgpt.com" TargetMode="External"/><Relationship Id="rId4" Type="http://schemas.openxmlformats.org/officeDocument/2006/relationships/hyperlink" Target="https://www.cbe.org.eg/en/economic-research/statistics/exchange-rates/historical-data?utm_source=chatgpt.com" TargetMode="External"/><Relationship Id="rId5" Type="http://schemas.openxmlformats.org/officeDocument/2006/relationships/hyperlink" Target="https://www.cbe.org.eg/en/economic-research/statistics/exchange-rates?utm_source=chatgpt.com" TargetMode="External"/><Relationship Id="rId6" Type="http://schemas.openxmlformats.org/officeDocument/2006/relationships/hyperlink" Target="https://www.cbe.org.eg/en/economic-research/time-series/downloadlist?category=DEF6421CA1354B128A1113D7A5BBFC66&amp;utm_source=chatgpt.com" TargetMode="External"/><Relationship Id="rId7" Type="http://schemas.openxmlformats.org/officeDocument/2006/relationships/hyperlink" Target="https://tradersunion.com/currencies/forecast/usd-egp/long-term-forecast/?utm_source=chatgpt.com" TargetMode="External"/><Relationship Id="rId8" Type="http://schemas.openxmlformats.org/officeDocument/2006/relationships/hyperlink" Target="https://tradersunion.com/currencies/forecast/eur-egp/long-term-forecast/?utm_source=chatgpt.com" TargetMode="External"/><Relationship Id="rId9" Type="http://schemas.openxmlformats.org/officeDocument/2006/relationships/hyperlink" Target="https://www.investing.com/currencies/usd-egp-historical-data?utm_source=chatgpt.com" TargetMode="External"/><Relationship Id="rId10" Type="http://schemas.openxmlformats.org/officeDocument/2006/relationships/hyperlink" Target="https://www.cmegroup.com/markets/interest-rates/cme-fedwatch-tool.html?utm_source=chatgpt.com" TargetMode="External"/><Relationship Id="rId11" Type="http://schemas.openxmlformats.org/officeDocument/2006/relationships/hyperlink" Target="https://thedocs.worldbank.org/en/doc/18675f1d1639c7a34d463f59263ba0a2-0050012025/world-bank-commodities-price-data-the-pink-sheet?utm_source=chatgpt.com" TargetMode="External"/><Relationship Id="rId12" Type="http://schemas.openxmlformats.org/officeDocument/2006/relationships/hyperlink" Target="https://thedocs.worldbank.org/en/doc/74e8be41ceb20fa0da750cda2f6b9e4e-0050012026/related/CMO-Pink-Sheet-June-2026.pdf?utm_source=chatgpt.com" TargetMode="External"/><Relationship Id="rId13" Type="http://schemas.openxmlformats.org/officeDocument/2006/relationships/hyperlink" Target="https://fred.stlouisfed.org/series/POILBREUSDQ?utm_source=chatgpt.com" TargetMode="External"/><Relationship Id="rId14" Type="http://schemas.openxmlformats.org/officeDocument/2006/relationships/hyperlink" Target="https://www.investing.com/indices/baltic-supramax-historical-data?utm_source=chatgpt.com" TargetMode="External"/><Relationship Id="rId15" Type="http://schemas.openxmlformats.org/officeDocument/2006/relationships/hyperlink" Target="https://www.investing.com/indices/baltic-dry-historical-data?utm_source=chatgpt.com" TargetMode="External"/><Relationship Id="rId16" Type="http://schemas.openxmlformats.org/officeDocument/2006/relationships/hyperlink" Target="https://egyptoil-gas.com/news/egypt-raises-industrial-gas-price-floor-to-6-50-mmbtu/?utm_source=chatgpt.com" TargetMode="External"/><Relationship Id="rId17" Type="http://schemas.openxmlformats.org/officeDocument/2006/relationships/hyperlink" Target="https://manassa.news/en/news/26841?utm_source=chatgpt.com" TargetMode="External"/><Relationship Id="rId18" Type="http://schemas.openxmlformats.org/officeDocument/2006/relationships/hyperlink" Target="https://tradingeconomics.com/egypt/inflation-cpi/news/539201?utm_source=chatgpt.com" TargetMode="External"/><Relationship Id="rId19" Type="http://schemas.openxmlformats.org/officeDocument/2006/relationships/hyperlink" Target="https://j2t.com/solutions/blogview/coal-price-prediction/?utm_source=chatgpt.com" TargetMode="External"/><Relationship Id="rId20" Type="http://schemas.openxmlformats.org/officeDocument/2006/relationships/hyperlink" Target="https://www.mordorintelligence.com/industry-reports/egypt-residential-construction-market?utm_source=chatgpt.com" TargetMode="External"/><Relationship Id="rId21" Type="http://schemas.openxmlformats.org/officeDocument/2006/relationships/hyperlink" Target="https://www.businesswire.com/news/home/20260127687536/en/Egypt-Construction-Industry-Report-2025-Market-Forecast-to-Grow-by-6.4-in-2026-After-4.7-Growth-in-2026---Forecasts-to-2029---ResearchAndMarkets.com?utm_source=chatgpt.com" TargetMode="External"/><Relationship Id="rId22" Type="http://schemas.openxmlformats.org/officeDocument/2006/relationships/hyperlink" Target="https://www.hc-si.com/hc-arabian-cement-shows-agility-amid-changing-industry-dynamics?utm_source=chatgpt.com" TargetMode="External"/><Relationship Id="rId23" Type="http://schemas.openxmlformats.org/officeDocument/2006/relationships/hyperlink" Target="https://www.hc-si.com/arabian-cement-diligently-navigating-headwinds?utm_source=chatgpt.com" TargetMode="External"/><Relationship Id="rId24" Type="http://schemas.openxmlformats.org/officeDocument/2006/relationships/hyperlink" Target="https://simplywall.st/stocks/eg/materials/case-arcc/arabian-cement-companye-shares/future?utm_source=chatgpt.com" TargetMode="External"/><Relationship Id="rId25" Type="http://schemas.openxmlformats.org/officeDocument/2006/relationships/image" Target="../media/image148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abiancementcompany.com/wp-content/uploads/2025/12/F049-23-Sustainability-Report-2024.pdf?utm_source=chatgpt.com" TargetMode="External"/><Relationship Id="rId3" Type="http://schemas.openxmlformats.org/officeDocument/2006/relationships/hyperlink" Target="https://arabiancementcompany.com/products-services/?utm_source=chatgpt.com" TargetMode="External"/><Relationship Id="rId4" Type="http://schemas.openxmlformats.org/officeDocument/2006/relationships/hyperlink" Target="https://www.environdec.com/library/epd12618?utm_source=chatgpt.com" TargetMode="External"/><Relationship Id="rId5" Type="http://schemas.openxmlformats.org/officeDocument/2006/relationships/hyperlink" Target="https://www.environdec.com/library/epd12619?utm_source=chatgpt.com" TargetMode="External"/><Relationship Id="rId6" Type="http://schemas.openxmlformats.org/officeDocument/2006/relationships/hyperlink" Target="https://www.environdec.com/library/epd12620?utm_source=chatgpt.com" TargetMode="External"/><Relationship Id="rId7" Type="http://schemas.openxmlformats.org/officeDocument/2006/relationships/hyperlink" Target="https://taxation-customs.ec.europa.eu/carbon-border-adjustment-mechanism_en?utm_source=chatgpt.com" TargetMode="External"/><Relationship Id="rId8" Type="http://schemas.openxmlformats.org/officeDocument/2006/relationships/hyperlink" Target="https://taxation-customs.ec.europa.eu/carbon-border-adjustment-mechanism/price-cbam-certificates_en?utm_source=chatgpt.com" TargetMode="External"/><Relationship Id="rId9" Type="http://schemas.openxmlformats.org/officeDocument/2006/relationships/hyperlink" Target="https://www.oecd.org/en/blogs/2025/03/eu-carbon-border-adjustment-mechanism-what-is-it-how-does-it-work-and-what-are-the-effects.html?utm_source=chatgpt.com" TargetMode="External"/><Relationship Id="rId10" Type="http://schemas.openxmlformats.org/officeDocument/2006/relationships/hyperlink" Target="https://www.pwc.com/vn/en/publications/2026/carbon-border-adjustment-mechanism.pdf?utm_source=chatgpt.com" TargetMode="External"/><Relationship Id="rId11" Type="http://schemas.openxmlformats.org/officeDocument/2006/relationships/hyperlink" Target="https://eur-lex.europa.eu/legal-content/EN/TXT/PDF/?uri=CELEX%3A02003L0087-20240301&amp;utm_source=chatgpt.com" TargetMode="External"/><Relationship Id="rId12" Type="http://schemas.openxmlformats.org/officeDocument/2006/relationships/hyperlink" Target="https://cbamguide.com/carbon/free-allocation/?utm_source=chatgpt.com" TargetMode="External"/><Relationship Id="rId13" Type="http://schemas.openxmlformats.org/officeDocument/2006/relationships/hyperlink" Target="https://gmk.center/en/infographic/carbon-price-in-the-eu-ets-to-hit-e126-t-by-2030/?utm_source=chatgpt.com" TargetMode="External"/><Relationship Id="rId14" Type="http://schemas.openxmlformats.org/officeDocument/2006/relationships/hyperlink" Target="https://en.wikipedia.org/wiki/EU_Carbon_Border_Adjustment_Mechanism?utm_source=chatgpt.com" TargetMode="External"/><Relationship Id="rId15" Type="http://schemas.openxmlformats.org/officeDocument/2006/relationships/hyperlink" Target="https://en.wikipedia.org/wiki/European_Union_Emissions_Trading_System?utm_source=chatgpt.com" TargetMode="External"/><Relationship Id="rId16" Type="http://schemas.openxmlformats.org/officeDocument/2006/relationships/hyperlink" Target="https://cdm.unfccc.int/Projects/DB/RWTUV1356603354.08/view?utm_source=chatgpt.com" TargetMode="External"/><Relationship Id="rId17" Type="http://schemas.openxmlformats.org/officeDocument/2006/relationships/hyperlink" Target="https://www.ebrd.com/home/work-with-us/projects/psd/55178.html?utm_source=chatgpt.com" TargetMode="External"/><Relationship Id="rId18" Type="http://schemas.openxmlformats.org/officeDocument/2006/relationships/hyperlink" Target="https://www.giz.de/en/downloads/giz-2020_en_guidelines-pre-coprocessing.pdf?utm_source=chatgpt.com" TargetMode="External"/><Relationship Id="rId19" Type="http://schemas.openxmlformats.org/officeDocument/2006/relationships/image" Target="../media/image148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135" y="1672780"/>
            <a:ext cx="16336644" cy="293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100">
                <a:solidFill>
                  <a:srgbClr val="20B95C"/>
                </a:solidFill>
                <a:latin typeface="Impact"/>
                <a:cs typeface="Impact"/>
              </a:rPr>
              <a:t>ARABIAN</a:t>
            </a:r>
            <a:r>
              <a:rPr dirty="0" sz="19100" spc="-500">
                <a:solidFill>
                  <a:srgbClr val="20B95C"/>
                </a:solidFill>
                <a:latin typeface="Impact"/>
                <a:cs typeface="Impact"/>
              </a:rPr>
              <a:t> </a:t>
            </a:r>
            <a:r>
              <a:rPr dirty="0" sz="19100" spc="-10">
                <a:solidFill>
                  <a:srgbClr val="20B95C"/>
                </a:solidFill>
                <a:latin typeface="Impact"/>
                <a:cs typeface="Impact"/>
              </a:rPr>
              <a:t>CEMENT</a:t>
            </a:r>
            <a:endParaRPr sz="19100">
              <a:latin typeface="Impact"/>
              <a:cs typeface="Impac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2547" y="3614610"/>
            <a:ext cx="9343390" cy="293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100" spc="-10">
                <a:solidFill>
                  <a:srgbClr val="20B95C"/>
                </a:solidFill>
                <a:latin typeface="Impact"/>
                <a:cs typeface="Impact"/>
              </a:rPr>
              <a:t>COMAPNY</a:t>
            </a:r>
            <a:endParaRPr sz="19100">
              <a:latin typeface="Impact"/>
              <a:cs typeface="Impac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62246"/>
              <a:ext cx="18288000" cy="57247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537163" cy="32972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4548" y="2153386"/>
              <a:ext cx="16311244" cy="3940175"/>
            </a:xfrm>
            <a:custGeom>
              <a:avLst/>
              <a:gdLst/>
              <a:ahLst/>
              <a:cxnLst/>
              <a:rect l="l" t="t" r="r" b="b"/>
              <a:pathLst>
                <a:path w="16311244" h="3940175">
                  <a:moveTo>
                    <a:pt x="974929" y="40284"/>
                  </a:moveTo>
                  <a:lnTo>
                    <a:pt x="1260273" y="1957793"/>
                  </a:lnTo>
                  <a:lnTo>
                    <a:pt x="749898" y="1957793"/>
                  </a:lnTo>
                  <a:lnTo>
                    <a:pt x="724891" y="1613103"/>
                  </a:lnTo>
                  <a:lnTo>
                    <a:pt x="546101" y="1613103"/>
                  </a:lnTo>
                  <a:lnTo>
                    <a:pt x="516535" y="1957793"/>
                  </a:lnTo>
                  <a:lnTo>
                    <a:pt x="0" y="1957793"/>
                  </a:lnTo>
                  <a:lnTo>
                    <a:pt x="253607" y="40284"/>
                  </a:lnTo>
                  <a:lnTo>
                    <a:pt x="974929" y="40284"/>
                  </a:lnTo>
                  <a:close/>
                </a:path>
                <a:path w="16311244" h="3940175">
                  <a:moveTo>
                    <a:pt x="710807" y="1273175"/>
                  </a:moveTo>
                  <a:lnTo>
                    <a:pt x="706068" y="1231874"/>
                  </a:lnTo>
                  <a:lnTo>
                    <a:pt x="701330" y="1189378"/>
                  </a:lnTo>
                  <a:lnTo>
                    <a:pt x="696591" y="1145686"/>
                  </a:lnTo>
                  <a:lnTo>
                    <a:pt x="691853" y="1100799"/>
                  </a:lnTo>
                  <a:lnTo>
                    <a:pt x="687114" y="1054716"/>
                  </a:lnTo>
                  <a:lnTo>
                    <a:pt x="682376" y="1007437"/>
                  </a:lnTo>
                  <a:lnTo>
                    <a:pt x="677637" y="958963"/>
                  </a:lnTo>
                  <a:lnTo>
                    <a:pt x="672899" y="909294"/>
                  </a:lnTo>
                  <a:lnTo>
                    <a:pt x="668161" y="858429"/>
                  </a:lnTo>
                  <a:lnTo>
                    <a:pt x="663423" y="806369"/>
                  </a:lnTo>
                  <a:lnTo>
                    <a:pt x="658686" y="753114"/>
                  </a:lnTo>
                  <a:lnTo>
                    <a:pt x="653948" y="698663"/>
                  </a:lnTo>
                  <a:lnTo>
                    <a:pt x="649211" y="643018"/>
                  </a:lnTo>
                  <a:lnTo>
                    <a:pt x="644474" y="586176"/>
                  </a:lnTo>
                  <a:lnTo>
                    <a:pt x="639737" y="528140"/>
                  </a:lnTo>
                  <a:lnTo>
                    <a:pt x="635001" y="468909"/>
                  </a:lnTo>
                  <a:lnTo>
                    <a:pt x="625747" y="536465"/>
                  </a:lnTo>
                  <a:lnTo>
                    <a:pt x="616937" y="601716"/>
                  </a:lnTo>
                  <a:lnTo>
                    <a:pt x="608570" y="664662"/>
                  </a:lnTo>
                  <a:lnTo>
                    <a:pt x="600647" y="725302"/>
                  </a:lnTo>
                  <a:lnTo>
                    <a:pt x="593166" y="783638"/>
                  </a:lnTo>
                  <a:lnTo>
                    <a:pt x="586129" y="839668"/>
                  </a:lnTo>
                  <a:lnTo>
                    <a:pt x="579536" y="893393"/>
                  </a:lnTo>
                  <a:lnTo>
                    <a:pt x="573385" y="944813"/>
                  </a:lnTo>
                  <a:lnTo>
                    <a:pt x="567678" y="993927"/>
                  </a:lnTo>
                  <a:lnTo>
                    <a:pt x="562414" y="1040736"/>
                  </a:lnTo>
                  <a:lnTo>
                    <a:pt x="557594" y="1085240"/>
                  </a:lnTo>
                  <a:lnTo>
                    <a:pt x="553217" y="1127438"/>
                  </a:lnTo>
                  <a:lnTo>
                    <a:pt x="549284" y="1167330"/>
                  </a:lnTo>
                  <a:lnTo>
                    <a:pt x="542747" y="1240199"/>
                  </a:lnTo>
                  <a:lnTo>
                    <a:pt x="540144" y="1273175"/>
                  </a:lnTo>
                  <a:lnTo>
                    <a:pt x="710807" y="1273175"/>
                  </a:lnTo>
                  <a:close/>
                </a:path>
                <a:path w="16311244" h="3940175">
                  <a:moveTo>
                    <a:pt x="1345502" y="40284"/>
                  </a:moveTo>
                  <a:lnTo>
                    <a:pt x="1698524" y="40284"/>
                  </a:lnTo>
                  <a:lnTo>
                    <a:pt x="1774155" y="40620"/>
                  </a:lnTo>
                  <a:lnTo>
                    <a:pt x="1844152" y="41627"/>
                  </a:lnTo>
                  <a:lnTo>
                    <a:pt x="1908514" y="43306"/>
                  </a:lnTo>
                  <a:lnTo>
                    <a:pt x="1967242" y="45656"/>
                  </a:lnTo>
                  <a:lnTo>
                    <a:pt x="2020335" y="48678"/>
                  </a:lnTo>
                  <a:lnTo>
                    <a:pt x="2067794" y="52371"/>
                  </a:lnTo>
                  <a:lnTo>
                    <a:pt x="2109618" y="56734"/>
                  </a:lnTo>
                  <a:lnTo>
                    <a:pt x="2176362" y="67475"/>
                  </a:lnTo>
                  <a:lnTo>
                    <a:pt x="2224522" y="81738"/>
                  </a:lnTo>
                  <a:lnTo>
                    <a:pt x="2268981" y="102780"/>
                  </a:lnTo>
                  <a:lnTo>
                    <a:pt x="2309741" y="130600"/>
                  </a:lnTo>
                  <a:lnTo>
                    <a:pt x="2346800" y="165200"/>
                  </a:lnTo>
                  <a:lnTo>
                    <a:pt x="2380159" y="206578"/>
                  </a:lnTo>
                  <a:lnTo>
                    <a:pt x="2401058" y="241276"/>
                  </a:lnTo>
                  <a:lnTo>
                    <a:pt x="2418742" y="281417"/>
                  </a:lnTo>
                  <a:lnTo>
                    <a:pt x="2433211" y="327001"/>
                  </a:lnTo>
                  <a:lnTo>
                    <a:pt x="2444466" y="378028"/>
                  </a:lnTo>
                  <a:lnTo>
                    <a:pt x="2452505" y="434497"/>
                  </a:lnTo>
                  <a:lnTo>
                    <a:pt x="2457329" y="496410"/>
                  </a:lnTo>
                  <a:lnTo>
                    <a:pt x="2458937" y="563765"/>
                  </a:lnTo>
                  <a:lnTo>
                    <a:pt x="2457388" y="634299"/>
                  </a:lnTo>
                  <a:lnTo>
                    <a:pt x="2452742" y="696675"/>
                  </a:lnTo>
                  <a:lnTo>
                    <a:pt x="2444998" y="750893"/>
                  </a:lnTo>
                  <a:lnTo>
                    <a:pt x="2434156" y="796954"/>
                  </a:lnTo>
                  <a:lnTo>
                    <a:pt x="2420213" y="834857"/>
                  </a:lnTo>
                  <a:lnTo>
                    <a:pt x="2376632" y="892928"/>
                  </a:lnTo>
                  <a:lnTo>
                    <a:pt x="2341455" y="916317"/>
                  </a:lnTo>
                  <a:lnTo>
                    <a:pt x="2297640" y="934771"/>
                  </a:lnTo>
                  <a:lnTo>
                    <a:pt x="2245187" y="948288"/>
                  </a:lnTo>
                  <a:lnTo>
                    <a:pt x="2184096" y="956868"/>
                  </a:lnTo>
                  <a:lnTo>
                    <a:pt x="2239429" y="972553"/>
                  </a:lnTo>
                  <a:lnTo>
                    <a:pt x="2286999" y="990239"/>
                  </a:lnTo>
                  <a:lnTo>
                    <a:pt x="2326806" y="1009925"/>
                  </a:lnTo>
                  <a:lnTo>
                    <a:pt x="2358850" y="1031611"/>
                  </a:lnTo>
                  <a:lnTo>
                    <a:pt x="2406212" y="1085430"/>
                  </a:lnTo>
                  <a:lnTo>
                    <a:pt x="2437868" y="1141984"/>
                  </a:lnTo>
                  <a:lnTo>
                    <a:pt x="2450258" y="1190554"/>
                  </a:lnTo>
                  <a:lnTo>
                    <a:pt x="2455812" y="1264993"/>
                  </a:lnTo>
                  <a:lnTo>
                    <a:pt x="2457548" y="1317277"/>
                  </a:lnTo>
                  <a:lnTo>
                    <a:pt x="2458590" y="1379606"/>
                  </a:lnTo>
                  <a:lnTo>
                    <a:pt x="2458937" y="1451978"/>
                  </a:lnTo>
                  <a:lnTo>
                    <a:pt x="2458937" y="1957793"/>
                  </a:lnTo>
                  <a:lnTo>
                    <a:pt x="1995780" y="1957793"/>
                  </a:lnTo>
                  <a:lnTo>
                    <a:pt x="1995780" y="1320609"/>
                  </a:lnTo>
                  <a:lnTo>
                    <a:pt x="1994268" y="1250941"/>
                  </a:lnTo>
                  <a:lnTo>
                    <a:pt x="1989730" y="1195935"/>
                  </a:lnTo>
                  <a:lnTo>
                    <a:pt x="1982166" y="1155590"/>
                  </a:lnTo>
                  <a:lnTo>
                    <a:pt x="1954532" y="1113846"/>
                  </a:lnTo>
                  <a:lnTo>
                    <a:pt x="1890834" y="1095496"/>
                  </a:lnTo>
                  <a:lnTo>
                    <a:pt x="1844180" y="1093203"/>
                  </a:lnTo>
                  <a:lnTo>
                    <a:pt x="1844180" y="1957793"/>
                  </a:lnTo>
                  <a:lnTo>
                    <a:pt x="1345502" y="1957793"/>
                  </a:lnTo>
                  <a:lnTo>
                    <a:pt x="1345502" y="40284"/>
                  </a:lnTo>
                  <a:close/>
                </a:path>
                <a:path w="16311244" h="3940175">
                  <a:moveTo>
                    <a:pt x="1844180" y="368300"/>
                  </a:moveTo>
                  <a:lnTo>
                    <a:pt x="1844180" y="794753"/>
                  </a:lnTo>
                  <a:lnTo>
                    <a:pt x="1883095" y="793313"/>
                  </a:lnTo>
                  <a:lnTo>
                    <a:pt x="1942030" y="781798"/>
                  </a:lnTo>
                  <a:lnTo>
                    <a:pt x="1976808" y="753644"/>
                  </a:lnTo>
                  <a:lnTo>
                    <a:pt x="1993673" y="678639"/>
                  </a:lnTo>
                  <a:lnTo>
                    <a:pt x="1995780" y="621715"/>
                  </a:lnTo>
                  <a:lnTo>
                    <a:pt x="1995780" y="516343"/>
                  </a:lnTo>
                  <a:lnTo>
                    <a:pt x="1993747" y="474631"/>
                  </a:lnTo>
                  <a:lnTo>
                    <a:pt x="1977478" y="414800"/>
                  </a:lnTo>
                  <a:lnTo>
                    <a:pt x="1943593" y="384266"/>
                  </a:lnTo>
                  <a:lnTo>
                    <a:pt x="1884062" y="370074"/>
                  </a:lnTo>
                  <a:lnTo>
                    <a:pt x="1844180" y="368300"/>
                  </a:lnTo>
                  <a:close/>
                </a:path>
                <a:path w="16311244" h="3940175">
                  <a:moveTo>
                    <a:pt x="3513138" y="40284"/>
                  </a:moveTo>
                  <a:lnTo>
                    <a:pt x="3798495" y="1957793"/>
                  </a:lnTo>
                  <a:lnTo>
                    <a:pt x="3288120" y="1957793"/>
                  </a:lnTo>
                  <a:lnTo>
                    <a:pt x="3263113" y="1613103"/>
                  </a:lnTo>
                  <a:lnTo>
                    <a:pt x="3084323" y="1613103"/>
                  </a:lnTo>
                  <a:lnTo>
                    <a:pt x="3054757" y="1957793"/>
                  </a:lnTo>
                  <a:lnTo>
                    <a:pt x="2538223" y="1957793"/>
                  </a:lnTo>
                  <a:lnTo>
                    <a:pt x="2791816" y="40284"/>
                  </a:lnTo>
                  <a:lnTo>
                    <a:pt x="3513138" y="40284"/>
                  </a:lnTo>
                  <a:close/>
                </a:path>
                <a:path w="16311244" h="3940175">
                  <a:moveTo>
                    <a:pt x="3249016" y="1273175"/>
                  </a:moveTo>
                  <a:lnTo>
                    <a:pt x="3244280" y="1231874"/>
                  </a:lnTo>
                  <a:lnTo>
                    <a:pt x="3239543" y="1189378"/>
                  </a:lnTo>
                  <a:lnTo>
                    <a:pt x="3234806" y="1145686"/>
                  </a:lnTo>
                  <a:lnTo>
                    <a:pt x="3230069" y="1100799"/>
                  </a:lnTo>
                  <a:lnTo>
                    <a:pt x="3225332" y="1054716"/>
                  </a:lnTo>
                  <a:lnTo>
                    <a:pt x="3220595" y="1007437"/>
                  </a:lnTo>
                  <a:lnTo>
                    <a:pt x="3215857" y="958963"/>
                  </a:lnTo>
                  <a:lnTo>
                    <a:pt x="3211120" y="909294"/>
                  </a:lnTo>
                  <a:lnTo>
                    <a:pt x="3206382" y="858429"/>
                  </a:lnTo>
                  <a:lnTo>
                    <a:pt x="3201645" y="806369"/>
                  </a:lnTo>
                  <a:lnTo>
                    <a:pt x="3196907" y="753114"/>
                  </a:lnTo>
                  <a:lnTo>
                    <a:pt x="3192170" y="698663"/>
                  </a:lnTo>
                  <a:lnTo>
                    <a:pt x="3187433" y="643018"/>
                  </a:lnTo>
                  <a:lnTo>
                    <a:pt x="3182696" y="586176"/>
                  </a:lnTo>
                  <a:lnTo>
                    <a:pt x="3177959" y="528140"/>
                  </a:lnTo>
                  <a:lnTo>
                    <a:pt x="3173223" y="468909"/>
                  </a:lnTo>
                  <a:lnTo>
                    <a:pt x="3163969" y="536465"/>
                  </a:lnTo>
                  <a:lnTo>
                    <a:pt x="3155159" y="601716"/>
                  </a:lnTo>
                  <a:lnTo>
                    <a:pt x="3146792" y="664662"/>
                  </a:lnTo>
                  <a:lnTo>
                    <a:pt x="3138869" y="725302"/>
                  </a:lnTo>
                  <a:lnTo>
                    <a:pt x="3131388" y="783638"/>
                  </a:lnTo>
                  <a:lnTo>
                    <a:pt x="3124351" y="839668"/>
                  </a:lnTo>
                  <a:lnTo>
                    <a:pt x="3117758" y="893393"/>
                  </a:lnTo>
                  <a:lnTo>
                    <a:pt x="3111607" y="944813"/>
                  </a:lnTo>
                  <a:lnTo>
                    <a:pt x="3105900" y="993927"/>
                  </a:lnTo>
                  <a:lnTo>
                    <a:pt x="3100636" y="1040736"/>
                  </a:lnTo>
                  <a:lnTo>
                    <a:pt x="3095816" y="1085240"/>
                  </a:lnTo>
                  <a:lnTo>
                    <a:pt x="3091439" y="1127438"/>
                  </a:lnTo>
                  <a:lnTo>
                    <a:pt x="3087506" y="1167330"/>
                  </a:lnTo>
                  <a:lnTo>
                    <a:pt x="3080969" y="1240199"/>
                  </a:lnTo>
                  <a:lnTo>
                    <a:pt x="3078366" y="1273175"/>
                  </a:lnTo>
                  <a:lnTo>
                    <a:pt x="3249016" y="1273175"/>
                  </a:lnTo>
                  <a:close/>
                </a:path>
                <a:path w="16311244" h="3940175">
                  <a:moveTo>
                    <a:pt x="3883724" y="40284"/>
                  </a:moveTo>
                  <a:lnTo>
                    <a:pt x="4381209" y="40284"/>
                  </a:lnTo>
                  <a:lnTo>
                    <a:pt x="4446231" y="41033"/>
                  </a:lnTo>
                  <a:lnTo>
                    <a:pt x="4506589" y="43282"/>
                  </a:lnTo>
                  <a:lnTo>
                    <a:pt x="4562281" y="47029"/>
                  </a:lnTo>
                  <a:lnTo>
                    <a:pt x="4613308" y="52274"/>
                  </a:lnTo>
                  <a:lnTo>
                    <a:pt x="4659669" y="59018"/>
                  </a:lnTo>
                  <a:lnTo>
                    <a:pt x="4701365" y="67260"/>
                  </a:lnTo>
                  <a:lnTo>
                    <a:pt x="4738396" y="77000"/>
                  </a:lnTo>
                  <a:lnTo>
                    <a:pt x="4785101" y="94692"/>
                  </a:lnTo>
                  <a:lnTo>
                    <a:pt x="4828058" y="118401"/>
                  </a:lnTo>
                  <a:lnTo>
                    <a:pt x="4867269" y="148126"/>
                  </a:lnTo>
                  <a:lnTo>
                    <a:pt x="4902732" y="183869"/>
                  </a:lnTo>
                  <a:lnTo>
                    <a:pt x="4934446" y="225628"/>
                  </a:lnTo>
                  <a:lnTo>
                    <a:pt x="4954243" y="260395"/>
                  </a:lnTo>
                  <a:lnTo>
                    <a:pt x="4970993" y="300743"/>
                  </a:lnTo>
                  <a:lnTo>
                    <a:pt x="4984697" y="346673"/>
                  </a:lnTo>
                  <a:lnTo>
                    <a:pt x="4995356" y="398183"/>
                  </a:lnTo>
                  <a:lnTo>
                    <a:pt x="5002968" y="455273"/>
                  </a:lnTo>
                  <a:lnTo>
                    <a:pt x="5007536" y="517943"/>
                  </a:lnTo>
                  <a:lnTo>
                    <a:pt x="5009059" y="586193"/>
                  </a:lnTo>
                  <a:lnTo>
                    <a:pt x="5006948" y="649421"/>
                  </a:lnTo>
                  <a:lnTo>
                    <a:pt x="5000615" y="704489"/>
                  </a:lnTo>
                  <a:lnTo>
                    <a:pt x="4990059" y="751398"/>
                  </a:lnTo>
                  <a:lnTo>
                    <a:pt x="4975280" y="790147"/>
                  </a:lnTo>
                  <a:lnTo>
                    <a:pt x="4931075" y="846022"/>
                  </a:lnTo>
                  <a:lnTo>
                    <a:pt x="4897698" y="868843"/>
                  </a:lnTo>
                  <a:lnTo>
                    <a:pt x="4856146" y="889202"/>
                  </a:lnTo>
                  <a:lnTo>
                    <a:pt x="4806419" y="907100"/>
                  </a:lnTo>
                  <a:lnTo>
                    <a:pt x="4748518" y="922540"/>
                  </a:lnTo>
                  <a:lnTo>
                    <a:pt x="4803039" y="937003"/>
                  </a:lnTo>
                  <a:lnTo>
                    <a:pt x="4851375" y="954333"/>
                  </a:lnTo>
                  <a:lnTo>
                    <a:pt x="4893527" y="974529"/>
                  </a:lnTo>
                  <a:lnTo>
                    <a:pt x="4929493" y="997592"/>
                  </a:lnTo>
                  <a:lnTo>
                    <a:pt x="4959275" y="1023523"/>
                  </a:lnTo>
                  <a:lnTo>
                    <a:pt x="5001725" y="1085173"/>
                  </a:lnTo>
                  <a:lnTo>
                    <a:pt x="5017152" y="1123404"/>
                  </a:lnTo>
                  <a:lnTo>
                    <a:pt x="5029152" y="1167015"/>
                  </a:lnTo>
                  <a:lnTo>
                    <a:pt x="5037723" y="1216007"/>
                  </a:lnTo>
                  <a:lnTo>
                    <a:pt x="5042866" y="1270379"/>
                  </a:lnTo>
                  <a:lnTo>
                    <a:pt x="5044580" y="1330134"/>
                  </a:lnTo>
                  <a:lnTo>
                    <a:pt x="5044580" y="1507731"/>
                  </a:lnTo>
                  <a:lnTo>
                    <a:pt x="5043346" y="1569693"/>
                  </a:lnTo>
                  <a:lnTo>
                    <a:pt x="5039643" y="1626066"/>
                  </a:lnTo>
                  <a:lnTo>
                    <a:pt x="5033471" y="1676849"/>
                  </a:lnTo>
                  <a:lnTo>
                    <a:pt x="5024829" y="1722043"/>
                  </a:lnTo>
                  <a:lnTo>
                    <a:pt x="5013715" y="1761648"/>
                  </a:lnTo>
                  <a:lnTo>
                    <a:pt x="4974608" y="1838699"/>
                  </a:lnTo>
                  <a:lnTo>
                    <a:pt x="4942487" y="1874343"/>
                  </a:lnTo>
                  <a:lnTo>
                    <a:pt x="4903767" y="1902598"/>
                  </a:lnTo>
                  <a:lnTo>
                    <a:pt x="4858449" y="1923465"/>
                  </a:lnTo>
                  <a:lnTo>
                    <a:pt x="4797194" y="1938484"/>
                  </a:lnTo>
                  <a:lnTo>
                    <a:pt x="4757014" y="1944384"/>
                  </a:lnTo>
                  <a:lnTo>
                    <a:pt x="4710466" y="1949211"/>
                  </a:lnTo>
                  <a:lnTo>
                    <a:pt x="4657549" y="1952966"/>
                  </a:lnTo>
                  <a:lnTo>
                    <a:pt x="4598263" y="1955648"/>
                  </a:lnTo>
                  <a:lnTo>
                    <a:pt x="4532608" y="1957257"/>
                  </a:lnTo>
                  <a:lnTo>
                    <a:pt x="4460584" y="1957793"/>
                  </a:lnTo>
                  <a:lnTo>
                    <a:pt x="3883724" y="1957793"/>
                  </a:lnTo>
                  <a:lnTo>
                    <a:pt x="3883724" y="40284"/>
                  </a:lnTo>
                  <a:close/>
                </a:path>
                <a:path w="16311244" h="3940175">
                  <a:moveTo>
                    <a:pt x="4382402" y="368300"/>
                  </a:moveTo>
                  <a:lnTo>
                    <a:pt x="4382402" y="794753"/>
                  </a:lnTo>
                  <a:lnTo>
                    <a:pt x="4397495" y="794229"/>
                  </a:lnTo>
                  <a:lnTo>
                    <a:pt x="4410825" y="793856"/>
                  </a:lnTo>
                  <a:lnTo>
                    <a:pt x="4422393" y="793633"/>
                  </a:lnTo>
                  <a:lnTo>
                    <a:pt x="4432199" y="793559"/>
                  </a:lnTo>
                  <a:lnTo>
                    <a:pt x="4465580" y="791302"/>
                  </a:lnTo>
                  <a:lnTo>
                    <a:pt x="4512315" y="773242"/>
                  </a:lnTo>
                  <a:lnTo>
                    <a:pt x="4534524" y="730973"/>
                  </a:lnTo>
                  <a:lnTo>
                    <a:pt x="4540851" y="687689"/>
                  </a:lnTo>
                  <a:lnTo>
                    <a:pt x="4544649" y="627588"/>
                  </a:lnTo>
                  <a:lnTo>
                    <a:pt x="4545915" y="550672"/>
                  </a:lnTo>
                  <a:lnTo>
                    <a:pt x="4544872" y="509000"/>
                  </a:lnTo>
                  <a:lnTo>
                    <a:pt x="4536533" y="445892"/>
                  </a:lnTo>
                  <a:lnTo>
                    <a:pt x="4520363" y="408076"/>
                  </a:lnTo>
                  <a:lnTo>
                    <a:pt x="4485984" y="379018"/>
                  </a:lnTo>
                  <a:lnTo>
                    <a:pt x="4446790" y="371578"/>
                  </a:lnTo>
                  <a:lnTo>
                    <a:pt x="4417745" y="369419"/>
                  </a:lnTo>
                  <a:lnTo>
                    <a:pt x="4382402" y="368300"/>
                  </a:lnTo>
                  <a:close/>
                </a:path>
                <a:path w="16311244" h="3940175">
                  <a:moveTo>
                    <a:pt x="4382402" y="1093203"/>
                  </a:moveTo>
                  <a:lnTo>
                    <a:pt x="4382402" y="1629778"/>
                  </a:lnTo>
                  <a:lnTo>
                    <a:pt x="4430311" y="1626363"/>
                  </a:lnTo>
                  <a:lnTo>
                    <a:pt x="4468670" y="1619700"/>
                  </a:lnTo>
                  <a:lnTo>
                    <a:pt x="4516743" y="1596631"/>
                  </a:lnTo>
                  <a:lnTo>
                    <a:pt x="4538620" y="1545291"/>
                  </a:lnTo>
                  <a:lnTo>
                    <a:pt x="4544091" y="1503433"/>
                  </a:lnTo>
                  <a:lnTo>
                    <a:pt x="4545915" y="1450784"/>
                  </a:lnTo>
                  <a:lnTo>
                    <a:pt x="4545915" y="1271993"/>
                  </a:lnTo>
                  <a:lnTo>
                    <a:pt x="4544277" y="1216453"/>
                  </a:lnTo>
                  <a:lnTo>
                    <a:pt x="4539363" y="1173068"/>
                  </a:lnTo>
                  <a:lnTo>
                    <a:pt x="4519715" y="1122768"/>
                  </a:lnTo>
                  <a:lnTo>
                    <a:pt x="4472390" y="1102375"/>
                  </a:lnTo>
                  <a:lnTo>
                    <a:pt x="4432727" y="1096387"/>
                  </a:lnTo>
                  <a:lnTo>
                    <a:pt x="4382402" y="1093203"/>
                  </a:lnTo>
                  <a:close/>
                </a:path>
                <a:path w="16311244" h="3940175">
                  <a:moveTo>
                    <a:pt x="5721986" y="40284"/>
                  </a:moveTo>
                  <a:lnTo>
                    <a:pt x="5721986" y="1957793"/>
                  </a:lnTo>
                  <a:lnTo>
                    <a:pt x="5223308" y="1957793"/>
                  </a:lnTo>
                  <a:lnTo>
                    <a:pt x="5223308" y="40284"/>
                  </a:lnTo>
                  <a:lnTo>
                    <a:pt x="5721986" y="40284"/>
                  </a:lnTo>
                  <a:close/>
                </a:path>
                <a:path w="16311244" h="3940175">
                  <a:moveTo>
                    <a:pt x="6783337" y="40284"/>
                  </a:moveTo>
                  <a:lnTo>
                    <a:pt x="7068694" y="1957793"/>
                  </a:lnTo>
                  <a:lnTo>
                    <a:pt x="6558306" y="1957793"/>
                  </a:lnTo>
                  <a:lnTo>
                    <a:pt x="6533300" y="1613103"/>
                  </a:lnTo>
                  <a:lnTo>
                    <a:pt x="6354509" y="1613103"/>
                  </a:lnTo>
                  <a:lnTo>
                    <a:pt x="6324944" y="1957793"/>
                  </a:lnTo>
                  <a:lnTo>
                    <a:pt x="5808409" y="1957793"/>
                  </a:lnTo>
                  <a:lnTo>
                    <a:pt x="6062016" y="40284"/>
                  </a:lnTo>
                  <a:lnTo>
                    <a:pt x="6783337" y="40284"/>
                  </a:lnTo>
                  <a:close/>
                </a:path>
                <a:path w="16311244" h="3940175">
                  <a:moveTo>
                    <a:pt x="6519216" y="1273175"/>
                  </a:moveTo>
                  <a:lnTo>
                    <a:pt x="6514477" y="1231874"/>
                  </a:lnTo>
                  <a:lnTo>
                    <a:pt x="6509739" y="1189378"/>
                  </a:lnTo>
                  <a:lnTo>
                    <a:pt x="6505001" y="1145686"/>
                  </a:lnTo>
                  <a:lnTo>
                    <a:pt x="6500263" y="1100799"/>
                  </a:lnTo>
                  <a:lnTo>
                    <a:pt x="6495525" y="1054716"/>
                  </a:lnTo>
                  <a:lnTo>
                    <a:pt x="6490787" y="1007437"/>
                  </a:lnTo>
                  <a:lnTo>
                    <a:pt x="6486050" y="958963"/>
                  </a:lnTo>
                  <a:lnTo>
                    <a:pt x="6481312" y="909294"/>
                  </a:lnTo>
                  <a:lnTo>
                    <a:pt x="6476575" y="858429"/>
                  </a:lnTo>
                  <a:lnTo>
                    <a:pt x="6471837" y="806369"/>
                  </a:lnTo>
                  <a:lnTo>
                    <a:pt x="6467100" y="753114"/>
                  </a:lnTo>
                  <a:lnTo>
                    <a:pt x="6462362" y="698663"/>
                  </a:lnTo>
                  <a:lnTo>
                    <a:pt x="6457624" y="643018"/>
                  </a:lnTo>
                  <a:lnTo>
                    <a:pt x="6452886" y="586176"/>
                  </a:lnTo>
                  <a:lnTo>
                    <a:pt x="6448148" y="528140"/>
                  </a:lnTo>
                  <a:lnTo>
                    <a:pt x="6443409" y="468909"/>
                  </a:lnTo>
                  <a:lnTo>
                    <a:pt x="6434156" y="536465"/>
                  </a:lnTo>
                  <a:lnTo>
                    <a:pt x="6425346" y="601716"/>
                  </a:lnTo>
                  <a:lnTo>
                    <a:pt x="6416980" y="664662"/>
                  </a:lnTo>
                  <a:lnTo>
                    <a:pt x="6409057" y="725302"/>
                  </a:lnTo>
                  <a:lnTo>
                    <a:pt x="6401577" y="783638"/>
                  </a:lnTo>
                  <a:lnTo>
                    <a:pt x="6394541" y="839668"/>
                  </a:lnTo>
                  <a:lnTo>
                    <a:pt x="6387948" y="893393"/>
                  </a:lnTo>
                  <a:lnTo>
                    <a:pt x="6381798" y="944813"/>
                  </a:lnTo>
                  <a:lnTo>
                    <a:pt x="6376092" y="993927"/>
                  </a:lnTo>
                  <a:lnTo>
                    <a:pt x="6370829" y="1040736"/>
                  </a:lnTo>
                  <a:lnTo>
                    <a:pt x="6366008" y="1085240"/>
                  </a:lnTo>
                  <a:lnTo>
                    <a:pt x="6361631" y="1127438"/>
                  </a:lnTo>
                  <a:lnTo>
                    <a:pt x="6357697" y="1167330"/>
                  </a:lnTo>
                  <a:lnTo>
                    <a:pt x="6351158" y="1240199"/>
                  </a:lnTo>
                  <a:lnTo>
                    <a:pt x="6348553" y="1273175"/>
                  </a:lnTo>
                  <a:lnTo>
                    <a:pt x="6519216" y="1273175"/>
                  </a:lnTo>
                  <a:close/>
                </a:path>
                <a:path w="16311244" h="3940175">
                  <a:moveTo>
                    <a:pt x="8267345" y="40284"/>
                  </a:moveTo>
                  <a:lnTo>
                    <a:pt x="8267345" y="1957793"/>
                  </a:lnTo>
                  <a:lnTo>
                    <a:pt x="7830389" y="1957793"/>
                  </a:lnTo>
                  <a:lnTo>
                    <a:pt x="7570839" y="1086053"/>
                  </a:lnTo>
                  <a:lnTo>
                    <a:pt x="7570839" y="1957793"/>
                  </a:lnTo>
                  <a:lnTo>
                    <a:pt x="7153923" y="1957793"/>
                  </a:lnTo>
                  <a:lnTo>
                    <a:pt x="7153923" y="40284"/>
                  </a:lnTo>
                  <a:lnTo>
                    <a:pt x="7570839" y="40284"/>
                  </a:lnTo>
                  <a:lnTo>
                    <a:pt x="7850430" y="903693"/>
                  </a:lnTo>
                  <a:lnTo>
                    <a:pt x="7850430" y="40284"/>
                  </a:lnTo>
                  <a:lnTo>
                    <a:pt x="8267345" y="40284"/>
                  </a:lnTo>
                  <a:close/>
                </a:path>
                <a:path w="16311244" h="3940175">
                  <a:moveTo>
                    <a:pt x="10059455" y="876503"/>
                  </a:moveTo>
                  <a:lnTo>
                    <a:pt x="9560777" y="876503"/>
                  </a:lnTo>
                  <a:lnTo>
                    <a:pt x="9560777" y="542340"/>
                  </a:lnTo>
                  <a:lnTo>
                    <a:pt x="9559772" y="476358"/>
                  </a:lnTo>
                  <a:lnTo>
                    <a:pt x="9556757" y="424068"/>
                  </a:lnTo>
                  <a:lnTo>
                    <a:pt x="9551733" y="385471"/>
                  </a:lnTo>
                  <a:lnTo>
                    <a:pt x="9534345" y="344763"/>
                  </a:lnTo>
                  <a:lnTo>
                    <a:pt x="9499127" y="326704"/>
                  </a:lnTo>
                  <a:lnTo>
                    <a:pt x="9474264" y="324446"/>
                  </a:lnTo>
                  <a:lnTo>
                    <a:pt x="9446303" y="327187"/>
                  </a:lnTo>
                  <a:lnTo>
                    <a:pt x="9407208" y="349114"/>
                  </a:lnTo>
                  <a:lnTo>
                    <a:pt x="9388867" y="396589"/>
                  </a:lnTo>
                  <a:lnTo>
                    <a:pt x="9383720" y="437603"/>
                  </a:lnTo>
                  <a:lnTo>
                    <a:pt x="9380629" y="491343"/>
                  </a:lnTo>
                  <a:lnTo>
                    <a:pt x="9379598" y="557809"/>
                  </a:lnTo>
                  <a:lnTo>
                    <a:pt x="9379598" y="1448396"/>
                  </a:lnTo>
                  <a:lnTo>
                    <a:pt x="9380629" y="1512271"/>
                  </a:lnTo>
                  <a:lnTo>
                    <a:pt x="9383720" y="1563990"/>
                  </a:lnTo>
                  <a:lnTo>
                    <a:pt x="9388867" y="1603553"/>
                  </a:lnTo>
                  <a:lnTo>
                    <a:pt x="9406986" y="1649537"/>
                  </a:lnTo>
                  <a:lnTo>
                    <a:pt x="9444294" y="1670773"/>
                  </a:lnTo>
                  <a:lnTo>
                    <a:pt x="9470683" y="1673428"/>
                  </a:lnTo>
                  <a:lnTo>
                    <a:pt x="9496145" y="1670773"/>
                  </a:lnTo>
                  <a:lnTo>
                    <a:pt x="9532564" y="1649537"/>
                  </a:lnTo>
                  <a:lnTo>
                    <a:pt x="9551068" y="1602451"/>
                  </a:lnTo>
                  <a:lnTo>
                    <a:pt x="9556462" y="1559579"/>
                  </a:lnTo>
                  <a:lnTo>
                    <a:pt x="9559698" y="1502343"/>
                  </a:lnTo>
                  <a:lnTo>
                    <a:pt x="9560777" y="1430743"/>
                  </a:lnTo>
                  <a:lnTo>
                    <a:pt x="9560777" y="1190231"/>
                  </a:lnTo>
                  <a:lnTo>
                    <a:pt x="10059455" y="1190231"/>
                  </a:lnTo>
                  <a:lnTo>
                    <a:pt x="10059455" y="1264843"/>
                  </a:lnTo>
                  <a:lnTo>
                    <a:pt x="10058797" y="1336457"/>
                  </a:lnTo>
                  <a:lnTo>
                    <a:pt x="10056824" y="1402670"/>
                  </a:lnTo>
                  <a:lnTo>
                    <a:pt x="10053536" y="1463482"/>
                  </a:lnTo>
                  <a:lnTo>
                    <a:pt x="10048933" y="1518893"/>
                  </a:lnTo>
                  <a:lnTo>
                    <a:pt x="10043016" y="1568902"/>
                  </a:lnTo>
                  <a:lnTo>
                    <a:pt x="10035784" y="1613510"/>
                  </a:lnTo>
                  <a:lnTo>
                    <a:pt x="10027239" y="1652717"/>
                  </a:lnTo>
                  <a:lnTo>
                    <a:pt x="10000525" y="1727144"/>
                  </a:lnTo>
                  <a:lnTo>
                    <a:pt x="9978002" y="1766054"/>
                  </a:lnTo>
                  <a:lnTo>
                    <a:pt x="9949813" y="1803255"/>
                  </a:lnTo>
                  <a:lnTo>
                    <a:pt x="9915957" y="1838746"/>
                  </a:lnTo>
                  <a:lnTo>
                    <a:pt x="9876435" y="1872530"/>
                  </a:lnTo>
                  <a:lnTo>
                    <a:pt x="9831249" y="1904606"/>
                  </a:lnTo>
                  <a:lnTo>
                    <a:pt x="9788779" y="1929402"/>
                  </a:lnTo>
                  <a:lnTo>
                    <a:pt x="9743581" y="1950384"/>
                  </a:lnTo>
                  <a:lnTo>
                    <a:pt x="9695653" y="1967553"/>
                  </a:lnTo>
                  <a:lnTo>
                    <a:pt x="9644995" y="1980907"/>
                  </a:lnTo>
                  <a:lnTo>
                    <a:pt x="9591607" y="1990446"/>
                  </a:lnTo>
                  <a:lnTo>
                    <a:pt x="9535488" y="1996170"/>
                  </a:lnTo>
                  <a:lnTo>
                    <a:pt x="9476639" y="1998078"/>
                  </a:lnTo>
                  <a:lnTo>
                    <a:pt x="9415614" y="1996457"/>
                  </a:lnTo>
                  <a:lnTo>
                    <a:pt x="9357723" y="1991597"/>
                  </a:lnTo>
                  <a:lnTo>
                    <a:pt x="9302967" y="1983496"/>
                  </a:lnTo>
                  <a:lnTo>
                    <a:pt x="9251346" y="1972156"/>
                  </a:lnTo>
                  <a:lnTo>
                    <a:pt x="9202859" y="1957577"/>
                  </a:lnTo>
                  <a:lnTo>
                    <a:pt x="9157506" y="1939759"/>
                  </a:lnTo>
                  <a:lnTo>
                    <a:pt x="9115286" y="1918703"/>
                  </a:lnTo>
                  <a:lnTo>
                    <a:pt x="9070590" y="1890550"/>
                  </a:lnTo>
                  <a:lnTo>
                    <a:pt x="9031217" y="1859013"/>
                  </a:lnTo>
                  <a:lnTo>
                    <a:pt x="8997168" y="1824093"/>
                  </a:lnTo>
                  <a:lnTo>
                    <a:pt x="8968444" y="1785788"/>
                  </a:lnTo>
                  <a:lnTo>
                    <a:pt x="8945045" y="1744101"/>
                  </a:lnTo>
                  <a:lnTo>
                    <a:pt x="8926970" y="1699031"/>
                  </a:lnTo>
                  <a:lnTo>
                    <a:pt x="8916179" y="1661742"/>
                  </a:lnTo>
                  <a:lnTo>
                    <a:pt x="8906827" y="1620026"/>
                  </a:lnTo>
                  <a:lnTo>
                    <a:pt x="8898915" y="1573882"/>
                  </a:lnTo>
                  <a:lnTo>
                    <a:pt x="8892441" y="1523312"/>
                  </a:lnTo>
                  <a:lnTo>
                    <a:pt x="8887406" y="1468314"/>
                  </a:lnTo>
                  <a:lnTo>
                    <a:pt x="8883810" y="1408889"/>
                  </a:lnTo>
                  <a:lnTo>
                    <a:pt x="8881652" y="1345036"/>
                  </a:lnTo>
                  <a:lnTo>
                    <a:pt x="8880933" y="1276756"/>
                  </a:lnTo>
                  <a:lnTo>
                    <a:pt x="8880933" y="716559"/>
                  </a:lnTo>
                  <a:lnTo>
                    <a:pt x="8881324" y="650321"/>
                  </a:lnTo>
                  <a:lnTo>
                    <a:pt x="8882499" y="589848"/>
                  </a:lnTo>
                  <a:lnTo>
                    <a:pt x="8884456" y="535139"/>
                  </a:lnTo>
                  <a:lnTo>
                    <a:pt x="8887195" y="486197"/>
                  </a:lnTo>
                  <a:lnTo>
                    <a:pt x="8890715" y="443021"/>
                  </a:lnTo>
                  <a:lnTo>
                    <a:pt x="8905671" y="354301"/>
                  </a:lnTo>
                  <a:lnTo>
                    <a:pt x="8923345" y="303960"/>
                  </a:lnTo>
                  <a:lnTo>
                    <a:pt x="8948038" y="254588"/>
                  </a:lnTo>
                  <a:lnTo>
                    <a:pt x="8979752" y="206184"/>
                  </a:lnTo>
                  <a:lnTo>
                    <a:pt x="9010113" y="169408"/>
                  </a:lnTo>
                  <a:lnTo>
                    <a:pt x="9044839" y="135920"/>
                  </a:lnTo>
                  <a:lnTo>
                    <a:pt x="9083932" y="105718"/>
                  </a:lnTo>
                  <a:lnTo>
                    <a:pt x="9127391" y="78801"/>
                  </a:lnTo>
                  <a:lnTo>
                    <a:pt x="9175217" y="55168"/>
                  </a:lnTo>
                  <a:lnTo>
                    <a:pt x="9217918" y="38311"/>
                  </a:lnTo>
                  <a:lnTo>
                    <a:pt x="9262681" y="24519"/>
                  </a:lnTo>
                  <a:lnTo>
                    <a:pt x="9309507" y="13792"/>
                  </a:lnTo>
                  <a:lnTo>
                    <a:pt x="9358395" y="6129"/>
                  </a:lnTo>
                  <a:lnTo>
                    <a:pt x="9409343" y="1532"/>
                  </a:lnTo>
                  <a:lnTo>
                    <a:pt x="9462352" y="0"/>
                  </a:lnTo>
                  <a:lnTo>
                    <a:pt x="9516262" y="1333"/>
                  </a:lnTo>
                  <a:lnTo>
                    <a:pt x="9567760" y="5333"/>
                  </a:lnTo>
                  <a:lnTo>
                    <a:pt x="9616846" y="12000"/>
                  </a:lnTo>
                  <a:lnTo>
                    <a:pt x="9663520" y="21334"/>
                  </a:lnTo>
                  <a:lnTo>
                    <a:pt x="9707781" y="33334"/>
                  </a:lnTo>
                  <a:lnTo>
                    <a:pt x="9749630" y="48000"/>
                  </a:lnTo>
                  <a:lnTo>
                    <a:pt x="9789068" y="65332"/>
                  </a:lnTo>
                  <a:lnTo>
                    <a:pt x="9826092" y="85331"/>
                  </a:lnTo>
                  <a:lnTo>
                    <a:pt x="9871117" y="114883"/>
                  </a:lnTo>
                  <a:lnTo>
                    <a:pt x="9910687" y="146782"/>
                  </a:lnTo>
                  <a:lnTo>
                    <a:pt x="9944801" y="181030"/>
                  </a:lnTo>
                  <a:lnTo>
                    <a:pt x="9973459" y="217626"/>
                  </a:lnTo>
                  <a:lnTo>
                    <a:pt x="9996662" y="256571"/>
                  </a:lnTo>
                  <a:lnTo>
                    <a:pt x="10014408" y="297865"/>
                  </a:lnTo>
                  <a:lnTo>
                    <a:pt x="10034112" y="370318"/>
                  </a:lnTo>
                  <a:lnTo>
                    <a:pt x="10041855" y="413185"/>
                  </a:lnTo>
                  <a:lnTo>
                    <a:pt x="10048190" y="460479"/>
                  </a:lnTo>
                  <a:lnTo>
                    <a:pt x="10053118" y="512202"/>
                  </a:lnTo>
                  <a:lnTo>
                    <a:pt x="10056638" y="568353"/>
                  </a:lnTo>
                  <a:lnTo>
                    <a:pt x="10058751" y="628932"/>
                  </a:lnTo>
                  <a:lnTo>
                    <a:pt x="10059455" y="693940"/>
                  </a:lnTo>
                  <a:lnTo>
                    <a:pt x="10059455" y="876503"/>
                  </a:lnTo>
                  <a:close/>
                </a:path>
                <a:path w="16311244" h="3940175">
                  <a:moveTo>
                    <a:pt x="10238157" y="40284"/>
                  </a:moveTo>
                  <a:lnTo>
                    <a:pt x="11069613" y="40284"/>
                  </a:lnTo>
                  <a:lnTo>
                    <a:pt x="11069613" y="423862"/>
                  </a:lnTo>
                  <a:lnTo>
                    <a:pt x="10736835" y="423862"/>
                  </a:lnTo>
                  <a:lnTo>
                    <a:pt x="10736835" y="787603"/>
                  </a:lnTo>
                  <a:lnTo>
                    <a:pt x="11048378" y="787603"/>
                  </a:lnTo>
                  <a:lnTo>
                    <a:pt x="11048378" y="1152334"/>
                  </a:lnTo>
                  <a:lnTo>
                    <a:pt x="10736835" y="1152334"/>
                  </a:lnTo>
                  <a:lnTo>
                    <a:pt x="10736835" y="1574012"/>
                  </a:lnTo>
                  <a:lnTo>
                    <a:pt x="11102950" y="1574012"/>
                  </a:lnTo>
                  <a:lnTo>
                    <a:pt x="11102950" y="1957793"/>
                  </a:lnTo>
                  <a:lnTo>
                    <a:pt x="10238157" y="1957793"/>
                  </a:lnTo>
                  <a:lnTo>
                    <a:pt x="10238157" y="40284"/>
                  </a:lnTo>
                  <a:close/>
                </a:path>
                <a:path w="16311244" h="3940175">
                  <a:moveTo>
                    <a:pt x="12784811" y="40284"/>
                  </a:moveTo>
                  <a:lnTo>
                    <a:pt x="12784811" y="1957793"/>
                  </a:lnTo>
                  <a:lnTo>
                    <a:pt x="12348820" y="1957793"/>
                  </a:lnTo>
                  <a:lnTo>
                    <a:pt x="12348820" y="663181"/>
                  </a:lnTo>
                  <a:lnTo>
                    <a:pt x="12174830" y="1957793"/>
                  </a:lnTo>
                  <a:lnTo>
                    <a:pt x="11865585" y="1957793"/>
                  </a:lnTo>
                  <a:lnTo>
                    <a:pt x="11682070" y="692746"/>
                  </a:lnTo>
                  <a:lnTo>
                    <a:pt x="11682070" y="1957793"/>
                  </a:lnTo>
                  <a:lnTo>
                    <a:pt x="11246092" y="1957793"/>
                  </a:lnTo>
                  <a:lnTo>
                    <a:pt x="11246092" y="40284"/>
                  </a:lnTo>
                  <a:lnTo>
                    <a:pt x="11891620" y="40284"/>
                  </a:lnTo>
                  <a:lnTo>
                    <a:pt x="11898818" y="84458"/>
                  </a:lnTo>
                  <a:lnTo>
                    <a:pt x="11906122" y="130562"/>
                  </a:lnTo>
                  <a:lnTo>
                    <a:pt x="11913534" y="178593"/>
                  </a:lnTo>
                  <a:lnTo>
                    <a:pt x="11921053" y="228553"/>
                  </a:lnTo>
                  <a:lnTo>
                    <a:pt x="11928679" y="280442"/>
                  </a:lnTo>
                  <a:lnTo>
                    <a:pt x="11936412" y="334258"/>
                  </a:lnTo>
                  <a:lnTo>
                    <a:pt x="11944252" y="390002"/>
                  </a:lnTo>
                  <a:lnTo>
                    <a:pt x="11952199" y="447675"/>
                  </a:lnTo>
                  <a:lnTo>
                    <a:pt x="12020779" y="935634"/>
                  </a:lnTo>
                  <a:lnTo>
                    <a:pt x="12134444" y="40284"/>
                  </a:lnTo>
                  <a:lnTo>
                    <a:pt x="12784811" y="40284"/>
                  </a:lnTo>
                  <a:close/>
                </a:path>
                <a:path w="16311244" h="3940175">
                  <a:moveTo>
                    <a:pt x="12984836" y="40284"/>
                  </a:moveTo>
                  <a:lnTo>
                    <a:pt x="13816305" y="40284"/>
                  </a:lnTo>
                  <a:lnTo>
                    <a:pt x="13816305" y="423862"/>
                  </a:lnTo>
                  <a:lnTo>
                    <a:pt x="13483565" y="423862"/>
                  </a:lnTo>
                  <a:lnTo>
                    <a:pt x="13483565" y="787603"/>
                  </a:lnTo>
                  <a:lnTo>
                    <a:pt x="13795096" y="787603"/>
                  </a:lnTo>
                  <a:lnTo>
                    <a:pt x="13795096" y="1152334"/>
                  </a:lnTo>
                  <a:lnTo>
                    <a:pt x="13483565" y="1152334"/>
                  </a:lnTo>
                  <a:lnTo>
                    <a:pt x="13483565" y="1574012"/>
                  </a:lnTo>
                  <a:lnTo>
                    <a:pt x="13849579" y="1574012"/>
                  </a:lnTo>
                  <a:lnTo>
                    <a:pt x="13849579" y="1957793"/>
                  </a:lnTo>
                  <a:lnTo>
                    <a:pt x="12984836" y="1957793"/>
                  </a:lnTo>
                  <a:lnTo>
                    <a:pt x="12984836" y="40284"/>
                  </a:lnTo>
                  <a:close/>
                </a:path>
                <a:path w="16311244" h="3940175">
                  <a:moveTo>
                    <a:pt x="15106244" y="40284"/>
                  </a:moveTo>
                  <a:lnTo>
                    <a:pt x="15106244" y="1957793"/>
                  </a:lnTo>
                  <a:lnTo>
                    <a:pt x="14669237" y="1957793"/>
                  </a:lnTo>
                  <a:lnTo>
                    <a:pt x="14409649" y="1086053"/>
                  </a:lnTo>
                  <a:lnTo>
                    <a:pt x="14409649" y="1957793"/>
                  </a:lnTo>
                  <a:lnTo>
                    <a:pt x="13992835" y="1957793"/>
                  </a:lnTo>
                  <a:lnTo>
                    <a:pt x="13992835" y="40284"/>
                  </a:lnTo>
                  <a:lnTo>
                    <a:pt x="14409649" y="40284"/>
                  </a:lnTo>
                  <a:lnTo>
                    <a:pt x="14689303" y="903693"/>
                  </a:lnTo>
                  <a:lnTo>
                    <a:pt x="14689303" y="40284"/>
                  </a:lnTo>
                  <a:lnTo>
                    <a:pt x="15106244" y="40284"/>
                  </a:lnTo>
                  <a:close/>
                </a:path>
                <a:path w="16311244" h="3940175">
                  <a:moveTo>
                    <a:pt x="16310839" y="40284"/>
                  </a:moveTo>
                  <a:lnTo>
                    <a:pt x="16310839" y="423862"/>
                  </a:lnTo>
                  <a:lnTo>
                    <a:pt x="16014675" y="423862"/>
                  </a:lnTo>
                  <a:lnTo>
                    <a:pt x="16014675" y="1957793"/>
                  </a:lnTo>
                  <a:lnTo>
                    <a:pt x="15516073" y="1957793"/>
                  </a:lnTo>
                  <a:lnTo>
                    <a:pt x="15516073" y="423862"/>
                  </a:lnTo>
                  <a:lnTo>
                    <a:pt x="15221179" y="423862"/>
                  </a:lnTo>
                  <a:lnTo>
                    <a:pt x="15221179" y="40284"/>
                  </a:lnTo>
                  <a:lnTo>
                    <a:pt x="16310839" y="40284"/>
                  </a:lnTo>
                  <a:close/>
                </a:path>
                <a:path w="16311244" h="3940175">
                  <a:moveTo>
                    <a:pt x="4774553" y="2818333"/>
                  </a:moveTo>
                  <a:lnTo>
                    <a:pt x="4275875" y="2818333"/>
                  </a:lnTo>
                  <a:lnTo>
                    <a:pt x="4275875" y="2484170"/>
                  </a:lnTo>
                  <a:lnTo>
                    <a:pt x="4274870" y="2418188"/>
                  </a:lnTo>
                  <a:lnTo>
                    <a:pt x="4271857" y="2365898"/>
                  </a:lnTo>
                  <a:lnTo>
                    <a:pt x="4266836" y="2327301"/>
                  </a:lnTo>
                  <a:lnTo>
                    <a:pt x="4249449" y="2286593"/>
                  </a:lnTo>
                  <a:lnTo>
                    <a:pt x="4214225" y="2268534"/>
                  </a:lnTo>
                  <a:lnTo>
                    <a:pt x="4189362" y="2266276"/>
                  </a:lnTo>
                  <a:lnTo>
                    <a:pt x="4161409" y="2269017"/>
                  </a:lnTo>
                  <a:lnTo>
                    <a:pt x="4122318" y="2290944"/>
                  </a:lnTo>
                  <a:lnTo>
                    <a:pt x="4103973" y="2338424"/>
                  </a:lnTo>
                  <a:lnTo>
                    <a:pt x="4098826" y="2379438"/>
                  </a:lnTo>
                  <a:lnTo>
                    <a:pt x="4095738" y="2433175"/>
                  </a:lnTo>
                  <a:lnTo>
                    <a:pt x="4094709" y="2499639"/>
                  </a:lnTo>
                  <a:lnTo>
                    <a:pt x="4094709" y="3390226"/>
                  </a:lnTo>
                  <a:lnTo>
                    <a:pt x="4095738" y="3454101"/>
                  </a:lnTo>
                  <a:lnTo>
                    <a:pt x="4098826" y="3505820"/>
                  </a:lnTo>
                  <a:lnTo>
                    <a:pt x="4103973" y="3545383"/>
                  </a:lnTo>
                  <a:lnTo>
                    <a:pt x="4122095" y="3591373"/>
                  </a:lnTo>
                  <a:lnTo>
                    <a:pt x="4159400" y="3612605"/>
                  </a:lnTo>
                  <a:lnTo>
                    <a:pt x="4185794" y="3615258"/>
                  </a:lnTo>
                  <a:lnTo>
                    <a:pt x="4211254" y="3612605"/>
                  </a:lnTo>
                  <a:lnTo>
                    <a:pt x="4247664" y="3591373"/>
                  </a:lnTo>
                  <a:lnTo>
                    <a:pt x="4266167" y="3544281"/>
                  </a:lnTo>
                  <a:lnTo>
                    <a:pt x="4271560" y="3501409"/>
                  </a:lnTo>
                  <a:lnTo>
                    <a:pt x="4274796" y="3444173"/>
                  </a:lnTo>
                  <a:lnTo>
                    <a:pt x="4275875" y="3372573"/>
                  </a:lnTo>
                  <a:lnTo>
                    <a:pt x="4275875" y="3132061"/>
                  </a:lnTo>
                  <a:lnTo>
                    <a:pt x="4774553" y="3132061"/>
                  </a:lnTo>
                  <a:lnTo>
                    <a:pt x="4774553" y="3206673"/>
                  </a:lnTo>
                  <a:lnTo>
                    <a:pt x="4773896" y="3278287"/>
                  </a:lnTo>
                  <a:lnTo>
                    <a:pt x="4771924" y="3344500"/>
                  </a:lnTo>
                  <a:lnTo>
                    <a:pt x="4768637" y="3405312"/>
                  </a:lnTo>
                  <a:lnTo>
                    <a:pt x="4764036" y="3460723"/>
                  </a:lnTo>
                  <a:lnTo>
                    <a:pt x="4758119" y="3510732"/>
                  </a:lnTo>
                  <a:lnTo>
                    <a:pt x="4750888" y="3555340"/>
                  </a:lnTo>
                  <a:lnTo>
                    <a:pt x="4742341" y="3594547"/>
                  </a:lnTo>
                  <a:lnTo>
                    <a:pt x="4715624" y="3668974"/>
                  </a:lnTo>
                  <a:lnTo>
                    <a:pt x="4693103" y="3707887"/>
                  </a:lnTo>
                  <a:lnTo>
                    <a:pt x="4664916" y="3745090"/>
                  </a:lnTo>
                  <a:lnTo>
                    <a:pt x="4631060" y="3780582"/>
                  </a:lnTo>
                  <a:lnTo>
                    <a:pt x="4591538" y="3814364"/>
                  </a:lnTo>
                  <a:lnTo>
                    <a:pt x="4546347" y="3846436"/>
                  </a:lnTo>
                  <a:lnTo>
                    <a:pt x="4503878" y="3871232"/>
                  </a:lnTo>
                  <a:lnTo>
                    <a:pt x="4458679" y="3892214"/>
                  </a:lnTo>
                  <a:lnTo>
                    <a:pt x="4410751" y="3909383"/>
                  </a:lnTo>
                  <a:lnTo>
                    <a:pt x="4360093" y="3922737"/>
                  </a:lnTo>
                  <a:lnTo>
                    <a:pt x="4306705" y="3932276"/>
                  </a:lnTo>
                  <a:lnTo>
                    <a:pt x="4250586" y="3938000"/>
                  </a:lnTo>
                  <a:lnTo>
                    <a:pt x="4191737" y="3939908"/>
                  </a:lnTo>
                  <a:lnTo>
                    <a:pt x="4130712" y="3938287"/>
                  </a:lnTo>
                  <a:lnTo>
                    <a:pt x="4072822" y="3933427"/>
                  </a:lnTo>
                  <a:lnTo>
                    <a:pt x="4018066" y="3925326"/>
                  </a:lnTo>
                  <a:lnTo>
                    <a:pt x="3966444" y="3913986"/>
                  </a:lnTo>
                  <a:lnTo>
                    <a:pt x="3917957" y="3899407"/>
                  </a:lnTo>
                  <a:lnTo>
                    <a:pt x="3872604" y="3881589"/>
                  </a:lnTo>
                  <a:lnTo>
                    <a:pt x="3830384" y="3860533"/>
                  </a:lnTo>
                  <a:lnTo>
                    <a:pt x="3785688" y="3832380"/>
                  </a:lnTo>
                  <a:lnTo>
                    <a:pt x="3746315" y="3800843"/>
                  </a:lnTo>
                  <a:lnTo>
                    <a:pt x="3712266" y="3765923"/>
                  </a:lnTo>
                  <a:lnTo>
                    <a:pt x="3683542" y="3727618"/>
                  </a:lnTo>
                  <a:lnTo>
                    <a:pt x="3660143" y="3685931"/>
                  </a:lnTo>
                  <a:lnTo>
                    <a:pt x="3642069" y="3640861"/>
                  </a:lnTo>
                  <a:lnTo>
                    <a:pt x="3631277" y="3603572"/>
                  </a:lnTo>
                  <a:lnTo>
                    <a:pt x="3621925" y="3561856"/>
                  </a:lnTo>
                  <a:lnTo>
                    <a:pt x="3614013" y="3515712"/>
                  </a:lnTo>
                  <a:lnTo>
                    <a:pt x="3607539" y="3465142"/>
                  </a:lnTo>
                  <a:lnTo>
                    <a:pt x="3602504" y="3410144"/>
                  </a:lnTo>
                  <a:lnTo>
                    <a:pt x="3598908" y="3350719"/>
                  </a:lnTo>
                  <a:lnTo>
                    <a:pt x="3596750" y="3286866"/>
                  </a:lnTo>
                  <a:lnTo>
                    <a:pt x="3596031" y="3218586"/>
                  </a:lnTo>
                  <a:lnTo>
                    <a:pt x="3596031" y="2658389"/>
                  </a:lnTo>
                  <a:lnTo>
                    <a:pt x="3596423" y="2592151"/>
                  </a:lnTo>
                  <a:lnTo>
                    <a:pt x="3597597" y="2531678"/>
                  </a:lnTo>
                  <a:lnTo>
                    <a:pt x="3599554" y="2476969"/>
                  </a:lnTo>
                  <a:lnTo>
                    <a:pt x="3602293" y="2428027"/>
                  </a:lnTo>
                  <a:lnTo>
                    <a:pt x="3605813" y="2384851"/>
                  </a:lnTo>
                  <a:lnTo>
                    <a:pt x="3620769" y="2296131"/>
                  </a:lnTo>
                  <a:lnTo>
                    <a:pt x="3638443" y="2245790"/>
                  </a:lnTo>
                  <a:lnTo>
                    <a:pt x="3663136" y="2196418"/>
                  </a:lnTo>
                  <a:lnTo>
                    <a:pt x="3694850" y="2148014"/>
                  </a:lnTo>
                  <a:lnTo>
                    <a:pt x="3725211" y="2111238"/>
                  </a:lnTo>
                  <a:lnTo>
                    <a:pt x="3759938" y="2077750"/>
                  </a:lnTo>
                  <a:lnTo>
                    <a:pt x="3799030" y="2047548"/>
                  </a:lnTo>
                  <a:lnTo>
                    <a:pt x="3842489" y="2020631"/>
                  </a:lnTo>
                  <a:lnTo>
                    <a:pt x="3890316" y="1996998"/>
                  </a:lnTo>
                  <a:lnTo>
                    <a:pt x="3933016" y="1980141"/>
                  </a:lnTo>
                  <a:lnTo>
                    <a:pt x="3977780" y="1966349"/>
                  </a:lnTo>
                  <a:lnTo>
                    <a:pt x="4024605" y="1955622"/>
                  </a:lnTo>
                  <a:lnTo>
                    <a:pt x="4073493" y="1947959"/>
                  </a:lnTo>
                  <a:lnTo>
                    <a:pt x="4124441" y="1943362"/>
                  </a:lnTo>
                  <a:lnTo>
                    <a:pt x="4177450" y="1941830"/>
                  </a:lnTo>
                  <a:lnTo>
                    <a:pt x="4231360" y="1943163"/>
                  </a:lnTo>
                  <a:lnTo>
                    <a:pt x="4282858" y="1947163"/>
                  </a:lnTo>
                  <a:lnTo>
                    <a:pt x="4331944" y="1953830"/>
                  </a:lnTo>
                  <a:lnTo>
                    <a:pt x="4378618" y="1963164"/>
                  </a:lnTo>
                  <a:lnTo>
                    <a:pt x="4422879" y="1975164"/>
                  </a:lnTo>
                  <a:lnTo>
                    <a:pt x="4464729" y="1989830"/>
                  </a:lnTo>
                  <a:lnTo>
                    <a:pt x="4504166" y="2007162"/>
                  </a:lnTo>
                  <a:lnTo>
                    <a:pt x="4541191" y="2027161"/>
                  </a:lnTo>
                  <a:lnTo>
                    <a:pt x="4586220" y="2056713"/>
                  </a:lnTo>
                  <a:lnTo>
                    <a:pt x="4625790" y="2088612"/>
                  </a:lnTo>
                  <a:lnTo>
                    <a:pt x="4659904" y="2122860"/>
                  </a:lnTo>
                  <a:lnTo>
                    <a:pt x="4688560" y="2159456"/>
                  </a:lnTo>
                  <a:lnTo>
                    <a:pt x="4711761" y="2198401"/>
                  </a:lnTo>
                  <a:lnTo>
                    <a:pt x="4729506" y="2239695"/>
                  </a:lnTo>
                  <a:lnTo>
                    <a:pt x="4749216" y="2312148"/>
                  </a:lnTo>
                  <a:lnTo>
                    <a:pt x="4756958" y="2355015"/>
                  </a:lnTo>
                  <a:lnTo>
                    <a:pt x="4763293" y="2402309"/>
                  </a:lnTo>
                  <a:lnTo>
                    <a:pt x="4768219" y="2454032"/>
                  </a:lnTo>
                  <a:lnTo>
                    <a:pt x="4771738" y="2510183"/>
                  </a:lnTo>
                  <a:lnTo>
                    <a:pt x="4773849" y="2570762"/>
                  </a:lnTo>
                  <a:lnTo>
                    <a:pt x="4774553" y="2635770"/>
                  </a:lnTo>
                  <a:lnTo>
                    <a:pt x="4774553" y="2818333"/>
                  </a:lnTo>
                  <a:close/>
                </a:path>
                <a:path w="16311244" h="3940175">
                  <a:moveTo>
                    <a:pt x="6092686" y="3104883"/>
                  </a:moveTo>
                  <a:lnTo>
                    <a:pt x="6092472" y="3174476"/>
                  </a:lnTo>
                  <a:lnTo>
                    <a:pt x="6091829" y="3238799"/>
                  </a:lnTo>
                  <a:lnTo>
                    <a:pt x="6090759" y="3297852"/>
                  </a:lnTo>
                  <a:lnTo>
                    <a:pt x="6089260" y="3351634"/>
                  </a:lnTo>
                  <a:lnTo>
                    <a:pt x="6087334" y="3400146"/>
                  </a:lnTo>
                  <a:lnTo>
                    <a:pt x="6084982" y="3443386"/>
                  </a:lnTo>
                  <a:lnTo>
                    <a:pt x="6078995" y="3514051"/>
                  </a:lnTo>
                  <a:lnTo>
                    <a:pt x="6071269" y="3561330"/>
                  </a:lnTo>
                  <a:lnTo>
                    <a:pt x="6058893" y="3606957"/>
                  </a:lnTo>
                  <a:lnTo>
                    <a:pt x="6041868" y="3650933"/>
                  </a:lnTo>
                  <a:lnTo>
                    <a:pt x="6020193" y="3693256"/>
                  </a:lnTo>
                  <a:lnTo>
                    <a:pt x="5993867" y="3733927"/>
                  </a:lnTo>
                  <a:lnTo>
                    <a:pt x="5963194" y="3771853"/>
                  </a:lnTo>
                  <a:lnTo>
                    <a:pt x="5928490" y="3806095"/>
                  </a:lnTo>
                  <a:lnTo>
                    <a:pt x="5889756" y="3836653"/>
                  </a:lnTo>
                  <a:lnTo>
                    <a:pt x="5846990" y="3863528"/>
                  </a:lnTo>
                  <a:lnTo>
                    <a:pt x="5800192" y="3886720"/>
                  </a:lnTo>
                  <a:lnTo>
                    <a:pt x="5758396" y="3902972"/>
                  </a:lnTo>
                  <a:lnTo>
                    <a:pt x="5714374" y="3916269"/>
                  </a:lnTo>
                  <a:lnTo>
                    <a:pt x="5668127" y="3926611"/>
                  </a:lnTo>
                  <a:lnTo>
                    <a:pt x="5619654" y="3933998"/>
                  </a:lnTo>
                  <a:lnTo>
                    <a:pt x="5568955" y="3938430"/>
                  </a:lnTo>
                  <a:lnTo>
                    <a:pt x="5516030" y="3939908"/>
                  </a:lnTo>
                  <a:lnTo>
                    <a:pt x="5465568" y="3938513"/>
                  </a:lnTo>
                  <a:lnTo>
                    <a:pt x="5416850" y="3934328"/>
                  </a:lnTo>
                  <a:lnTo>
                    <a:pt x="5369875" y="3927354"/>
                  </a:lnTo>
                  <a:lnTo>
                    <a:pt x="5324642" y="3917590"/>
                  </a:lnTo>
                  <a:lnTo>
                    <a:pt x="5281150" y="3905036"/>
                  </a:lnTo>
                  <a:lnTo>
                    <a:pt x="5239398" y="3889692"/>
                  </a:lnTo>
                  <a:lnTo>
                    <a:pt x="5192269" y="3867527"/>
                  </a:lnTo>
                  <a:lnTo>
                    <a:pt x="5148980" y="3841343"/>
                  </a:lnTo>
                  <a:lnTo>
                    <a:pt x="5109531" y="3811141"/>
                  </a:lnTo>
                  <a:lnTo>
                    <a:pt x="5073923" y="3776923"/>
                  </a:lnTo>
                  <a:lnTo>
                    <a:pt x="5042155" y="3738689"/>
                  </a:lnTo>
                  <a:lnTo>
                    <a:pt x="5014721" y="3697658"/>
                  </a:lnTo>
                  <a:lnTo>
                    <a:pt x="4992115" y="3655216"/>
                  </a:lnTo>
                  <a:lnTo>
                    <a:pt x="4974336" y="3611361"/>
                  </a:lnTo>
                  <a:lnTo>
                    <a:pt x="4961382" y="3566093"/>
                  </a:lnTo>
                  <a:lnTo>
                    <a:pt x="4953255" y="3519411"/>
                  </a:lnTo>
                  <a:lnTo>
                    <a:pt x="4947095" y="3449076"/>
                  </a:lnTo>
                  <a:lnTo>
                    <a:pt x="4944674" y="3405584"/>
                  </a:lnTo>
                  <a:lnTo>
                    <a:pt x="4942693" y="3356543"/>
                  </a:lnTo>
                  <a:lnTo>
                    <a:pt x="4941152" y="3301952"/>
                  </a:lnTo>
                  <a:lnTo>
                    <a:pt x="4940051" y="3241812"/>
                  </a:lnTo>
                  <a:lnTo>
                    <a:pt x="4939391" y="3176122"/>
                  </a:lnTo>
                  <a:lnTo>
                    <a:pt x="4939170" y="3104883"/>
                  </a:lnTo>
                  <a:lnTo>
                    <a:pt x="4939170" y="2776855"/>
                  </a:lnTo>
                  <a:lnTo>
                    <a:pt x="4939381" y="2707216"/>
                  </a:lnTo>
                  <a:lnTo>
                    <a:pt x="4940013" y="2642861"/>
                  </a:lnTo>
                  <a:lnTo>
                    <a:pt x="4941067" y="2583790"/>
                  </a:lnTo>
                  <a:lnTo>
                    <a:pt x="4942542" y="2530003"/>
                  </a:lnTo>
                  <a:lnTo>
                    <a:pt x="4944439" y="2481499"/>
                  </a:lnTo>
                  <a:lnTo>
                    <a:pt x="4946757" y="2438278"/>
                  </a:lnTo>
                  <a:lnTo>
                    <a:pt x="4952658" y="2367686"/>
                  </a:lnTo>
                  <a:lnTo>
                    <a:pt x="4960455" y="2320416"/>
                  </a:lnTo>
                  <a:lnTo>
                    <a:pt x="4972887" y="2274815"/>
                  </a:lnTo>
                  <a:lnTo>
                    <a:pt x="4989954" y="2230882"/>
                  </a:lnTo>
                  <a:lnTo>
                    <a:pt x="5011655" y="2188615"/>
                  </a:lnTo>
                  <a:lnTo>
                    <a:pt x="5037989" y="2148014"/>
                  </a:lnTo>
                  <a:lnTo>
                    <a:pt x="5068658" y="2110025"/>
                  </a:lnTo>
                  <a:lnTo>
                    <a:pt x="5103361" y="2075751"/>
                  </a:lnTo>
                  <a:lnTo>
                    <a:pt x="5142097" y="2045191"/>
                  </a:lnTo>
                  <a:lnTo>
                    <a:pt x="5184865" y="2018347"/>
                  </a:lnTo>
                  <a:lnTo>
                    <a:pt x="5231664" y="1995220"/>
                  </a:lnTo>
                  <a:lnTo>
                    <a:pt x="5273462" y="1978905"/>
                  </a:lnTo>
                  <a:lnTo>
                    <a:pt x="5317499" y="1965557"/>
                  </a:lnTo>
                  <a:lnTo>
                    <a:pt x="5363774" y="1955176"/>
                  </a:lnTo>
                  <a:lnTo>
                    <a:pt x="5412288" y="1947761"/>
                  </a:lnTo>
                  <a:lnTo>
                    <a:pt x="5463040" y="1943312"/>
                  </a:lnTo>
                  <a:lnTo>
                    <a:pt x="5516030" y="1941830"/>
                  </a:lnTo>
                  <a:lnTo>
                    <a:pt x="5566428" y="1943230"/>
                  </a:lnTo>
                  <a:lnTo>
                    <a:pt x="5615094" y="1947430"/>
                  </a:lnTo>
                  <a:lnTo>
                    <a:pt x="5662029" y="1954431"/>
                  </a:lnTo>
                  <a:lnTo>
                    <a:pt x="5707233" y="1964232"/>
                  </a:lnTo>
                  <a:lnTo>
                    <a:pt x="5750705" y="1976834"/>
                  </a:lnTo>
                  <a:lnTo>
                    <a:pt x="5792445" y="1992236"/>
                  </a:lnTo>
                  <a:lnTo>
                    <a:pt x="5839581" y="2014345"/>
                  </a:lnTo>
                  <a:lnTo>
                    <a:pt x="5882874" y="2040499"/>
                  </a:lnTo>
                  <a:lnTo>
                    <a:pt x="5922325" y="2070701"/>
                  </a:lnTo>
                  <a:lnTo>
                    <a:pt x="5957934" y="2104952"/>
                  </a:lnTo>
                  <a:lnTo>
                    <a:pt x="5989702" y="2143252"/>
                  </a:lnTo>
                  <a:lnTo>
                    <a:pt x="6017122" y="2184207"/>
                  </a:lnTo>
                  <a:lnTo>
                    <a:pt x="6039701" y="2226593"/>
                  </a:lnTo>
                  <a:lnTo>
                    <a:pt x="6057441" y="2270408"/>
                  </a:lnTo>
                  <a:lnTo>
                    <a:pt x="6070340" y="2315652"/>
                  </a:lnTo>
                  <a:lnTo>
                    <a:pt x="6078399" y="2362327"/>
                  </a:lnTo>
                  <a:lnTo>
                    <a:pt x="6084649" y="2432583"/>
                  </a:lnTo>
                  <a:lnTo>
                    <a:pt x="6087105" y="2476055"/>
                  </a:lnTo>
                  <a:lnTo>
                    <a:pt x="6089114" y="2525090"/>
                  </a:lnTo>
                  <a:lnTo>
                    <a:pt x="6090677" y="2579687"/>
                  </a:lnTo>
                  <a:lnTo>
                    <a:pt x="6091793" y="2639847"/>
                  </a:lnTo>
                  <a:lnTo>
                    <a:pt x="6092463" y="2705569"/>
                  </a:lnTo>
                  <a:lnTo>
                    <a:pt x="6092686" y="2776855"/>
                  </a:lnTo>
                  <a:lnTo>
                    <a:pt x="6092686" y="3104883"/>
                  </a:lnTo>
                  <a:close/>
                </a:path>
                <a:path w="16311244" h="3940175">
                  <a:moveTo>
                    <a:pt x="5594008" y="2474836"/>
                  </a:moveTo>
                  <a:lnTo>
                    <a:pt x="5593079" y="2413905"/>
                  </a:lnTo>
                  <a:lnTo>
                    <a:pt x="5590290" y="2365052"/>
                  </a:lnTo>
                  <a:lnTo>
                    <a:pt x="5579123" y="2303589"/>
                  </a:lnTo>
                  <a:lnTo>
                    <a:pt x="5539360" y="2268608"/>
                  </a:lnTo>
                  <a:lnTo>
                    <a:pt x="5518214" y="2266276"/>
                  </a:lnTo>
                  <a:lnTo>
                    <a:pt x="5499893" y="2268162"/>
                  </a:lnTo>
                  <a:lnTo>
                    <a:pt x="5458473" y="2296439"/>
                  </a:lnTo>
                  <a:lnTo>
                    <a:pt x="5442997" y="2356124"/>
                  </a:lnTo>
                  <a:lnTo>
                    <a:pt x="5439126" y="2408101"/>
                  </a:lnTo>
                  <a:lnTo>
                    <a:pt x="5437836" y="2474836"/>
                  </a:lnTo>
                  <a:lnTo>
                    <a:pt x="5437836" y="3370186"/>
                  </a:lnTo>
                  <a:lnTo>
                    <a:pt x="5438681" y="3445731"/>
                  </a:lnTo>
                  <a:lnTo>
                    <a:pt x="5441214" y="3505277"/>
                  </a:lnTo>
                  <a:lnTo>
                    <a:pt x="5445433" y="3548824"/>
                  </a:lnTo>
                  <a:lnTo>
                    <a:pt x="5460440" y="3593382"/>
                  </a:lnTo>
                  <a:lnTo>
                    <a:pt x="5514836" y="3615258"/>
                  </a:lnTo>
                  <a:lnTo>
                    <a:pt x="5537944" y="3612455"/>
                  </a:lnTo>
                  <a:lnTo>
                    <a:pt x="5570386" y="3590033"/>
                  </a:lnTo>
                  <a:lnTo>
                    <a:pt x="5585971" y="3540112"/>
                  </a:lnTo>
                  <a:lnTo>
                    <a:pt x="5590436" y="3494260"/>
                  </a:lnTo>
                  <a:lnTo>
                    <a:pt x="5593115" y="3432856"/>
                  </a:lnTo>
                  <a:lnTo>
                    <a:pt x="5594008" y="3355898"/>
                  </a:lnTo>
                  <a:lnTo>
                    <a:pt x="5594008" y="2474836"/>
                  </a:lnTo>
                  <a:close/>
                </a:path>
                <a:path w="16311244" h="3940175">
                  <a:moveTo>
                    <a:pt x="7817308" y="1982114"/>
                  </a:moveTo>
                  <a:lnTo>
                    <a:pt x="7817308" y="3899623"/>
                  </a:lnTo>
                  <a:lnTo>
                    <a:pt x="7381342" y="3899623"/>
                  </a:lnTo>
                  <a:lnTo>
                    <a:pt x="7381342" y="2605011"/>
                  </a:lnTo>
                  <a:lnTo>
                    <a:pt x="7207314" y="3899623"/>
                  </a:lnTo>
                  <a:lnTo>
                    <a:pt x="6898145" y="3899623"/>
                  </a:lnTo>
                  <a:lnTo>
                    <a:pt x="6714592" y="2634576"/>
                  </a:lnTo>
                  <a:lnTo>
                    <a:pt x="6714592" y="3899623"/>
                  </a:lnTo>
                  <a:lnTo>
                    <a:pt x="6278627" y="3899623"/>
                  </a:lnTo>
                  <a:lnTo>
                    <a:pt x="6278627" y="1982114"/>
                  </a:lnTo>
                  <a:lnTo>
                    <a:pt x="6924142" y="1982114"/>
                  </a:lnTo>
                  <a:lnTo>
                    <a:pt x="6931339" y="2026288"/>
                  </a:lnTo>
                  <a:lnTo>
                    <a:pt x="6938642" y="2072392"/>
                  </a:lnTo>
                  <a:lnTo>
                    <a:pt x="6946050" y="2120423"/>
                  </a:lnTo>
                  <a:lnTo>
                    <a:pt x="6953564" y="2170383"/>
                  </a:lnTo>
                  <a:lnTo>
                    <a:pt x="6961183" y="2222272"/>
                  </a:lnTo>
                  <a:lnTo>
                    <a:pt x="6968907" y="2276088"/>
                  </a:lnTo>
                  <a:lnTo>
                    <a:pt x="6976736" y="2331832"/>
                  </a:lnTo>
                  <a:lnTo>
                    <a:pt x="6984671" y="2389505"/>
                  </a:lnTo>
                  <a:lnTo>
                    <a:pt x="7053327" y="2877464"/>
                  </a:lnTo>
                  <a:lnTo>
                    <a:pt x="7167030" y="1982114"/>
                  </a:lnTo>
                  <a:lnTo>
                    <a:pt x="7817308" y="1982114"/>
                  </a:lnTo>
                  <a:close/>
                </a:path>
                <a:path w="16311244" h="3940175">
                  <a:moveTo>
                    <a:pt x="8878583" y="1982114"/>
                  </a:moveTo>
                  <a:lnTo>
                    <a:pt x="9163927" y="3899623"/>
                  </a:lnTo>
                  <a:lnTo>
                    <a:pt x="8653552" y="3899623"/>
                  </a:lnTo>
                  <a:lnTo>
                    <a:pt x="8628546" y="3554933"/>
                  </a:lnTo>
                  <a:lnTo>
                    <a:pt x="8449755" y="3554933"/>
                  </a:lnTo>
                  <a:lnTo>
                    <a:pt x="8420190" y="3899623"/>
                  </a:lnTo>
                  <a:lnTo>
                    <a:pt x="7903655" y="3899623"/>
                  </a:lnTo>
                  <a:lnTo>
                    <a:pt x="8157262" y="1982114"/>
                  </a:lnTo>
                  <a:lnTo>
                    <a:pt x="8878583" y="1982114"/>
                  </a:lnTo>
                  <a:close/>
                </a:path>
                <a:path w="16311244" h="3940175">
                  <a:moveTo>
                    <a:pt x="8614462" y="3215005"/>
                  </a:moveTo>
                  <a:lnTo>
                    <a:pt x="8609723" y="3173704"/>
                  </a:lnTo>
                  <a:lnTo>
                    <a:pt x="8604985" y="3131208"/>
                  </a:lnTo>
                  <a:lnTo>
                    <a:pt x="8600247" y="3087516"/>
                  </a:lnTo>
                  <a:lnTo>
                    <a:pt x="8595509" y="3042629"/>
                  </a:lnTo>
                  <a:lnTo>
                    <a:pt x="8590771" y="2996546"/>
                  </a:lnTo>
                  <a:lnTo>
                    <a:pt x="8586033" y="2949267"/>
                  </a:lnTo>
                  <a:lnTo>
                    <a:pt x="8581296" y="2900793"/>
                  </a:lnTo>
                  <a:lnTo>
                    <a:pt x="8576558" y="2851124"/>
                  </a:lnTo>
                  <a:lnTo>
                    <a:pt x="8571821" y="2800259"/>
                  </a:lnTo>
                  <a:lnTo>
                    <a:pt x="8567083" y="2748199"/>
                  </a:lnTo>
                  <a:lnTo>
                    <a:pt x="8562346" y="2694944"/>
                  </a:lnTo>
                  <a:lnTo>
                    <a:pt x="8557608" y="2640493"/>
                  </a:lnTo>
                  <a:lnTo>
                    <a:pt x="8552870" y="2584848"/>
                  </a:lnTo>
                  <a:lnTo>
                    <a:pt x="8548132" y="2528006"/>
                  </a:lnTo>
                  <a:lnTo>
                    <a:pt x="8543394" y="2469970"/>
                  </a:lnTo>
                  <a:lnTo>
                    <a:pt x="8538655" y="2410739"/>
                  </a:lnTo>
                  <a:lnTo>
                    <a:pt x="8529402" y="2478297"/>
                  </a:lnTo>
                  <a:lnTo>
                    <a:pt x="8520592" y="2543550"/>
                  </a:lnTo>
                  <a:lnTo>
                    <a:pt x="8512225" y="2606496"/>
                  </a:lnTo>
                  <a:lnTo>
                    <a:pt x="8504301" y="2667138"/>
                  </a:lnTo>
                  <a:lnTo>
                    <a:pt x="8496821" y="2725474"/>
                  </a:lnTo>
                  <a:lnTo>
                    <a:pt x="8489784" y="2781504"/>
                  </a:lnTo>
                  <a:lnTo>
                    <a:pt x="8483190" y="2835228"/>
                  </a:lnTo>
                  <a:lnTo>
                    <a:pt x="8477040" y="2886648"/>
                  </a:lnTo>
                  <a:lnTo>
                    <a:pt x="8471333" y="2935761"/>
                  </a:lnTo>
                  <a:lnTo>
                    <a:pt x="8466069" y="2982569"/>
                  </a:lnTo>
                  <a:lnTo>
                    <a:pt x="8461249" y="3027072"/>
                  </a:lnTo>
                  <a:lnTo>
                    <a:pt x="8456872" y="3069269"/>
                  </a:lnTo>
                  <a:lnTo>
                    <a:pt x="8452938" y="3109161"/>
                  </a:lnTo>
                  <a:lnTo>
                    <a:pt x="8446402" y="3182029"/>
                  </a:lnTo>
                  <a:lnTo>
                    <a:pt x="8443799" y="3215005"/>
                  </a:lnTo>
                  <a:lnTo>
                    <a:pt x="8614462" y="3215005"/>
                  </a:lnTo>
                  <a:close/>
                </a:path>
                <a:path w="16311244" h="3940175">
                  <a:moveTo>
                    <a:pt x="9249157" y="1982114"/>
                  </a:moveTo>
                  <a:lnTo>
                    <a:pt x="9751404" y="1982114"/>
                  </a:lnTo>
                  <a:lnTo>
                    <a:pt x="9816718" y="1983002"/>
                  </a:lnTo>
                  <a:lnTo>
                    <a:pt x="9876795" y="1985665"/>
                  </a:lnTo>
                  <a:lnTo>
                    <a:pt x="9931636" y="1990104"/>
                  </a:lnTo>
                  <a:lnTo>
                    <a:pt x="9981240" y="1996317"/>
                  </a:lnTo>
                  <a:lnTo>
                    <a:pt x="10025607" y="2004305"/>
                  </a:lnTo>
                  <a:lnTo>
                    <a:pt x="10064738" y="2014067"/>
                  </a:lnTo>
                  <a:lnTo>
                    <a:pt x="10116097" y="2031826"/>
                  </a:lnTo>
                  <a:lnTo>
                    <a:pt x="10160634" y="2053158"/>
                  </a:lnTo>
                  <a:lnTo>
                    <a:pt x="10198349" y="2078061"/>
                  </a:lnTo>
                  <a:lnTo>
                    <a:pt x="10229241" y="2106536"/>
                  </a:lnTo>
                  <a:lnTo>
                    <a:pt x="10254592" y="2138300"/>
                  </a:lnTo>
                  <a:lnTo>
                    <a:pt x="10275477" y="2173262"/>
                  </a:lnTo>
                  <a:lnTo>
                    <a:pt x="10291897" y="2211424"/>
                  </a:lnTo>
                  <a:lnTo>
                    <a:pt x="10303854" y="2252789"/>
                  </a:lnTo>
                  <a:lnTo>
                    <a:pt x="10310925" y="2290849"/>
                  </a:lnTo>
                  <a:lnTo>
                    <a:pt x="10316426" y="2336451"/>
                  </a:lnTo>
                  <a:lnTo>
                    <a:pt x="10320356" y="2389592"/>
                  </a:lnTo>
                  <a:lnTo>
                    <a:pt x="10322714" y="2450275"/>
                  </a:lnTo>
                  <a:lnTo>
                    <a:pt x="10323501" y="2518498"/>
                  </a:lnTo>
                  <a:lnTo>
                    <a:pt x="10323501" y="2685580"/>
                  </a:lnTo>
                  <a:lnTo>
                    <a:pt x="10321984" y="2755022"/>
                  </a:lnTo>
                  <a:lnTo>
                    <a:pt x="10317436" y="2816513"/>
                  </a:lnTo>
                  <a:lnTo>
                    <a:pt x="10309856" y="2870051"/>
                  </a:lnTo>
                  <a:lnTo>
                    <a:pt x="10299245" y="2915637"/>
                  </a:lnTo>
                  <a:lnTo>
                    <a:pt x="10285604" y="2953270"/>
                  </a:lnTo>
                  <a:lnTo>
                    <a:pt x="10262682" y="2992897"/>
                  </a:lnTo>
                  <a:lnTo>
                    <a:pt x="10231824" y="3027635"/>
                  </a:lnTo>
                  <a:lnTo>
                    <a:pt x="10193030" y="3057487"/>
                  </a:lnTo>
                  <a:lnTo>
                    <a:pt x="10146297" y="3082455"/>
                  </a:lnTo>
                  <a:lnTo>
                    <a:pt x="10103330" y="3098598"/>
                  </a:lnTo>
                  <a:lnTo>
                    <a:pt x="10055395" y="3111155"/>
                  </a:lnTo>
                  <a:lnTo>
                    <a:pt x="10002493" y="3120123"/>
                  </a:lnTo>
                  <a:lnTo>
                    <a:pt x="9944623" y="3125505"/>
                  </a:lnTo>
                  <a:lnTo>
                    <a:pt x="9881782" y="3127298"/>
                  </a:lnTo>
                  <a:lnTo>
                    <a:pt x="9747835" y="3127298"/>
                  </a:lnTo>
                  <a:lnTo>
                    <a:pt x="9747835" y="3899623"/>
                  </a:lnTo>
                  <a:lnTo>
                    <a:pt x="9249157" y="3899623"/>
                  </a:lnTo>
                  <a:lnTo>
                    <a:pt x="9249157" y="1982114"/>
                  </a:lnTo>
                  <a:close/>
                </a:path>
                <a:path w="16311244" h="3940175">
                  <a:moveTo>
                    <a:pt x="9747835" y="2310130"/>
                  </a:moveTo>
                  <a:lnTo>
                    <a:pt x="9747835" y="2798089"/>
                  </a:lnTo>
                  <a:lnTo>
                    <a:pt x="9758165" y="2798613"/>
                  </a:lnTo>
                  <a:lnTo>
                    <a:pt x="9767725" y="2798986"/>
                  </a:lnTo>
                  <a:lnTo>
                    <a:pt x="9776515" y="2799209"/>
                  </a:lnTo>
                  <a:lnTo>
                    <a:pt x="9784538" y="2799283"/>
                  </a:lnTo>
                  <a:lnTo>
                    <a:pt x="9816244" y="2797175"/>
                  </a:lnTo>
                  <a:lnTo>
                    <a:pt x="9863869" y="2780311"/>
                  </a:lnTo>
                  <a:lnTo>
                    <a:pt x="9891513" y="2744132"/>
                  </a:lnTo>
                  <a:lnTo>
                    <a:pt x="9904911" y="2673985"/>
                  </a:lnTo>
                  <a:lnTo>
                    <a:pt x="9906585" y="2625255"/>
                  </a:lnTo>
                  <a:lnTo>
                    <a:pt x="9906585" y="2467698"/>
                  </a:lnTo>
                  <a:lnTo>
                    <a:pt x="9904663" y="2422788"/>
                  </a:lnTo>
                  <a:lnTo>
                    <a:pt x="9889285" y="2358794"/>
                  </a:lnTo>
                  <a:lnTo>
                    <a:pt x="9856290" y="2326771"/>
                  </a:lnTo>
                  <a:lnTo>
                    <a:pt x="9792295" y="2311979"/>
                  </a:lnTo>
                  <a:lnTo>
                    <a:pt x="9747835" y="2310130"/>
                  </a:lnTo>
                  <a:close/>
                </a:path>
                <a:path w="16311244" h="3940175">
                  <a:moveTo>
                    <a:pt x="11580216" y="1982114"/>
                  </a:moveTo>
                  <a:lnTo>
                    <a:pt x="11580216" y="3899623"/>
                  </a:lnTo>
                  <a:lnTo>
                    <a:pt x="11143222" y="3899623"/>
                  </a:lnTo>
                  <a:lnTo>
                    <a:pt x="10883659" y="3027883"/>
                  </a:lnTo>
                  <a:lnTo>
                    <a:pt x="10883659" y="3899623"/>
                  </a:lnTo>
                  <a:lnTo>
                    <a:pt x="10466744" y="3899623"/>
                  </a:lnTo>
                  <a:lnTo>
                    <a:pt x="10466744" y="1982114"/>
                  </a:lnTo>
                  <a:lnTo>
                    <a:pt x="10883659" y="1982114"/>
                  </a:lnTo>
                  <a:lnTo>
                    <a:pt x="11163263" y="2845523"/>
                  </a:lnTo>
                  <a:lnTo>
                    <a:pt x="11163263" y="1982114"/>
                  </a:lnTo>
                  <a:lnTo>
                    <a:pt x="11580216" y="1982114"/>
                  </a:lnTo>
                  <a:close/>
                </a:path>
                <a:path w="16311244" h="3940175">
                  <a:moveTo>
                    <a:pt x="12842723" y="1982114"/>
                  </a:moveTo>
                  <a:lnTo>
                    <a:pt x="12479122" y="3205480"/>
                  </a:lnTo>
                  <a:lnTo>
                    <a:pt x="12479122" y="3899623"/>
                  </a:lnTo>
                  <a:lnTo>
                    <a:pt x="12017223" y="3899623"/>
                  </a:lnTo>
                  <a:lnTo>
                    <a:pt x="12017223" y="3205480"/>
                  </a:lnTo>
                  <a:lnTo>
                    <a:pt x="11666576" y="1982114"/>
                  </a:lnTo>
                  <a:lnTo>
                    <a:pt x="12124919" y="1982114"/>
                  </a:lnTo>
                  <a:lnTo>
                    <a:pt x="12138874" y="2055181"/>
                  </a:lnTo>
                  <a:lnTo>
                    <a:pt x="12151986" y="2124996"/>
                  </a:lnTo>
                  <a:lnTo>
                    <a:pt x="12164255" y="2191557"/>
                  </a:lnTo>
                  <a:lnTo>
                    <a:pt x="12175681" y="2254866"/>
                  </a:lnTo>
                  <a:lnTo>
                    <a:pt x="12186265" y="2314922"/>
                  </a:lnTo>
                  <a:lnTo>
                    <a:pt x="12196007" y="2371725"/>
                  </a:lnTo>
                  <a:lnTo>
                    <a:pt x="12204907" y="2425276"/>
                  </a:lnTo>
                  <a:lnTo>
                    <a:pt x="12212965" y="2475573"/>
                  </a:lnTo>
                  <a:lnTo>
                    <a:pt x="12220182" y="2522618"/>
                  </a:lnTo>
                  <a:lnTo>
                    <a:pt x="12226557" y="2566411"/>
                  </a:lnTo>
                  <a:lnTo>
                    <a:pt x="12232091" y="2606950"/>
                  </a:lnTo>
                  <a:lnTo>
                    <a:pt x="12240638" y="2678272"/>
                  </a:lnTo>
                  <a:lnTo>
                    <a:pt x="12245823" y="2736583"/>
                  </a:lnTo>
                  <a:lnTo>
                    <a:pt x="12251606" y="2695050"/>
                  </a:lnTo>
                  <a:lnTo>
                    <a:pt x="12257880" y="2652265"/>
                  </a:lnTo>
                  <a:lnTo>
                    <a:pt x="12264646" y="2608228"/>
                  </a:lnTo>
                  <a:lnTo>
                    <a:pt x="12271903" y="2562939"/>
                  </a:lnTo>
                  <a:lnTo>
                    <a:pt x="12279652" y="2516398"/>
                  </a:lnTo>
                  <a:lnTo>
                    <a:pt x="12287894" y="2468605"/>
                  </a:lnTo>
                  <a:lnTo>
                    <a:pt x="12296628" y="2419559"/>
                  </a:lnTo>
                  <a:lnTo>
                    <a:pt x="12305854" y="2369262"/>
                  </a:lnTo>
                  <a:lnTo>
                    <a:pt x="12315574" y="2317712"/>
                  </a:lnTo>
                  <a:lnTo>
                    <a:pt x="12325786" y="2264910"/>
                  </a:lnTo>
                  <a:lnTo>
                    <a:pt x="12336492" y="2210855"/>
                  </a:lnTo>
                  <a:lnTo>
                    <a:pt x="12347692" y="2155548"/>
                  </a:lnTo>
                  <a:lnTo>
                    <a:pt x="12359385" y="2098989"/>
                  </a:lnTo>
                  <a:lnTo>
                    <a:pt x="12371572" y="2041178"/>
                  </a:lnTo>
                  <a:lnTo>
                    <a:pt x="12384253" y="1982114"/>
                  </a:lnTo>
                  <a:lnTo>
                    <a:pt x="12842723" y="1982114"/>
                  </a:lnTo>
                  <a:close/>
                </a:path>
              </a:pathLst>
            </a:custGeom>
            <a:ln w="57150">
              <a:solidFill>
                <a:srgbClr val="20B9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912167" y="1299070"/>
            <a:ext cx="5749925" cy="490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b="0">
                <a:solidFill>
                  <a:srgbClr val="24297B"/>
                </a:solidFill>
                <a:latin typeface="Arial"/>
                <a:cs typeface="Arial"/>
              </a:rPr>
              <a:t>Building</a:t>
            </a:r>
            <a:r>
              <a:rPr dirty="0" sz="3050" spc="-80" b="0">
                <a:solidFill>
                  <a:srgbClr val="24297B"/>
                </a:solidFill>
                <a:latin typeface="Arial"/>
                <a:cs typeface="Arial"/>
              </a:rPr>
              <a:t> </a:t>
            </a:r>
            <a:r>
              <a:rPr dirty="0" sz="3050" b="0">
                <a:solidFill>
                  <a:srgbClr val="24297B"/>
                </a:solidFill>
                <a:latin typeface="Arial"/>
                <a:cs typeface="Arial"/>
              </a:rPr>
              <a:t>a</a:t>
            </a:r>
            <a:r>
              <a:rPr dirty="0" sz="3050" spc="-75" b="0">
                <a:solidFill>
                  <a:srgbClr val="24297B"/>
                </a:solidFill>
                <a:latin typeface="Arial"/>
                <a:cs typeface="Arial"/>
              </a:rPr>
              <a:t> </a:t>
            </a:r>
            <a:r>
              <a:rPr dirty="0" sz="3050" b="0">
                <a:solidFill>
                  <a:srgbClr val="24297B"/>
                </a:solidFill>
                <a:latin typeface="Arial"/>
                <a:cs typeface="Arial"/>
              </a:rPr>
              <a:t>Better</a:t>
            </a:r>
            <a:r>
              <a:rPr dirty="0" sz="3050" spc="-80" b="0">
                <a:solidFill>
                  <a:srgbClr val="24297B"/>
                </a:solidFill>
                <a:latin typeface="Arial"/>
                <a:cs typeface="Arial"/>
              </a:rPr>
              <a:t> </a:t>
            </a:r>
            <a:r>
              <a:rPr dirty="0" sz="3050" b="0">
                <a:solidFill>
                  <a:srgbClr val="24297B"/>
                </a:solidFill>
                <a:latin typeface="Arial"/>
                <a:cs typeface="Arial"/>
              </a:rPr>
              <a:t>World</a:t>
            </a:r>
            <a:r>
              <a:rPr dirty="0" sz="3050" spc="-75" b="0">
                <a:solidFill>
                  <a:srgbClr val="24297B"/>
                </a:solidFill>
                <a:latin typeface="Arial"/>
                <a:cs typeface="Arial"/>
              </a:rPr>
              <a:t> </a:t>
            </a:r>
            <a:r>
              <a:rPr dirty="0" sz="3050" spc="-10" b="0">
                <a:solidFill>
                  <a:srgbClr val="24297B"/>
                </a:solidFill>
                <a:latin typeface="Arial"/>
                <a:cs typeface="Arial"/>
              </a:rPr>
              <a:t>Together!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06600" y="347814"/>
            <a:ext cx="2565069" cy="13089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000" y="8408275"/>
            <a:ext cx="5168900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EGX | 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ARCC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ts val="3150"/>
              </a:lnSpc>
              <a:spcBef>
                <a:spcPts val="85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6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as: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dirty="0" sz="26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Sept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20" b="1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ts val="237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Prices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EGP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unless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otherwise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Noted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692" y="0"/>
              <a:ext cx="12774307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349308"/>
              <a:ext cx="14355444" cy="937894"/>
            </a:xfrm>
            <a:custGeom>
              <a:avLst/>
              <a:gdLst/>
              <a:ahLst/>
              <a:cxnLst/>
              <a:rect l="l" t="t" r="r" b="b"/>
              <a:pathLst>
                <a:path w="14355444" h="937895">
                  <a:moveTo>
                    <a:pt x="4166514" y="481609"/>
                  </a:moveTo>
                  <a:lnTo>
                    <a:pt x="3699776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3724503" y="937691"/>
                  </a:lnTo>
                  <a:lnTo>
                    <a:pt x="4166514" y="481609"/>
                  </a:lnTo>
                  <a:close/>
                </a:path>
                <a:path w="14355444" h="937895">
                  <a:moveTo>
                    <a:pt x="6221679" y="481609"/>
                  </a:moveTo>
                  <a:lnTo>
                    <a:pt x="5754929" y="0"/>
                  </a:lnTo>
                  <a:lnTo>
                    <a:pt x="3852532" y="0"/>
                  </a:lnTo>
                  <a:lnTo>
                    <a:pt x="4319270" y="481609"/>
                  </a:lnTo>
                  <a:lnTo>
                    <a:pt x="3877259" y="937691"/>
                  </a:lnTo>
                  <a:lnTo>
                    <a:pt x="5779655" y="937691"/>
                  </a:lnTo>
                  <a:lnTo>
                    <a:pt x="6221679" y="481609"/>
                  </a:lnTo>
                  <a:close/>
                </a:path>
                <a:path w="14355444" h="937895">
                  <a:moveTo>
                    <a:pt x="8255063" y="481609"/>
                  </a:moveTo>
                  <a:lnTo>
                    <a:pt x="7788313" y="0"/>
                  </a:lnTo>
                  <a:lnTo>
                    <a:pt x="5885916" y="0"/>
                  </a:lnTo>
                  <a:lnTo>
                    <a:pt x="6352667" y="481609"/>
                  </a:lnTo>
                  <a:lnTo>
                    <a:pt x="5910656" y="937691"/>
                  </a:lnTo>
                  <a:lnTo>
                    <a:pt x="7813053" y="937691"/>
                  </a:lnTo>
                  <a:lnTo>
                    <a:pt x="8255063" y="481609"/>
                  </a:lnTo>
                  <a:close/>
                </a:path>
                <a:path w="14355444" h="937895">
                  <a:moveTo>
                    <a:pt x="10288473" y="481609"/>
                  </a:moveTo>
                  <a:lnTo>
                    <a:pt x="9821723" y="0"/>
                  </a:lnTo>
                  <a:lnTo>
                    <a:pt x="7919326" y="0"/>
                  </a:lnTo>
                  <a:lnTo>
                    <a:pt x="8386064" y="481609"/>
                  </a:lnTo>
                  <a:lnTo>
                    <a:pt x="7944053" y="937691"/>
                  </a:lnTo>
                  <a:lnTo>
                    <a:pt x="9846450" y="937691"/>
                  </a:lnTo>
                  <a:lnTo>
                    <a:pt x="10288473" y="481609"/>
                  </a:lnTo>
                  <a:close/>
                </a:path>
                <a:path w="14355444" h="937895">
                  <a:moveTo>
                    <a:pt x="12321858" y="481609"/>
                  </a:moveTo>
                  <a:lnTo>
                    <a:pt x="11855107" y="0"/>
                  </a:lnTo>
                  <a:lnTo>
                    <a:pt x="9952711" y="0"/>
                  </a:lnTo>
                  <a:lnTo>
                    <a:pt x="10419461" y="481609"/>
                  </a:lnTo>
                  <a:lnTo>
                    <a:pt x="9977450" y="937691"/>
                  </a:lnTo>
                  <a:lnTo>
                    <a:pt x="11879847" y="937691"/>
                  </a:lnTo>
                  <a:lnTo>
                    <a:pt x="12321858" y="481609"/>
                  </a:lnTo>
                  <a:close/>
                </a:path>
                <a:path w="14355444" h="937895">
                  <a:moveTo>
                    <a:pt x="14355255" y="481609"/>
                  </a:moveTo>
                  <a:lnTo>
                    <a:pt x="13888504" y="0"/>
                  </a:lnTo>
                  <a:lnTo>
                    <a:pt x="11986108" y="0"/>
                  </a:lnTo>
                  <a:lnTo>
                    <a:pt x="12452858" y="481609"/>
                  </a:lnTo>
                  <a:lnTo>
                    <a:pt x="12010847" y="937691"/>
                  </a:lnTo>
                  <a:lnTo>
                    <a:pt x="13913244" y="937691"/>
                  </a:lnTo>
                  <a:lnTo>
                    <a:pt x="14355255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8650" y="9513823"/>
              <a:ext cx="831681" cy="6341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3744" y="9473513"/>
              <a:ext cx="599793" cy="6749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887" y="9473513"/>
              <a:ext cx="732607" cy="725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3284" y="9443301"/>
              <a:ext cx="696714" cy="7752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6681" y="9459645"/>
              <a:ext cx="756525" cy="7304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8143" y="9443301"/>
              <a:ext cx="575337" cy="73045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6784" y="982618"/>
              <a:ext cx="9525" cy="1131570"/>
            </a:xfrm>
            <a:custGeom>
              <a:avLst/>
              <a:gdLst/>
              <a:ahLst/>
              <a:cxnLst/>
              <a:rect l="l" t="t" r="r" b="b"/>
              <a:pathLst>
                <a:path w="9525" h="1131570">
                  <a:moveTo>
                    <a:pt x="9524" y="0"/>
                  </a:moveTo>
                  <a:lnTo>
                    <a:pt x="0" y="1131544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/>
          <p:cNvGrpSpPr/>
          <p:nvPr/>
        </p:nvGrpSpPr>
        <p:grpSpPr>
          <a:xfrm>
            <a:off x="-6349" y="-6349"/>
            <a:ext cx="622300" cy="193675"/>
            <a:chOff x="-6349" y="-6349"/>
            <a:chExt cx="622300" cy="193675"/>
          </a:xfrm>
        </p:grpSpPr>
        <p:sp>
          <p:nvSpPr>
            <p:cNvPr id="57" name="object 57"/>
            <p:cNvSpPr/>
            <p:nvPr/>
          </p:nvSpPr>
          <p:spPr>
            <a:xfrm>
              <a:off x="0" y="0"/>
              <a:ext cx="609600" cy="180975"/>
            </a:xfrm>
            <a:custGeom>
              <a:avLst/>
              <a:gdLst/>
              <a:ahLst/>
              <a:cxnLst/>
              <a:rect l="l" t="t" r="r" b="b"/>
              <a:pathLst>
                <a:path w="609600" h="180975">
                  <a:moveTo>
                    <a:pt x="609600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609600" y="1809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0" y="0"/>
              <a:ext cx="609600" cy="180975"/>
            </a:xfrm>
            <a:custGeom>
              <a:avLst/>
              <a:gdLst/>
              <a:ahLst/>
              <a:cxnLst/>
              <a:rect l="l" t="t" r="r" b="b"/>
              <a:pathLst>
                <a:path w="609600" h="180975">
                  <a:moveTo>
                    <a:pt x="0" y="0"/>
                  </a:moveTo>
                  <a:lnTo>
                    <a:pt x="0" y="180975"/>
                  </a:lnTo>
                </a:path>
                <a:path w="609600" h="180975">
                  <a:moveTo>
                    <a:pt x="609600" y="0"/>
                  </a:moveTo>
                  <a:lnTo>
                    <a:pt x="609600" y="180975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0" y="-6337"/>
              <a:ext cx="615950" cy="193675"/>
            </a:xfrm>
            <a:custGeom>
              <a:avLst/>
              <a:gdLst/>
              <a:ahLst/>
              <a:cxnLst/>
              <a:rect l="l" t="t" r="r" b="b"/>
              <a:pathLst>
                <a:path w="615950" h="193675">
                  <a:moveTo>
                    <a:pt x="603250" y="0"/>
                  </a:moveTo>
                  <a:lnTo>
                    <a:pt x="6337" y="0"/>
                  </a:lnTo>
                  <a:lnTo>
                    <a:pt x="6337" y="12687"/>
                  </a:lnTo>
                  <a:lnTo>
                    <a:pt x="603250" y="12687"/>
                  </a:lnTo>
                  <a:lnTo>
                    <a:pt x="603250" y="0"/>
                  </a:lnTo>
                  <a:close/>
                </a:path>
                <a:path w="615950" h="193675">
                  <a:moveTo>
                    <a:pt x="615950" y="180975"/>
                  </a:moveTo>
                  <a:lnTo>
                    <a:pt x="0" y="180975"/>
                  </a:lnTo>
                  <a:lnTo>
                    <a:pt x="0" y="193662"/>
                  </a:lnTo>
                  <a:lnTo>
                    <a:pt x="615950" y="193662"/>
                  </a:lnTo>
                  <a:lnTo>
                    <a:pt x="615950" y="180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339432" y="7746"/>
            <a:ext cx="282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2108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1740" y="922138"/>
            <a:ext cx="38588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Recommendation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1740" y="1265038"/>
            <a:ext cx="4843145" cy="87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15"/>
              </a:lnSpc>
              <a:spcBef>
                <a:spcPts val="100"/>
              </a:spcBef>
            </a:pP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Summary</a:t>
            </a:r>
            <a:endParaRPr sz="3600">
              <a:latin typeface="Arial"/>
              <a:cs typeface="Arial"/>
            </a:endParaRPr>
          </a:p>
          <a:p>
            <a:pPr marL="19050">
              <a:lnSpc>
                <a:spcPts val="2395"/>
              </a:lnSpc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Arabian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Company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EGX: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2446172"/>
            <a:ext cx="7651115" cy="6086475"/>
            <a:chOff x="0" y="2446172"/>
            <a:chExt cx="7651115" cy="608647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2446172"/>
              <a:ext cx="7650683" cy="25845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68926" y="6459867"/>
              <a:ext cx="5420360" cy="2072639"/>
            </a:xfrm>
            <a:custGeom>
              <a:avLst/>
              <a:gdLst/>
              <a:ahLst/>
              <a:cxnLst/>
              <a:rect l="l" t="t" r="r" b="b"/>
              <a:pathLst>
                <a:path w="5420360" h="2072640">
                  <a:moveTo>
                    <a:pt x="5029492" y="0"/>
                  </a:moveTo>
                  <a:lnTo>
                    <a:pt x="390784" y="0"/>
                  </a:lnTo>
                  <a:lnTo>
                    <a:pt x="342049" y="3068"/>
                  </a:lnTo>
                  <a:lnTo>
                    <a:pt x="295040" y="12021"/>
                  </a:lnTo>
                  <a:lnTo>
                    <a:pt x="250136" y="26481"/>
                  </a:lnTo>
                  <a:lnTo>
                    <a:pt x="207714" y="46070"/>
                  </a:lnTo>
                  <a:lnTo>
                    <a:pt x="168152" y="70409"/>
                  </a:lnTo>
                  <a:lnTo>
                    <a:pt x="131829" y="99121"/>
                  </a:lnTo>
                  <a:lnTo>
                    <a:pt x="99122" y="131827"/>
                  </a:lnTo>
                  <a:lnTo>
                    <a:pt x="70410" y="168150"/>
                  </a:lnTo>
                  <a:lnTo>
                    <a:pt x="46070" y="207711"/>
                  </a:lnTo>
                  <a:lnTo>
                    <a:pt x="26482" y="250132"/>
                  </a:lnTo>
                  <a:lnTo>
                    <a:pt x="12021" y="295036"/>
                  </a:lnTo>
                  <a:lnTo>
                    <a:pt x="3068" y="342044"/>
                  </a:lnTo>
                  <a:lnTo>
                    <a:pt x="0" y="390778"/>
                  </a:lnTo>
                  <a:lnTo>
                    <a:pt x="0" y="1681683"/>
                  </a:lnTo>
                  <a:lnTo>
                    <a:pt x="3068" y="1730417"/>
                  </a:lnTo>
                  <a:lnTo>
                    <a:pt x="12021" y="1777425"/>
                  </a:lnTo>
                  <a:lnTo>
                    <a:pt x="26482" y="1822329"/>
                  </a:lnTo>
                  <a:lnTo>
                    <a:pt x="46070" y="1864750"/>
                  </a:lnTo>
                  <a:lnTo>
                    <a:pt x="70410" y="1904312"/>
                  </a:lnTo>
                  <a:lnTo>
                    <a:pt x="99122" y="1940634"/>
                  </a:lnTo>
                  <a:lnTo>
                    <a:pt x="131829" y="1973341"/>
                  </a:lnTo>
                  <a:lnTo>
                    <a:pt x="168152" y="2002052"/>
                  </a:lnTo>
                  <a:lnTo>
                    <a:pt x="207714" y="2026392"/>
                  </a:lnTo>
                  <a:lnTo>
                    <a:pt x="250136" y="2045980"/>
                  </a:lnTo>
                  <a:lnTo>
                    <a:pt x="295040" y="2060440"/>
                  </a:lnTo>
                  <a:lnTo>
                    <a:pt x="342049" y="2069393"/>
                  </a:lnTo>
                  <a:lnTo>
                    <a:pt x="390784" y="2072462"/>
                  </a:lnTo>
                  <a:lnTo>
                    <a:pt x="5029492" y="2072462"/>
                  </a:lnTo>
                  <a:lnTo>
                    <a:pt x="5078226" y="2069393"/>
                  </a:lnTo>
                  <a:lnTo>
                    <a:pt x="5125234" y="2060440"/>
                  </a:lnTo>
                  <a:lnTo>
                    <a:pt x="5170138" y="2045980"/>
                  </a:lnTo>
                  <a:lnTo>
                    <a:pt x="5212559" y="2026392"/>
                  </a:lnTo>
                  <a:lnTo>
                    <a:pt x="5252121" y="2002052"/>
                  </a:lnTo>
                  <a:lnTo>
                    <a:pt x="5288443" y="1973341"/>
                  </a:lnTo>
                  <a:lnTo>
                    <a:pt x="5321150" y="1940634"/>
                  </a:lnTo>
                  <a:lnTo>
                    <a:pt x="5349861" y="1904312"/>
                  </a:lnTo>
                  <a:lnTo>
                    <a:pt x="5374201" y="1864750"/>
                  </a:lnTo>
                  <a:lnTo>
                    <a:pt x="5393789" y="1822329"/>
                  </a:lnTo>
                  <a:lnTo>
                    <a:pt x="5408249" y="1777425"/>
                  </a:lnTo>
                  <a:lnTo>
                    <a:pt x="5417202" y="1730417"/>
                  </a:lnTo>
                  <a:lnTo>
                    <a:pt x="5420271" y="1681683"/>
                  </a:lnTo>
                  <a:lnTo>
                    <a:pt x="5420271" y="390778"/>
                  </a:lnTo>
                  <a:lnTo>
                    <a:pt x="5417202" y="342044"/>
                  </a:lnTo>
                  <a:lnTo>
                    <a:pt x="5408249" y="295036"/>
                  </a:lnTo>
                  <a:lnTo>
                    <a:pt x="5393789" y="250132"/>
                  </a:lnTo>
                  <a:lnTo>
                    <a:pt x="5374201" y="207711"/>
                  </a:lnTo>
                  <a:lnTo>
                    <a:pt x="5349861" y="168150"/>
                  </a:lnTo>
                  <a:lnTo>
                    <a:pt x="5321150" y="131827"/>
                  </a:lnTo>
                  <a:lnTo>
                    <a:pt x="5288443" y="99121"/>
                  </a:lnTo>
                  <a:lnTo>
                    <a:pt x="5252121" y="70409"/>
                  </a:lnTo>
                  <a:lnTo>
                    <a:pt x="5212559" y="46070"/>
                  </a:lnTo>
                  <a:lnTo>
                    <a:pt x="5170138" y="26481"/>
                  </a:lnTo>
                  <a:lnTo>
                    <a:pt x="5125234" y="12021"/>
                  </a:lnTo>
                  <a:lnTo>
                    <a:pt x="5078226" y="3068"/>
                  </a:lnTo>
                  <a:lnTo>
                    <a:pt x="5029492" y="0"/>
                  </a:lnTo>
                  <a:close/>
                </a:path>
              </a:pathLst>
            </a:custGeom>
            <a:solidFill>
              <a:srgbClr val="94B3D6">
                <a:alpha val="2470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066413" y="5367947"/>
            <a:ext cx="4065270" cy="10109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120"/>
              </a:lnSpc>
              <a:spcBef>
                <a:spcPts val="100"/>
              </a:spcBef>
              <a:tabLst>
                <a:tab pos="1231900" algn="l"/>
              </a:tabLst>
            </a:pPr>
            <a:r>
              <a:rPr dirty="0" sz="36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3600" spc="-25" b="1">
                <a:solidFill>
                  <a:srgbClr val="244060"/>
                </a:solidFill>
                <a:latin typeface="Arial"/>
                <a:cs typeface="Arial"/>
              </a:rPr>
              <a:t>124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3640"/>
              </a:lnSpc>
            </a:pPr>
            <a:r>
              <a:rPr dirty="0" sz="3200" spc="-10">
                <a:solidFill>
                  <a:srgbClr val="244060"/>
                </a:solidFill>
                <a:latin typeface="Arial"/>
                <a:cs typeface="Arial"/>
              </a:rPr>
              <a:t>12-</a:t>
            </a:r>
            <a:r>
              <a:rPr dirty="0" sz="3200">
                <a:solidFill>
                  <a:srgbClr val="244060"/>
                </a:solidFill>
                <a:latin typeface="Arial"/>
                <a:cs typeface="Arial"/>
              </a:rPr>
              <a:t>month</a:t>
            </a:r>
            <a:r>
              <a:rPr dirty="0" sz="32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44060"/>
                </a:solidFill>
                <a:latin typeface="Arial"/>
                <a:cs typeface="Arial"/>
              </a:rPr>
              <a:t>Target</a:t>
            </a:r>
            <a:r>
              <a:rPr dirty="0" sz="3200" spc="-10">
                <a:solidFill>
                  <a:srgbClr val="244060"/>
                </a:solidFill>
                <a:latin typeface="Arial"/>
                <a:cs typeface="Arial"/>
              </a:rPr>
              <a:t> Price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31081" y="6673698"/>
            <a:ext cx="4567555" cy="159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5265">
              <a:lnSpc>
                <a:spcPts val="9290"/>
              </a:lnSpc>
              <a:spcBef>
                <a:spcPts val="100"/>
              </a:spcBef>
            </a:pPr>
            <a:r>
              <a:rPr dirty="0" sz="8000" spc="-20" b="1">
                <a:solidFill>
                  <a:srgbClr val="244060"/>
                </a:solidFill>
                <a:latin typeface="Arial"/>
                <a:cs typeface="Arial"/>
              </a:rPr>
              <a:t>+69%</a:t>
            </a:r>
            <a:endParaRPr sz="8000">
              <a:latin typeface="Arial"/>
              <a:cs typeface="Arial"/>
            </a:endParaRPr>
          </a:p>
          <a:p>
            <a:pPr marL="12700">
              <a:lnSpc>
                <a:spcPts val="3050"/>
              </a:lnSpc>
              <a:tabLst>
                <a:tab pos="1968500" algn="l"/>
              </a:tabLst>
            </a:pP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U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P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S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I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D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50">
                <a:solidFill>
                  <a:srgbClr val="244060"/>
                </a:solidFill>
                <a:latin typeface="Arial"/>
                <a:cs typeface="Arial"/>
              </a:rPr>
              <a:t>E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	P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O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44060"/>
                </a:solidFill>
                <a:latin typeface="Arial"/>
                <a:cs typeface="Arial"/>
              </a:rPr>
              <a:t>T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E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N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44060"/>
                </a:solidFill>
                <a:latin typeface="Arial"/>
                <a:cs typeface="Arial"/>
              </a:rPr>
              <a:t>T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I</a:t>
            </a:r>
            <a:r>
              <a:rPr dirty="0" sz="2800" spc="-1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800" spc="-1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50">
                <a:solidFill>
                  <a:srgbClr val="244060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28458" y="1997075"/>
            <a:ext cx="10179685" cy="6743065"/>
            <a:chOff x="7628458" y="1997075"/>
            <a:chExt cx="10179685" cy="6743065"/>
          </a:xfrm>
        </p:grpSpPr>
        <p:sp>
          <p:nvSpPr>
            <p:cNvPr id="22" name="object 22"/>
            <p:cNvSpPr/>
            <p:nvPr/>
          </p:nvSpPr>
          <p:spPr>
            <a:xfrm>
              <a:off x="7650683" y="2019300"/>
              <a:ext cx="0" cy="6698615"/>
            </a:xfrm>
            <a:custGeom>
              <a:avLst/>
              <a:gdLst/>
              <a:ahLst/>
              <a:cxnLst/>
              <a:rect l="l" t="t" r="r" b="b"/>
              <a:pathLst>
                <a:path w="0" h="6698615">
                  <a:moveTo>
                    <a:pt x="0" y="0"/>
                  </a:moveTo>
                  <a:lnTo>
                    <a:pt x="0" y="6698386"/>
                  </a:lnTo>
                </a:path>
              </a:pathLst>
            </a:custGeom>
            <a:ln w="4444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848625" y="2782341"/>
              <a:ext cx="3188970" cy="5146675"/>
            </a:xfrm>
            <a:custGeom>
              <a:avLst/>
              <a:gdLst/>
              <a:ahLst/>
              <a:cxnLst/>
              <a:rect l="l" t="t" r="r" b="b"/>
              <a:pathLst>
                <a:path w="3188970" h="5146675">
                  <a:moveTo>
                    <a:pt x="2657005" y="0"/>
                  </a:moveTo>
                  <a:lnTo>
                    <a:pt x="531413" y="0"/>
                  </a:lnTo>
                  <a:lnTo>
                    <a:pt x="483336" y="2188"/>
                  </a:lnTo>
                  <a:lnTo>
                    <a:pt x="436409" y="8626"/>
                  </a:lnTo>
                  <a:lnTo>
                    <a:pt x="390825" y="19119"/>
                  </a:lnTo>
                  <a:lnTo>
                    <a:pt x="346779" y="33473"/>
                  </a:lnTo>
                  <a:lnTo>
                    <a:pt x="304464" y="51495"/>
                  </a:lnTo>
                  <a:lnTo>
                    <a:pt x="264073" y="72991"/>
                  </a:lnTo>
                  <a:lnTo>
                    <a:pt x="225800" y="97767"/>
                  </a:lnTo>
                  <a:lnTo>
                    <a:pt x="189840" y="125630"/>
                  </a:lnTo>
                  <a:lnTo>
                    <a:pt x="156385" y="156386"/>
                  </a:lnTo>
                  <a:lnTo>
                    <a:pt x="125629" y="189841"/>
                  </a:lnTo>
                  <a:lnTo>
                    <a:pt x="97766" y="225802"/>
                  </a:lnTo>
                  <a:lnTo>
                    <a:pt x="72990" y="264075"/>
                  </a:lnTo>
                  <a:lnTo>
                    <a:pt x="51494" y="304466"/>
                  </a:lnTo>
                  <a:lnTo>
                    <a:pt x="33473" y="346782"/>
                  </a:lnTo>
                  <a:lnTo>
                    <a:pt x="19119" y="390829"/>
                  </a:lnTo>
                  <a:lnTo>
                    <a:pt x="8626" y="436413"/>
                  </a:lnTo>
                  <a:lnTo>
                    <a:pt x="2188" y="483341"/>
                  </a:lnTo>
                  <a:lnTo>
                    <a:pt x="0" y="531418"/>
                  </a:lnTo>
                  <a:lnTo>
                    <a:pt x="0" y="4614849"/>
                  </a:lnTo>
                  <a:lnTo>
                    <a:pt x="2188" y="4662925"/>
                  </a:lnTo>
                  <a:lnTo>
                    <a:pt x="8626" y="4709851"/>
                  </a:lnTo>
                  <a:lnTo>
                    <a:pt x="19119" y="4755433"/>
                  </a:lnTo>
                  <a:lnTo>
                    <a:pt x="33473" y="4799479"/>
                  </a:lnTo>
                  <a:lnTo>
                    <a:pt x="51494" y="4841794"/>
                  </a:lnTo>
                  <a:lnTo>
                    <a:pt x="72990" y="4882184"/>
                  </a:lnTo>
                  <a:lnTo>
                    <a:pt x="97766" y="4920456"/>
                  </a:lnTo>
                  <a:lnTo>
                    <a:pt x="125629" y="4956416"/>
                  </a:lnTo>
                  <a:lnTo>
                    <a:pt x="156385" y="4989871"/>
                  </a:lnTo>
                  <a:lnTo>
                    <a:pt x="189840" y="5020626"/>
                  </a:lnTo>
                  <a:lnTo>
                    <a:pt x="225800" y="5048489"/>
                  </a:lnTo>
                  <a:lnTo>
                    <a:pt x="264073" y="5073265"/>
                  </a:lnTo>
                  <a:lnTo>
                    <a:pt x="304464" y="5094760"/>
                  </a:lnTo>
                  <a:lnTo>
                    <a:pt x="346779" y="5112782"/>
                  </a:lnTo>
                  <a:lnTo>
                    <a:pt x="390825" y="5127136"/>
                  </a:lnTo>
                  <a:lnTo>
                    <a:pt x="436409" y="5137629"/>
                  </a:lnTo>
                  <a:lnTo>
                    <a:pt x="483336" y="5144066"/>
                  </a:lnTo>
                  <a:lnTo>
                    <a:pt x="531413" y="5146255"/>
                  </a:lnTo>
                  <a:lnTo>
                    <a:pt x="2657005" y="5146255"/>
                  </a:lnTo>
                  <a:lnTo>
                    <a:pt x="2705082" y="5144066"/>
                  </a:lnTo>
                  <a:lnTo>
                    <a:pt x="2752010" y="5137629"/>
                  </a:lnTo>
                  <a:lnTo>
                    <a:pt x="2797594" y="5127136"/>
                  </a:lnTo>
                  <a:lnTo>
                    <a:pt x="2841641" y="5112782"/>
                  </a:lnTo>
                  <a:lnTo>
                    <a:pt x="2883957" y="5094760"/>
                  </a:lnTo>
                  <a:lnTo>
                    <a:pt x="2924348" y="5073265"/>
                  </a:lnTo>
                  <a:lnTo>
                    <a:pt x="2962621" y="5048489"/>
                  </a:lnTo>
                  <a:lnTo>
                    <a:pt x="2998582" y="5020626"/>
                  </a:lnTo>
                  <a:lnTo>
                    <a:pt x="3032037" y="4989871"/>
                  </a:lnTo>
                  <a:lnTo>
                    <a:pt x="3062793" y="4956416"/>
                  </a:lnTo>
                  <a:lnTo>
                    <a:pt x="3090656" y="4920456"/>
                  </a:lnTo>
                  <a:lnTo>
                    <a:pt x="3115432" y="4882184"/>
                  </a:lnTo>
                  <a:lnTo>
                    <a:pt x="3136928" y="4841794"/>
                  </a:lnTo>
                  <a:lnTo>
                    <a:pt x="3154950" y="4799479"/>
                  </a:lnTo>
                  <a:lnTo>
                    <a:pt x="3169304" y="4755433"/>
                  </a:lnTo>
                  <a:lnTo>
                    <a:pt x="3179797" y="4709851"/>
                  </a:lnTo>
                  <a:lnTo>
                    <a:pt x="3186234" y="4662925"/>
                  </a:lnTo>
                  <a:lnTo>
                    <a:pt x="3188423" y="4614849"/>
                  </a:lnTo>
                  <a:lnTo>
                    <a:pt x="3188423" y="531418"/>
                  </a:lnTo>
                  <a:lnTo>
                    <a:pt x="3186234" y="483341"/>
                  </a:lnTo>
                  <a:lnTo>
                    <a:pt x="3179797" y="436413"/>
                  </a:lnTo>
                  <a:lnTo>
                    <a:pt x="3169304" y="390829"/>
                  </a:lnTo>
                  <a:lnTo>
                    <a:pt x="3154950" y="346782"/>
                  </a:lnTo>
                  <a:lnTo>
                    <a:pt x="3136928" y="304466"/>
                  </a:lnTo>
                  <a:lnTo>
                    <a:pt x="3115432" y="264075"/>
                  </a:lnTo>
                  <a:lnTo>
                    <a:pt x="3090656" y="225802"/>
                  </a:lnTo>
                  <a:lnTo>
                    <a:pt x="3062793" y="189841"/>
                  </a:lnTo>
                  <a:lnTo>
                    <a:pt x="3032037" y="156386"/>
                  </a:lnTo>
                  <a:lnTo>
                    <a:pt x="2998582" y="125630"/>
                  </a:lnTo>
                  <a:lnTo>
                    <a:pt x="2962621" y="97767"/>
                  </a:lnTo>
                  <a:lnTo>
                    <a:pt x="2924348" y="72991"/>
                  </a:lnTo>
                  <a:lnTo>
                    <a:pt x="2883957" y="51495"/>
                  </a:lnTo>
                  <a:lnTo>
                    <a:pt x="2841641" y="33473"/>
                  </a:lnTo>
                  <a:lnTo>
                    <a:pt x="2797594" y="19119"/>
                  </a:lnTo>
                  <a:lnTo>
                    <a:pt x="2752010" y="8626"/>
                  </a:lnTo>
                  <a:lnTo>
                    <a:pt x="2705082" y="2188"/>
                  </a:lnTo>
                  <a:lnTo>
                    <a:pt x="2657005" y="0"/>
                  </a:lnTo>
                  <a:close/>
                </a:path>
              </a:pathLst>
            </a:custGeom>
            <a:solidFill>
              <a:srgbClr val="DCE6F1">
                <a:alpha val="3372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253647" y="2773184"/>
              <a:ext cx="3188970" cy="5155565"/>
            </a:xfrm>
            <a:custGeom>
              <a:avLst/>
              <a:gdLst/>
              <a:ahLst/>
              <a:cxnLst/>
              <a:rect l="l" t="t" r="r" b="b"/>
              <a:pathLst>
                <a:path w="3188969" h="5155565">
                  <a:moveTo>
                    <a:pt x="2657005" y="0"/>
                  </a:moveTo>
                  <a:lnTo>
                    <a:pt x="531413" y="0"/>
                  </a:lnTo>
                  <a:lnTo>
                    <a:pt x="483336" y="2188"/>
                  </a:lnTo>
                  <a:lnTo>
                    <a:pt x="436409" y="8626"/>
                  </a:lnTo>
                  <a:lnTo>
                    <a:pt x="390825" y="19119"/>
                  </a:lnTo>
                  <a:lnTo>
                    <a:pt x="346779" y="33473"/>
                  </a:lnTo>
                  <a:lnTo>
                    <a:pt x="304464" y="51495"/>
                  </a:lnTo>
                  <a:lnTo>
                    <a:pt x="264073" y="72991"/>
                  </a:lnTo>
                  <a:lnTo>
                    <a:pt x="225800" y="97767"/>
                  </a:lnTo>
                  <a:lnTo>
                    <a:pt x="189840" y="125630"/>
                  </a:lnTo>
                  <a:lnTo>
                    <a:pt x="156385" y="156386"/>
                  </a:lnTo>
                  <a:lnTo>
                    <a:pt x="125629" y="189841"/>
                  </a:lnTo>
                  <a:lnTo>
                    <a:pt x="97766" y="225802"/>
                  </a:lnTo>
                  <a:lnTo>
                    <a:pt x="72990" y="264075"/>
                  </a:lnTo>
                  <a:lnTo>
                    <a:pt x="51494" y="304466"/>
                  </a:lnTo>
                  <a:lnTo>
                    <a:pt x="33473" y="346782"/>
                  </a:lnTo>
                  <a:lnTo>
                    <a:pt x="19119" y="390829"/>
                  </a:lnTo>
                  <a:lnTo>
                    <a:pt x="8626" y="436413"/>
                  </a:lnTo>
                  <a:lnTo>
                    <a:pt x="2188" y="483341"/>
                  </a:lnTo>
                  <a:lnTo>
                    <a:pt x="0" y="531418"/>
                  </a:lnTo>
                  <a:lnTo>
                    <a:pt x="0" y="4623993"/>
                  </a:lnTo>
                  <a:lnTo>
                    <a:pt x="2188" y="4672071"/>
                  </a:lnTo>
                  <a:lnTo>
                    <a:pt x="8626" y="4718999"/>
                  </a:lnTo>
                  <a:lnTo>
                    <a:pt x="19119" y="4764583"/>
                  </a:lnTo>
                  <a:lnTo>
                    <a:pt x="33473" y="4808630"/>
                  </a:lnTo>
                  <a:lnTo>
                    <a:pt x="51494" y="4850946"/>
                  </a:lnTo>
                  <a:lnTo>
                    <a:pt x="72990" y="4891337"/>
                  </a:lnTo>
                  <a:lnTo>
                    <a:pt x="97766" y="4929610"/>
                  </a:lnTo>
                  <a:lnTo>
                    <a:pt x="125629" y="4965571"/>
                  </a:lnTo>
                  <a:lnTo>
                    <a:pt x="156385" y="4999026"/>
                  </a:lnTo>
                  <a:lnTo>
                    <a:pt x="189840" y="5029782"/>
                  </a:lnTo>
                  <a:lnTo>
                    <a:pt x="225800" y="5057645"/>
                  </a:lnTo>
                  <a:lnTo>
                    <a:pt x="264073" y="5082421"/>
                  </a:lnTo>
                  <a:lnTo>
                    <a:pt x="304464" y="5103917"/>
                  </a:lnTo>
                  <a:lnTo>
                    <a:pt x="346779" y="5121939"/>
                  </a:lnTo>
                  <a:lnTo>
                    <a:pt x="390825" y="5136293"/>
                  </a:lnTo>
                  <a:lnTo>
                    <a:pt x="436409" y="5146786"/>
                  </a:lnTo>
                  <a:lnTo>
                    <a:pt x="483336" y="5153223"/>
                  </a:lnTo>
                  <a:lnTo>
                    <a:pt x="531413" y="5155412"/>
                  </a:lnTo>
                  <a:lnTo>
                    <a:pt x="2657005" y="5155412"/>
                  </a:lnTo>
                  <a:lnTo>
                    <a:pt x="2705082" y="5153223"/>
                  </a:lnTo>
                  <a:lnTo>
                    <a:pt x="2752010" y="5146786"/>
                  </a:lnTo>
                  <a:lnTo>
                    <a:pt x="2797594" y="5136293"/>
                  </a:lnTo>
                  <a:lnTo>
                    <a:pt x="2841641" y="5121939"/>
                  </a:lnTo>
                  <a:lnTo>
                    <a:pt x="2883957" y="5103917"/>
                  </a:lnTo>
                  <a:lnTo>
                    <a:pt x="2924348" y="5082421"/>
                  </a:lnTo>
                  <a:lnTo>
                    <a:pt x="2962621" y="5057645"/>
                  </a:lnTo>
                  <a:lnTo>
                    <a:pt x="2998582" y="5029782"/>
                  </a:lnTo>
                  <a:lnTo>
                    <a:pt x="3032037" y="4999026"/>
                  </a:lnTo>
                  <a:lnTo>
                    <a:pt x="3062793" y="4965571"/>
                  </a:lnTo>
                  <a:lnTo>
                    <a:pt x="3090656" y="4929610"/>
                  </a:lnTo>
                  <a:lnTo>
                    <a:pt x="3115432" y="4891337"/>
                  </a:lnTo>
                  <a:lnTo>
                    <a:pt x="3136928" y="4850946"/>
                  </a:lnTo>
                  <a:lnTo>
                    <a:pt x="3154950" y="4808630"/>
                  </a:lnTo>
                  <a:lnTo>
                    <a:pt x="3169304" y="4764583"/>
                  </a:lnTo>
                  <a:lnTo>
                    <a:pt x="3179797" y="4718999"/>
                  </a:lnTo>
                  <a:lnTo>
                    <a:pt x="3186234" y="4672071"/>
                  </a:lnTo>
                  <a:lnTo>
                    <a:pt x="3188423" y="4623993"/>
                  </a:lnTo>
                  <a:lnTo>
                    <a:pt x="3188423" y="531418"/>
                  </a:lnTo>
                  <a:lnTo>
                    <a:pt x="3186234" y="483341"/>
                  </a:lnTo>
                  <a:lnTo>
                    <a:pt x="3179797" y="436413"/>
                  </a:lnTo>
                  <a:lnTo>
                    <a:pt x="3169304" y="390829"/>
                  </a:lnTo>
                  <a:lnTo>
                    <a:pt x="3154950" y="346782"/>
                  </a:lnTo>
                  <a:lnTo>
                    <a:pt x="3136928" y="304466"/>
                  </a:lnTo>
                  <a:lnTo>
                    <a:pt x="3115432" y="264075"/>
                  </a:lnTo>
                  <a:lnTo>
                    <a:pt x="3090656" y="225802"/>
                  </a:lnTo>
                  <a:lnTo>
                    <a:pt x="3062793" y="189841"/>
                  </a:lnTo>
                  <a:lnTo>
                    <a:pt x="3032037" y="156386"/>
                  </a:lnTo>
                  <a:lnTo>
                    <a:pt x="2998582" y="125630"/>
                  </a:lnTo>
                  <a:lnTo>
                    <a:pt x="2962621" y="97767"/>
                  </a:lnTo>
                  <a:lnTo>
                    <a:pt x="2924348" y="72991"/>
                  </a:lnTo>
                  <a:lnTo>
                    <a:pt x="2883957" y="51495"/>
                  </a:lnTo>
                  <a:lnTo>
                    <a:pt x="2841641" y="33473"/>
                  </a:lnTo>
                  <a:lnTo>
                    <a:pt x="2797594" y="19119"/>
                  </a:lnTo>
                  <a:lnTo>
                    <a:pt x="2752010" y="8626"/>
                  </a:lnTo>
                  <a:lnTo>
                    <a:pt x="2705082" y="2188"/>
                  </a:lnTo>
                  <a:lnTo>
                    <a:pt x="2657005" y="0"/>
                  </a:lnTo>
                  <a:close/>
                </a:path>
              </a:pathLst>
            </a:custGeom>
            <a:solidFill>
              <a:srgbClr val="DCE6F1">
                <a:alpha val="3294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619223" y="2773184"/>
              <a:ext cx="3188970" cy="5155565"/>
            </a:xfrm>
            <a:custGeom>
              <a:avLst/>
              <a:gdLst/>
              <a:ahLst/>
              <a:cxnLst/>
              <a:rect l="l" t="t" r="r" b="b"/>
              <a:pathLst>
                <a:path w="3188969" h="5155565">
                  <a:moveTo>
                    <a:pt x="2657005" y="0"/>
                  </a:moveTo>
                  <a:lnTo>
                    <a:pt x="531413" y="0"/>
                  </a:lnTo>
                  <a:lnTo>
                    <a:pt x="483336" y="2188"/>
                  </a:lnTo>
                  <a:lnTo>
                    <a:pt x="436409" y="8626"/>
                  </a:lnTo>
                  <a:lnTo>
                    <a:pt x="390825" y="19119"/>
                  </a:lnTo>
                  <a:lnTo>
                    <a:pt x="346779" y="33473"/>
                  </a:lnTo>
                  <a:lnTo>
                    <a:pt x="304464" y="51495"/>
                  </a:lnTo>
                  <a:lnTo>
                    <a:pt x="264073" y="72991"/>
                  </a:lnTo>
                  <a:lnTo>
                    <a:pt x="225800" y="97767"/>
                  </a:lnTo>
                  <a:lnTo>
                    <a:pt x="189840" y="125630"/>
                  </a:lnTo>
                  <a:lnTo>
                    <a:pt x="156385" y="156386"/>
                  </a:lnTo>
                  <a:lnTo>
                    <a:pt x="125629" y="189841"/>
                  </a:lnTo>
                  <a:lnTo>
                    <a:pt x="97766" y="225802"/>
                  </a:lnTo>
                  <a:lnTo>
                    <a:pt x="72990" y="264075"/>
                  </a:lnTo>
                  <a:lnTo>
                    <a:pt x="51494" y="304466"/>
                  </a:lnTo>
                  <a:lnTo>
                    <a:pt x="33473" y="346782"/>
                  </a:lnTo>
                  <a:lnTo>
                    <a:pt x="19119" y="390829"/>
                  </a:lnTo>
                  <a:lnTo>
                    <a:pt x="8626" y="436413"/>
                  </a:lnTo>
                  <a:lnTo>
                    <a:pt x="2188" y="483341"/>
                  </a:lnTo>
                  <a:lnTo>
                    <a:pt x="0" y="531418"/>
                  </a:lnTo>
                  <a:lnTo>
                    <a:pt x="0" y="4623993"/>
                  </a:lnTo>
                  <a:lnTo>
                    <a:pt x="2188" y="4672071"/>
                  </a:lnTo>
                  <a:lnTo>
                    <a:pt x="8626" y="4718999"/>
                  </a:lnTo>
                  <a:lnTo>
                    <a:pt x="19119" y="4764583"/>
                  </a:lnTo>
                  <a:lnTo>
                    <a:pt x="33473" y="4808630"/>
                  </a:lnTo>
                  <a:lnTo>
                    <a:pt x="51494" y="4850946"/>
                  </a:lnTo>
                  <a:lnTo>
                    <a:pt x="72990" y="4891337"/>
                  </a:lnTo>
                  <a:lnTo>
                    <a:pt x="97766" y="4929610"/>
                  </a:lnTo>
                  <a:lnTo>
                    <a:pt x="125629" y="4965571"/>
                  </a:lnTo>
                  <a:lnTo>
                    <a:pt x="156385" y="4999026"/>
                  </a:lnTo>
                  <a:lnTo>
                    <a:pt x="189840" y="5029782"/>
                  </a:lnTo>
                  <a:lnTo>
                    <a:pt x="225800" y="5057645"/>
                  </a:lnTo>
                  <a:lnTo>
                    <a:pt x="264073" y="5082421"/>
                  </a:lnTo>
                  <a:lnTo>
                    <a:pt x="304464" y="5103917"/>
                  </a:lnTo>
                  <a:lnTo>
                    <a:pt x="346779" y="5121939"/>
                  </a:lnTo>
                  <a:lnTo>
                    <a:pt x="390825" y="5136293"/>
                  </a:lnTo>
                  <a:lnTo>
                    <a:pt x="436409" y="5146786"/>
                  </a:lnTo>
                  <a:lnTo>
                    <a:pt x="483336" y="5153223"/>
                  </a:lnTo>
                  <a:lnTo>
                    <a:pt x="531413" y="5155412"/>
                  </a:lnTo>
                  <a:lnTo>
                    <a:pt x="2657005" y="5155412"/>
                  </a:lnTo>
                  <a:lnTo>
                    <a:pt x="2705082" y="5153223"/>
                  </a:lnTo>
                  <a:lnTo>
                    <a:pt x="2752010" y="5146786"/>
                  </a:lnTo>
                  <a:lnTo>
                    <a:pt x="2797594" y="5136293"/>
                  </a:lnTo>
                  <a:lnTo>
                    <a:pt x="2841641" y="5121939"/>
                  </a:lnTo>
                  <a:lnTo>
                    <a:pt x="2883957" y="5103917"/>
                  </a:lnTo>
                  <a:lnTo>
                    <a:pt x="2924348" y="5082421"/>
                  </a:lnTo>
                  <a:lnTo>
                    <a:pt x="2962621" y="5057645"/>
                  </a:lnTo>
                  <a:lnTo>
                    <a:pt x="2998582" y="5029782"/>
                  </a:lnTo>
                  <a:lnTo>
                    <a:pt x="3032037" y="4999026"/>
                  </a:lnTo>
                  <a:lnTo>
                    <a:pt x="3062793" y="4965571"/>
                  </a:lnTo>
                  <a:lnTo>
                    <a:pt x="3090656" y="4929610"/>
                  </a:lnTo>
                  <a:lnTo>
                    <a:pt x="3115432" y="4891337"/>
                  </a:lnTo>
                  <a:lnTo>
                    <a:pt x="3136928" y="4850946"/>
                  </a:lnTo>
                  <a:lnTo>
                    <a:pt x="3154950" y="4808630"/>
                  </a:lnTo>
                  <a:lnTo>
                    <a:pt x="3169304" y="4764583"/>
                  </a:lnTo>
                  <a:lnTo>
                    <a:pt x="3179797" y="4718999"/>
                  </a:lnTo>
                  <a:lnTo>
                    <a:pt x="3186234" y="4672071"/>
                  </a:lnTo>
                  <a:lnTo>
                    <a:pt x="3188423" y="4623993"/>
                  </a:lnTo>
                  <a:lnTo>
                    <a:pt x="3188423" y="531418"/>
                  </a:lnTo>
                  <a:lnTo>
                    <a:pt x="3186234" y="483341"/>
                  </a:lnTo>
                  <a:lnTo>
                    <a:pt x="3179797" y="436413"/>
                  </a:lnTo>
                  <a:lnTo>
                    <a:pt x="3169304" y="390829"/>
                  </a:lnTo>
                  <a:lnTo>
                    <a:pt x="3154950" y="346782"/>
                  </a:lnTo>
                  <a:lnTo>
                    <a:pt x="3136928" y="304466"/>
                  </a:lnTo>
                  <a:lnTo>
                    <a:pt x="3115432" y="264075"/>
                  </a:lnTo>
                  <a:lnTo>
                    <a:pt x="3090656" y="225802"/>
                  </a:lnTo>
                  <a:lnTo>
                    <a:pt x="3062793" y="189841"/>
                  </a:lnTo>
                  <a:lnTo>
                    <a:pt x="3032037" y="156386"/>
                  </a:lnTo>
                  <a:lnTo>
                    <a:pt x="2998582" y="125630"/>
                  </a:lnTo>
                  <a:lnTo>
                    <a:pt x="2962621" y="97767"/>
                  </a:lnTo>
                  <a:lnTo>
                    <a:pt x="2924348" y="72991"/>
                  </a:lnTo>
                  <a:lnTo>
                    <a:pt x="2883957" y="51495"/>
                  </a:lnTo>
                  <a:lnTo>
                    <a:pt x="2841641" y="33473"/>
                  </a:lnTo>
                  <a:lnTo>
                    <a:pt x="2797594" y="19119"/>
                  </a:lnTo>
                  <a:lnTo>
                    <a:pt x="2752010" y="8626"/>
                  </a:lnTo>
                  <a:lnTo>
                    <a:pt x="2705082" y="2188"/>
                  </a:lnTo>
                  <a:lnTo>
                    <a:pt x="2657005" y="0"/>
                  </a:lnTo>
                  <a:close/>
                </a:path>
              </a:pathLst>
            </a:custGeom>
            <a:solidFill>
              <a:srgbClr val="DCE6F1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055241" y="2031593"/>
            <a:ext cx="43129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We</a:t>
            </a:r>
            <a:r>
              <a:rPr dirty="0" sz="28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see</a:t>
            </a:r>
            <a:r>
              <a:rPr dirty="0" sz="2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3</a:t>
            </a:r>
            <a:r>
              <a:rPr dirty="0" sz="2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reasons</a:t>
            </a:r>
            <a:r>
              <a:rPr dirty="0" sz="2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invest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92237" y="2949485"/>
            <a:ext cx="384682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37890" algn="l"/>
              </a:tabLst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01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990571" y="2949485"/>
            <a:ext cx="421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03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92850" y="3238207"/>
            <a:ext cx="1310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445537" y="3700488"/>
            <a:ext cx="8813800" cy="2151380"/>
            <a:chOff x="8445537" y="3700488"/>
            <a:chExt cx="8813800" cy="2151380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45537" y="3895445"/>
              <a:ext cx="1697647" cy="181400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90476" y="3806609"/>
              <a:ext cx="1764474" cy="20448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20111" y="3700488"/>
              <a:ext cx="2139226" cy="21255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634410" y="3479507"/>
            <a:ext cx="162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Recovery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27256" y="3262426"/>
            <a:ext cx="2090420" cy="64516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74955" marR="5080" indent="-262890">
              <a:lnSpc>
                <a:spcPct val="69400"/>
              </a:lnSpc>
              <a:spcBef>
                <a:spcPts val="98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4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4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Margin Expansion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694493" y="3270325"/>
            <a:ext cx="990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381284" y="3524326"/>
            <a:ext cx="161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Optionality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58681" y="5535421"/>
            <a:ext cx="2724150" cy="9931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065" marR="508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stronger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16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drive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volume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operating leverage.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533485" y="5530341"/>
            <a:ext cx="2700655" cy="9931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065" marR="5080" indent="127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Energy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higher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use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cost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intensity</a:t>
            </a:r>
            <a:r>
              <a:rPr dirty="0" sz="16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support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margin growth.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839649" y="5549252"/>
            <a:ext cx="2746375" cy="9931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Strategic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Suez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location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international</a:t>
            </a:r>
            <a:r>
              <a:rPr dirty="0" sz="16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exposure</a:t>
            </a:r>
            <a:r>
              <a:rPr dirty="0" sz="1600" spc="-6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provide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diversification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additional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avenues.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848625" y="6696900"/>
            <a:ext cx="9973310" cy="1231900"/>
          </a:xfrm>
          <a:custGeom>
            <a:avLst/>
            <a:gdLst/>
            <a:ahLst/>
            <a:cxnLst/>
            <a:rect l="l" t="t" r="r" b="b"/>
            <a:pathLst>
              <a:path w="9973310" h="1231900">
                <a:moveTo>
                  <a:pt x="3188424" y="300532"/>
                </a:moveTo>
                <a:lnTo>
                  <a:pt x="3184448" y="252056"/>
                </a:lnTo>
                <a:lnTo>
                  <a:pt x="3172993" y="205968"/>
                </a:lnTo>
                <a:lnTo>
                  <a:pt x="3154654" y="162915"/>
                </a:lnTo>
                <a:lnTo>
                  <a:pt x="3130105" y="123532"/>
                </a:lnTo>
                <a:lnTo>
                  <a:pt x="3099968" y="88442"/>
                </a:lnTo>
                <a:lnTo>
                  <a:pt x="3064891" y="58305"/>
                </a:lnTo>
                <a:lnTo>
                  <a:pt x="3025508" y="33756"/>
                </a:lnTo>
                <a:lnTo>
                  <a:pt x="2982442" y="15430"/>
                </a:lnTo>
                <a:lnTo>
                  <a:pt x="2936354" y="3975"/>
                </a:lnTo>
                <a:lnTo>
                  <a:pt x="2887891" y="0"/>
                </a:lnTo>
                <a:lnTo>
                  <a:pt x="300532" y="0"/>
                </a:lnTo>
                <a:lnTo>
                  <a:pt x="252044" y="3975"/>
                </a:lnTo>
                <a:lnTo>
                  <a:pt x="205968" y="15430"/>
                </a:lnTo>
                <a:lnTo>
                  <a:pt x="162902" y="33756"/>
                </a:lnTo>
                <a:lnTo>
                  <a:pt x="123520" y="58305"/>
                </a:lnTo>
                <a:lnTo>
                  <a:pt x="88430" y="88442"/>
                </a:lnTo>
                <a:lnTo>
                  <a:pt x="58305" y="123532"/>
                </a:lnTo>
                <a:lnTo>
                  <a:pt x="33743" y="162915"/>
                </a:lnTo>
                <a:lnTo>
                  <a:pt x="15417" y="205968"/>
                </a:lnTo>
                <a:lnTo>
                  <a:pt x="3962" y="252056"/>
                </a:lnTo>
                <a:lnTo>
                  <a:pt x="0" y="300532"/>
                </a:lnTo>
                <a:lnTo>
                  <a:pt x="0" y="931164"/>
                </a:lnTo>
                <a:lnTo>
                  <a:pt x="3962" y="979652"/>
                </a:lnTo>
                <a:lnTo>
                  <a:pt x="15417" y="1025740"/>
                </a:lnTo>
                <a:lnTo>
                  <a:pt x="33743" y="1068793"/>
                </a:lnTo>
                <a:lnTo>
                  <a:pt x="58305" y="1108176"/>
                </a:lnTo>
                <a:lnTo>
                  <a:pt x="88430" y="1143266"/>
                </a:lnTo>
                <a:lnTo>
                  <a:pt x="123520" y="1173403"/>
                </a:lnTo>
                <a:lnTo>
                  <a:pt x="162902" y="1197952"/>
                </a:lnTo>
                <a:lnTo>
                  <a:pt x="205968" y="1216279"/>
                </a:lnTo>
                <a:lnTo>
                  <a:pt x="252044" y="1227734"/>
                </a:lnTo>
                <a:lnTo>
                  <a:pt x="300532" y="1231696"/>
                </a:lnTo>
                <a:lnTo>
                  <a:pt x="2887891" y="1231696"/>
                </a:lnTo>
                <a:lnTo>
                  <a:pt x="2936354" y="1227734"/>
                </a:lnTo>
                <a:lnTo>
                  <a:pt x="2982442" y="1216279"/>
                </a:lnTo>
                <a:lnTo>
                  <a:pt x="3025508" y="1197952"/>
                </a:lnTo>
                <a:lnTo>
                  <a:pt x="3064891" y="1173403"/>
                </a:lnTo>
                <a:lnTo>
                  <a:pt x="3099968" y="1143266"/>
                </a:lnTo>
                <a:lnTo>
                  <a:pt x="3130105" y="1108176"/>
                </a:lnTo>
                <a:lnTo>
                  <a:pt x="3154654" y="1068793"/>
                </a:lnTo>
                <a:lnTo>
                  <a:pt x="3172993" y="1025740"/>
                </a:lnTo>
                <a:lnTo>
                  <a:pt x="3184448" y="979652"/>
                </a:lnTo>
                <a:lnTo>
                  <a:pt x="3188424" y="931164"/>
                </a:lnTo>
                <a:lnTo>
                  <a:pt x="3188424" y="300532"/>
                </a:lnTo>
                <a:close/>
              </a:path>
              <a:path w="9973310" h="1231900">
                <a:moveTo>
                  <a:pt x="6648590" y="300532"/>
                </a:moveTo>
                <a:lnTo>
                  <a:pt x="6644614" y="252056"/>
                </a:lnTo>
                <a:lnTo>
                  <a:pt x="6633159" y="205968"/>
                </a:lnTo>
                <a:lnTo>
                  <a:pt x="6614833" y="162915"/>
                </a:lnTo>
                <a:lnTo>
                  <a:pt x="6590284" y="123532"/>
                </a:lnTo>
                <a:lnTo>
                  <a:pt x="6560147" y="88442"/>
                </a:lnTo>
                <a:lnTo>
                  <a:pt x="6525057" y="58305"/>
                </a:lnTo>
                <a:lnTo>
                  <a:pt x="6485674" y="33756"/>
                </a:lnTo>
                <a:lnTo>
                  <a:pt x="6442621" y="15430"/>
                </a:lnTo>
                <a:lnTo>
                  <a:pt x="6396533" y="3975"/>
                </a:lnTo>
                <a:lnTo>
                  <a:pt x="6348057" y="0"/>
                </a:lnTo>
                <a:lnTo>
                  <a:pt x="3739121" y="0"/>
                </a:lnTo>
                <a:lnTo>
                  <a:pt x="3690632" y="3975"/>
                </a:lnTo>
                <a:lnTo>
                  <a:pt x="3644557" y="15430"/>
                </a:lnTo>
                <a:lnTo>
                  <a:pt x="3601491" y="33756"/>
                </a:lnTo>
                <a:lnTo>
                  <a:pt x="3562108" y="58305"/>
                </a:lnTo>
                <a:lnTo>
                  <a:pt x="3527018" y="88442"/>
                </a:lnTo>
                <a:lnTo>
                  <a:pt x="3496894" y="123532"/>
                </a:lnTo>
                <a:lnTo>
                  <a:pt x="3472332" y="162915"/>
                </a:lnTo>
                <a:lnTo>
                  <a:pt x="3454006" y="205968"/>
                </a:lnTo>
                <a:lnTo>
                  <a:pt x="3442551" y="252056"/>
                </a:lnTo>
                <a:lnTo>
                  <a:pt x="3438588" y="300532"/>
                </a:lnTo>
                <a:lnTo>
                  <a:pt x="3438588" y="931164"/>
                </a:lnTo>
                <a:lnTo>
                  <a:pt x="3442551" y="979652"/>
                </a:lnTo>
                <a:lnTo>
                  <a:pt x="3454006" y="1025740"/>
                </a:lnTo>
                <a:lnTo>
                  <a:pt x="3472332" y="1068793"/>
                </a:lnTo>
                <a:lnTo>
                  <a:pt x="3496894" y="1108176"/>
                </a:lnTo>
                <a:lnTo>
                  <a:pt x="3527018" y="1143266"/>
                </a:lnTo>
                <a:lnTo>
                  <a:pt x="3562108" y="1173403"/>
                </a:lnTo>
                <a:lnTo>
                  <a:pt x="3601491" y="1197952"/>
                </a:lnTo>
                <a:lnTo>
                  <a:pt x="3644557" y="1216279"/>
                </a:lnTo>
                <a:lnTo>
                  <a:pt x="3690632" y="1227734"/>
                </a:lnTo>
                <a:lnTo>
                  <a:pt x="3739121" y="1231696"/>
                </a:lnTo>
                <a:lnTo>
                  <a:pt x="6348057" y="1231696"/>
                </a:lnTo>
                <a:lnTo>
                  <a:pt x="6396533" y="1227734"/>
                </a:lnTo>
                <a:lnTo>
                  <a:pt x="6442621" y="1216279"/>
                </a:lnTo>
                <a:lnTo>
                  <a:pt x="6485674" y="1197952"/>
                </a:lnTo>
                <a:lnTo>
                  <a:pt x="6525057" y="1173403"/>
                </a:lnTo>
                <a:lnTo>
                  <a:pt x="6560147" y="1143266"/>
                </a:lnTo>
                <a:lnTo>
                  <a:pt x="6590284" y="1108176"/>
                </a:lnTo>
                <a:lnTo>
                  <a:pt x="6614833" y="1068793"/>
                </a:lnTo>
                <a:lnTo>
                  <a:pt x="6633159" y="1025740"/>
                </a:lnTo>
                <a:lnTo>
                  <a:pt x="6644614" y="979652"/>
                </a:lnTo>
                <a:lnTo>
                  <a:pt x="6648590" y="931164"/>
                </a:lnTo>
                <a:lnTo>
                  <a:pt x="6648590" y="300532"/>
                </a:lnTo>
                <a:close/>
              </a:path>
              <a:path w="9973310" h="1231900">
                <a:moveTo>
                  <a:pt x="9972738" y="300532"/>
                </a:moveTo>
                <a:lnTo>
                  <a:pt x="9968763" y="252056"/>
                </a:lnTo>
                <a:lnTo>
                  <a:pt x="9957308" y="205968"/>
                </a:lnTo>
                <a:lnTo>
                  <a:pt x="9938969" y="162915"/>
                </a:lnTo>
                <a:lnTo>
                  <a:pt x="9914420" y="123532"/>
                </a:lnTo>
                <a:lnTo>
                  <a:pt x="9884283" y="88442"/>
                </a:lnTo>
                <a:lnTo>
                  <a:pt x="9849206" y="58305"/>
                </a:lnTo>
                <a:lnTo>
                  <a:pt x="9809823" y="33756"/>
                </a:lnTo>
                <a:lnTo>
                  <a:pt x="9766757" y="15430"/>
                </a:lnTo>
                <a:lnTo>
                  <a:pt x="9720669" y="3975"/>
                </a:lnTo>
                <a:lnTo>
                  <a:pt x="9672206" y="0"/>
                </a:lnTo>
                <a:lnTo>
                  <a:pt x="7084847" y="0"/>
                </a:lnTo>
                <a:lnTo>
                  <a:pt x="7036359" y="3975"/>
                </a:lnTo>
                <a:lnTo>
                  <a:pt x="6990283" y="15430"/>
                </a:lnTo>
                <a:lnTo>
                  <a:pt x="6947217" y="33756"/>
                </a:lnTo>
                <a:lnTo>
                  <a:pt x="6907835" y="58305"/>
                </a:lnTo>
                <a:lnTo>
                  <a:pt x="6872745" y="88442"/>
                </a:lnTo>
                <a:lnTo>
                  <a:pt x="6842620" y="123532"/>
                </a:lnTo>
                <a:lnTo>
                  <a:pt x="6818058" y="162915"/>
                </a:lnTo>
                <a:lnTo>
                  <a:pt x="6799732" y="205968"/>
                </a:lnTo>
                <a:lnTo>
                  <a:pt x="6788277" y="252056"/>
                </a:lnTo>
                <a:lnTo>
                  <a:pt x="6784314" y="300532"/>
                </a:lnTo>
                <a:lnTo>
                  <a:pt x="6784314" y="931164"/>
                </a:lnTo>
                <a:lnTo>
                  <a:pt x="6788277" y="979652"/>
                </a:lnTo>
                <a:lnTo>
                  <a:pt x="6799732" y="1025740"/>
                </a:lnTo>
                <a:lnTo>
                  <a:pt x="6818058" y="1068793"/>
                </a:lnTo>
                <a:lnTo>
                  <a:pt x="6842620" y="1108176"/>
                </a:lnTo>
                <a:lnTo>
                  <a:pt x="6872745" y="1143266"/>
                </a:lnTo>
                <a:lnTo>
                  <a:pt x="6907835" y="1173403"/>
                </a:lnTo>
                <a:lnTo>
                  <a:pt x="6947217" y="1197952"/>
                </a:lnTo>
                <a:lnTo>
                  <a:pt x="6990283" y="1216279"/>
                </a:lnTo>
                <a:lnTo>
                  <a:pt x="7036359" y="1227734"/>
                </a:lnTo>
                <a:lnTo>
                  <a:pt x="7084847" y="1231696"/>
                </a:lnTo>
                <a:lnTo>
                  <a:pt x="9672206" y="1231696"/>
                </a:lnTo>
                <a:lnTo>
                  <a:pt x="9720669" y="1227734"/>
                </a:lnTo>
                <a:lnTo>
                  <a:pt x="9766757" y="1216279"/>
                </a:lnTo>
                <a:lnTo>
                  <a:pt x="9809823" y="1197952"/>
                </a:lnTo>
                <a:lnTo>
                  <a:pt x="9849206" y="1173403"/>
                </a:lnTo>
                <a:lnTo>
                  <a:pt x="9884283" y="1143266"/>
                </a:lnTo>
                <a:lnTo>
                  <a:pt x="9914420" y="1108176"/>
                </a:lnTo>
                <a:lnTo>
                  <a:pt x="9938969" y="1068793"/>
                </a:lnTo>
                <a:lnTo>
                  <a:pt x="9957308" y="1025740"/>
                </a:lnTo>
                <a:lnTo>
                  <a:pt x="9968763" y="979652"/>
                </a:lnTo>
                <a:lnTo>
                  <a:pt x="9972738" y="931164"/>
                </a:lnTo>
                <a:lnTo>
                  <a:pt x="9972738" y="300532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606266" y="6945693"/>
            <a:ext cx="1684655" cy="66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75">
              <a:lnSpc>
                <a:spcPts val="325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+171%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181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2030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826695" y="6982307"/>
            <a:ext cx="2092325" cy="68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4515">
              <a:lnSpc>
                <a:spcPts val="3310"/>
              </a:lnSpc>
              <a:spcBef>
                <a:spcPts val="100"/>
              </a:spcBef>
            </a:pPr>
            <a:r>
              <a:rPr dirty="0" sz="2800" spc="-20" b="1">
                <a:solidFill>
                  <a:srgbClr val="244060"/>
                </a:solidFill>
                <a:latin typeface="Arial"/>
                <a:cs typeface="Arial"/>
              </a:rPr>
              <a:t>2108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COGS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per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ton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93715" y="6982307"/>
            <a:ext cx="2204720" cy="68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8005">
              <a:lnSpc>
                <a:spcPts val="3310"/>
              </a:lnSpc>
              <a:spcBef>
                <a:spcPts val="100"/>
              </a:spcBef>
            </a:pPr>
            <a:r>
              <a:rPr dirty="0" sz="2800" spc="-20" b="1">
                <a:solidFill>
                  <a:srgbClr val="244060"/>
                </a:solidFill>
                <a:latin typeface="Arial"/>
                <a:cs typeface="Arial"/>
              </a:rPr>
              <a:t>+46%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volumes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2030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0828" y="8773820"/>
            <a:ext cx="5962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Current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73.45</a:t>
            </a:r>
            <a:r>
              <a:rPr dirty="0" sz="1800" spc="47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Horizon: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12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Months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86470" y="8161363"/>
            <a:ext cx="2279015" cy="924560"/>
          </a:xfrm>
          <a:prstGeom prst="rect">
            <a:avLst/>
          </a:prstGeom>
          <a:solidFill>
            <a:srgbClr val="C7EDD9"/>
          </a:solidFill>
        </p:spPr>
        <p:txBody>
          <a:bodyPr wrap="square" lIns="0" tIns="163830" rIns="0" bIns="0" rtlCol="0" vert="horz">
            <a:spAutoFit/>
          </a:bodyPr>
          <a:lstStyle/>
          <a:p>
            <a:pPr algn="ctr">
              <a:lnSpc>
                <a:spcPts val="1700"/>
              </a:lnSpc>
              <a:spcBef>
                <a:spcPts val="129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Current</a:t>
            </a:r>
            <a:r>
              <a:rPr dirty="0" sz="16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endParaRPr sz="1600">
              <a:latin typeface="Arial"/>
              <a:cs typeface="Arial"/>
            </a:endParaRPr>
          </a:p>
          <a:p>
            <a:pPr algn="ctr" marR="45720">
              <a:lnSpc>
                <a:spcPts val="3140"/>
              </a:lnSpc>
            </a:pP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EGP </a:t>
            </a: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73.45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67707" y="820099"/>
            <a:ext cx="15989935" cy="7933055"/>
            <a:chOff x="567707" y="820099"/>
            <a:chExt cx="15989935" cy="7933055"/>
          </a:xfrm>
        </p:grpSpPr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701197" y="8614092"/>
              <a:ext cx="4254411" cy="13853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04721" y="8347303"/>
              <a:ext cx="177998" cy="17800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12826" y="8306434"/>
              <a:ext cx="170015" cy="2599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908711" y="8303056"/>
              <a:ext cx="283959" cy="26927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706778" y="8306434"/>
              <a:ext cx="170011" cy="26014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4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Investment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Summary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Investment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Recommendation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167356" y="8116608"/>
            <a:ext cx="2279015" cy="924560"/>
          </a:xfrm>
          <a:prstGeom prst="rect">
            <a:avLst/>
          </a:prstGeom>
          <a:solidFill>
            <a:srgbClr val="244060"/>
          </a:solidFill>
        </p:spPr>
        <p:txBody>
          <a:bodyPr wrap="square" lIns="0" tIns="189230" rIns="0" bIns="0" rtlCol="0" vert="horz">
            <a:spAutoFit/>
          </a:bodyPr>
          <a:lstStyle/>
          <a:p>
            <a:pPr algn="ctr" marL="48260">
              <a:lnSpc>
                <a:spcPts val="1700"/>
              </a:lnSpc>
              <a:spcBef>
                <a:spcPts val="149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Target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Price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3140"/>
              </a:lnSpc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EGP </a:t>
            </a:r>
            <a:r>
              <a:rPr dirty="0" sz="2800" spc="-25" b="1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2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02103" y="9676213"/>
            <a:ext cx="11537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16" name="object 16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5983" y="498886"/>
            <a:ext cx="50203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Summary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Thesis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683" y="1093927"/>
            <a:ext cx="9525" cy="757555"/>
          </a:xfrm>
          <a:custGeom>
            <a:avLst/>
            <a:gdLst/>
            <a:ahLst/>
            <a:cxnLst/>
            <a:rect l="l" t="t" r="r" b="b"/>
            <a:pathLst>
              <a:path w="9525" h="757555">
                <a:moveTo>
                  <a:pt x="9524" y="0"/>
                </a:moveTo>
                <a:lnTo>
                  <a:pt x="0" y="757529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Market</a:t>
            </a:r>
            <a:r>
              <a:rPr dirty="0" spc="-35"/>
              <a:t> </a:t>
            </a:r>
            <a:r>
              <a:rPr dirty="0"/>
              <a:t>May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Underpricing</a:t>
            </a:r>
            <a:r>
              <a:rPr dirty="0" spc="-40"/>
              <a:t> </a:t>
            </a:r>
            <a:r>
              <a:rPr dirty="0"/>
              <a:t>ARCC's</a:t>
            </a:r>
            <a:r>
              <a:rPr dirty="0" spc="-35"/>
              <a:t> </a:t>
            </a:r>
            <a:r>
              <a:rPr dirty="0"/>
              <a:t>True</a:t>
            </a:r>
            <a:r>
              <a:rPr dirty="0" spc="-40"/>
              <a:t> </a:t>
            </a:r>
            <a:r>
              <a:rPr dirty="0"/>
              <a:t>Earnings</a:t>
            </a:r>
            <a:r>
              <a:rPr dirty="0" spc="-35"/>
              <a:t> </a:t>
            </a:r>
            <a:r>
              <a:rPr dirty="0" spc="-10"/>
              <a:t>Potential</a:t>
            </a:r>
          </a:p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2000"/>
              <a:t>We</a:t>
            </a:r>
            <a:r>
              <a:rPr dirty="0" sz="2000" spc="-40"/>
              <a:t> </a:t>
            </a:r>
            <a:r>
              <a:rPr dirty="0" sz="2000"/>
              <a:t>see</a:t>
            </a:r>
            <a:r>
              <a:rPr dirty="0" sz="2000" spc="-35"/>
              <a:t> </a:t>
            </a:r>
            <a:r>
              <a:rPr dirty="0" sz="2000"/>
              <a:t>four</a:t>
            </a:r>
            <a:r>
              <a:rPr dirty="0" sz="2000" spc="-35"/>
              <a:t> </a:t>
            </a:r>
            <a:r>
              <a:rPr dirty="0" sz="2000"/>
              <a:t>key</a:t>
            </a:r>
            <a:r>
              <a:rPr dirty="0" sz="2000" spc="-35"/>
              <a:t> </a:t>
            </a:r>
            <a:r>
              <a:rPr dirty="0" sz="2000"/>
              <a:t>areas</a:t>
            </a:r>
            <a:r>
              <a:rPr dirty="0" sz="2000" spc="-35"/>
              <a:t> </a:t>
            </a:r>
            <a:r>
              <a:rPr dirty="0" sz="2000"/>
              <a:t>where</a:t>
            </a:r>
            <a:r>
              <a:rPr dirty="0" sz="2000" spc="-40"/>
              <a:t> </a:t>
            </a:r>
            <a:r>
              <a:rPr dirty="0" sz="2000"/>
              <a:t>the</a:t>
            </a:r>
            <a:r>
              <a:rPr dirty="0" sz="2000" spc="-35"/>
              <a:t> </a:t>
            </a:r>
            <a:r>
              <a:rPr dirty="0" sz="2000"/>
              <a:t>market</a:t>
            </a:r>
            <a:r>
              <a:rPr dirty="0" sz="2000" spc="-35"/>
              <a:t> </a:t>
            </a:r>
            <a:r>
              <a:rPr dirty="0" sz="2000"/>
              <a:t>may</a:t>
            </a:r>
            <a:r>
              <a:rPr dirty="0" sz="2000" spc="-35"/>
              <a:t> </a:t>
            </a:r>
            <a:r>
              <a:rPr dirty="0" sz="2000"/>
              <a:t>be</a:t>
            </a:r>
            <a:r>
              <a:rPr dirty="0" sz="2000" spc="-35"/>
              <a:t> </a:t>
            </a:r>
            <a:r>
              <a:rPr dirty="0" sz="2000"/>
              <a:t>overlooking</a:t>
            </a:r>
            <a:r>
              <a:rPr dirty="0" sz="2000" spc="-35"/>
              <a:t> </a:t>
            </a:r>
            <a:r>
              <a:rPr dirty="0" sz="2000"/>
              <a:t>ARCC's</a:t>
            </a:r>
            <a:r>
              <a:rPr dirty="0" sz="2000" spc="-40"/>
              <a:t> </a:t>
            </a:r>
            <a:r>
              <a:rPr dirty="0" sz="2000"/>
              <a:t>structural</a:t>
            </a:r>
            <a:r>
              <a:rPr dirty="0" sz="2000" spc="-35"/>
              <a:t> </a:t>
            </a:r>
            <a:r>
              <a:rPr dirty="0" sz="2000"/>
              <a:t>earnings</a:t>
            </a:r>
            <a:r>
              <a:rPr dirty="0" sz="2000" spc="-35"/>
              <a:t> </a:t>
            </a:r>
            <a:r>
              <a:rPr dirty="0" sz="2000"/>
              <a:t>durability</a:t>
            </a:r>
            <a:r>
              <a:rPr dirty="0" sz="2000" spc="-35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/>
              <a:t>upside</a:t>
            </a:r>
            <a:r>
              <a:rPr dirty="0" sz="2000" spc="-35"/>
              <a:t> </a:t>
            </a:r>
            <a:r>
              <a:rPr dirty="0" sz="2000" spc="-10"/>
              <a:t>optionality.</a:t>
            </a:r>
            <a:endParaRPr sz="2000"/>
          </a:p>
        </p:txBody>
      </p:sp>
      <p:sp>
        <p:nvSpPr>
          <p:cNvPr id="19" name="object 19"/>
          <p:cNvSpPr/>
          <p:nvPr/>
        </p:nvSpPr>
        <p:spPr>
          <a:xfrm>
            <a:off x="1925523" y="2333332"/>
            <a:ext cx="14605635" cy="1373505"/>
          </a:xfrm>
          <a:custGeom>
            <a:avLst/>
            <a:gdLst/>
            <a:ahLst/>
            <a:cxnLst/>
            <a:rect l="l" t="t" r="r" b="b"/>
            <a:pathLst>
              <a:path w="14605635" h="1373504">
                <a:moveTo>
                  <a:pt x="14376781" y="0"/>
                </a:moveTo>
                <a:lnTo>
                  <a:pt x="228847" y="0"/>
                </a:lnTo>
                <a:lnTo>
                  <a:pt x="182970" y="4683"/>
                </a:lnTo>
                <a:lnTo>
                  <a:pt x="140127" y="18102"/>
                </a:lnTo>
                <a:lnTo>
                  <a:pt x="101268" y="39305"/>
                </a:lnTo>
                <a:lnTo>
                  <a:pt x="67345" y="67343"/>
                </a:lnTo>
                <a:lnTo>
                  <a:pt x="39306" y="101265"/>
                </a:lnTo>
                <a:lnTo>
                  <a:pt x="18103" y="140122"/>
                </a:lnTo>
                <a:lnTo>
                  <a:pt x="4684" y="182964"/>
                </a:lnTo>
                <a:lnTo>
                  <a:pt x="0" y="228841"/>
                </a:lnTo>
                <a:lnTo>
                  <a:pt x="0" y="1144206"/>
                </a:lnTo>
                <a:lnTo>
                  <a:pt x="4684" y="1190087"/>
                </a:lnTo>
                <a:lnTo>
                  <a:pt x="18103" y="1232932"/>
                </a:lnTo>
                <a:lnTo>
                  <a:pt x="39306" y="1271791"/>
                </a:lnTo>
                <a:lnTo>
                  <a:pt x="67345" y="1305715"/>
                </a:lnTo>
                <a:lnTo>
                  <a:pt x="101268" y="1333754"/>
                </a:lnTo>
                <a:lnTo>
                  <a:pt x="140127" y="1354957"/>
                </a:lnTo>
                <a:lnTo>
                  <a:pt x="182970" y="1368376"/>
                </a:lnTo>
                <a:lnTo>
                  <a:pt x="228847" y="1373060"/>
                </a:lnTo>
                <a:lnTo>
                  <a:pt x="14376781" y="1373060"/>
                </a:lnTo>
                <a:lnTo>
                  <a:pt x="14422639" y="1368376"/>
                </a:lnTo>
                <a:lnTo>
                  <a:pt x="14465474" y="1354957"/>
                </a:lnTo>
                <a:lnTo>
                  <a:pt x="14504332" y="1333754"/>
                </a:lnTo>
                <a:lnTo>
                  <a:pt x="14538261" y="1305715"/>
                </a:lnTo>
                <a:lnTo>
                  <a:pt x="14566308" y="1271791"/>
                </a:lnTo>
                <a:lnTo>
                  <a:pt x="14587521" y="1232932"/>
                </a:lnTo>
                <a:lnTo>
                  <a:pt x="14600947" y="1190087"/>
                </a:lnTo>
                <a:lnTo>
                  <a:pt x="14605635" y="1144206"/>
                </a:lnTo>
                <a:lnTo>
                  <a:pt x="14605635" y="228841"/>
                </a:lnTo>
                <a:lnTo>
                  <a:pt x="14600947" y="182964"/>
                </a:lnTo>
                <a:lnTo>
                  <a:pt x="14587521" y="140122"/>
                </a:lnTo>
                <a:lnTo>
                  <a:pt x="14566308" y="101265"/>
                </a:lnTo>
                <a:lnTo>
                  <a:pt x="14538261" y="67343"/>
                </a:lnTo>
                <a:lnTo>
                  <a:pt x="14504332" y="39305"/>
                </a:lnTo>
                <a:lnTo>
                  <a:pt x="14465474" y="18102"/>
                </a:lnTo>
                <a:lnTo>
                  <a:pt x="14422639" y="4683"/>
                </a:lnTo>
                <a:lnTo>
                  <a:pt x="14376781" y="0"/>
                </a:lnTo>
                <a:close/>
              </a:path>
            </a:pathLst>
          </a:custGeom>
          <a:solidFill>
            <a:srgbClr val="B8CDE4">
              <a:alpha val="5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492752" y="2570733"/>
            <a:ext cx="421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01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96623" y="2624268"/>
            <a:ext cx="6731000" cy="7143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Earnings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Recovery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Is</a:t>
            </a:r>
            <a:r>
              <a:rPr dirty="0" sz="240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More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Than</a:t>
            </a:r>
            <a:r>
              <a:rPr dirty="0" sz="240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a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Price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Cycle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Stronger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volumes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cost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efficiency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support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margin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durability.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5914" y="3856990"/>
            <a:ext cx="14605635" cy="1373505"/>
          </a:xfrm>
          <a:custGeom>
            <a:avLst/>
            <a:gdLst/>
            <a:ahLst/>
            <a:cxnLst/>
            <a:rect l="l" t="t" r="r" b="b"/>
            <a:pathLst>
              <a:path w="14605635" h="1373504">
                <a:moveTo>
                  <a:pt x="14376781" y="0"/>
                </a:moveTo>
                <a:lnTo>
                  <a:pt x="228847" y="0"/>
                </a:lnTo>
                <a:lnTo>
                  <a:pt x="182970" y="4683"/>
                </a:lnTo>
                <a:lnTo>
                  <a:pt x="140127" y="18102"/>
                </a:lnTo>
                <a:lnTo>
                  <a:pt x="101268" y="39305"/>
                </a:lnTo>
                <a:lnTo>
                  <a:pt x="67345" y="67343"/>
                </a:lnTo>
                <a:lnTo>
                  <a:pt x="39306" y="101265"/>
                </a:lnTo>
                <a:lnTo>
                  <a:pt x="18103" y="140122"/>
                </a:lnTo>
                <a:lnTo>
                  <a:pt x="4684" y="182964"/>
                </a:lnTo>
                <a:lnTo>
                  <a:pt x="0" y="228841"/>
                </a:lnTo>
                <a:lnTo>
                  <a:pt x="0" y="1144206"/>
                </a:lnTo>
                <a:lnTo>
                  <a:pt x="4684" y="1190087"/>
                </a:lnTo>
                <a:lnTo>
                  <a:pt x="18103" y="1232932"/>
                </a:lnTo>
                <a:lnTo>
                  <a:pt x="39306" y="1271791"/>
                </a:lnTo>
                <a:lnTo>
                  <a:pt x="67345" y="1305715"/>
                </a:lnTo>
                <a:lnTo>
                  <a:pt x="101268" y="1333754"/>
                </a:lnTo>
                <a:lnTo>
                  <a:pt x="140127" y="1354957"/>
                </a:lnTo>
                <a:lnTo>
                  <a:pt x="182970" y="1368376"/>
                </a:lnTo>
                <a:lnTo>
                  <a:pt x="228847" y="1373060"/>
                </a:lnTo>
                <a:lnTo>
                  <a:pt x="14376781" y="1373060"/>
                </a:lnTo>
                <a:lnTo>
                  <a:pt x="14422639" y="1368376"/>
                </a:lnTo>
                <a:lnTo>
                  <a:pt x="14465474" y="1354957"/>
                </a:lnTo>
                <a:lnTo>
                  <a:pt x="14504332" y="1333754"/>
                </a:lnTo>
                <a:lnTo>
                  <a:pt x="14538261" y="1305715"/>
                </a:lnTo>
                <a:lnTo>
                  <a:pt x="14566308" y="1271791"/>
                </a:lnTo>
                <a:lnTo>
                  <a:pt x="14587521" y="1232932"/>
                </a:lnTo>
                <a:lnTo>
                  <a:pt x="14600947" y="1190087"/>
                </a:lnTo>
                <a:lnTo>
                  <a:pt x="14605635" y="1144206"/>
                </a:lnTo>
                <a:lnTo>
                  <a:pt x="14605635" y="228841"/>
                </a:lnTo>
                <a:lnTo>
                  <a:pt x="14600947" y="182964"/>
                </a:lnTo>
                <a:lnTo>
                  <a:pt x="14587521" y="140122"/>
                </a:lnTo>
                <a:lnTo>
                  <a:pt x="14566308" y="101265"/>
                </a:lnTo>
                <a:lnTo>
                  <a:pt x="14538261" y="67343"/>
                </a:lnTo>
                <a:lnTo>
                  <a:pt x="14504332" y="39305"/>
                </a:lnTo>
                <a:lnTo>
                  <a:pt x="14465474" y="18102"/>
                </a:lnTo>
                <a:lnTo>
                  <a:pt x="14422639" y="4683"/>
                </a:lnTo>
                <a:lnTo>
                  <a:pt x="14376781" y="0"/>
                </a:lnTo>
                <a:close/>
              </a:path>
            </a:pathLst>
          </a:custGeom>
          <a:solidFill>
            <a:srgbClr val="B8CDE4">
              <a:alpha val="5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492752" y="3975836"/>
            <a:ext cx="421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84165" y="4175734"/>
            <a:ext cx="6913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Operating</a:t>
            </a:r>
            <a:r>
              <a:rPr dirty="0" sz="2400" spc="-10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Leverage</a:t>
            </a:r>
            <a:r>
              <a:rPr dirty="0" sz="2400" spc="-9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Remains</a:t>
            </a:r>
            <a:r>
              <a:rPr dirty="0" sz="2400" spc="-10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Underappreciated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2532" y="4562351"/>
            <a:ext cx="8455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Higher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drives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fixed-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cost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absorption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disproportionate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earnings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growth.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5914" y="5380647"/>
            <a:ext cx="14605635" cy="1373505"/>
          </a:xfrm>
          <a:custGeom>
            <a:avLst/>
            <a:gdLst/>
            <a:ahLst/>
            <a:cxnLst/>
            <a:rect l="l" t="t" r="r" b="b"/>
            <a:pathLst>
              <a:path w="14605635" h="1373504">
                <a:moveTo>
                  <a:pt x="14376781" y="0"/>
                </a:moveTo>
                <a:lnTo>
                  <a:pt x="228847" y="0"/>
                </a:lnTo>
                <a:lnTo>
                  <a:pt x="182970" y="4683"/>
                </a:lnTo>
                <a:lnTo>
                  <a:pt x="140127" y="18102"/>
                </a:lnTo>
                <a:lnTo>
                  <a:pt x="101268" y="39305"/>
                </a:lnTo>
                <a:lnTo>
                  <a:pt x="67345" y="67343"/>
                </a:lnTo>
                <a:lnTo>
                  <a:pt x="39306" y="101265"/>
                </a:lnTo>
                <a:lnTo>
                  <a:pt x="18103" y="140122"/>
                </a:lnTo>
                <a:lnTo>
                  <a:pt x="4684" y="182964"/>
                </a:lnTo>
                <a:lnTo>
                  <a:pt x="0" y="228841"/>
                </a:lnTo>
                <a:lnTo>
                  <a:pt x="0" y="1144206"/>
                </a:lnTo>
                <a:lnTo>
                  <a:pt x="4684" y="1190087"/>
                </a:lnTo>
                <a:lnTo>
                  <a:pt x="18103" y="1232932"/>
                </a:lnTo>
                <a:lnTo>
                  <a:pt x="39306" y="1271791"/>
                </a:lnTo>
                <a:lnTo>
                  <a:pt x="67345" y="1305715"/>
                </a:lnTo>
                <a:lnTo>
                  <a:pt x="101268" y="1333754"/>
                </a:lnTo>
                <a:lnTo>
                  <a:pt x="140127" y="1354957"/>
                </a:lnTo>
                <a:lnTo>
                  <a:pt x="182970" y="1368376"/>
                </a:lnTo>
                <a:lnTo>
                  <a:pt x="228847" y="1373060"/>
                </a:lnTo>
                <a:lnTo>
                  <a:pt x="14376781" y="1373060"/>
                </a:lnTo>
                <a:lnTo>
                  <a:pt x="14422639" y="1368376"/>
                </a:lnTo>
                <a:lnTo>
                  <a:pt x="14465474" y="1354957"/>
                </a:lnTo>
                <a:lnTo>
                  <a:pt x="14504332" y="1333754"/>
                </a:lnTo>
                <a:lnTo>
                  <a:pt x="14538261" y="1305715"/>
                </a:lnTo>
                <a:lnTo>
                  <a:pt x="14566308" y="1271791"/>
                </a:lnTo>
                <a:lnTo>
                  <a:pt x="14587521" y="1232932"/>
                </a:lnTo>
                <a:lnTo>
                  <a:pt x="14600947" y="1190087"/>
                </a:lnTo>
                <a:lnTo>
                  <a:pt x="14605635" y="1144206"/>
                </a:lnTo>
                <a:lnTo>
                  <a:pt x="14605635" y="228841"/>
                </a:lnTo>
                <a:lnTo>
                  <a:pt x="14600947" y="182964"/>
                </a:lnTo>
                <a:lnTo>
                  <a:pt x="14587521" y="140122"/>
                </a:lnTo>
                <a:lnTo>
                  <a:pt x="14566308" y="101265"/>
                </a:lnTo>
                <a:lnTo>
                  <a:pt x="14538261" y="67343"/>
                </a:lnTo>
                <a:lnTo>
                  <a:pt x="14504332" y="39305"/>
                </a:lnTo>
                <a:lnTo>
                  <a:pt x="14465474" y="18102"/>
                </a:lnTo>
                <a:lnTo>
                  <a:pt x="14422639" y="4683"/>
                </a:lnTo>
                <a:lnTo>
                  <a:pt x="14376781" y="0"/>
                </a:lnTo>
                <a:close/>
              </a:path>
            </a:pathLst>
          </a:custGeom>
          <a:solidFill>
            <a:srgbClr val="B8CDE4">
              <a:alpha val="5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492752" y="5467705"/>
            <a:ext cx="421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03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29046" y="5699391"/>
            <a:ext cx="5865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r>
              <a:rPr dirty="0" sz="24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Platform</a:t>
            </a:r>
            <a:r>
              <a:rPr dirty="0" sz="24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Provides</a:t>
            </a:r>
            <a:r>
              <a:rPr dirty="0" sz="2400" spc="-5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Diversification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6226" y="6086008"/>
            <a:ext cx="8512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Global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reach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reduces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dependence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provides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FX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hedge.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9495" y="6933742"/>
            <a:ext cx="14605635" cy="1373505"/>
          </a:xfrm>
          <a:custGeom>
            <a:avLst/>
            <a:gdLst/>
            <a:ahLst/>
            <a:cxnLst/>
            <a:rect l="l" t="t" r="r" b="b"/>
            <a:pathLst>
              <a:path w="14605635" h="1373504">
                <a:moveTo>
                  <a:pt x="14376781" y="0"/>
                </a:moveTo>
                <a:lnTo>
                  <a:pt x="228847" y="0"/>
                </a:lnTo>
                <a:lnTo>
                  <a:pt x="182970" y="4683"/>
                </a:lnTo>
                <a:lnTo>
                  <a:pt x="140127" y="18102"/>
                </a:lnTo>
                <a:lnTo>
                  <a:pt x="101268" y="39305"/>
                </a:lnTo>
                <a:lnTo>
                  <a:pt x="67345" y="67343"/>
                </a:lnTo>
                <a:lnTo>
                  <a:pt x="39306" y="101265"/>
                </a:lnTo>
                <a:lnTo>
                  <a:pt x="18103" y="140122"/>
                </a:lnTo>
                <a:lnTo>
                  <a:pt x="4684" y="182964"/>
                </a:lnTo>
                <a:lnTo>
                  <a:pt x="0" y="228841"/>
                </a:lnTo>
                <a:lnTo>
                  <a:pt x="0" y="1144206"/>
                </a:lnTo>
                <a:lnTo>
                  <a:pt x="4684" y="1190087"/>
                </a:lnTo>
                <a:lnTo>
                  <a:pt x="18103" y="1232932"/>
                </a:lnTo>
                <a:lnTo>
                  <a:pt x="39306" y="1271791"/>
                </a:lnTo>
                <a:lnTo>
                  <a:pt x="67345" y="1305715"/>
                </a:lnTo>
                <a:lnTo>
                  <a:pt x="101268" y="1333754"/>
                </a:lnTo>
                <a:lnTo>
                  <a:pt x="140127" y="1354957"/>
                </a:lnTo>
                <a:lnTo>
                  <a:pt x="182970" y="1368376"/>
                </a:lnTo>
                <a:lnTo>
                  <a:pt x="228847" y="1373060"/>
                </a:lnTo>
                <a:lnTo>
                  <a:pt x="14376781" y="1373060"/>
                </a:lnTo>
                <a:lnTo>
                  <a:pt x="14422639" y="1368376"/>
                </a:lnTo>
                <a:lnTo>
                  <a:pt x="14465474" y="1354957"/>
                </a:lnTo>
                <a:lnTo>
                  <a:pt x="14504332" y="1333754"/>
                </a:lnTo>
                <a:lnTo>
                  <a:pt x="14538261" y="1305715"/>
                </a:lnTo>
                <a:lnTo>
                  <a:pt x="14566308" y="1271791"/>
                </a:lnTo>
                <a:lnTo>
                  <a:pt x="14587521" y="1232932"/>
                </a:lnTo>
                <a:lnTo>
                  <a:pt x="14600947" y="1190087"/>
                </a:lnTo>
                <a:lnTo>
                  <a:pt x="14605635" y="1144206"/>
                </a:lnTo>
                <a:lnTo>
                  <a:pt x="14605635" y="228841"/>
                </a:lnTo>
                <a:lnTo>
                  <a:pt x="14600947" y="182964"/>
                </a:lnTo>
                <a:lnTo>
                  <a:pt x="14587521" y="140122"/>
                </a:lnTo>
                <a:lnTo>
                  <a:pt x="14566308" y="101265"/>
                </a:lnTo>
                <a:lnTo>
                  <a:pt x="14538261" y="67343"/>
                </a:lnTo>
                <a:lnTo>
                  <a:pt x="14504332" y="39305"/>
                </a:lnTo>
                <a:lnTo>
                  <a:pt x="14465474" y="18102"/>
                </a:lnTo>
                <a:lnTo>
                  <a:pt x="14422639" y="4683"/>
                </a:lnTo>
                <a:lnTo>
                  <a:pt x="14376781" y="0"/>
                </a:lnTo>
                <a:close/>
              </a:path>
            </a:pathLst>
          </a:custGeom>
          <a:solidFill>
            <a:srgbClr val="B8CDE4">
              <a:alpha val="5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495190" y="7020800"/>
            <a:ext cx="421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04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4668" y="7252487"/>
            <a:ext cx="500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ESG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Creates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Valuation</a:t>
            </a:r>
            <a:r>
              <a:rPr dirty="0" sz="24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Optionality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0627" y="7639104"/>
            <a:ext cx="12889230" cy="1624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844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Alternative-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fuel</a:t>
            </a:r>
            <a:r>
              <a:rPr dirty="0" sz="180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ramp-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up</a:t>
            </a:r>
            <a:r>
              <a:rPr dirty="0" sz="1800" spc="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lowers</a:t>
            </a:r>
            <a:r>
              <a:rPr dirty="0" sz="180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costs</a:t>
            </a:r>
            <a:r>
              <a:rPr dirty="0" sz="1800" spc="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enhances</a:t>
            </a:r>
            <a:r>
              <a:rPr dirty="0" sz="1800" spc="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long-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term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competitiveness.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Arial"/>
              <a:cs typeface="Arial"/>
            </a:endParaRPr>
          </a:p>
          <a:p>
            <a:pPr marL="3771900">
              <a:lnSpc>
                <a:spcPct val="100000"/>
              </a:lnSpc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has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durable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diversified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profile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than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market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currently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reflects.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Company,</a:t>
            </a:r>
            <a:r>
              <a:rPr dirty="0" sz="14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About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Us.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349307"/>
              <a:ext cx="4166870" cy="937894"/>
            </a:xfrm>
            <a:custGeom>
              <a:avLst/>
              <a:gdLst/>
              <a:ahLst/>
              <a:cxnLst/>
              <a:rect l="l" t="t" r="r" b="b"/>
              <a:pathLst>
                <a:path w="4166870" h="937895">
                  <a:moveTo>
                    <a:pt x="369977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3724503" y="937691"/>
                  </a:lnTo>
                  <a:lnTo>
                    <a:pt x="4166514" y="481609"/>
                  </a:lnTo>
                  <a:lnTo>
                    <a:pt x="3699776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52532" y="9349307"/>
              <a:ext cx="10502900" cy="937894"/>
            </a:xfrm>
            <a:custGeom>
              <a:avLst/>
              <a:gdLst/>
              <a:ahLst/>
              <a:cxnLst/>
              <a:rect l="l" t="t" r="r" b="b"/>
              <a:pathLst>
                <a:path w="10502900" h="937895">
                  <a:moveTo>
                    <a:pt x="2369147" y="481609"/>
                  </a:moveTo>
                  <a:lnTo>
                    <a:pt x="1902396" y="0"/>
                  </a:lnTo>
                  <a:lnTo>
                    <a:pt x="0" y="0"/>
                  </a:lnTo>
                  <a:lnTo>
                    <a:pt x="466737" y="481609"/>
                  </a:lnTo>
                  <a:lnTo>
                    <a:pt x="24726" y="937691"/>
                  </a:lnTo>
                  <a:lnTo>
                    <a:pt x="1927123" y="937691"/>
                  </a:lnTo>
                  <a:lnTo>
                    <a:pt x="2369147" y="481609"/>
                  </a:lnTo>
                  <a:close/>
                </a:path>
                <a:path w="10502900" h="937895">
                  <a:moveTo>
                    <a:pt x="4402531" y="481609"/>
                  </a:moveTo>
                  <a:lnTo>
                    <a:pt x="3935780" y="0"/>
                  </a:lnTo>
                  <a:lnTo>
                    <a:pt x="2033384" y="0"/>
                  </a:lnTo>
                  <a:lnTo>
                    <a:pt x="2500134" y="481609"/>
                  </a:lnTo>
                  <a:lnTo>
                    <a:pt x="2058123" y="937691"/>
                  </a:lnTo>
                  <a:lnTo>
                    <a:pt x="3960520" y="937691"/>
                  </a:lnTo>
                  <a:lnTo>
                    <a:pt x="4402531" y="481609"/>
                  </a:lnTo>
                  <a:close/>
                </a:path>
                <a:path w="10502900" h="937895">
                  <a:moveTo>
                    <a:pt x="6435941" y="481609"/>
                  </a:moveTo>
                  <a:lnTo>
                    <a:pt x="5969190" y="0"/>
                  </a:lnTo>
                  <a:lnTo>
                    <a:pt x="4066794" y="0"/>
                  </a:lnTo>
                  <a:lnTo>
                    <a:pt x="4533531" y="481609"/>
                  </a:lnTo>
                  <a:lnTo>
                    <a:pt x="4091521" y="937691"/>
                  </a:lnTo>
                  <a:lnTo>
                    <a:pt x="5993917" y="937691"/>
                  </a:lnTo>
                  <a:lnTo>
                    <a:pt x="6435941" y="481609"/>
                  </a:lnTo>
                  <a:close/>
                </a:path>
                <a:path w="10502900" h="937895">
                  <a:moveTo>
                    <a:pt x="8469325" y="481609"/>
                  </a:moveTo>
                  <a:lnTo>
                    <a:pt x="8002575" y="0"/>
                  </a:lnTo>
                  <a:lnTo>
                    <a:pt x="6100178" y="0"/>
                  </a:lnTo>
                  <a:lnTo>
                    <a:pt x="6566929" y="481609"/>
                  </a:lnTo>
                  <a:lnTo>
                    <a:pt x="6124918" y="937691"/>
                  </a:lnTo>
                  <a:lnTo>
                    <a:pt x="8027314" y="937691"/>
                  </a:lnTo>
                  <a:lnTo>
                    <a:pt x="8469325" y="481609"/>
                  </a:lnTo>
                  <a:close/>
                </a:path>
                <a:path w="10502900" h="937895">
                  <a:moveTo>
                    <a:pt x="10502722" y="481609"/>
                  </a:moveTo>
                  <a:lnTo>
                    <a:pt x="10035972" y="0"/>
                  </a:lnTo>
                  <a:lnTo>
                    <a:pt x="8133575" y="0"/>
                  </a:lnTo>
                  <a:lnTo>
                    <a:pt x="8600326" y="481609"/>
                  </a:lnTo>
                  <a:lnTo>
                    <a:pt x="8158315" y="937691"/>
                  </a:lnTo>
                  <a:lnTo>
                    <a:pt x="10060711" y="937691"/>
                  </a:lnTo>
                  <a:lnTo>
                    <a:pt x="10502722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8650" y="9513823"/>
              <a:ext cx="831681" cy="6341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3744" y="9473513"/>
              <a:ext cx="599793" cy="6749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887" y="9473513"/>
              <a:ext cx="732607" cy="725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3284" y="9443300"/>
              <a:ext cx="696714" cy="7752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6681" y="9459645"/>
              <a:ext cx="756525" cy="7304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8143" y="9443300"/>
              <a:ext cx="575337" cy="73045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302103" y="9676213"/>
            <a:ext cx="11537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33" name="object 33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15983" y="498886"/>
            <a:ext cx="40614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Business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Equity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Story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2548996" y="5887999"/>
            <a:ext cx="38100" cy="2208530"/>
            <a:chOff x="12548996" y="5887999"/>
            <a:chExt cx="38100" cy="2208530"/>
          </a:xfrm>
        </p:grpSpPr>
        <p:sp>
          <p:nvSpPr>
            <p:cNvPr id="3" name="object 3"/>
            <p:cNvSpPr/>
            <p:nvPr/>
          </p:nvSpPr>
          <p:spPr>
            <a:xfrm>
              <a:off x="12568046" y="5910999"/>
              <a:ext cx="0" cy="2185670"/>
            </a:xfrm>
            <a:custGeom>
              <a:avLst/>
              <a:gdLst/>
              <a:ahLst/>
              <a:cxnLst/>
              <a:rect l="l" t="t" r="r" b="b"/>
              <a:pathLst>
                <a:path w="0" h="2185670">
                  <a:moveTo>
                    <a:pt x="0" y="0"/>
                  </a:moveTo>
                  <a:lnTo>
                    <a:pt x="0" y="2185377"/>
                  </a:lnTo>
                </a:path>
              </a:pathLst>
            </a:custGeom>
            <a:solidFill>
              <a:srgbClr val="000000">
                <a:alpha val="3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568046" y="5887999"/>
              <a:ext cx="0" cy="2185670"/>
            </a:xfrm>
            <a:custGeom>
              <a:avLst/>
              <a:gdLst/>
              <a:ahLst/>
              <a:cxnLst/>
              <a:rect l="l" t="t" r="r" b="b"/>
              <a:pathLst>
                <a:path w="0" h="2185670">
                  <a:moveTo>
                    <a:pt x="0" y="0"/>
                  </a:moveTo>
                  <a:lnTo>
                    <a:pt x="0" y="2185377"/>
                  </a:lnTo>
                </a:path>
              </a:pathLst>
            </a:custGeom>
            <a:ln w="38099">
              <a:solidFill>
                <a:srgbClr val="20506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1944192"/>
            <a:ext cx="18207355" cy="608829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78826" y="2246363"/>
            <a:ext cx="1097280" cy="58991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 marR="5080">
              <a:lnSpc>
                <a:spcPts val="2039"/>
              </a:lnSpc>
              <a:spcBef>
                <a:spcPts val="465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Founded </a:t>
            </a:r>
            <a:r>
              <a:rPr dirty="0" sz="2000" spc="-20" b="1">
                <a:solidFill>
                  <a:srgbClr val="16435F"/>
                </a:solidFill>
                <a:latin typeface="Arial"/>
                <a:cs typeface="Arial"/>
              </a:rPr>
              <a:t>1997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0358" y="2304427"/>
            <a:ext cx="1405255" cy="518159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 indent="77470">
              <a:lnSpc>
                <a:spcPts val="1839"/>
              </a:lnSpc>
              <a:spcBef>
                <a:spcPts val="325"/>
              </a:spcBef>
            </a:pP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2</a:t>
            </a:r>
            <a:r>
              <a:rPr dirty="0" sz="1700" spc="-10" b="1">
                <a:solidFill>
                  <a:srgbClr val="16435F"/>
                </a:solidFill>
                <a:latin typeface="Arial"/>
                <a:cs typeface="Arial"/>
              </a:rPr>
              <a:t> Integrated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Lines</a:t>
            </a:r>
            <a:r>
              <a:rPr dirty="0" sz="1700" spc="-2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700" spc="-1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6435F"/>
                </a:solidFill>
                <a:latin typeface="Arial"/>
                <a:cs typeface="Arial"/>
              </a:rPr>
              <a:t>Suez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98855" y="2255646"/>
            <a:ext cx="1704975" cy="53086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245"/>
              </a:spcBef>
            </a:pP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Suez</a:t>
            </a:r>
            <a:r>
              <a:rPr dirty="0" sz="170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location</a:t>
            </a:r>
            <a:r>
              <a:rPr dirty="0" sz="170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16435F"/>
                </a:solidFill>
                <a:latin typeface="Arial"/>
                <a:cs typeface="Arial"/>
              </a:rPr>
              <a:t>&amp;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maritime</a:t>
            </a:r>
            <a:r>
              <a:rPr dirty="0" sz="1700" spc="-9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6435F"/>
                </a:solidFill>
                <a:latin typeface="Arial"/>
                <a:cs typeface="Arial"/>
              </a:rPr>
              <a:t>access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6770" y="1032014"/>
            <a:ext cx="12020550" cy="5463540"/>
            <a:chOff x="566770" y="1032014"/>
            <a:chExt cx="12020550" cy="5463540"/>
          </a:xfrm>
        </p:grpSpPr>
        <p:sp>
          <p:nvSpPr>
            <p:cNvPr id="28" name="object 28"/>
            <p:cNvSpPr/>
            <p:nvPr/>
          </p:nvSpPr>
          <p:spPr>
            <a:xfrm>
              <a:off x="12568046" y="5868707"/>
              <a:ext cx="0" cy="627380"/>
            </a:xfrm>
            <a:custGeom>
              <a:avLst/>
              <a:gdLst/>
              <a:ahLst/>
              <a:cxnLst/>
              <a:rect l="l" t="t" r="r" b="b"/>
              <a:pathLst>
                <a:path w="0" h="627379">
                  <a:moveTo>
                    <a:pt x="0" y="0"/>
                  </a:moveTo>
                  <a:lnTo>
                    <a:pt x="0" y="626821"/>
                  </a:lnTo>
                </a:path>
              </a:pathLst>
            </a:custGeom>
            <a:solidFill>
              <a:srgbClr val="000000">
                <a:alpha val="3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568046" y="5845708"/>
              <a:ext cx="0" cy="627380"/>
            </a:xfrm>
            <a:custGeom>
              <a:avLst/>
              <a:gdLst/>
              <a:ahLst/>
              <a:cxnLst/>
              <a:rect l="l" t="t" r="r" b="b"/>
              <a:pathLst>
                <a:path w="0" h="627379">
                  <a:moveTo>
                    <a:pt x="0" y="0"/>
                  </a:moveTo>
                  <a:lnTo>
                    <a:pt x="0" y="626821"/>
                  </a:lnTo>
                </a:path>
              </a:pathLst>
            </a:custGeom>
            <a:ln w="38099">
              <a:solidFill>
                <a:srgbClr val="2050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28683" y="1093927"/>
              <a:ext cx="9525" cy="757555"/>
            </a:xfrm>
            <a:custGeom>
              <a:avLst/>
              <a:gdLst/>
              <a:ahLst/>
              <a:cxnLst/>
              <a:rect l="l" t="t" r="r" b="b"/>
              <a:pathLst>
                <a:path w="9525" h="757555">
                  <a:moveTo>
                    <a:pt x="9524" y="0"/>
                  </a:moveTo>
                  <a:lnTo>
                    <a:pt x="0" y="757529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Company</a:t>
            </a:r>
            <a:r>
              <a:rPr dirty="0" spc="-65"/>
              <a:t> </a:t>
            </a:r>
            <a:r>
              <a:rPr dirty="0" spc="-10"/>
              <a:t>Overview</a:t>
            </a:r>
          </a:p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2000"/>
              <a:t>An</a:t>
            </a:r>
            <a:r>
              <a:rPr dirty="0" sz="2000" spc="-40"/>
              <a:t> </a:t>
            </a:r>
            <a:r>
              <a:rPr dirty="0" sz="2000"/>
              <a:t>integrated</a:t>
            </a:r>
            <a:r>
              <a:rPr dirty="0" sz="2000" spc="-35"/>
              <a:t> </a:t>
            </a:r>
            <a:r>
              <a:rPr dirty="0" sz="2000"/>
              <a:t>producer</a:t>
            </a:r>
            <a:r>
              <a:rPr dirty="0" sz="2000" spc="-40"/>
              <a:t> </a:t>
            </a:r>
            <a:r>
              <a:rPr dirty="0" sz="2000"/>
              <a:t>with</a:t>
            </a:r>
            <a:r>
              <a:rPr dirty="0" sz="2000" spc="-35"/>
              <a:t> </a:t>
            </a:r>
            <a:r>
              <a:rPr dirty="0" sz="2000"/>
              <a:t>scale,</a:t>
            </a:r>
            <a:r>
              <a:rPr dirty="0" sz="2000" spc="-35"/>
              <a:t> </a:t>
            </a:r>
            <a:r>
              <a:rPr dirty="0" sz="2000"/>
              <a:t>strategic</a:t>
            </a:r>
            <a:r>
              <a:rPr dirty="0" sz="2000" spc="-40"/>
              <a:t> </a:t>
            </a:r>
            <a:r>
              <a:rPr dirty="0" sz="2000"/>
              <a:t>access</a:t>
            </a:r>
            <a:r>
              <a:rPr dirty="0" sz="2000" spc="-35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/>
              <a:t>diversified</a:t>
            </a:r>
            <a:r>
              <a:rPr dirty="0" sz="2000" spc="-40"/>
              <a:t> </a:t>
            </a:r>
            <a:r>
              <a:rPr dirty="0" sz="2000"/>
              <a:t>market</a:t>
            </a:r>
            <a:r>
              <a:rPr dirty="0" sz="2000" spc="-35"/>
              <a:t> </a:t>
            </a:r>
            <a:r>
              <a:rPr dirty="0" sz="2000" spc="-10"/>
              <a:t>exposure</a:t>
            </a:r>
            <a:endParaRPr sz="2000"/>
          </a:p>
        </p:txBody>
      </p:sp>
      <p:sp>
        <p:nvSpPr>
          <p:cNvPr id="24" name="object 24"/>
          <p:cNvSpPr txBox="1"/>
          <p:nvPr/>
        </p:nvSpPr>
        <p:spPr>
          <a:xfrm>
            <a:off x="12916281" y="2143035"/>
            <a:ext cx="2146935" cy="9842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160020">
              <a:lnSpc>
                <a:spcPts val="1839"/>
              </a:lnSpc>
              <a:spcBef>
                <a:spcPts val="325"/>
              </a:spcBef>
            </a:pP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Diversified</a:t>
            </a:r>
            <a:r>
              <a:rPr dirty="0" sz="1700" spc="-9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6435F"/>
                </a:solidFill>
                <a:latin typeface="Arial"/>
                <a:cs typeface="Arial"/>
              </a:rPr>
              <a:t>product range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700"/>
              </a:lnSpc>
            </a:pP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700" spc="-8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construction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939"/>
              </a:lnSpc>
            </a:pP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911" y="7396403"/>
            <a:ext cx="1380490" cy="842644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algn="ctr" marL="12700" marR="5080">
              <a:lnSpc>
                <a:spcPct val="82700"/>
              </a:lnSpc>
              <a:spcBef>
                <a:spcPts val="595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~5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Mn</a:t>
            </a:r>
            <a:r>
              <a:rPr dirty="0" sz="2400" spc="-16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16435F"/>
                </a:solidFill>
                <a:latin typeface="Arial"/>
                <a:cs typeface="Arial"/>
              </a:rPr>
              <a:t>Ton </a:t>
            </a:r>
            <a:r>
              <a:rPr dirty="0" sz="1800" spc="-10" b="1">
                <a:solidFill>
                  <a:srgbClr val="16435F"/>
                </a:solidFill>
                <a:latin typeface="Arial"/>
                <a:cs typeface="Arial"/>
              </a:rPr>
              <a:t>Annual Capacity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33832" y="7563243"/>
            <a:ext cx="1600200" cy="62484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296545" marR="5080" indent="-284480">
              <a:lnSpc>
                <a:spcPct val="81500"/>
              </a:lnSpc>
              <a:spcBef>
                <a:spcPts val="63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~6%</a:t>
            </a:r>
            <a:r>
              <a:rPr dirty="0" sz="240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6435F"/>
                </a:solidFill>
                <a:latin typeface="Arial"/>
                <a:cs typeface="Arial"/>
              </a:rPr>
              <a:t>Egypt’s Capacity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88225" y="7470584"/>
            <a:ext cx="1795145" cy="5613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445"/>
              </a:spcBef>
            </a:pPr>
            <a:r>
              <a:rPr dirty="0" sz="1900" spc="-20" b="1">
                <a:solidFill>
                  <a:srgbClr val="16435F"/>
                </a:solidFill>
                <a:latin typeface="Arial"/>
                <a:cs typeface="Arial"/>
              </a:rPr>
              <a:t>4-</a:t>
            </a:r>
            <a:r>
              <a:rPr dirty="0" sz="1900" spc="-10" b="1">
                <a:solidFill>
                  <a:srgbClr val="16435F"/>
                </a:solidFill>
                <a:latin typeface="Arial"/>
                <a:cs typeface="Arial"/>
              </a:rPr>
              <a:t>Continent </a:t>
            </a:r>
            <a:r>
              <a:rPr dirty="0" sz="1900" b="1">
                <a:solidFill>
                  <a:srgbClr val="16435F"/>
                </a:solidFill>
                <a:latin typeface="Arial"/>
                <a:cs typeface="Arial"/>
              </a:rPr>
              <a:t>Customer</a:t>
            </a:r>
            <a:r>
              <a:rPr dirty="0" sz="1900" spc="-114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16435F"/>
                </a:solidFill>
                <a:latin typeface="Arial"/>
                <a:cs typeface="Arial"/>
              </a:rPr>
              <a:t>Base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05395" y="7558214"/>
            <a:ext cx="1859914" cy="53086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 indent="137795">
              <a:lnSpc>
                <a:spcPts val="1939"/>
              </a:lnSpc>
              <a:spcBef>
                <a:spcPts val="245"/>
              </a:spcBef>
            </a:pP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Outlet</a:t>
            </a:r>
            <a:r>
              <a:rPr dirty="0" sz="1700" spc="-2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for</a:t>
            </a:r>
            <a:r>
              <a:rPr dirty="0" sz="1700" spc="-20" b="1">
                <a:solidFill>
                  <a:srgbClr val="16435F"/>
                </a:solidFill>
                <a:latin typeface="Arial"/>
                <a:cs typeface="Arial"/>
              </a:rPr>
              <a:t> weak </a:t>
            </a:r>
            <a:r>
              <a:rPr dirty="0" sz="1700" b="1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700" spc="-7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950646" y="7470584"/>
            <a:ext cx="2062480" cy="5613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 indent="261620">
              <a:lnSpc>
                <a:spcPts val="1939"/>
              </a:lnSpc>
              <a:spcBef>
                <a:spcPts val="445"/>
              </a:spcBef>
            </a:pPr>
            <a:r>
              <a:rPr dirty="0" sz="1900" b="1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r>
              <a:rPr dirty="0" sz="1900" spc="-8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900" spc="-50" b="1">
                <a:solidFill>
                  <a:srgbClr val="16435F"/>
                </a:solidFill>
                <a:latin typeface="Arial"/>
                <a:cs typeface="Arial"/>
              </a:rPr>
              <a:t>&amp; </a:t>
            </a:r>
            <a:r>
              <a:rPr dirty="0" sz="1900" b="1">
                <a:solidFill>
                  <a:srgbClr val="16435F"/>
                </a:solidFill>
                <a:latin typeface="Arial"/>
                <a:cs typeface="Arial"/>
              </a:rPr>
              <a:t>revenue</a:t>
            </a:r>
            <a:r>
              <a:rPr dirty="0" sz="1900" spc="-9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6435F"/>
                </a:solidFill>
                <a:latin typeface="Arial"/>
                <a:cs typeface="Arial"/>
              </a:rPr>
              <a:t>flexibility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12026" y="8183562"/>
            <a:ext cx="1956435" cy="5613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445"/>
              </a:spcBef>
            </a:pPr>
            <a:r>
              <a:rPr dirty="0" sz="1900" spc="-10" b="1">
                <a:solidFill>
                  <a:srgbClr val="16435F"/>
                </a:solidFill>
                <a:latin typeface="Arial"/>
                <a:cs typeface="Arial"/>
              </a:rPr>
              <a:t>International </a:t>
            </a:r>
            <a:r>
              <a:rPr dirty="0" sz="1900" b="1">
                <a:solidFill>
                  <a:srgbClr val="16435F"/>
                </a:solidFill>
                <a:latin typeface="Arial"/>
                <a:cs typeface="Arial"/>
              </a:rPr>
              <a:t>market</a:t>
            </a:r>
            <a:r>
              <a:rPr dirty="0" sz="1900" spc="-6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16435F"/>
                </a:solidFill>
                <a:latin typeface="Arial"/>
                <a:cs typeface="Arial"/>
              </a:rPr>
              <a:t>exposure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0627" y="9024328"/>
            <a:ext cx="326580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Company,</a:t>
            </a:r>
            <a:r>
              <a:rPr dirty="0" sz="14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About</a:t>
            </a:r>
            <a:r>
              <a:rPr dirty="0" sz="1400" spc="-4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Us.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9349307"/>
              <a:ext cx="4166870" cy="937894"/>
            </a:xfrm>
            <a:custGeom>
              <a:avLst/>
              <a:gdLst/>
              <a:ahLst/>
              <a:cxnLst/>
              <a:rect l="l" t="t" r="r" b="b"/>
              <a:pathLst>
                <a:path w="4166870" h="937895">
                  <a:moveTo>
                    <a:pt x="369977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3724503" y="937691"/>
                  </a:lnTo>
                  <a:lnTo>
                    <a:pt x="4166514" y="481609"/>
                  </a:lnTo>
                  <a:lnTo>
                    <a:pt x="3699776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52532" y="9349307"/>
              <a:ext cx="10502900" cy="937894"/>
            </a:xfrm>
            <a:custGeom>
              <a:avLst/>
              <a:gdLst/>
              <a:ahLst/>
              <a:cxnLst/>
              <a:rect l="l" t="t" r="r" b="b"/>
              <a:pathLst>
                <a:path w="10502900" h="937895">
                  <a:moveTo>
                    <a:pt x="2369147" y="481609"/>
                  </a:moveTo>
                  <a:lnTo>
                    <a:pt x="1902396" y="0"/>
                  </a:lnTo>
                  <a:lnTo>
                    <a:pt x="0" y="0"/>
                  </a:lnTo>
                  <a:lnTo>
                    <a:pt x="466737" y="481609"/>
                  </a:lnTo>
                  <a:lnTo>
                    <a:pt x="24726" y="937691"/>
                  </a:lnTo>
                  <a:lnTo>
                    <a:pt x="1927123" y="937691"/>
                  </a:lnTo>
                  <a:lnTo>
                    <a:pt x="2369147" y="481609"/>
                  </a:lnTo>
                  <a:close/>
                </a:path>
                <a:path w="10502900" h="937895">
                  <a:moveTo>
                    <a:pt x="4402531" y="481609"/>
                  </a:moveTo>
                  <a:lnTo>
                    <a:pt x="3935780" y="0"/>
                  </a:lnTo>
                  <a:lnTo>
                    <a:pt x="2033384" y="0"/>
                  </a:lnTo>
                  <a:lnTo>
                    <a:pt x="2500134" y="481609"/>
                  </a:lnTo>
                  <a:lnTo>
                    <a:pt x="2058123" y="937691"/>
                  </a:lnTo>
                  <a:lnTo>
                    <a:pt x="3960520" y="937691"/>
                  </a:lnTo>
                  <a:lnTo>
                    <a:pt x="4402531" y="481609"/>
                  </a:lnTo>
                  <a:close/>
                </a:path>
                <a:path w="10502900" h="937895">
                  <a:moveTo>
                    <a:pt x="6435941" y="481609"/>
                  </a:moveTo>
                  <a:lnTo>
                    <a:pt x="5969190" y="0"/>
                  </a:lnTo>
                  <a:lnTo>
                    <a:pt x="4066794" y="0"/>
                  </a:lnTo>
                  <a:lnTo>
                    <a:pt x="4533531" y="481609"/>
                  </a:lnTo>
                  <a:lnTo>
                    <a:pt x="4091521" y="937691"/>
                  </a:lnTo>
                  <a:lnTo>
                    <a:pt x="5993917" y="937691"/>
                  </a:lnTo>
                  <a:lnTo>
                    <a:pt x="6435941" y="481609"/>
                  </a:lnTo>
                  <a:close/>
                </a:path>
                <a:path w="10502900" h="937895">
                  <a:moveTo>
                    <a:pt x="8469325" y="481609"/>
                  </a:moveTo>
                  <a:lnTo>
                    <a:pt x="8002575" y="0"/>
                  </a:lnTo>
                  <a:lnTo>
                    <a:pt x="6100178" y="0"/>
                  </a:lnTo>
                  <a:lnTo>
                    <a:pt x="6566929" y="481609"/>
                  </a:lnTo>
                  <a:lnTo>
                    <a:pt x="6124918" y="937691"/>
                  </a:lnTo>
                  <a:lnTo>
                    <a:pt x="8027314" y="937691"/>
                  </a:lnTo>
                  <a:lnTo>
                    <a:pt x="8469325" y="481609"/>
                  </a:lnTo>
                  <a:close/>
                </a:path>
                <a:path w="10502900" h="937895">
                  <a:moveTo>
                    <a:pt x="10502722" y="481609"/>
                  </a:moveTo>
                  <a:lnTo>
                    <a:pt x="10035972" y="0"/>
                  </a:lnTo>
                  <a:lnTo>
                    <a:pt x="8133575" y="0"/>
                  </a:lnTo>
                  <a:lnTo>
                    <a:pt x="8600326" y="481609"/>
                  </a:lnTo>
                  <a:lnTo>
                    <a:pt x="8158315" y="937691"/>
                  </a:lnTo>
                  <a:lnTo>
                    <a:pt x="10060711" y="937691"/>
                  </a:lnTo>
                  <a:lnTo>
                    <a:pt x="10502722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8650" y="9513823"/>
              <a:ext cx="831681" cy="6341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3744" y="9473513"/>
              <a:ext cx="599793" cy="67496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887" y="9473513"/>
              <a:ext cx="732607" cy="7254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3284" y="9443300"/>
              <a:ext cx="696714" cy="7752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6681" y="9459645"/>
              <a:ext cx="756525" cy="7304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8143" y="9443300"/>
              <a:ext cx="575337" cy="730453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302103" y="9676213"/>
            <a:ext cx="11537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16" name="object 16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5983" y="498886"/>
            <a:ext cx="57270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Business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Equity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Story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Chain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683" y="1093927"/>
            <a:ext cx="9525" cy="757555"/>
          </a:xfrm>
          <a:custGeom>
            <a:avLst/>
            <a:gdLst/>
            <a:ahLst/>
            <a:cxnLst/>
            <a:rect l="l" t="t" r="r" b="b"/>
            <a:pathLst>
              <a:path w="9525" h="757555">
                <a:moveTo>
                  <a:pt x="9524" y="0"/>
                </a:moveTo>
                <a:lnTo>
                  <a:pt x="0" y="757529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70"/>
              <a:t> </a:t>
            </a:r>
            <a:r>
              <a:rPr dirty="0"/>
              <a:t>ARCC</a:t>
            </a:r>
            <a:r>
              <a:rPr dirty="0" spc="-75"/>
              <a:t> </a:t>
            </a:r>
            <a:r>
              <a:rPr dirty="0"/>
              <a:t>creates</a:t>
            </a:r>
            <a:r>
              <a:rPr dirty="0" spc="-70"/>
              <a:t> </a:t>
            </a:r>
            <a:r>
              <a:rPr dirty="0" spc="-10"/>
              <a:t>value</a:t>
            </a:r>
          </a:p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2000"/>
              <a:t>An</a:t>
            </a:r>
            <a:r>
              <a:rPr dirty="0" sz="2000" spc="-40"/>
              <a:t> </a:t>
            </a:r>
            <a:r>
              <a:rPr dirty="0" sz="2000" spc="-20"/>
              <a:t>end-</a:t>
            </a:r>
            <a:r>
              <a:rPr dirty="0" sz="2000" spc="-10"/>
              <a:t>to-</a:t>
            </a:r>
            <a:r>
              <a:rPr dirty="0" sz="2000"/>
              <a:t>end</a:t>
            </a:r>
            <a:r>
              <a:rPr dirty="0" sz="2000" spc="-35"/>
              <a:t> </a:t>
            </a:r>
            <a:r>
              <a:rPr dirty="0" sz="2000"/>
              <a:t>integrated</a:t>
            </a:r>
            <a:r>
              <a:rPr dirty="0" sz="2000" spc="-35"/>
              <a:t> </a:t>
            </a:r>
            <a:r>
              <a:rPr dirty="0" sz="2000"/>
              <a:t>footprint</a:t>
            </a:r>
            <a:r>
              <a:rPr dirty="0" sz="2000" spc="-40"/>
              <a:t> </a:t>
            </a:r>
            <a:r>
              <a:rPr dirty="0" sz="2000"/>
              <a:t>optimized</a:t>
            </a:r>
            <a:r>
              <a:rPr dirty="0" sz="2000" spc="-35"/>
              <a:t> </a:t>
            </a:r>
            <a:r>
              <a:rPr dirty="0" sz="2000"/>
              <a:t>for</a:t>
            </a:r>
            <a:r>
              <a:rPr dirty="0" sz="2000" spc="-35"/>
              <a:t> </a:t>
            </a:r>
            <a:r>
              <a:rPr dirty="0" sz="2000"/>
              <a:t>domestic</a:t>
            </a:r>
            <a:r>
              <a:rPr dirty="0" sz="2000" spc="-40"/>
              <a:t> </a:t>
            </a:r>
            <a:r>
              <a:rPr dirty="0" sz="2000"/>
              <a:t>resilience</a:t>
            </a:r>
            <a:r>
              <a:rPr dirty="0" sz="2000" spc="-35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/>
              <a:t>export</a:t>
            </a:r>
            <a:r>
              <a:rPr dirty="0" sz="2000" spc="-40"/>
              <a:t> </a:t>
            </a:r>
            <a:r>
              <a:rPr dirty="0" sz="2000" spc="-10"/>
              <a:t>agility.</a:t>
            </a:r>
            <a:endParaRPr sz="2000"/>
          </a:p>
        </p:txBody>
      </p:sp>
      <p:grpSp>
        <p:nvGrpSpPr>
          <p:cNvPr id="19" name="object 19"/>
          <p:cNvGrpSpPr/>
          <p:nvPr/>
        </p:nvGrpSpPr>
        <p:grpSpPr>
          <a:xfrm>
            <a:off x="1088395" y="1945055"/>
            <a:ext cx="16264255" cy="4407535"/>
            <a:chOff x="1088395" y="1945055"/>
            <a:chExt cx="16264255" cy="4407535"/>
          </a:xfrm>
        </p:grpSpPr>
        <p:sp>
          <p:nvSpPr>
            <p:cNvPr id="20" name="object 20"/>
            <p:cNvSpPr/>
            <p:nvPr/>
          </p:nvSpPr>
          <p:spPr>
            <a:xfrm>
              <a:off x="1498650" y="6317195"/>
              <a:ext cx="3538854" cy="0"/>
            </a:xfrm>
            <a:custGeom>
              <a:avLst/>
              <a:gdLst/>
              <a:ahLst/>
              <a:cxnLst/>
              <a:rect l="l" t="t" r="r" b="b"/>
              <a:pathLst>
                <a:path w="3538854" h="0">
                  <a:moveTo>
                    <a:pt x="3538461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98650" y="6297193"/>
              <a:ext cx="3538854" cy="0"/>
            </a:xfrm>
            <a:custGeom>
              <a:avLst/>
              <a:gdLst/>
              <a:ahLst/>
              <a:cxnLst/>
              <a:rect l="l" t="t" r="r" b="b"/>
              <a:pathLst>
                <a:path w="3538854" h="0">
                  <a:moveTo>
                    <a:pt x="0" y="0"/>
                  </a:moveTo>
                  <a:lnTo>
                    <a:pt x="3538461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898501" y="6317195"/>
              <a:ext cx="3602990" cy="19685"/>
            </a:xfrm>
            <a:custGeom>
              <a:avLst/>
              <a:gdLst/>
              <a:ahLst/>
              <a:cxnLst/>
              <a:rect l="l" t="t" r="r" b="b"/>
              <a:pathLst>
                <a:path w="3602990" h="19685">
                  <a:moveTo>
                    <a:pt x="0" y="0"/>
                  </a:moveTo>
                  <a:lnTo>
                    <a:pt x="3602990" y="19392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898501" y="6297193"/>
              <a:ext cx="3602990" cy="19685"/>
            </a:xfrm>
            <a:custGeom>
              <a:avLst/>
              <a:gdLst/>
              <a:ahLst/>
              <a:cxnLst/>
              <a:rect l="l" t="t" r="r" b="b"/>
              <a:pathLst>
                <a:path w="3602990" h="19685">
                  <a:moveTo>
                    <a:pt x="0" y="0"/>
                  </a:moveTo>
                  <a:lnTo>
                    <a:pt x="3602990" y="19392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8395" y="1945055"/>
              <a:ext cx="16264128" cy="4407255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822189" y="2279726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5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37714" y="2351722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60969" y="2301226"/>
            <a:ext cx="2146935" cy="125539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 marR="856615">
              <a:lnSpc>
                <a:spcPct val="76500"/>
              </a:lnSpc>
              <a:spcBef>
                <a:spcPts val="660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Limestone Quarrying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High-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quality</a:t>
            </a:r>
            <a:r>
              <a:rPr dirty="0" sz="17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limestone</a:t>
            </a:r>
            <a:endParaRPr sz="1700">
              <a:latin typeface="Arial"/>
              <a:cs typeface="Arial"/>
            </a:endParaRPr>
          </a:p>
          <a:p>
            <a:pPr marL="12700" marR="133985">
              <a:lnSpc>
                <a:spcPts val="1839"/>
              </a:lnSpc>
              <a:spcBef>
                <a:spcPts val="130"/>
              </a:spcBef>
            </a:pP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from</a:t>
            </a:r>
            <a:r>
              <a:rPr dirty="0" sz="17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nearby</a:t>
            </a:r>
            <a:r>
              <a:rPr dirty="0" sz="17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quarries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 Suez</a:t>
            </a:r>
            <a:endParaRPr sz="17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38194" y="2306180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4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953711" y="2378176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20933" y="2318549"/>
            <a:ext cx="1824355" cy="125539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ct val="85600"/>
              </a:lnSpc>
              <a:spcBef>
                <a:spcPts val="445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Raw</a:t>
            </a:r>
            <a:r>
              <a:rPr dirty="0" sz="2000" spc="-6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Material Preparation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Crushing,</a:t>
            </a:r>
            <a:r>
              <a:rPr dirty="0" sz="1700" spc="-114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blending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700" spc="-7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grinding</a:t>
            </a:r>
            <a:r>
              <a:rPr dirty="0" sz="1700" spc="-6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into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raw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meal</a:t>
            </a:r>
            <a:endParaRPr sz="17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35991" y="2295550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4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551509" y="2367533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18731" y="2307907"/>
            <a:ext cx="1680210" cy="14884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ct val="85600"/>
              </a:lnSpc>
              <a:spcBef>
                <a:spcPts val="445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Clinker Production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Heat</a:t>
            </a:r>
            <a:r>
              <a:rPr dirty="0" sz="1700" spc="-8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treatment</a:t>
            </a:r>
            <a:r>
              <a:rPr dirty="0" sz="1700" spc="-7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16435F"/>
                </a:solidFill>
                <a:latin typeface="Arial"/>
                <a:cs typeface="Arial"/>
              </a:rPr>
              <a:t>in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rotary</a:t>
            </a:r>
            <a:r>
              <a:rPr dirty="0" sz="17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kilns</a:t>
            </a:r>
            <a:r>
              <a:rPr dirty="0" sz="1700" spc="-25">
                <a:solidFill>
                  <a:srgbClr val="16435F"/>
                </a:solidFill>
                <a:latin typeface="Arial"/>
                <a:cs typeface="Arial"/>
              </a:rPr>
              <a:t> to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produce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clinker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188525" y="2302624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4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9404056" y="2374607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71278" y="2314981"/>
            <a:ext cx="1645285" cy="148844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480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Cement Grinding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Clinker is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ground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with</a:t>
            </a:r>
            <a:r>
              <a:rPr dirty="0" sz="170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additives</a:t>
            </a:r>
            <a:r>
              <a:rPr dirty="0" sz="170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16435F"/>
                </a:solidFill>
                <a:latin typeface="Arial"/>
                <a:cs typeface="Arial"/>
              </a:rPr>
              <a:t>to</a:t>
            </a:r>
            <a:endParaRPr sz="1700">
              <a:latin typeface="Arial"/>
              <a:cs typeface="Arial"/>
            </a:endParaRPr>
          </a:p>
          <a:p>
            <a:pPr marL="12700" marR="5715">
              <a:lnSpc>
                <a:spcPts val="1839"/>
              </a:lnSpc>
              <a:spcBef>
                <a:spcPts val="20"/>
              </a:spcBef>
            </a:pP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produce</a:t>
            </a:r>
            <a:r>
              <a:rPr dirty="0" sz="1700" spc="-9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different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1700" spc="-8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types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946458" y="2288870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4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2161976" y="2360853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729209" y="2301226"/>
            <a:ext cx="1814195" cy="125539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ct val="85600"/>
              </a:lnSpc>
              <a:spcBef>
                <a:spcPts val="445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Storage</a:t>
            </a:r>
            <a:r>
              <a:rPr dirty="0" sz="2000" spc="-7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16435F"/>
                </a:solidFill>
                <a:latin typeface="Arial"/>
                <a:cs typeface="Arial"/>
              </a:rPr>
              <a:t>&amp;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Distribution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Stored</a:t>
            </a:r>
            <a:r>
              <a:rPr dirty="0" sz="17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7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silos</a:t>
            </a:r>
            <a:r>
              <a:rPr dirty="0" sz="1700" spc="-25">
                <a:solidFill>
                  <a:srgbClr val="16435F"/>
                </a:solidFill>
                <a:latin typeface="Arial"/>
                <a:cs typeface="Arial"/>
              </a:rPr>
              <a:t> and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bagged</a:t>
            </a:r>
            <a:r>
              <a:rPr dirty="0" sz="170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or</a:t>
            </a:r>
            <a:r>
              <a:rPr dirty="0" sz="170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shipped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 bulk</a:t>
            </a:r>
            <a:endParaRPr sz="17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451837" y="2274557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5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A1E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4667393" y="2346541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234538" y="2286914"/>
            <a:ext cx="2028825" cy="125539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ct val="89300"/>
              </a:lnSpc>
              <a:spcBef>
                <a:spcPts val="355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Customers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Supplied</a:t>
            </a:r>
            <a:r>
              <a:rPr dirty="0" sz="1700" spc="-6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170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domestic construction</a:t>
            </a:r>
            <a:r>
              <a:rPr dirty="0" sz="17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projects </a:t>
            </a:r>
            <a:r>
              <a:rPr dirty="0" sz="17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7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16435F"/>
                </a:solidFill>
                <a:latin typeface="Arial"/>
                <a:cs typeface="Arial"/>
              </a:rPr>
              <a:t>international markets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35192" y="6090488"/>
            <a:ext cx="66147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43200" marR="5080" indent="-2731135">
              <a:lnSpc>
                <a:spcPct val="125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18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DIVERSIFIED</a:t>
            </a:r>
            <a:r>
              <a:rPr dirty="0" sz="18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PRODUCT</a:t>
            </a:r>
            <a:r>
              <a:rPr dirty="0" sz="18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RANGE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SERVING</a:t>
            </a:r>
            <a:r>
              <a:rPr dirty="0" sz="18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MULTIPLE</a:t>
            </a:r>
            <a:r>
              <a:rPr dirty="0" sz="18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END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MARKETS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7353" y="7106704"/>
            <a:ext cx="2141220" cy="1290955"/>
          </a:xfrm>
          <a:custGeom>
            <a:avLst/>
            <a:gdLst/>
            <a:ahLst/>
            <a:cxnLst/>
            <a:rect l="l" t="t" r="r" b="b"/>
            <a:pathLst>
              <a:path w="2141220" h="1290954">
                <a:moveTo>
                  <a:pt x="1925561" y="0"/>
                </a:moveTo>
                <a:lnTo>
                  <a:pt x="215063" y="0"/>
                </a:lnTo>
                <a:lnTo>
                  <a:pt x="166001" y="5721"/>
                </a:lnTo>
                <a:lnTo>
                  <a:pt x="120831" y="21997"/>
                </a:lnTo>
                <a:lnTo>
                  <a:pt x="80886" y="47496"/>
                </a:lnTo>
                <a:lnTo>
                  <a:pt x="47497" y="80884"/>
                </a:lnTo>
                <a:lnTo>
                  <a:pt x="21998" y="120829"/>
                </a:lnTo>
                <a:lnTo>
                  <a:pt x="5721" y="165999"/>
                </a:lnTo>
                <a:lnTo>
                  <a:pt x="0" y="215061"/>
                </a:lnTo>
                <a:lnTo>
                  <a:pt x="0" y="1075283"/>
                </a:lnTo>
                <a:lnTo>
                  <a:pt x="5721" y="1124346"/>
                </a:lnTo>
                <a:lnTo>
                  <a:pt x="21998" y="1169518"/>
                </a:lnTo>
                <a:lnTo>
                  <a:pt x="47497" y="1209466"/>
                </a:lnTo>
                <a:lnTo>
                  <a:pt x="80886" y="1242856"/>
                </a:lnTo>
                <a:lnTo>
                  <a:pt x="120831" y="1268357"/>
                </a:lnTo>
                <a:lnTo>
                  <a:pt x="166001" y="1284635"/>
                </a:lnTo>
                <a:lnTo>
                  <a:pt x="215063" y="1290358"/>
                </a:lnTo>
                <a:lnTo>
                  <a:pt x="1925561" y="1290358"/>
                </a:lnTo>
                <a:lnTo>
                  <a:pt x="1974623" y="1284635"/>
                </a:lnTo>
                <a:lnTo>
                  <a:pt x="2019793" y="1268357"/>
                </a:lnTo>
                <a:lnTo>
                  <a:pt x="2059738" y="1242856"/>
                </a:lnTo>
                <a:lnTo>
                  <a:pt x="2093126" y="1209466"/>
                </a:lnTo>
                <a:lnTo>
                  <a:pt x="2118625" y="1169518"/>
                </a:lnTo>
                <a:lnTo>
                  <a:pt x="2134901" y="1124346"/>
                </a:lnTo>
                <a:lnTo>
                  <a:pt x="2140623" y="1075283"/>
                </a:lnTo>
                <a:lnTo>
                  <a:pt x="2140623" y="215061"/>
                </a:lnTo>
                <a:lnTo>
                  <a:pt x="2134901" y="165999"/>
                </a:lnTo>
                <a:lnTo>
                  <a:pt x="2118625" y="120829"/>
                </a:lnTo>
                <a:lnTo>
                  <a:pt x="2093126" y="80884"/>
                </a:lnTo>
                <a:lnTo>
                  <a:pt x="2059738" y="47496"/>
                </a:lnTo>
                <a:lnTo>
                  <a:pt x="2019793" y="21997"/>
                </a:lnTo>
                <a:lnTo>
                  <a:pt x="1974623" y="5721"/>
                </a:lnTo>
                <a:lnTo>
                  <a:pt x="1925561" y="0"/>
                </a:lnTo>
                <a:close/>
              </a:path>
            </a:pathLst>
          </a:custGeom>
          <a:solidFill>
            <a:srgbClr val="C7ED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322400" y="7429144"/>
            <a:ext cx="1346200" cy="63246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 marR="5080">
              <a:lnSpc>
                <a:spcPct val="66000"/>
              </a:lnSpc>
              <a:spcBef>
                <a:spcPts val="1080"/>
              </a:spcBef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Our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Products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04108" y="6856310"/>
            <a:ext cx="6477000" cy="1206068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347139" y="8110461"/>
            <a:ext cx="1418590" cy="45465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1285" marR="5080" indent="-109220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Ordinary </a:t>
            </a: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Portland </a:t>
            </a: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14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6435F"/>
                </a:solidFill>
                <a:latin typeface="Arial"/>
                <a:cs typeface="Arial"/>
              </a:rPr>
              <a:t>(OPC)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63082" y="8118043"/>
            <a:ext cx="1368425" cy="45465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06680" marR="5080" indent="-94615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Sulfate</a:t>
            </a:r>
            <a:r>
              <a:rPr dirty="0" sz="14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Resistant </a:t>
            </a: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14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6435F"/>
                </a:solidFill>
                <a:latin typeface="Arial"/>
                <a:cs typeface="Arial"/>
              </a:rPr>
              <a:t>(SRS)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91409" y="8110461"/>
            <a:ext cx="5791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Clinker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920592" y="7077557"/>
            <a:ext cx="2141220" cy="1290955"/>
          </a:xfrm>
          <a:custGeom>
            <a:avLst/>
            <a:gdLst/>
            <a:ahLst/>
            <a:cxnLst/>
            <a:rect l="l" t="t" r="r" b="b"/>
            <a:pathLst>
              <a:path w="2141220" h="1290954">
                <a:moveTo>
                  <a:pt x="1925561" y="0"/>
                </a:moveTo>
                <a:lnTo>
                  <a:pt x="215063" y="0"/>
                </a:lnTo>
                <a:lnTo>
                  <a:pt x="166001" y="5721"/>
                </a:lnTo>
                <a:lnTo>
                  <a:pt x="120831" y="21997"/>
                </a:lnTo>
                <a:lnTo>
                  <a:pt x="80886" y="47496"/>
                </a:lnTo>
                <a:lnTo>
                  <a:pt x="47497" y="80884"/>
                </a:lnTo>
                <a:lnTo>
                  <a:pt x="21998" y="120829"/>
                </a:lnTo>
                <a:lnTo>
                  <a:pt x="5721" y="165999"/>
                </a:lnTo>
                <a:lnTo>
                  <a:pt x="0" y="215061"/>
                </a:lnTo>
                <a:lnTo>
                  <a:pt x="0" y="1075283"/>
                </a:lnTo>
                <a:lnTo>
                  <a:pt x="5721" y="1124346"/>
                </a:lnTo>
                <a:lnTo>
                  <a:pt x="21998" y="1169518"/>
                </a:lnTo>
                <a:lnTo>
                  <a:pt x="47497" y="1209466"/>
                </a:lnTo>
                <a:lnTo>
                  <a:pt x="80886" y="1242856"/>
                </a:lnTo>
                <a:lnTo>
                  <a:pt x="120831" y="1268357"/>
                </a:lnTo>
                <a:lnTo>
                  <a:pt x="166001" y="1284635"/>
                </a:lnTo>
                <a:lnTo>
                  <a:pt x="215063" y="1290358"/>
                </a:lnTo>
                <a:lnTo>
                  <a:pt x="1925561" y="1290358"/>
                </a:lnTo>
                <a:lnTo>
                  <a:pt x="1974623" y="1284635"/>
                </a:lnTo>
                <a:lnTo>
                  <a:pt x="2019793" y="1268357"/>
                </a:lnTo>
                <a:lnTo>
                  <a:pt x="2059738" y="1242856"/>
                </a:lnTo>
                <a:lnTo>
                  <a:pt x="2093126" y="1209466"/>
                </a:lnTo>
                <a:lnTo>
                  <a:pt x="2118625" y="1169518"/>
                </a:lnTo>
                <a:lnTo>
                  <a:pt x="2134901" y="1124346"/>
                </a:lnTo>
                <a:lnTo>
                  <a:pt x="2140623" y="1075283"/>
                </a:lnTo>
                <a:lnTo>
                  <a:pt x="2140623" y="215061"/>
                </a:lnTo>
                <a:lnTo>
                  <a:pt x="2134901" y="165999"/>
                </a:lnTo>
                <a:lnTo>
                  <a:pt x="2118625" y="120829"/>
                </a:lnTo>
                <a:lnTo>
                  <a:pt x="2093126" y="80884"/>
                </a:lnTo>
                <a:lnTo>
                  <a:pt x="2059738" y="47496"/>
                </a:lnTo>
                <a:lnTo>
                  <a:pt x="2019793" y="21997"/>
                </a:lnTo>
                <a:lnTo>
                  <a:pt x="1974623" y="5721"/>
                </a:lnTo>
                <a:lnTo>
                  <a:pt x="1925561" y="0"/>
                </a:lnTo>
                <a:close/>
              </a:path>
            </a:pathLst>
          </a:custGeom>
          <a:solidFill>
            <a:srgbClr val="C7ED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0270566" y="7345870"/>
            <a:ext cx="1245235" cy="72580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39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4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End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Markets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390780" y="6956717"/>
            <a:ext cx="4440237" cy="114969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968293" y="8110461"/>
            <a:ext cx="1556385" cy="45465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417830" marR="5080" indent="-405765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Other </a:t>
            </a: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Cementitious Materials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395056" y="8210728"/>
            <a:ext cx="2461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2545" algn="l"/>
              </a:tabLst>
            </a:pP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Residentials</a:t>
            </a: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	</a:t>
            </a: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Infrastructures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952504" y="8230666"/>
            <a:ext cx="2118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Commercial</a:t>
            </a:r>
            <a:r>
              <a:rPr dirty="0" sz="14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6435F"/>
                </a:solidFill>
                <a:latin typeface="Arial"/>
                <a:cs typeface="Arial"/>
              </a:rPr>
              <a:t>/</a:t>
            </a:r>
            <a:r>
              <a:rPr dirty="0" sz="14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6435F"/>
                </a:solidFill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484480" y="8564791"/>
            <a:ext cx="4251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Sales</a:t>
            </a:r>
            <a:r>
              <a:rPr dirty="0" sz="2000" spc="-5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channels:</a:t>
            </a:r>
            <a:r>
              <a:rPr dirty="0" sz="20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20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+</a:t>
            </a:r>
            <a:r>
              <a:rPr dirty="0" sz="20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2140" y="9053004"/>
            <a:ext cx="41903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Company,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Profile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2025.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349307"/>
              <a:ext cx="4166870" cy="937894"/>
            </a:xfrm>
            <a:custGeom>
              <a:avLst/>
              <a:gdLst/>
              <a:ahLst/>
              <a:cxnLst/>
              <a:rect l="l" t="t" r="r" b="b"/>
              <a:pathLst>
                <a:path w="4166870" h="937895">
                  <a:moveTo>
                    <a:pt x="369977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3724503" y="937691"/>
                  </a:lnTo>
                  <a:lnTo>
                    <a:pt x="4166514" y="481609"/>
                  </a:lnTo>
                  <a:lnTo>
                    <a:pt x="3699776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52532" y="9349307"/>
              <a:ext cx="10502900" cy="937894"/>
            </a:xfrm>
            <a:custGeom>
              <a:avLst/>
              <a:gdLst/>
              <a:ahLst/>
              <a:cxnLst/>
              <a:rect l="l" t="t" r="r" b="b"/>
              <a:pathLst>
                <a:path w="10502900" h="937895">
                  <a:moveTo>
                    <a:pt x="2369147" y="481609"/>
                  </a:moveTo>
                  <a:lnTo>
                    <a:pt x="1902396" y="0"/>
                  </a:lnTo>
                  <a:lnTo>
                    <a:pt x="0" y="0"/>
                  </a:lnTo>
                  <a:lnTo>
                    <a:pt x="466737" y="481609"/>
                  </a:lnTo>
                  <a:lnTo>
                    <a:pt x="24726" y="937691"/>
                  </a:lnTo>
                  <a:lnTo>
                    <a:pt x="1927123" y="937691"/>
                  </a:lnTo>
                  <a:lnTo>
                    <a:pt x="2369147" y="481609"/>
                  </a:lnTo>
                  <a:close/>
                </a:path>
                <a:path w="10502900" h="937895">
                  <a:moveTo>
                    <a:pt x="4402531" y="481609"/>
                  </a:moveTo>
                  <a:lnTo>
                    <a:pt x="3935780" y="0"/>
                  </a:lnTo>
                  <a:lnTo>
                    <a:pt x="2033384" y="0"/>
                  </a:lnTo>
                  <a:lnTo>
                    <a:pt x="2500134" y="481609"/>
                  </a:lnTo>
                  <a:lnTo>
                    <a:pt x="2058123" y="937691"/>
                  </a:lnTo>
                  <a:lnTo>
                    <a:pt x="3960520" y="937691"/>
                  </a:lnTo>
                  <a:lnTo>
                    <a:pt x="4402531" y="481609"/>
                  </a:lnTo>
                  <a:close/>
                </a:path>
                <a:path w="10502900" h="937895">
                  <a:moveTo>
                    <a:pt x="6435941" y="481609"/>
                  </a:moveTo>
                  <a:lnTo>
                    <a:pt x="5969190" y="0"/>
                  </a:lnTo>
                  <a:lnTo>
                    <a:pt x="4066794" y="0"/>
                  </a:lnTo>
                  <a:lnTo>
                    <a:pt x="4533531" y="481609"/>
                  </a:lnTo>
                  <a:lnTo>
                    <a:pt x="4091521" y="937691"/>
                  </a:lnTo>
                  <a:lnTo>
                    <a:pt x="5993917" y="937691"/>
                  </a:lnTo>
                  <a:lnTo>
                    <a:pt x="6435941" y="481609"/>
                  </a:lnTo>
                  <a:close/>
                </a:path>
                <a:path w="10502900" h="937895">
                  <a:moveTo>
                    <a:pt x="8469325" y="481609"/>
                  </a:moveTo>
                  <a:lnTo>
                    <a:pt x="8002575" y="0"/>
                  </a:lnTo>
                  <a:lnTo>
                    <a:pt x="6100178" y="0"/>
                  </a:lnTo>
                  <a:lnTo>
                    <a:pt x="6566929" y="481609"/>
                  </a:lnTo>
                  <a:lnTo>
                    <a:pt x="6124918" y="937691"/>
                  </a:lnTo>
                  <a:lnTo>
                    <a:pt x="8027314" y="937691"/>
                  </a:lnTo>
                  <a:lnTo>
                    <a:pt x="8469325" y="481609"/>
                  </a:lnTo>
                  <a:close/>
                </a:path>
                <a:path w="10502900" h="937895">
                  <a:moveTo>
                    <a:pt x="10502722" y="481609"/>
                  </a:moveTo>
                  <a:lnTo>
                    <a:pt x="10035972" y="0"/>
                  </a:lnTo>
                  <a:lnTo>
                    <a:pt x="8133575" y="0"/>
                  </a:lnTo>
                  <a:lnTo>
                    <a:pt x="8600326" y="481609"/>
                  </a:lnTo>
                  <a:lnTo>
                    <a:pt x="8158315" y="937691"/>
                  </a:lnTo>
                  <a:lnTo>
                    <a:pt x="10060711" y="937691"/>
                  </a:lnTo>
                  <a:lnTo>
                    <a:pt x="10502722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8650" y="9513823"/>
              <a:ext cx="831681" cy="6341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3744" y="9473513"/>
              <a:ext cx="599793" cy="6749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887" y="9473513"/>
              <a:ext cx="732607" cy="725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3284" y="9443300"/>
              <a:ext cx="696714" cy="7752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6681" y="9459645"/>
              <a:ext cx="756525" cy="7304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8143" y="9443300"/>
              <a:ext cx="575337" cy="73045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302103" y="9676213"/>
            <a:ext cx="11537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6199"/>
            <a:ext cx="15002798" cy="8248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17" name="object 17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5983" y="498886"/>
            <a:ext cx="7390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Business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Equity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Story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8683" y="1093927"/>
            <a:ext cx="9525" cy="757555"/>
          </a:xfrm>
          <a:custGeom>
            <a:avLst/>
            <a:gdLst/>
            <a:ahLst/>
            <a:cxnLst/>
            <a:rect l="l" t="t" r="r" b="b"/>
            <a:pathLst>
              <a:path w="9525" h="757555">
                <a:moveTo>
                  <a:pt x="9524" y="0"/>
                </a:moveTo>
                <a:lnTo>
                  <a:pt x="0" y="757529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809487" y="1016123"/>
            <a:ext cx="92151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Suez-</a:t>
            </a:r>
            <a:r>
              <a:rPr dirty="0"/>
              <a:t>Based</a:t>
            </a:r>
            <a:r>
              <a:rPr dirty="0" spc="-50"/>
              <a:t> </a:t>
            </a:r>
            <a:r>
              <a:rPr dirty="0"/>
              <a:t>Platform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Global</a:t>
            </a:r>
            <a:r>
              <a:rPr dirty="0" spc="-50"/>
              <a:t> </a:t>
            </a:r>
            <a:r>
              <a:rPr dirty="0" spc="-10"/>
              <a:t>Reach</a:t>
            </a:r>
          </a:p>
        </p:txBody>
      </p:sp>
      <p:sp>
        <p:nvSpPr>
          <p:cNvPr id="20" name="object 20"/>
          <p:cNvSpPr/>
          <p:nvPr/>
        </p:nvSpPr>
        <p:spPr>
          <a:xfrm>
            <a:off x="545793" y="7316165"/>
            <a:ext cx="3693795" cy="1802130"/>
          </a:xfrm>
          <a:custGeom>
            <a:avLst/>
            <a:gdLst/>
            <a:ahLst/>
            <a:cxnLst/>
            <a:rect l="l" t="t" r="r" b="b"/>
            <a:pathLst>
              <a:path w="3693795" h="1802129">
                <a:moveTo>
                  <a:pt x="3244354" y="0"/>
                </a:moveTo>
                <a:lnTo>
                  <a:pt x="448866" y="0"/>
                </a:lnTo>
                <a:lnTo>
                  <a:pt x="400246" y="2654"/>
                </a:lnTo>
                <a:lnTo>
                  <a:pt x="353073" y="10429"/>
                </a:lnTo>
                <a:lnTo>
                  <a:pt x="307627" y="23043"/>
                </a:lnTo>
                <a:lnTo>
                  <a:pt x="264193" y="40211"/>
                </a:lnTo>
                <a:lnTo>
                  <a:pt x="223053" y="61653"/>
                </a:lnTo>
                <a:lnTo>
                  <a:pt x="184489" y="87084"/>
                </a:lnTo>
                <a:lnTo>
                  <a:pt x="148784" y="116223"/>
                </a:lnTo>
                <a:lnTo>
                  <a:pt x="116222" y="148786"/>
                </a:lnTo>
                <a:lnTo>
                  <a:pt x="87083" y="184491"/>
                </a:lnTo>
                <a:lnTo>
                  <a:pt x="61652" y="223055"/>
                </a:lnTo>
                <a:lnTo>
                  <a:pt x="40211" y="264195"/>
                </a:lnTo>
                <a:lnTo>
                  <a:pt x="23043" y="307630"/>
                </a:lnTo>
                <a:lnTo>
                  <a:pt x="10429" y="353075"/>
                </a:lnTo>
                <a:lnTo>
                  <a:pt x="2654" y="400249"/>
                </a:lnTo>
                <a:lnTo>
                  <a:pt x="0" y="448868"/>
                </a:lnTo>
                <a:lnTo>
                  <a:pt x="0" y="1353083"/>
                </a:lnTo>
                <a:lnTo>
                  <a:pt x="2654" y="1401702"/>
                </a:lnTo>
                <a:lnTo>
                  <a:pt x="10429" y="1448876"/>
                </a:lnTo>
                <a:lnTo>
                  <a:pt x="23043" y="1494322"/>
                </a:lnTo>
                <a:lnTo>
                  <a:pt x="40211" y="1537756"/>
                </a:lnTo>
                <a:lnTo>
                  <a:pt x="61652" y="1578896"/>
                </a:lnTo>
                <a:lnTo>
                  <a:pt x="87083" y="1617461"/>
                </a:lnTo>
                <a:lnTo>
                  <a:pt x="116222" y="1653165"/>
                </a:lnTo>
                <a:lnTo>
                  <a:pt x="148784" y="1685729"/>
                </a:lnTo>
                <a:lnTo>
                  <a:pt x="184489" y="1714867"/>
                </a:lnTo>
                <a:lnTo>
                  <a:pt x="223053" y="1740298"/>
                </a:lnTo>
                <a:lnTo>
                  <a:pt x="264193" y="1761740"/>
                </a:lnTo>
                <a:lnTo>
                  <a:pt x="307627" y="1778908"/>
                </a:lnTo>
                <a:lnTo>
                  <a:pt x="353073" y="1791522"/>
                </a:lnTo>
                <a:lnTo>
                  <a:pt x="400246" y="1799297"/>
                </a:lnTo>
                <a:lnTo>
                  <a:pt x="448866" y="1801952"/>
                </a:lnTo>
                <a:lnTo>
                  <a:pt x="3244354" y="1801952"/>
                </a:lnTo>
                <a:lnTo>
                  <a:pt x="3292974" y="1799297"/>
                </a:lnTo>
                <a:lnTo>
                  <a:pt x="3340147" y="1791522"/>
                </a:lnTo>
                <a:lnTo>
                  <a:pt x="3385593" y="1778908"/>
                </a:lnTo>
                <a:lnTo>
                  <a:pt x="3429027" y="1761740"/>
                </a:lnTo>
                <a:lnTo>
                  <a:pt x="3470168" y="1740298"/>
                </a:lnTo>
                <a:lnTo>
                  <a:pt x="3508732" y="1714867"/>
                </a:lnTo>
                <a:lnTo>
                  <a:pt x="3544437" y="1685729"/>
                </a:lnTo>
                <a:lnTo>
                  <a:pt x="3577000" y="1653165"/>
                </a:lnTo>
                <a:lnTo>
                  <a:pt x="3606138" y="1617461"/>
                </a:lnTo>
                <a:lnTo>
                  <a:pt x="3631570" y="1578896"/>
                </a:lnTo>
                <a:lnTo>
                  <a:pt x="3653011" y="1537756"/>
                </a:lnTo>
                <a:lnTo>
                  <a:pt x="3670180" y="1494322"/>
                </a:lnTo>
                <a:lnTo>
                  <a:pt x="3682793" y="1448876"/>
                </a:lnTo>
                <a:lnTo>
                  <a:pt x="3690568" y="1401702"/>
                </a:lnTo>
                <a:lnTo>
                  <a:pt x="3693223" y="1353083"/>
                </a:lnTo>
                <a:lnTo>
                  <a:pt x="3693223" y="448868"/>
                </a:lnTo>
                <a:lnTo>
                  <a:pt x="3690568" y="400249"/>
                </a:lnTo>
                <a:lnTo>
                  <a:pt x="3682793" y="353075"/>
                </a:lnTo>
                <a:lnTo>
                  <a:pt x="3670180" y="307630"/>
                </a:lnTo>
                <a:lnTo>
                  <a:pt x="3653011" y="264195"/>
                </a:lnTo>
                <a:lnTo>
                  <a:pt x="3631570" y="223055"/>
                </a:lnTo>
                <a:lnTo>
                  <a:pt x="3606138" y="184491"/>
                </a:lnTo>
                <a:lnTo>
                  <a:pt x="3577000" y="148786"/>
                </a:lnTo>
                <a:lnTo>
                  <a:pt x="3544437" y="116223"/>
                </a:lnTo>
                <a:lnTo>
                  <a:pt x="3508732" y="87084"/>
                </a:lnTo>
                <a:lnTo>
                  <a:pt x="3470168" y="61653"/>
                </a:lnTo>
                <a:lnTo>
                  <a:pt x="3429027" y="40211"/>
                </a:lnTo>
                <a:lnTo>
                  <a:pt x="3385593" y="23043"/>
                </a:lnTo>
                <a:lnTo>
                  <a:pt x="3340147" y="10429"/>
                </a:lnTo>
                <a:lnTo>
                  <a:pt x="3292974" y="2654"/>
                </a:lnTo>
                <a:lnTo>
                  <a:pt x="3244354" y="0"/>
                </a:lnTo>
                <a:close/>
              </a:path>
            </a:pathLst>
          </a:custGeom>
          <a:solidFill>
            <a:srgbClr val="A1E1BE">
              <a:alpha val="5176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21839" y="7528445"/>
            <a:ext cx="1922780" cy="118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525"/>
              </a:lnSpc>
              <a:spcBef>
                <a:spcPts val="100"/>
              </a:spcBef>
            </a:pPr>
            <a:r>
              <a:rPr dirty="0" sz="4800" b="1">
                <a:solidFill>
                  <a:srgbClr val="244060"/>
                </a:solidFill>
                <a:latin typeface="Arial"/>
                <a:cs typeface="Arial"/>
              </a:rPr>
              <a:t>~ </a:t>
            </a:r>
            <a:r>
              <a:rPr dirty="0" sz="4800" spc="-25" b="1">
                <a:solidFill>
                  <a:srgbClr val="244060"/>
                </a:solidFill>
                <a:latin typeface="Arial"/>
                <a:cs typeface="Arial"/>
              </a:rPr>
              <a:t>48%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total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sales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10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Exported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0035" y="7274306"/>
            <a:ext cx="1882787" cy="1812671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302874" y="7316165"/>
            <a:ext cx="3510915" cy="1808480"/>
          </a:xfrm>
          <a:custGeom>
            <a:avLst/>
            <a:gdLst/>
            <a:ahLst/>
            <a:cxnLst/>
            <a:rect l="l" t="t" r="r" b="b"/>
            <a:pathLst>
              <a:path w="3510915" h="1808479">
                <a:moveTo>
                  <a:pt x="3060458" y="0"/>
                </a:moveTo>
                <a:lnTo>
                  <a:pt x="450420" y="0"/>
                </a:lnTo>
                <a:lnTo>
                  <a:pt x="401632" y="2663"/>
                </a:lnTo>
                <a:lnTo>
                  <a:pt x="354295" y="10465"/>
                </a:lnTo>
                <a:lnTo>
                  <a:pt x="308692" y="23122"/>
                </a:lnTo>
                <a:lnTo>
                  <a:pt x="265108" y="40350"/>
                </a:lnTo>
                <a:lnTo>
                  <a:pt x="223825" y="61865"/>
                </a:lnTo>
                <a:lnTo>
                  <a:pt x="185128" y="87384"/>
                </a:lnTo>
                <a:lnTo>
                  <a:pt x="149299" y="116623"/>
                </a:lnTo>
                <a:lnTo>
                  <a:pt x="116624" y="149299"/>
                </a:lnTo>
                <a:lnTo>
                  <a:pt x="87385" y="185127"/>
                </a:lnTo>
                <a:lnTo>
                  <a:pt x="61866" y="223824"/>
                </a:lnTo>
                <a:lnTo>
                  <a:pt x="40350" y="265107"/>
                </a:lnTo>
                <a:lnTo>
                  <a:pt x="23122" y="308691"/>
                </a:lnTo>
                <a:lnTo>
                  <a:pt x="10465" y="354294"/>
                </a:lnTo>
                <a:lnTo>
                  <a:pt x="2663" y="401630"/>
                </a:lnTo>
                <a:lnTo>
                  <a:pt x="0" y="450418"/>
                </a:lnTo>
                <a:lnTo>
                  <a:pt x="0" y="1357769"/>
                </a:lnTo>
                <a:lnTo>
                  <a:pt x="2663" y="1406557"/>
                </a:lnTo>
                <a:lnTo>
                  <a:pt x="10465" y="1453893"/>
                </a:lnTo>
                <a:lnTo>
                  <a:pt x="23122" y="1499496"/>
                </a:lnTo>
                <a:lnTo>
                  <a:pt x="40350" y="1543080"/>
                </a:lnTo>
                <a:lnTo>
                  <a:pt x="61866" y="1584363"/>
                </a:lnTo>
                <a:lnTo>
                  <a:pt x="87385" y="1623060"/>
                </a:lnTo>
                <a:lnTo>
                  <a:pt x="116624" y="1658888"/>
                </a:lnTo>
                <a:lnTo>
                  <a:pt x="149299" y="1691563"/>
                </a:lnTo>
                <a:lnTo>
                  <a:pt x="185128" y="1720802"/>
                </a:lnTo>
                <a:lnTo>
                  <a:pt x="223825" y="1746321"/>
                </a:lnTo>
                <a:lnTo>
                  <a:pt x="265108" y="1767837"/>
                </a:lnTo>
                <a:lnTo>
                  <a:pt x="308692" y="1785065"/>
                </a:lnTo>
                <a:lnTo>
                  <a:pt x="354295" y="1797722"/>
                </a:lnTo>
                <a:lnTo>
                  <a:pt x="401632" y="1805524"/>
                </a:lnTo>
                <a:lnTo>
                  <a:pt x="450420" y="1808187"/>
                </a:lnTo>
                <a:lnTo>
                  <a:pt x="3060458" y="1808187"/>
                </a:lnTo>
                <a:lnTo>
                  <a:pt x="3109246" y="1805524"/>
                </a:lnTo>
                <a:lnTo>
                  <a:pt x="3156582" y="1797722"/>
                </a:lnTo>
                <a:lnTo>
                  <a:pt x="3202185" y="1785065"/>
                </a:lnTo>
                <a:lnTo>
                  <a:pt x="3245769" y="1767837"/>
                </a:lnTo>
                <a:lnTo>
                  <a:pt x="3287052" y="1746321"/>
                </a:lnTo>
                <a:lnTo>
                  <a:pt x="3325749" y="1720802"/>
                </a:lnTo>
                <a:lnTo>
                  <a:pt x="3361577" y="1691563"/>
                </a:lnTo>
                <a:lnTo>
                  <a:pt x="3394252" y="1658888"/>
                </a:lnTo>
                <a:lnTo>
                  <a:pt x="3423491" y="1623060"/>
                </a:lnTo>
                <a:lnTo>
                  <a:pt x="3449010" y="1584363"/>
                </a:lnTo>
                <a:lnTo>
                  <a:pt x="3470526" y="1543080"/>
                </a:lnTo>
                <a:lnTo>
                  <a:pt x="3487754" y="1499496"/>
                </a:lnTo>
                <a:lnTo>
                  <a:pt x="3500411" y="1453893"/>
                </a:lnTo>
                <a:lnTo>
                  <a:pt x="3508213" y="1406557"/>
                </a:lnTo>
                <a:lnTo>
                  <a:pt x="3510876" y="1357769"/>
                </a:lnTo>
                <a:lnTo>
                  <a:pt x="3510876" y="450418"/>
                </a:lnTo>
                <a:lnTo>
                  <a:pt x="3508213" y="401630"/>
                </a:lnTo>
                <a:lnTo>
                  <a:pt x="3500411" y="354294"/>
                </a:lnTo>
                <a:lnTo>
                  <a:pt x="3487754" y="308691"/>
                </a:lnTo>
                <a:lnTo>
                  <a:pt x="3470526" y="265107"/>
                </a:lnTo>
                <a:lnTo>
                  <a:pt x="3449010" y="223824"/>
                </a:lnTo>
                <a:lnTo>
                  <a:pt x="3423491" y="185127"/>
                </a:lnTo>
                <a:lnTo>
                  <a:pt x="3394252" y="149299"/>
                </a:lnTo>
                <a:lnTo>
                  <a:pt x="3361577" y="116623"/>
                </a:lnTo>
                <a:lnTo>
                  <a:pt x="3325749" y="87384"/>
                </a:lnTo>
                <a:lnTo>
                  <a:pt x="3287052" y="61865"/>
                </a:lnTo>
                <a:lnTo>
                  <a:pt x="3245769" y="40350"/>
                </a:lnTo>
                <a:lnTo>
                  <a:pt x="3202185" y="23122"/>
                </a:lnTo>
                <a:lnTo>
                  <a:pt x="3156582" y="10465"/>
                </a:lnTo>
                <a:lnTo>
                  <a:pt x="3109246" y="2663"/>
                </a:lnTo>
                <a:lnTo>
                  <a:pt x="3060458" y="0"/>
                </a:lnTo>
                <a:close/>
              </a:path>
            </a:pathLst>
          </a:custGeom>
          <a:solidFill>
            <a:srgbClr val="A1E1BE">
              <a:alpha val="51763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36655" y="7545031"/>
            <a:ext cx="1647685" cy="133069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184633" y="7591335"/>
            <a:ext cx="898525" cy="118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535"/>
              </a:lnSpc>
              <a:spcBef>
                <a:spcPts val="100"/>
              </a:spcBef>
            </a:pPr>
            <a:r>
              <a:rPr dirty="0" sz="4800" spc="-50" b="1">
                <a:solidFill>
                  <a:srgbClr val="244060"/>
                </a:solidFill>
                <a:latin typeface="Arial"/>
                <a:cs typeface="Arial"/>
              </a:rPr>
              <a:t>4</a:t>
            </a:r>
            <a:endParaRPr sz="4800">
              <a:latin typeface="Arial"/>
              <a:cs typeface="Arial"/>
            </a:endParaRPr>
          </a:p>
          <a:p>
            <a:pPr marL="17145">
              <a:lnSpc>
                <a:spcPts val="1685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Continent</a:t>
            </a:r>
            <a:endParaRPr sz="1600">
              <a:latin typeface="Arial"/>
              <a:cs typeface="Arial"/>
            </a:endParaRPr>
          </a:p>
          <a:p>
            <a:pPr marL="17145">
              <a:lnSpc>
                <a:spcPts val="1910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Served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68463" y="7363155"/>
            <a:ext cx="3510915" cy="1755139"/>
          </a:xfrm>
          <a:custGeom>
            <a:avLst/>
            <a:gdLst/>
            <a:ahLst/>
            <a:cxnLst/>
            <a:rect l="l" t="t" r="r" b="b"/>
            <a:pathLst>
              <a:path w="3510915" h="1755140">
                <a:moveTo>
                  <a:pt x="3073717" y="0"/>
                </a:moveTo>
                <a:lnTo>
                  <a:pt x="437160" y="0"/>
                </a:lnTo>
                <a:lnTo>
                  <a:pt x="389809" y="2585"/>
                </a:lnTo>
                <a:lnTo>
                  <a:pt x="343865" y="10157"/>
                </a:lnTo>
                <a:lnTo>
                  <a:pt x="299605" y="22442"/>
                </a:lnTo>
                <a:lnTo>
                  <a:pt x="257303" y="39163"/>
                </a:lnTo>
                <a:lnTo>
                  <a:pt x="217236" y="60045"/>
                </a:lnTo>
                <a:lnTo>
                  <a:pt x="179678" y="84813"/>
                </a:lnTo>
                <a:lnTo>
                  <a:pt x="144904" y="113192"/>
                </a:lnTo>
                <a:lnTo>
                  <a:pt x="113191" y="144905"/>
                </a:lnTo>
                <a:lnTo>
                  <a:pt x="84812" y="179679"/>
                </a:lnTo>
                <a:lnTo>
                  <a:pt x="60044" y="217237"/>
                </a:lnTo>
                <a:lnTo>
                  <a:pt x="39162" y="257305"/>
                </a:lnTo>
                <a:lnTo>
                  <a:pt x="22442" y="299606"/>
                </a:lnTo>
                <a:lnTo>
                  <a:pt x="10157" y="343865"/>
                </a:lnTo>
                <a:lnTo>
                  <a:pt x="2585" y="389808"/>
                </a:lnTo>
                <a:lnTo>
                  <a:pt x="0" y="437159"/>
                </a:lnTo>
                <a:lnTo>
                  <a:pt x="0" y="1317802"/>
                </a:lnTo>
                <a:lnTo>
                  <a:pt x="2585" y="1365153"/>
                </a:lnTo>
                <a:lnTo>
                  <a:pt x="10157" y="1411096"/>
                </a:lnTo>
                <a:lnTo>
                  <a:pt x="22442" y="1455355"/>
                </a:lnTo>
                <a:lnTo>
                  <a:pt x="39162" y="1497657"/>
                </a:lnTo>
                <a:lnTo>
                  <a:pt x="60044" y="1537724"/>
                </a:lnTo>
                <a:lnTo>
                  <a:pt x="84812" y="1575282"/>
                </a:lnTo>
                <a:lnTo>
                  <a:pt x="113191" y="1610056"/>
                </a:lnTo>
                <a:lnTo>
                  <a:pt x="144904" y="1641769"/>
                </a:lnTo>
                <a:lnTo>
                  <a:pt x="179678" y="1670148"/>
                </a:lnTo>
                <a:lnTo>
                  <a:pt x="217236" y="1694916"/>
                </a:lnTo>
                <a:lnTo>
                  <a:pt x="257303" y="1715798"/>
                </a:lnTo>
                <a:lnTo>
                  <a:pt x="299605" y="1732519"/>
                </a:lnTo>
                <a:lnTo>
                  <a:pt x="343865" y="1744804"/>
                </a:lnTo>
                <a:lnTo>
                  <a:pt x="389809" y="1752376"/>
                </a:lnTo>
                <a:lnTo>
                  <a:pt x="437160" y="1754962"/>
                </a:lnTo>
                <a:lnTo>
                  <a:pt x="3073717" y="1754962"/>
                </a:lnTo>
                <a:lnTo>
                  <a:pt x="3121068" y="1752376"/>
                </a:lnTo>
                <a:lnTo>
                  <a:pt x="3167011" y="1744804"/>
                </a:lnTo>
                <a:lnTo>
                  <a:pt x="3211270" y="1732519"/>
                </a:lnTo>
                <a:lnTo>
                  <a:pt x="3253571" y="1715798"/>
                </a:lnTo>
                <a:lnTo>
                  <a:pt x="3293639" y="1694916"/>
                </a:lnTo>
                <a:lnTo>
                  <a:pt x="3331197" y="1670148"/>
                </a:lnTo>
                <a:lnTo>
                  <a:pt x="3365970" y="1641769"/>
                </a:lnTo>
                <a:lnTo>
                  <a:pt x="3397684" y="1610056"/>
                </a:lnTo>
                <a:lnTo>
                  <a:pt x="3426063" y="1575282"/>
                </a:lnTo>
                <a:lnTo>
                  <a:pt x="3450831" y="1537724"/>
                </a:lnTo>
                <a:lnTo>
                  <a:pt x="3471713" y="1497657"/>
                </a:lnTo>
                <a:lnTo>
                  <a:pt x="3488434" y="1455355"/>
                </a:lnTo>
                <a:lnTo>
                  <a:pt x="3500718" y="1411096"/>
                </a:lnTo>
                <a:lnTo>
                  <a:pt x="3508291" y="1365153"/>
                </a:lnTo>
                <a:lnTo>
                  <a:pt x="3510876" y="1317802"/>
                </a:lnTo>
                <a:lnTo>
                  <a:pt x="3510876" y="437159"/>
                </a:lnTo>
                <a:lnTo>
                  <a:pt x="3508291" y="389808"/>
                </a:lnTo>
                <a:lnTo>
                  <a:pt x="3500718" y="343865"/>
                </a:lnTo>
                <a:lnTo>
                  <a:pt x="3488434" y="299606"/>
                </a:lnTo>
                <a:lnTo>
                  <a:pt x="3471713" y="257305"/>
                </a:lnTo>
                <a:lnTo>
                  <a:pt x="3450831" y="217237"/>
                </a:lnTo>
                <a:lnTo>
                  <a:pt x="3426063" y="179679"/>
                </a:lnTo>
                <a:lnTo>
                  <a:pt x="3397684" y="144905"/>
                </a:lnTo>
                <a:lnTo>
                  <a:pt x="3365970" y="113192"/>
                </a:lnTo>
                <a:lnTo>
                  <a:pt x="3331197" y="84813"/>
                </a:lnTo>
                <a:lnTo>
                  <a:pt x="3293639" y="60045"/>
                </a:lnTo>
                <a:lnTo>
                  <a:pt x="3253571" y="39163"/>
                </a:lnTo>
                <a:lnTo>
                  <a:pt x="3211270" y="22442"/>
                </a:lnTo>
                <a:lnTo>
                  <a:pt x="3167011" y="10157"/>
                </a:lnTo>
                <a:lnTo>
                  <a:pt x="3121068" y="2585"/>
                </a:lnTo>
                <a:lnTo>
                  <a:pt x="3073717" y="0"/>
                </a:lnTo>
                <a:close/>
              </a:path>
            </a:pathLst>
          </a:custGeom>
          <a:solidFill>
            <a:srgbClr val="A1E1BE">
              <a:alpha val="51763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36445" y="7629766"/>
            <a:ext cx="1256102" cy="125610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9438855" y="7559040"/>
            <a:ext cx="1057910" cy="118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525"/>
              </a:lnSpc>
              <a:spcBef>
                <a:spcPts val="100"/>
              </a:spcBef>
            </a:pPr>
            <a:r>
              <a:rPr dirty="0" sz="4800" spc="-25" b="1">
                <a:solidFill>
                  <a:srgbClr val="244060"/>
                </a:solidFill>
                <a:latin typeface="Arial"/>
                <a:cs typeface="Arial"/>
              </a:rPr>
              <a:t>25+</a:t>
            </a:r>
            <a:endParaRPr sz="4800">
              <a:latin typeface="Arial"/>
              <a:cs typeface="Arial"/>
            </a:endParaRPr>
          </a:p>
          <a:p>
            <a:pPr marL="83820">
              <a:lnSpc>
                <a:spcPts val="1675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endParaRPr sz="1600">
              <a:latin typeface="Arial"/>
              <a:cs typeface="Arial"/>
            </a:endParaRPr>
          </a:p>
          <a:p>
            <a:pPr marL="83820">
              <a:lnSpc>
                <a:spcPts val="1910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Markets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613210" y="2022170"/>
            <a:ext cx="0" cy="6698615"/>
          </a:xfrm>
          <a:custGeom>
            <a:avLst/>
            <a:gdLst/>
            <a:ahLst/>
            <a:cxnLst/>
            <a:rect l="l" t="t" r="r" b="b"/>
            <a:pathLst>
              <a:path w="0" h="6698615">
                <a:moveTo>
                  <a:pt x="0" y="0"/>
                </a:moveTo>
                <a:lnTo>
                  <a:pt x="0" y="6698386"/>
                </a:lnTo>
              </a:path>
            </a:pathLst>
          </a:custGeom>
          <a:ln w="34924">
            <a:solidFill>
              <a:srgbClr val="0A2F4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11773928" y="2933687"/>
            <a:ext cx="6243320" cy="1981835"/>
            <a:chOff x="11773928" y="2933687"/>
            <a:chExt cx="6243320" cy="1981835"/>
          </a:xfrm>
        </p:grpSpPr>
        <p:sp>
          <p:nvSpPr>
            <p:cNvPr id="35" name="object 35"/>
            <p:cNvSpPr/>
            <p:nvPr/>
          </p:nvSpPr>
          <p:spPr>
            <a:xfrm>
              <a:off x="11986120" y="3043618"/>
              <a:ext cx="6031230" cy="1871345"/>
            </a:xfrm>
            <a:custGeom>
              <a:avLst/>
              <a:gdLst/>
              <a:ahLst/>
              <a:cxnLst/>
              <a:rect l="l" t="t" r="r" b="b"/>
              <a:pathLst>
                <a:path w="6031230" h="1871345">
                  <a:moveTo>
                    <a:pt x="5719140" y="0"/>
                  </a:moveTo>
                  <a:lnTo>
                    <a:pt x="311886" y="0"/>
                  </a:lnTo>
                  <a:lnTo>
                    <a:pt x="266058" y="3407"/>
                  </a:lnTo>
                  <a:lnTo>
                    <a:pt x="222231" y="13298"/>
                  </a:lnTo>
                  <a:lnTo>
                    <a:pt x="180902" y="29175"/>
                  </a:lnTo>
                  <a:lnTo>
                    <a:pt x="142571" y="50538"/>
                  </a:lnTo>
                  <a:lnTo>
                    <a:pt x="107734" y="76891"/>
                  </a:lnTo>
                  <a:lnTo>
                    <a:pt x="76890" y="107735"/>
                  </a:lnTo>
                  <a:lnTo>
                    <a:pt x="50538" y="142571"/>
                  </a:lnTo>
                  <a:lnTo>
                    <a:pt x="29174" y="180903"/>
                  </a:lnTo>
                  <a:lnTo>
                    <a:pt x="13298" y="222231"/>
                  </a:lnTo>
                  <a:lnTo>
                    <a:pt x="3407" y="266058"/>
                  </a:lnTo>
                  <a:lnTo>
                    <a:pt x="0" y="311886"/>
                  </a:lnTo>
                  <a:lnTo>
                    <a:pt x="0" y="1559394"/>
                  </a:lnTo>
                  <a:lnTo>
                    <a:pt x="3407" y="1605222"/>
                  </a:lnTo>
                  <a:lnTo>
                    <a:pt x="13298" y="1649049"/>
                  </a:lnTo>
                  <a:lnTo>
                    <a:pt x="29174" y="1690378"/>
                  </a:lnTo>
                  <a:lnTo>
                    <a:pt x="50538" y="1728709"/>
                  </a:lnTo>
                  <a:lnTo>
                    <a:pt x="76890" y="1763546"/>
                  </a:lnTo>
                  <a:lnTo>
                    <a:pt x="107734" y="1794390"/>
                  </a:lnTo>
                  <a:lnTo>
                    <a:pt x="142571" y="1820742"/>
                  </a:lnTo>
                  <a:lnTo>
                    <a:pt x="180902" y="1842106"/>
                  </a:lnTo>
                  <a:lnTo>
                    <a:pt x="222231" y="1857982"/>
                  </a:lnTo>
                  <a:lnTo>
                    <a:pt x="266058" y="1867873"/>
                  </a:lnTo>
                  <a:lnTo>
                    <a:pt x="311886" y="1871281"/>
                  </a:lnTo>
                  <a:lnTo>
                    <a:pt x="5719140" y="1871281"/>
                  </a:lnTo>
                  <a:lnTo>
                    <a:pt x="5764968" y="1867873"/>
                  </a:lnTo>
                  <a:lnTo>
                    <a:pt x="5808795" y="1857982"/>
                  </a:lnTo>
                  <a:lnTo>
                    <a:pt x="5850123" y="1842106"/>
                  </a:lnTo>
                  <a:lnTo>
                    <a:pt x="5888455" y="1820742"/>
                  </a:lnTo>
                  <a:lnTo>
                    <a:pt x="5923291" y="1794390"/>
                  </a:lnTo>
                  <a:lnTo>
                    <a:pt x="5954135" y="1763546"/>
                  </a:lnTo>
                  <a:lnTo>
                    <a:pt x="5980488" y="1728709"/>
                  </a:lnTo>
                  <a:lnTo>
                    <a:pt x="6001851" y="1690378"/>
                  </a:lnTo>
                  <a:lnTo>
                    <a:pt x="6017728" y="1649049"/>
                  </a:lnTo>
                  <a:lnTo>
                    <a:pt x="6027619" y="1605222"/>
                  </a:lnTo>
                  <a:lnTo>
                    <a:pt x="6031026" y="1559394"/>
                  </a:lnTo>
                  <a:lnTo>
                    <a:pt x="6031026" y="311886"/>
                  </a:lnTo>
                  <a:lnTo>
                    <a:pt x="6027619" y="266058"/>
                  </a:lnTo>
                  <a:lnTo>
                    <a:pt x="6017728" y="222231"/>
                  </a:lnTo>
                  <a:lnTo>
                    <a:pt x="6001851" y="180903"/>
                  </a:lnTo>
                  <a:lnTo>
                    <a:pt x="5980488" y="142571"/>
                  </a:lnTo>
                  <a:lnTo>
                    <a:pt x="5954135" y="107735"/>
                  </a:lnTo>
                  <a:lnTo>
                    <a:pt x="5923291" y="76891"/>
                  </a:lnTo>
                  <a:lnTo>
                    <a:pt x="5888455" y="50538"/>
                  </a:lnTo>
                  <a:lnTo>
                    <a:pt x="5850123" y="29175"/>
                  </a:lnTo>
                  <a:lnTo>
                    <a:pt x="5808795" y="13298"/>
                  </a:lnTo>
                  <a:lnTo>
                    <a:pt x="5764968" y="3407"/>
                  </a:lnTo>
                  <a:lnTo>
                    <a:pt x="5719140" y="0"/>
                  </a:lnTo>
                  <a:close/>
                </a:path>
              </a:pathLst>
            </a:custGeom>
            <a:solidFill>
              <a:srgbClr val="C7EDD9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46838" y="3422776"/>
              <a:ext cx="1027512" cy="102750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773928" y="2933687"/>
              <a:ext cx="636905" cy="641985"/>
            </a:xfrm>
            <a:custGeom>
              <a:avLst/>
              <a:gdLst/>
              <a:ahLst/>
              <a:cxnLst/>
              <a:rect l="l" t="t" r="r" b="b"/>
              <a:pathLst>
                <a:path w="636904" h="641985">
                  <a:moveTo>
                    <a:pt x="318160" y="0"/>
                  </a:moveTo>
                  <a:lnTo>
                    <a:pt x="271410" y="3505"/>
                  </a:lnTo>
                  <a:lnTo>
                    <a:pt x="226701" y="13679"/>
                  </a:lnTo>
                  <a:lnTo>
                    <a:pt x="184541" y="30009"/>
                  </a:lnTo>
                  <a:lnTo>
                    <a:pt x="145439" y="51983"/>
                  </a:lnTo>
                  <a:lnTo>
                    <a:pt x="109901" y="79089"/>
                  </a:lnTo>
                  <a:lnTo>
                    <a:pt x="78437" y="110815"/>
                  </a:lnTo>
                  <a:lnTo>
                    <a:pt x="51554" y="146647"/>
                  </a:lnTo>
                  <a:lnTo>
                    <a:pt x="29761" y="186075"/>
                  </a:lnTo>
                  <a:lnTo>
                    <a:pt x="13566" y="228584"/>
                  </a:lnTo>
                  <a:lnTo>
                    <a:pt x="3476" y="273664"/>
                  </a:lnTo>
                  <a:lnTo>
                    <a:pt x="0" y="320801"/>
                  </a:lnTo>
                  <a:lnTo>
                    <a:pt x="3476" y="367942"/>
                  </a:lnTo>
                  <a:lnTo>
                    <a:pt x="13566" y="413025"/>
                  </a:lnTo>
                  <a:lnTo>
                    <a:pt x="29761" y="455536"/>
                  </a:lnTo>
                  <a:lnTo>
                    <a:pt x="51554" y="494965"/>
                  </a:lnTo>
                  <a:lnTo>
                    <a:pt x="78437" y="530799"/>
                  </a:lnTo>
                  <a:lnTo>
                    <a:pt x="109901" y="562525"/>
                  </a:lnTo>
                  <a:lnTo>
                    <a:pt x="145439" y="589632"/>
                  </a:lnTo>
                  <a:lnTo>
                    <a:pt x="184541" y="611607"/>
                  </a:lnTo>
                  <a:lnTo>
                    <a:pt x="226701" y="627937"/>
                  </a:lnTo>
                  <a:lnTo>
                    <a:pt x="271410" y="638111"/>
                  </a:lnTo>
                  <a:lnTo>
                    <a:pt x="318160" y="641616"/>
                  </a:lnTo>
                  <a:lnTo>
                    <a:pt x="364910" y="638111"/>
                  </a:lnTo>
                  <a:lnTo>
                    <a:pt x="409619" y="627937"/>
                  </a:lnTo>
                  <a:lnTo>
                    <a:pt x="451779" y="611607"/>
                  </a:lnTo>
                  <a:lnTo>
                    <a:pt x="490881" y="589632"/>
                  </a:lnTo>
                  <a:lnTo>
                    <a:pt x="526419" y="562525"/>
                  </a:lnTo>
                  <a:lnTo>
                    <a:pt x="557883" y="530799"/>
                  </a:lnTo>
                  <a:lnTo>
                    <a:pt x="584765" y="494965"/>
                  </a:lnTo>
                  <a:lnTo>
                    <a:pt x="606559" y="455536"/>
                  </a:lnTo>
                  <a:lnTo>
                    <a:pt x="622754" y="413025"/>
                  </a:lnTo>
                  <a:lnTo>
                    <a:pt x="632844" y="367942"/>
                  </a:lnTo>
                  <a:lnTo>
                    <a:pt x="636320" y="320801"/>
                  </a:lnTo>
                  <a:lnTo>
                    <a:pt x="632844" y="273664"/>
                  </a:lnTo>
                  <a:lnTo>
                    <a:pt x="622754" y="228584"/>
                  </a:lnTo>
                  <a:lnTo>
                    <a:pt x="606559" y="186075"/>
                  </a:lnTo>
                  <a:lnTo>
                    <a:pt x="584765" y="146647"/>
                  </a:lnTo>
                  <a:lnTo>
                    <a:pt x="557883" y="110815"/>
                  </a:lnTo>
                  <a:lnTo>
                    <a:pt x="526419" y="79089"/>
                  </a:lnTo>
                  <a:lnTo>
                    <a:pt x="490881" y="51983"/>
                  </a:lnTo>
                  <a:lnTo>
                    <a:pt x="451779" y="30009"/>
                  </a:lnTo>
                  <a:lnTo>
                    <a:pt x="409619" y="13679"/>
                  </a:lnTo>
                  <a:lnTo>
                    <a:pt x="364910" y="3505"/>
                  </a:lnTo>
                  <a:lnTo>
                    <a:pt x="318160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47589" y="1576654"/>
            <a:ext cx="16656685" cy="292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Strategic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maritime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access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gives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flexibility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serve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domestic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international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markets.</a:t>
            </a:r>
            <a:endParaRPr sz="2000">
              <a:latin typeface="Arial"/>
              <a:cs typeface="Arial"/>
            </a:endParaRPr>
          </a:p>
          <a:p>
            <a:pPr marL="11137900" marR="1480185">
              <a:lnSpc>
                <a:spcPts val="2700"/>
              </a:lnSpc>
              <a:spcBef>
                <a:spcPts val="218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EXPORTS</a:t>
            </a:r>
            <a:r>
              <a:rPr dirty="0" sz="24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PROVIDE</a:t>
            </a:r>
            <a:r>
              <a:rPr dirty="0" sz="24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THREE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STRATEGIC</a:t>
            </a:r>
            <a:r>
              <a:rPr dirty="0" sz="2400" spc="-8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BENEFITS</a:t>
            </a:r>
            <a:endParaRPr sz="2400">
              <a:latin typeface="Arial"/>
              <a:cs typeface="Arial"/>
            </a:endParaRPr>
          </a:p>
          <a:p>
            <a:pPr marL="11154410">
              <a:lnSpc>
                <a:spcPts val="3335"/>
              </a:lnSpc>
              <a:spcBef>
                <a:spcPts val="127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564110">
              <a:lnSpc>
                <a:spcPts val="2635"/>
              </a:lnSpc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2400" spc="-13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DIVERSIFICATION</a:t>
            </a:r>
            <a:endParaRPr sz="2400">
              <a:latin typeface="Arial"/>
              <a:cs typeface="Arial"/>
            </a:endParaRPr>
          </a:p>
          <a:p>
            <a:pPr marL="12564110" marR="212090">
              <a:lnSpc>
                <a:spcPts val="1839"/>
              </a:lnSpc>
              <a:spcBef>
                <a:spcPts val="10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Reduces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reliance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on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cement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provides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access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high-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growth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international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markets.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986120" y="5143500"/>
            <a:ext cx="6031230" cy="1871345"/>
            <a:chOff x="11986120" y="5143500"/>
            <a:chExt cx="6031230" cy="1871345"/>
          </a:xfrm>
        </p:grpSpPr>
        <p:sp>
          <p:nvSpPr>
            <p:cNvPr id="32" name="object 32"/>
            <p:cNvSpPr/>
            <p:nvPr/>
          </p:nvSpPr>
          <p:spPr>
            <a:xfrm>
              <a:off x="11986120" y="5143500"/>
              <a:ext cx="6031230" cy="1871345"/>
            </a:xfrm>
            <a:custGeom>
              <a:avLst/>
              <a:gdLst/>
              <a:ahLst/>
              <a:cxnLst/>
              <a:rect l="l" t="t" r="r" b="b"/>
              <a:pathLst>
                <a:path w="6031230" h="1871345">
                  <a:moveTo>
                    <a:pt x="5719140" y="0"/>
                  </a:moveTo>
                  <a:lnTo>
                    <a:pt x="311886" y="0"/>
                  </a:lnTo>
                  <a:lnTo>
                    <a:pt x="266058" y="3407"/>
                  </a:lnTo>
                  <a:lnTo>
                    <a:pt x="222231" y="13298"/>
                  </a:lnTo>
                  <a:lnTo>
                    <a:pt x="180902" y="29175"/>
                  </a:lnTo>
                  <a:lnTo>
                    <a:pt x="142571" y="50538"/>
                  </a:lnTo>
                  <a:lnTo>
                    <a:pt x="107734" y="76891"/>
                  </a:lnTo>
                  <a:lnTo>
                    <a:pt x="76890" y="107735"/>
                  </a:lnTo>
                  <a:lnTo>
                    <a:pt x="50538" y="142571"/>
                  </a:lnTo>
                  <a:lnTo>
                    <a:pt x="29174" y="180903"/>
                  </a:lnTo>
                  <a:lnTo>
                    <a:pt x="13298" y="222231"/>
                  </a:lnTo>
                  <a:lnTo>
                    <a:pt x="3407" y="266058"/>
                  </a:lnTo>
                  <a:lnTo>
                    <a:pt x="0" y="311886"/>
                  </a:lnTo>
                  <a:lnTo>
                    <a:pt x="0" y="1559394"/>
                  </a:lnTo>
                  <a:lnTo>
                    <a:pt x="3407" y="1605222"/>
                  </a:lnTo>
                  <a:lnTo>
                    <a:pt x="13298" y="1649049"/>
                  </a:lnTo>
                  <a:lnTo>
                    <a:pt x="29174" y="1690378"/>
                  </a:lnTo>
                  <a:lnTo>
                    <a:pt x="50538" y="1728709"/>
                  </a:lnTo>
                  <a:lnTo>
                    <a:pt x="76890" y="1763546"/>
                  </a:lnTo>
                  <a:lnTo>
                    <a:pt x="107734" y="1794390"/>
                  </a:lnTo>
                  <a:lnTo>
                    <a:pt x="142571" y="1820742"/>
                  </a:lnTo>
                  <a:lnTo>
                    <a:pt x="180902" y="1842106"/>
                  </a:lnTo>
                  <a:lnTo>
                    <a:pt x="222231" y="1857982"/>
                  </a:lnTo>
                  <a:lnTo>
                    <a:pt x="266058" y="1867873"/>
                  </a:lnTo>
                  <a:lnTo>
                    <a:pt x="311886" y="1871281"/>
                  </a:lnTo>
                  <a:lnTo>
                    <a:pt x="5719140" y="1871281"/>
                  </a:lnTo>
                  <a:lnTo>
                    <a:pt x="5764968" y="1867873"/>
                  </a:lnTo>
                  <a:lnTo>
                    <a:pt x="5808795" y="1857982"/>
                  </a:lnTo>
                  <a:lnTo>
                    <a:pt x="5850123" y="1842106"/>
                  </a:lnTo>
                  <a:lnTo>
                    <a:pt x="5888455" y="1820742"/>
                  </a:lnTo>
                  <a:lnTo>
                    <a:pt x="5923291" y="1794390"/>
                  </a:lnTo>
                  <a:lnTo>
                    <a:pt x="5954135" y="1763546"/>
                  </a:lnTo>
                  <a:lnTo>
                    <a:pt x="5980488" y="1728709"/>
                  </a:lnTo>
                  <a:lnTo>
                    <a:pt x="6001851" y="1690378"/>
                  </a:lnTo>
                  <a:lnTo>
                    <a:pt x="6017728" y="1649049"/>
                  </a:lnTo>
                  <a:lnTo>
                    <a:pt x="6027619" y="1605222"/>
                  </a:lnTo>
                  <a:lnTo>
                    <a:pt x="6031026" y="1559394"/>
                  </a:lnTo>
                  <a:lnTo>
                    <a:pt x="6031026" y="311886"/>
                  </a:lnTo>
                  <a:lnTo>
                    <a:pt x="6027619" y="266058"/>
                  </a:lnTo>
                  <a:lnTo>
                    <a:pt x="6017728" y="222231"/>
                  </a:lnTo>
                  <a:lnTo>
                    <a:pt x="6001851" y="180903"/>
                  </a:lnTo>
                  <a:lnTo>
                    <a:pt x="5980488" y="142571"/>
                  </a:lnTo>
                  <a:lnTo>
                    <a:pt x="5954135" y="107735"/>
                  </a:lnTo>
                  <a:lnTo>
                    <a:pt x="5923291" y="76891"/>
                  </a:lnTo>
                  <a:lnTo>
                    <a:pt x="5888455" y="50538"/>
                  </a:lnTo>
                  <a:lnTo>
                    <a:pt x="5850123" y="29175"/>
                  </a:lnTo>
                  <a:lnTo>
                    <a:pt x="5808795" y="13298"/>
                  </a:lnTo>
                  <a:lnTo>
                    <a:pt x="5764968" y="3407"/>
                  </a:lnTo>
                  <a:lnTo>
                    <a:pt x="5719140" y="0"/>
                  </a:lnTo>
                  <a:close/>
                </a:path>
              </a:pathLst>
            </a:custGeom>
            <a:solidFill>
              <a:srgbClr val="C7EDD9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04204" y="5528132"/>
              <a:ext cx="1160240" cy="1198295"/>
            </a:xfrm>
            <a:prstGeom prst="rect">
              <a:avLst/>
            </a:prstGeom>
          </p:spPr>
        </p:pic>
      </p:grpSp>
      <p:sp>
        <p:nvSpPr>
          <p:cNvPr id="48" name="object 48"/>
          <p:cNvSpPr/>
          <p:nvPr/>
        </p:nvSpPr>
        <p:spPr>
          <a:xfrm>
            <a:off x="11743385" y="5032565"/>
            <a:ext cx="636905" cy="641985"/>
          </a:xfrm>
          <a:custGeom>
            <a:avLst/>
            <a:gdLst/>
            <a:ahLst/>
            <a:cxnLst/>
            <a:rect l="l" t="t" r="r" b="b"/>
            <a:pathLst>
              <a:path w="636904" h="641985">
                <a:moveTo>
                  <a:pt x="318160" y="0"/>
                </a:moveTo>
                <a:lnTo>
                  <a:pt x="271410" y="3505"/>
                </a:lnTo>
                <a:lnTo>
                  <a:pt x="226701" y="13679"/>
                </a:lnTo>
                <a:lnTo>
                  <a:pt x="184541" y="30009"/>
                </a:lnTo>
                <a:lnTo>
                  <a:pt x="145439" y="51983"/>
                </a:lnTo>
                <a:lnTo>
                  <a:pt x="109901" y="79089"/>
                </a:lnTo>
                <a:lnTo>
                  <a:pt x="78437" y="110815"/>
                </a:lnTo>
                <a:lnTo>
                  <a:pt x="51554" y="146647"/>
                </a:lnTo>
                <a:lnTo>
                  <a:pt x="29761" y="186075"/>
                </a:lnTo>
                <a:lnTo>
                  <a:pt x="13566" y="228584"/>
                </a:lnTo>
                <a:lnTo>
                  <a:pt x="3476" y="273664"/>
                </a:lnTo>
                <a:lnTo>
                  <a:pt x="0" y="320801"/>
                </a:lnTo>
                <a:lnTo>
                  <a:pt x="3476" y="367942"/>
                </a:lnTo>
                <a:lnTo>
                  <a:pt x="13566" y="413025"/>
                </a:lnTo>
                <a:lnTo>
                  <a:pt x="29761" y="455536"/>
                </a:lnTo>
                <a:lnTo>
                  <a:pt x="51554" y="494965"/>
                </a:lnTo>
                <a:lnTo>
                  <a:pt x="78437" y="530799"/>
                </a:lnTo>
                <a:lnTo>
                  <a:pt x="109901" y="562525"/>
                </a:lnTo>
                <a:lnTo>
                  <a:pt x="145439" y="589632"/>
                </a:lnTo>
                <a:lnTo>
                  <a:pt x="184541" y="611607"/>
                </a:lnTo>
                <a:lnTo>
                  <a:pt x="226701" y="627937"/>
                </a:lnTo>
                <a:lnTo>
                  <a:pt x="271410" y="638111"/>
                </a:lnTo>
                <a:lnTo>
                  <a:pt x="318160" y="641616"/>
                </a:lnTo>
                <a:lnTo>
                  <a:pt x="364910" y="638111"/>
                </a:lnTo>
                <a:lnTo>
                  <a:pt x="409619" y="627937"/>
                </a:lnTo>
                <a:lnTo>
                  <a:pt x="451779" y="611607"/>
                </a:lnTo>
                <a:lnTo>
                  <a:pt x="490881" y="589632"/>
                </a:lnTo>
                <a:lnTo>
                  <a:pt x="526419" y="562525"/>
                </a:lnTo>
                <a:lnTo>
                  <a:pt x="557883" y="530799"/>
                </a:lnTo>
                <a:lnTo>
                  <a:pt x="584765" y="494965"/>
                </a:lnTo>
                <a:lnTo>
                  <a:pt x="606559" y="455536"/>
                </a:lnTo>
                <a:lnTo>
                  <a:pt x="622754" y="413025"/>
                </a:lnTo>
                <a:lnTo>
                  <a:pt x="632844" y="367942"/>
                </a:lnTo>
                <a:lnTo>
                  <a:pt x="636320" y="320801"/>
                </a:lnTo>
                <a:lnTo>
                  <a:pt x="632844" y="273664"/>
                </a:lnTo>
                <a:lnTo>
                  <a:pt x="622754" y="228584"/>
                </a:lnTo>
                <a:lnTo>
                  <a:pt x="606559" y="186075"/>
                </a:lnTo>
                <a:lnTo>
                  <a:pt x="584765" y="146647"/>
                </a:lnTo>
                <a:lnTo>
                  <a:pt x="557883" y="110815"/>
                </a:lnTo>
                <a:lnTo>
                  <a:pt x="526419" y="79089"/>
                </a:lnTo>
                <a:lnTo>
                  <a:pt x="490881" y="51983"/>
                </a:lnTo>
                <a:lnTo>
                  <a:pt x="451779" y="30009"/>
                </a:lnTo>
                <a:lnTo>
                  <a:pt x="409619" y="13679"/>
                </a:lnTo>
                <a:lnTo>
                  <a:pt x="364910" y="3505"/>
                </a:lnTo>
                <a:lnTo>
                  <a:pt x="318160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3347700" y="6276124"/>
            <a:ext cx="398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help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offset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foreign-currency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operational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958902" y="5104549"/>
            <a:ext cx="5147945" cy="1238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24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401445">
              <a:lnSpc>
                <a:spcPts val="2535"/>
              </a:lnSpc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FX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EXPOSURE</a:t>
            </a:r>
            <a:endParaRPr sz="2400">
              <a:latin typeface="Arial"/>
              <a:cs typeface="Arial"/>
            </a:endParaRPr>
          </a:p>
          <a:p>
            <a:pPr marL="1401445" marR="5080">
              <a:lnSpc>
                <a:spcPts val="1839"/>
              </a:lnSpc>
              <a:spcBef>
                <a:spcPts val="10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revenues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provide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natural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hedge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against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EGP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depreciation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and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0035" y="6438900"/>
            <a:ext cx="206173" cy="211162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3347700" y="6509295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costs.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0034" y="6695541"/>
            <a:ext cx="206173" cy="211162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744608" y="6375933"/>
            <a:ext cx="20300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100"/>
              </a:spcBef>
            </a:pP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14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14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44060"/>
                </a:solidFill>
                <a:latin typeface="Arial"/>
                <a:cs typeface="Arial"/>
              </a:rPr>
              <a:t>Destination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Egypt</a:t>
            </a:r>
            <a:r>
              <a:rPr dirty="0" sz="14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/</a:t>
            </a:r>
            <a:r>
              <a:rPr dirty="0" sz="1400" spc="-10">
                <a:solidFill>
                  <a:srgbClr val="244060"/>
                </a:solidFill>
                <a:latin typeface="Arial"/>
                <a:cs typeface="Arial"/>
              </a:rPr>
              <a:t> Origin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986120" y="7243381"/>
            <a:ext cx="6031230" cy="1871345"/>
          </a:xfrm>
          <a:custGeom>
            <a:avLst/>
            <a:gdLst/>
            <a:ahLst/>
            <a:cxnLst/>
            <a:rect l="l" t="t" r="r" b="b"/>
            <a:pathLst>
              <a:path w="6031230" h="1871345">
                <a:moveTo>
                  <a:pt x="5719140" y="0"/>
                </a:moveTo>
                <a:lnTo>
                  <a:pt x="311886" y="0"/>
                </a:lnTo>
                <a:lnTo>
                  <a:pt x="266058" y="3407"/>
                </a:lnTo>
                <a:lnTo>
                  <a:pt x="222231" y="13298"/>
                </a:lnTo>
                <a:lnTo>
                  <a:pt x="180902" y="29175"/>
                </a:lnTo>
                <a:lnTo>
                  <a:pt x="142571" y="50538"/>
                </a:lnTo>
                <a:lnTo>
                  <a:pt x="107734" y="76891"/>
                </a:lnTo>
                <a:lnTo>
                  <a:pt x="76890" y="107735"/>
                </a:lnTo>
                <a:lnTo>
                  <a:pt x="50538" y="142571"/>
                </a:lnTo>
                <a:lnTo>
                  <a:pt x="29174" y="180903"/>
                </a:lnTo>
                <a:lnTo>
                  <a:pt x="13298" y="222231"/>
                </a:lnTo>
                <a:lnTo>
                  <a:pt x="3407" y="266058"/>
                </a:lnTo>
                <a:lnTo>
                  <a:pt x="0" y="311886"/>
                </a:lnTo>
                <a:lnTo>
                  <a:pt x="0" y="1559394"/>
                </a:lnTo>
                <a:lnTo>
                  <a:pt x="3407" y="1605222"/>
                </a:lnTo>
                <a:lnTo>
                  <a:pt x="13298" y="1649049"/>
                </a:lnTo>
                <a:lnTo>
                  <a:pt x="29174" y="1690378"/>
                </a:lnTo>
                <a:lnTo>
                  <a:pt x="50538" y="1728709"/>
                </a:lnTo>
                <a:lnTo>
                  <a:pt x="76890" y="1763546"/>
                </a:lnTo>
                <a:lnTo>
                  <a:pt x="107734" y="1794390"/>
                </a:lnTo>
                <a:lnTo>
                  <a:pt x="142571" y="1820742"/>
                </a:lnTo>
                <a:lnTo>
                  <a:pt x="180902" y="1842106"/>
                </a:lnTo>
                <a:lnTo>
                  <a:pt x="222231" y="1857982"/>
                </a:lnTo>
                <a:lnTo>
                  <a:pt x="266058" y="1867873"/>
                </a:lnTo>
                <a:lnTo>
                  <a:pt x="311886" y="1871281"/>
                </a:lnTo>
                <a:lnTo>
                  <a:pt x="5719140" y="1871281"/>
                </a:lnTo>
                <a:lnTo>
                  <a:pt x="5764968" y="1867873"/>
                </a:lnTo>
                <a:lnTo>
                  <a:pt x="5808795" y="1857982"/>
                </a:lnTo>
                <a:lnTo>
                  <a:pt x="5850123" y="1842106"/>
                </a:lnTo>
                <a:lnTo>
                  <a:pt x="5888455" y="1820742"/>
                </a:lnTo>
                <a:lnTo>
                  <a:pt x="5923291" y="1794390"/>
                </a:lnTo>
                <a:lnTo>
                  <a:pt x="5954135" y="1763546"/>
                </a:lnTo>
                <a:lnTo>
                  <a:pt x="5980488" y="1728709"/>
                </a:lnTo>
                <a:lnTo>
                  <a:pt x="6001851" y="1690378"/>
                </a:lnTo>
                <a:lnTo>
                  <a:pt x="6017728" y="1649049"/>
                </a:lnTo>
                <a:lnTo>
                  <a:pt x="6027619" y="1605222"/>
                </a:lnTo>
                <a:lnTo>
                  <a:pt x="6031026" y="1559394"/>
                </a:lnTo>
                <a:lnTo>
                  <a:pt x="6031026" y="311886"/>
                </a:lnTo>
                <a:lnTo>
                  <a:pt x="6027619" y="266058"/>
                </a:lnTo>
                <a:lnTo>
                  <a:pt x="6017728" y="222231"/>
                </a:lnTo>
                <a:lnTo>
                  <a:pt x="6001851" y="180903"/>
                </a:lnTo>
                <a:lnTo>
                  <a:pt x="5980488" y="142571"/>
                </a:lnTo>
                <a:lnTo>
                  <a:pt x="5954135" y="107735"/>
                </a:lnTo>
                <a:lnTo>
                  <a:pt x="5923291" y="76891"/>
                </a:lnTo>
                <a:lnTo>
                  <a:pt x="5888455" y="50538"/>
                </a:lnTo>
                <a:lnTo>
                  <a:pt x="5850123" y="29175"/>
                </a:lnTo>
                <a:lnTo>
                  <a:pt x="5808795" y="13298"/>
                </a:lnTo>
                <a:lnTo>
                  <a:pt x="5764968" y="3407"/>
                </a:lnTo>
                <a:lnTo>
                  <a:pt x="5719140" y="0"/>
                </a:lnTo>
                <a:close/>
              </a:path>
            </a:pathLst>
          </a:custGeom>
          <a:solidFill>
            <a:srgbClr val="C7EDD9">
              <a:alpha val="5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3347700" y="7618400"/>
            <a:ext cx="3698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CAPACITY</a:t>
            </a:r>
            <a:r>
              <a:rPr dirty="0" sz="2400" spc="-114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ABSORPTION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347700" y="7927771"/>
            <a:ext cx="3924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International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creates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outlet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347700" y="8160943"/>
            <a:ext cx="40500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incremental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supports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347700" y="8394115"/>
            <a:ext cx="2310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higher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rates.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738914" y="7158367"/>
            <a:ext cx="1654810" cy="1751964"/>
            <a:chOff x="11738914" y="7158367"/>
            <a:chExt cx="1654810" cy="1751964"/>
          </a:xfrm>
        </p:grpSpPr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964275" y="7413231"/>
              <a:ext cx="1429321" cy="149706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1738914" y="7158367"/>
              <a:ext cx="636905" cy="641985"/>
            </a:xfrm>
            <a:custGeom>
              <a:avLst/>
              <a:gdLst/>
              <a:ahLst/>
              <a:cxnLst/>
              <a:rect l="l" t="t" r="r" b="b"/>
              <a:pathLst>
                <a:path w="636904" h="641984">
                  <a:moveTo>
                    <a:pt x="318160" y="0"/>
                  </a:moveTo>
                  <a:lnTo>
                    <a:pt x="271410" y="3505"/>
                  </a:lnTo>
                  <a:lnTo>
                    <a:pt x="226701" y="13679"/>
                  </a:lnTo>
                  <a:lnTo>
                    <a:pt x="184541" y="30009"/>
                  </a:lnTo>
                  <a:lnTo>
                    <a:pt x="145439" y="51983"/>
                  </a:lnTo>
                  <a:lnTo>
                    <a:pt x="109901" y="79089"/>
                  </a:lnTo>
                  <a:lnTo>
                    <a:pt x="78437" y="110815"/>
                  </a:lnTo>
                  <a:lnTo>
                    <a:pt x="51554" y="146647"/>
                  </a:lnTo>
                  <a:lnTo>
                    <a:pt x="29761" y="186075"/>
                  </a:lnTo>
                  <a:lnTo>
                    <a:pt x="13566" y="228584"/>
                  </a:lnTo>
                  <a:lnTo>
                    <a:pt x="3476" y="273664"/>
                  </a:lnTo>
                  <a:lnTo>
                    <a:pt x="0" y="320801"/>
                  </a:lnTo>
                  <a:lnTo>
                    <a:pt x="3476" y="367942"/>
                  </a:lnTo>
                  <a:lnTo>
                    <a:pt x="13566" y="413025"/>
                  </a:lnTo>
                  <a:lnTo>
                    <a:pt x="29761" y="455536"/>
                  </a:lnTo>
                  <a:lnTo>
                    <a:pt x="51554" y="494965"/>
                  </a:lnTo>
                  <a:lnTo>
                    <a:pt x="78437" y="530799"/>
                  </a:lnTo>
                  <a:lnTo>
                    <a:pt x="109901" y="562525"/>
                  </a:lnTo>
                  <a:lnTo>
                    <a:pt x="145439" y="589632"/>
                  </a:lnTo>
                  <a:lnTo>
                    <a:pt x="184541" y="611607"/>
                  </a:lnTo>
                  <a:lnTo>
                    <a:pt x="226701" y="627937"/>
                  </a:lnTo>
                  <a:lnTo>
                    <a:pt x="271410" y="638111"/>
                  </a:lnTo>
                  <a:lnTo>
                    <a:pt x="318160" y="641616"/>
                  </a:lnTo>
                  <a:lnTo>
                    <a:pt x="364910" y="638111"/>
                  </a:lnTo>
                  <a:lnTo>
                    <a:pt x="409619" y="627937"/>
                  </a:lnTo>
                  <a:lnTo>
                    <a:pt x="451779" y="611607"/>
                  </a:lnTo>
                  <a:lnTo>
                    <a:pt x="490881" y="589632"/>
                  </a:lnTo>
                  <a:lnTo>
                    <a:pt x="526419" y="562525"/>
                  </a:lnTo>
                  <a:lnTo>
                    <a:pt x="557883" y="530799"/>
                  </a:lnTo>
                  <a:lnTo>
                    <a:pt x="584765" y="494965"/>
                  </a:lnTo>
                  <a:lnTo>
                    <a:pt x="606559" y="455536"/>
                  </a:lnTo>
                  <a:lnTo>
                    <a:pt x="622754" y="413025"/>
                  </a:lnTo>
                  <a:lnTo>
                    <a:pt x="632844" y="367942"/>
                  </a:lnTo>
                  <a:lnTo>
                    <a:pt x="636320" y="320801"/>
                  </a:lnTo>
                  <a:lnTo>
                    <a:pt x="632844" y="273664"/>
                  </a:lnTo>
                  <a:lnTo>
                    <a:pt x="622754" y="228584"/>
                  </a:lnTo>
                  <a:lnTo>
                    <a:pt x="606559" y="186075"/>
                  </a:lnTo>
                  <a:lnTo>
                    <a:pt x="584765" y="146647"/>
                  </a:lnTo>
                  <a:lnTo>
                    <a:pt x="557883" y="110815"/>
                  </a:lnTo>
                  <a:lnTo>
                    <a:pt x="526419" y="79089"/>
                  </a:lnTo>
                  <a:lnTo>
                    <a:pt x="490881" y="51983"/>
                  </a:lnTo>
                  <a:lnTo>
                    <a:pt x="451779" y="30009"/>
                  </a:lnTo>
                  <a:lnTo>
                    <a:pt x="409619" y="13679"/>
                  </a:lnTo>
                  <a:lnTo>
                    <a:pt x="364910" y="3505"/>
                  </a:lnTo>
                  <a:lnTo>
                    <a:pt x="318160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1954445" y="7230350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4477" y="9094431"/>
            <a:ext cx="6612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Company,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Profile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2025;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ACC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Products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&amp;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Services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-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Export.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349307"/>
              <a:ext cx="4166870" cy="937894"/>
            </a:xfrm>
            <a:custGeom>
              <a:avLst/>
              <a:gdLst/>
              <a:ahLst/>
              <a:cxnLst/>
              <a:rect l="l" t="t" r="r" b="b"/>
              <a:pathLst>
                <a:path w="4166870" h="937895">
                  <a:moveTo>
                    <a:pt x="369977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3724503" y="937691"/>
                  </a:lnTo>
                  <a:lnTo>
                    <a:pt x="4166514" y="481609"/>
                  </a:lnTo>
                  <a:lnTo>
                    <a:pt x="3699776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52532" y="9349307"/>
              <a:ext cx="10502900" cy="937894"/>
            </a:xfrm>
            <a:custGeom>
              <a:avLst/>
              <a:gdLst/>
              <a:ahLst/>
              <a:cxnLst/>
              <a:rect l="l" t="t" r="r" b="b"/>
              <a:pathLst>
                <a:path w="10502900" h="937895">
                  <a:moveTo>
                    <a:pt x="2369147" y="481609"/>
                  </a:moveTo>
                  <a:lnTo>
                    <a:pt x="1902396" y="0"/>
                  </a:lnTo>
                  <a:lnTo>
                    <a:pt x="0" y="0"/>
                  </a:lnTo>
                  <a:lnTo>
                    <a:pt x="466737" y="481609"/>
                  </a:lnTo>
                  <a:lnTo>
                    <a:pt x="24726" y="937691"/>
                  </a:lnTo>
                  <a:lnTo>
                    <a:pt x="1927123" y="937691"/>
                  </a:lnTo>
                  <a:lnTo>
                    <a:pt x="2369147" y="481609"/>
                  </a:lnTo>
                  <a:close/>
                </a:path>
                <a:path w="10502900" h="937895">
                  <a:moveTo>
                    <a:pt x="4402531" y="481609"/>
                  </a:moveTo>
                  <a:lnTo>
                    <a:pt x="3935780" y="0"/>
                  </a:lnTo>
                  <a:lnTo>
                    <a:pt x="2033384" y="0"/>
                  </a:lnTo>
                  <a:lnTo>
                    <a:pt x="2500134" y="481609"/>
                  </a:lnTo>
                  <a:lnTo>
                    <a:pt x="2058123" y="937691"/>
                  </a:lnTo>
                  <a:lnTo>
                    <a:pt x="3960520" y="937691"/>
                  </a:lnTo>
                  <a:lnTo>
                    <a:pt x="4402531" y="481609"/>
                  </a:lnTo>
                  <a:close/>
                </a:path>
                <a:path w="10502900" h="937895">
                  <a:moveTo>
                    <a:pt x="6435941" y="481609"/>
                  </a:moveTo>
                  <a:lnTo>
                    <a:pt x="5969190" y="0"/>
                  </a:lnTo>
                  <a:lnTo>
                    <a:pt x="4066794" y="0"/>
                  </a:lnTo>
                  <a:lnTo>
                    <a:pt x="4533531" y="481609"/>
                  </a:lnTo>
                  <a:lnTo>
                    <a:pt x="4091521" y="937691"/>
                  </a:lnTo>
                  <a:lnTo>
                    <a:pt x="5993917" y="937691"/>
                  </a:lnTo>
                  <a:lnTo>
                    <a:pt x="6435941" y="481609"/>
                  </a:lnTo>
                  <a:close/>
                </a:path>
                <a:path w="10502900" h="937895">
                  <a:moveTo>
                    <a:pt x="8469325" y="481609"/>
                  </a:moveTo>
                  <a:lnTo>
                    <a:pt x="8002575" y="0"/>
                  </a:lnTo>
                  <a:lnTo>
                    <a:pt x="6100178" y="0"/>
                  </a:lnTo>
                  <a:lnTo>
                    <a:pt x="6566929" y="481609"/>
                  </a:lnTo>
                  <a:lnTo>
                    <a:pt x="6124918" y="937691"/>
                  </a:lnTo>
                  <a:lnTo>
                    <a:pt x="8027314" y="937691"/>
                  </a:lnTo>
                  <a:lnTo>
                    <a:pt x="8469325" y="481609"/>
                  </a:lnTo>
                  <a:close/>
                </a:path>
                <a:path w="10502900" h="937895">
                  <a:moveTo>
                    <a:pt x="10502722" y="481609"/>
                  </a:moveTo>
                  <a:lnTo>
                    <a:pt x="10035972" y="0"/>
                  </a:lnTo>
                  <a:lnTo>
                    <a:pt x="8133575" y="0"/>
                  </a:lnTo>
                  <a:lnTo>
                    <a:pt x="8600326" y="481609"/>
                  </a:lnTo>
                  <a:lnTo>
                    <a:pt x="8158315" y="937691"/>
                  </a:lnTo>
                  <a:lnTo>
                    <a:pt x="10060711" y="937691"/>
                  </a:lnTo>
                  <a:lnTo>
                    <a:pt x="10502722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8650" y="9513823"/>
              <a:ext cx="831681" cy="6341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3744" y="9473513"/>
              <a:ext cx="599793" cy="6749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9887" y="9473513"/>
              <a:ext cx="732607" cy="7254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53284" y="9443300"/>
              <a:ext cx="696714" cy="7752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86681" y="9459645"/>
              <a:ext cx="756525" cy="7304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8143" y="9443300"/>
              <a:ext cx="575337" cy="730453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2302103" y="9676213"/>
            <a:ext cx="11537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17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8" name="object 18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15983" y="498886"/>
            <a:ext cx="4371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Market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4387" y="980230"/>
            <a:ext cx="16510" cy="1229360"/>
          </a:xfrm>
          <a:custGeom>
            <a:avLst/>
            <a:gdLst/>
            <a:ahLst/>
            <a:cxnLst/>
            <a:rect l="l" t="t" r="r" b="b"/>
            <a:pathLst>
              <a:path w="16509" h="1229360">
                <a:moveTo>
                  <a:pt x="0" y="0"/>
                </a:moveTo>
                <a:lnTo>
                  <a:pt x="16263" y="1229309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737876" y="888007"/>
            <a:ext cx="133305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Egyptian</a:t>
            </a:r>
            <a:r>
              <a:rPr dirty="0" spc="-50"/>
              <a:t> </a:t>
            </a:r>
            <a:r>
              <a:rPr dirty="0"/>
              <a:t>Cement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Moving</a:t>
            </a:r>
            <a:r>
              <a:rPr dirty="0" spc="-50"/>
              <a:t>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Oversupply</a:t>
            </a:r>
            <a:r>
              <a:rPr dirty="0" spc="-50"/>
              <a:t> </a:t>
            </a:r>
            <a:r>
              <a:rPr dirty="0"/>
              <a:t>Toward</a:t>
            </a:r>
            <a:r>
              <a:rPr dirty="0" spc="-50"/>
              <a:t> </a:t>
            </a:r>
            <a:r>
              <a:rPr dirty="0" spc="-10"/>
              <a:t>Tighter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7876" y="1269007"/>
            <a:ext cx="31229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Fundamentals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7876" y="1754390"/>
            <a:ext cx="16019780" cy="5029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 marR="5080">
              <a:lnSpc>
                <a:spcPct val="74100"/>
              </a:lnSpc>
              <a:spcBef>
                <a:spcPts val="66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18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sharp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recovery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during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marked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an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inflection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point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for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Egyptian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market,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although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reactivation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expected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to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moderate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tightness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over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medium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term.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0" name="object 9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520700" y="2401506"/>
            <a:ext cx="658431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Capacity,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Production,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(Mt.,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2021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2025)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8832" y="3283610"/>
            <a:ext cx="2279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100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99807" y="3553460"/>
            <a:ext cx="7798434" cy="3981450"/>
            <a:chOff x="999807" y="3553460"/>
            <a:chExt cx="7798434" cy="3981450"/>
          </a:xfrm>
        </p:grpSpPr>
        <p:sp>
          <p:nvSpPr>
            <p:cNvPr id="22" name="object 22"/>
            <p:cNvSpPr/>
            <p:nvPr/>
          </p:nvSpPr>
          <p:spPr>
            <a:xfrm>
              <a:off x="1411643" y="3755707"/>
              <a:ext cx="6602730" cy="3722370"/>
            </a:xfrm>
            <a:custGeom>
              <a:avLst/>
              <a:gdLst/>
              <a:ahLst/>
              <a:cxnLst/>
              <a:rect l="l" t="t" r="r" b="b"/>
              <a:pathLst>
                <a:path w="6602730" h="3722370">
                  <a:moveTo>
                    <a:pt x="371767" y="328028"/>
                  </a:moveTo>
                  <a:lnTo>
                    <a:pt x="0" y="328028"/>
                  </a:lnTo>
                  <a:lnTo>
                    <a:pt x="0" y="3721836"/>
                  </a:lnTo>
                  <a:lnTo>
                    <a:pt x="371767" y="3721836"/>
                  </a:lnTo>
                  <a:lnTo>
                    <a:pt x="371767" y="328028"/>
                  </a:lnTo>
                  <a:close/>
                </a:path>
                <a:path w="6602730" h="3722370">
                  <a:moveTo>
                    <a:pt x="1929472" y="328028"/>
                  </a:moveTo>
                  <a:lnTo>
                    <a:pt x="1557705" y="328028"/>
                  </a:lnTo>
                  <a:lnTo>
                    <a:pt x="1557705" y="3721836"/>
                  </a:lnTo>
                  <a:lnTo>
                    <a:pt x="1929472" y="3721836"/>
                  </a:lnTo>
                  <a:lnTo>
                    <a:pt x="1929472" y="328028"/>
                  </a:lnTo>
                  <a:close/>
                </a:path>
                <a:path w="6602730" h="3722370">
                  <a:moveTo>
                    <a:pt x="3487178" y="328028"/>
                  </a:moveTo>
                  <a:lnTo>
                    <a:pt x="3115411" y="328028"/>
                  </a:lnTo>
                  <a:lnTo>
                    <a:pt x="3115411" y="3721836"/>
                  </a:lnTo>
                  <a:lnTo>
                    <a:pt x="3487178" y="3721836"/>
                  </a:lnTo>
                  <a:lnTo>
                    <a:pt x="3487178" y="328028"/>
                  </a:lnTo>
                  <a:close/>
                </a:path>
                <a:path w="6602730" h="3722370">
                  <a:moveTo>
                    <a:pt x="5044872" y="328028"/>
                  </a:moveTo>
                  <a:lnTo>
                    <a:pt x="4673104" y="328028"/>
                  </a:lnTo>
                  <a:lnTo>
                    <a:pt x="4673104" y="3721836"/>
                  </a:lnTo>
                  <a:lnTo>
                    <a:pt x="5044872" y="3721836"/>
                  </a:lnTo>
                  <a:lnTo>
                    <a:pt x="5044872" y="328028"/>
                  </a:lnTo>
                  <a:close/>
                </a:path>
                <a:path w="6602730" h="3722370">
                  <a:moveTo>
                    <a:pt x="6602577" y="0"/>
                  </a:moveTo>
                  <a:lnTo>
                    <a:pt x="6230810" y="0"/>
                  </a:lnTo>
                  <a:lnTo>
                    <a:pt x="6230810" y="3721836"/>
                  </a:lnTo>
                  <a:lnTo>
                    <a:pt x="6602577" y="3721836"/>
                  </a:lnTo>
                  <a:lnTo>
                    <a:pt x="6602577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83410" y="5183466"/>
              <a:ext cx="6602730" cy="2294255"/>
            </a:xfrm>
            <a:custGeom>
              <a:avLst/>
              <a:gdLst/>
              <a:ahLst/>
              <a:cxnLst/>
              <a:rect l="l" t="t" r="r" b="b"/>
              <a:pathLst>
                <a:path w="6602730" h="2294254">
                  <a:moveTo>
                    <a:pt x="371767" y="101688"/>
                  </a:moveTo>
                  <a:lnTo>
                    <a:pt x="0" y="101688"/>
                  </a:lnTo>
                  <a:lnTo>
                    <a:pt x="0" y="2294077"/>
                  </a:lnTo>
                  <a:lnTo>
                    <a:pt x="371767" y="2294077"/>
                  </a:lnTo>
                  <a:lnTo>
                    <a:pt x="371767" y="101688"/>
                  </a:lnTo>
                  <a:close/>
                </a:path>
                <a:path w="6602730" h="2294254">
                  <a:moveTo>
                    <a:pt x="1929472" y="156222"/>
                  </a:moveTo>
                  <a:lnTo>
                    <a:pt x="1557705" y="156222"/>
                  </a:lnTo>
                  <a:lnTo>
                    <a:pt x="1557705" y="2294077"/>
                  </a:lnTo>
                  <a:lnTo>
                    <a:pt x="1929472" y="2294077"/>
                  </a:lnTo>
                  <a:lnTo>
                    <a:pt x="1929472" y="156222"/>
                  </a:lnTo>
                  <a:close/>
                </a:path>
                <a:path w="6602730" h="2294254">
                  <a:moveTo>
                    <a:pt x="3487178" y="286613"/>
                  </a:moveTo>
                  <a:lnTo>
                    <a:pt x="3115411" y="286613"/>
                  </a:lnTo>
                  <a:lnTo>
                    <a:pt x="3115411" y="2294077"/>
                  </a:lnTo>
                  <a:lnTo>
                    <a:pt x="3487178" y="2294077"/>
                  </a:lnTo>
                  <a:lnTo>
                    <a:pt x="3487178" y="286613"/>
                  </a:lnTo>
                  <a:close/>
                </a:path>
                <a:path w="6602730" h="2294254">
                  <a:moveTo>
                    <a:pt x="5044872" y="222643"/>
                  </a:moveTo>
                  <a:lnTo>
                    <a:pt x="4673104" y="222643"/>
                  </a:lnTo>
                  <a:lnTo>
                    <a:pt x="4673104" y="2294077"/>
                  </a:lnTo>
                  <a:lnTo>
                    <a:pt x="5044872" y="2294077"/>
                  </a:lnTo>
                  <a:lnTo>
                    <a:pt x="5044872" y="222643"/>
                  </a:lnTo>
                  <a:close/>
                </a:path>
                <a:path w="6602730" h="2294254">
                  <a:moveTo>
                    <a:pt x="6602577" y="0"/>
                  </a:moveTo>
                  <a:lnTo>
                    <a:pt x="6230810" y="0"/>
                  </a:lnTo>
                  <a:lnTo>
                    <a:pt x="6230810" y="2294077"/>
                  </a:lnTo>
                  <a:lnTo>
                    <a:pt x="6602577" y="2294077"/>
                  </a:lnTo>
                  <a:lnTo>
                    <a:pt x="6602577" y="0"/>
                  </a:lnTo>
                  <a:close/>
                </a:path>
              </a:pathLst>
            </a:custGeom>
            <a:solidFill>
              <a:srgbClr val="90D4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04570" y="7487056"/>
              <a:ext cx="7788909" cy="47625"/>
            </a:xfrm>
            <a:custGeom>
              <a:avLst/>
              <a:gdLst/>
              <a:ahLst/>
              <a:cxnLst/>
              <a:rect l="l" t="t" r="r" b="b"/>
              <a:pathLst>
                <a:path w="7788909" h="47625">
                  <a:moveTo>
                    <a:pt x="0" y="0"/>
                  </a:moveTo>
                  <a:lnTo>
                    <a:pt x="7788508" y="0"/>
                  </a:lnTo>
                </a:path>
                <a:path w="7788909" h="47625">
                  <a:moveTo>
                    <a:pt x="0" y="0"/>
                  </a:moveTo>
                  <a:lnTo>
                    <a:pt x="0" y="47625"/>
                  </a:lnTo>
                </a:path>
                <a:path w="7788909" h="47625">
                  <a:moveTo>
                    <a:pt x="1557698" y="0"/>
                  </a:moveTo>
                  <a:lnTo>
                    <a:pt x="1557698" y="47625"/>
                  </a:lnTo>
                </a:path>
                <a:path w="7788909" h="47625">
                  <a:moveTo>
                    <a:pt x="3115403" y="0"/>
                  </a:moveTo>
                  <a:lnTo>
                    <a:pt x="3115403" y="47625"/>
                  </a:lnTo>
                </a:path>
                <a:path w="7788909" h="47625">
                  <a:moveTo>
                    <a:pt x="4673109" y="0"/>
                  </a:moveTo>
                  <a:lnTo>
                    <a:pt x="4673109" y="47625"/>
                  </a:lnTo>
                </a:path>
                <a:path w="7788909" h="47625">
                  <a:moveTo>
                    <a:pt x="6230802" y="0"/>
                  </a:moveTo>
                  <a:lnTo>
                    <a:pt x="6230802" y="47625"/>
                  </a:lnTo>
                </a:path>
                <a:path w="7788909" h="47625">
                  <a:moveTo>
                    <a:pt x="7788508" y="0"/>
                  </a:moveTo>
                  <a:lnTo>
                    <a:pt x="7788508" y="47625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783420" y="3591674"/>
              <a:ext cx="6231255" cy="948055"/>
            </a:xfrm>
            <a:custGeom>
              <a:avLst/>
              <a:gdLst/>
              <a:ahLst/>
              <a:cxnLst/>
              <a:rect l="l" t="t" r="r" b="b"/>
              <a:pathLst>
                <a:path w="6231255" h="948054">
                  <a:moveTo>
                    <a:pt x="0" y="674293"/>
                  </a:moveTo>
                  <a:lnTo>
                    <a:pt x="1557700" y="756297"/>
                  </a:lnTo>
                </a:path>
                <a:path w="6231255" h="948054">
                  <a:moveTo>
                    <a:pt x="1557700" y="756297"/>
                  </a:moveTo>
                  <a:lnTo>
                    <a:pt x="3115406" y="947648"/>
                  </a:lnTo>
                </a:path>
                <a:path w="6231255" h="948054">
                  <a:moveTo>
                    <a:pt x="3115406" y="947648"/>
                  </a:moveTo>
                  <a:lnTo>
                    <a:pt x="4673099" y="851979"/>
                  </a:lnTo>
                </a:path>
                <a:path w="6231255" h="948054">
                  <a:moveTo>
                    <a:pt x="4673099" y="851979"/>
                  </a:moveTo>
                  <a:lnTo>
                    <a:pt x="6230805" y="0"/>
                  </a:lnTo>
                </a:path>
              </a:pathLst>
            </a:custGeom>
            <a:ln w="38099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45201" y="4227741"/>
              <a:ext cx="76438" cy="7644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02906" y="4309745"/>
              <a:ext cx="76441" cy="7644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60599" y="4501108"/>
              <a:ext cx="76441" cy="7642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8305" y="4405427"/>
              <a:ext cx="76441" cy="7644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76011" y="3553460"/>
              <a:ext cx="76441" cy="7642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103727" y="3232263"/>
            <a:ext cx="657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85.5%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887058" y="3283610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90.0%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186758" y="2451151"/>
            <a:ext cx="3688079" cy="96266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8100" marR="30480">
              <a:lnSpc>
                <a:spcPts val="2000"/>
              </a:lnSpc>
              <a:spcBef>
                <a:spcPts val="5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Production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vs.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Domestic Demand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ts val="1839"/>
              </a:lnSpc>
              <a:spcBef>
                <a:spcPts val="15"/>
              </a:spcBef>
            </a:pPr>
            <a:r>
              <a:rPr dirty="0" sz="1600" spc="110">
                <a:solidFill>
                  <a:srgbClr val="244060"/>
                </a:solidFill>
                <a:latin typeface="Arial"/>
                <a:cs typeface="Arial"/>
              </a:rPr>
              <a:t>(</a:t>
            </a:r>
            <a:r>
              <a:rPr dirty="0" sz="1600" spc="-780">
                <a:solidFill>
                  <a:srgbClr val="244060"/>
                </a:solidFill>
                <a:latin typeface="Arial"/>
                <a:cs typeface="Arial"/>
              </a:rPr>
              <a:t>M</a:t>
            </a:r>
            <a:r>
              <a:rPr dirty="0" baseline="24691" sz="1350" spc="172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r>
              <a:rPr dirty="0" baseline="24691" sz="1350" spc="142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1600" spc="120">
                <a:solidFill>
                  <a:srgbClr val="244060"/>
                </a:solidFill>
                <a:latin typeface="Arial"/>
                <a:cs typeface="Arial"/>
              </a:rPr>
              <a:t>t.)</a:t>
            </a:r>
            <a:endParaRPr sz="1600">
              <a:latin typeface="Arial"/>
              <a:cs typeface="Arial"/>
            </a:endParaRPr>
          </a:p>
          <a:p>
            <a:pPr marL="1221105">
              <a:lnSpc>
                <a:spcPts val="1120"/>
              </a:lnSpc>
            </a:pPr>
            <a:r>
              <a:rPr dirty="0" sz="1000" spc="-10">
                <a:latin typeface="Calibri"/>
                <a:cs typeface="Calibri"/>
              </a:rPr>
              <a:t>56.18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6418" y="3693650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90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87058" y="3739211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80.0%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335983" y="3800377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6418" y="4103691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80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61816" y="3939435"/>
            <a:ext cx="657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70.7%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57621" y="3887215"/>
            <a:ext cx="657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68.9%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09089" y="3896851"/>
            <a:ext cx="657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66.8%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87058" y="4194811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70.0%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6418" y="4513732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70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53427" y="4491037"/>
            <a:ext cx="657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64.7%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335983" y="4550118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887058" y="4650409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60.0%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6418" y="4923777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87058" y="5106009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50.0%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6418" y="5333809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87058" y="5561609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40.0%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418" y="5743854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887058" y="6017209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30.0%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6418" y="6153899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87058" y="6472809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20.0%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6418" y="6563931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6418" y="6973976"/>
            <a:ext cx="1606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87058" y="6928408"/>
            <a:ext cx="3568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585858"/>
                </a:solidFill>
                <a:latin typeface="Calibri"/>
                <a:cs typeface="Calibri"/>
              </a:rPr>
              <a:t>10.0%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4003" y="7384021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87058" y="7384021"/>
            <a:ext cx="2895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solidFill>
                  <a:srgbClr val="585858"/>
                </a:solidFill>
                <a:latin typeface="Calibri"/>
                <a:cs typeface="Calibri"/>
              </a:rPr>
              <a:t>0.0%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737167" y="3427438"/>
            <a:ext cx="5519420" cy="4212590"/>
            <a:chOff x="10737167" y="3427438"/>
            <a:chExt cx="5519420" cy="4212590"/>
          </a:xfrm>
        </p:grpSpPr>
        <p:sp>
          <p:nvSpPr>
            <p:cNvPr id="68" name="object 68"/>
            <p:cNvSpPr/>
            <p:nvPr/>
          </p:nvSpPr>
          <p:spPr>
            <a:xfrm>
              <a:off x="10737164" y="3427437"/>
              <a:ext cx="1603375" cy="4212590"/>
            </a:xfrm>
            <a:custGeom>
              <a:avLst/>
              <a:gdLst/>
              <a:ahLst/>
              <a:cxnLst/>
              <a:rect l="l" t="t" r="r" b="b"/>
              <a:pathLst>
                <a:path w="1603375" h="4212590">
                  <a:moveTo>
                    <a:pt x="1602930" y="0"/>
                  </a:moveTo>
                  <a:lnTo>
                    <a:pt x="0" y="0"/>
                  </a:lnTo>
                  <a:lnTo>
                    <a:pt x="0" y="4212006"/>
                  </a:lnTo>
                  <a:lnTo>
                    <a:pt x="1602930" y="4212006"/>
                  </a:lnTo>
                  <a:lnTo>
                    <a:pt x="1602930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2695263" y="3427437"/>
              <a:ext cx="1603375" cy="4093845"/>
            </a:xfrm>
            <a:custGeom>
              <a:avLst/>
              <a:gdLst/>
              <a:ahLst/>
              <a:cxnLst/>
              <a:rect l="l" t="t" r="r" b="b"/>
              <a:pathLst>
                <a:path w="1603375" h="4093845">
                  <a:moveTo>
                    <a:pt x="1602930" y="0"/>
                  </a:moveTo>
                  <a:lnTo>
                    <a:pt x="0" y="0"/>
                  </a:lnTo>
                  <a:lnTo>
                    <a:pt x="0" y="4093553"/>
                  </a:lnTo>
                  <a:lnTo>
                    <a:pt x="1602930" y="4093553"/>
                  </a:lnTo>
                  <a:lnTo>
                    <a:pt x="1602930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4653361" y="7402525"/>
              <a:ext cx="1603375" cy="118745"/>
            </a:xfrm>
            <a:custGeom>
              <a:avLst/>
              <a:gdLst/>
              <a:ahLst/>
              <a:cxnLst/>
              <a:rect l="l" t="t" r="r" b="b"/>
              <a:pathLst>
                <a:path w="1603375" h="118745">
                  <a:moveTo>
                    <a:pt x="1602930" y="0"/>
                  </a:moveTo>
                  <a:lnTo>
                    <a:pt x="0" y="0"/>
                  </a:lnTo>
                  <a:lnTo>
                    <a:pt x="0" y="118465"/>
                  </a:lnTo>
                  <a:lnTo>
                    <a:pt x="1602930" y="118465"/>
                  </a:lnTo>
                  <a:lnTo>
                    <a:pt x="1602930" y="0"/>
                  </a:lnTo>
                  <a:close/>
                </a:path>
              </a:pathLst>
            </a:custGeom>
            <a:solidFill>
              <a:srgbClr val="90D4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2341364" y="3427438"/>
              <a:ext cx="353060" cy="0"/>
            </a:xfrm>
            <a:custGeom>
              <a:avLst/>
              <a:gdLst/>
              <a:ahLst/>
              <a:cxnLst/>
              <a:rect l="l" t="t" r="r" b="b"/>
              <a:pathLst>
                <a:path w="353059" h="0">
                  <a:moveTo>
                    <a:pt x="352640" y="0"/>
                  </a:moveTo>
                  <a:lnTo>
                    <a:pt x="0" y="0"/>
                  </a:lnTo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4299450" y="7520990"/>
              <a:ext cx="353060" cy="0"/>
            </a:xfrm>
            <a:custGeom>
              <a:avLst/>
              <a:gdLst/>
              <a:ahLst/>
              <a:cxnLst/>
              <a:rect l="l" t="t" r="r" b="b"/>
              <a:pathLst>
                <a:path w="353059" h="0">
                  <a:moveTo>
                    <a:pt x="352653" y="0"/>
                  </a:moveTo>
                  <a:lnTo>
                    <a:pt x="0" y="0"/>
                  </a:lnTo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/>
          <p:nvPr/>
        </p:nvSpPr>
        <p:spPr>
          <a:xfrm>
            <a:off x="14713585" y="2445473"/>
            <a:ext cx="2739390" cy="2698115"/>
          </a:xfrm>
          <a:custGeom>
            <a:avLst/>
            <a:gdLst/>
            <a:ahLst/>
            <a:cxnLst/>
            <a:rect l="l" t="t" r="r" b="b"/>
            <a:pathLst>
              <a:path w="2739390" h="2698115">
                <a:moveTo>
                  <a:pt x="2289454" y="0"/>
                </a:moveTo>
                <a:lnTo>
                  <a:pt x="449677" y="0"/>
                </a:lnTo>
                <a:lnTo>
                  <a:pt x="400970" y="2659"/>
                </a:lnTo>
                <a:lnTo>
                  <a:pt x="353711" y="10448"/>
                </a:lnTo>
                <a:lnTo>
                  <a:pt x="308183" y="23085"/>
                </a:lnTo>
                <a:lnTo>
                  <a:pt x="264671" y="40285"/>
                </a:lnTo>
                <a:lnTo>
                  <a:pt x="223456" y="61765"/>
                </a:lnTo>
                <a:lnTo>
                  <a:pt x="184822" y="87242"/>
                </a:lnTo>
                <a:lnTo>
                  <a:pt x="149053" y="116434"/>
                </a:lnTo>
                <a:lnTo>
                  <a:pt x="116431" y="149056"/>
                </a:lnTo>
                <a:lnTo>
                  <a:pt x="87240" y="184825"/>
                </a:lnTo>
                <a:lnTo>
                  <a:pt x="61764" y="223459"/>
                </a:lnTo>
                <a:lnTo>
                  <a:pt x="40284" y="264674"/>
                </a:lnTo>
                <a:lnTo>
                  <a:pt x="23084" y="308187"/>
                </a:lnTo>
                <a:lnTo>
                  <a:pt x="10448" y="353715"/>
                </a:lnTo>
                <a:lnTo>
                  <a:pt x="2659" y="400974"/>
                </a:lnTo>
                <a:lnTo>
                  <a:pt x="0" y="449681"/>
                </a:lnTo>
                <a:lnTo>
                  <a:pt x="0" y="2248331"/>
                </a:lnTo>
                <a:lnTo>
                  <a:pt x="2659" y="2297041"/>
                </a:lnTo>
                <a:lnTo>
                  <a:pt x="10448" y="2344301"/>
                </a:lnTo>
                <a:lnTo>
                  <a:pt x="23084" y="2389830"/>
                </a:lnTo>
                <a:lnTo>
                  <a:pt x="40284" y="2433344"/>
                </a:lnTo>
                <a:lnTo>
                  <a:pt x="61764" y="2474559"/>
                </a:lnTo>
                <a:lnTo>
                  <a:pt x="87240" y="2513193"/>
                </a:lnTo>
                <a:lnTo>
                  <a:pt x="116431" y="2548962"/>
                </a:lnTo>
                <a:lnTo>
                  <a:pt x="149053" y="2581583"/>
                </a:lnTo>
                <a:lnTo>
                  <a:pt x="184822" y="2610774"/>
                </a:lnTo>
                <a:lnTo>
                  <a:pt x="223456" y="2636250"/>
                </a:lnTo>
                <a:lnTo>
                  <a:pt x="264671" y="2657730"/>
                </a:lnTo>
                <a:lnTo>
                  <a:pt x="308183" y="2674929"/>
                </a:lnTo>
                <a:lnTo>
                  <a:pt x="353711" y="2687565"/>
                </a:lnTo>
                <a:lnTo>
                  <a:pt x="400970" y="2695354"/>
                </a:lnTo>
                <a:lnTo>
                  <a:pt x="449677" y="2698013"/>
                </a:lnTo>
                <a:lnTo>
                  <a:pt x="2289454" y="2698013"/>
                </a:lnTo>
                <a:lnTo>
                  <a:pt x="2338161" y="2695354"/>
                </a:lnTo>
                <a:lnTo>
                  <a:pt x="2385420" y="2687565"/>
                </a:lnTo>
                <a:lnTo>
                  <a:pt x="2430946" y="2674929"/>
                </a:lnTo>
                <a:lnTo>
                  <a:pt x="2474458" y="2657730"/>
                </a:lnTo>
                <a:lnTo>
                  <a:pt x="2515672" y="2636250"/>
                </a:lnTo>
                <a:lnTo>
                  <a:pt x="2554305" y="2610774"/>
                </a:lnTo>
                <a:lnTo>
                  <a:pt x="2590074" y="2581583"/>
                </a:lnTo>
                <a:lnTo>
                  <a:pt x="2622694" y="2548962"/>
                </a:lnTo>
                <a:lnTo>
                  <a:pt x="2651885" y="2513193"/>
                </a:lnTo>
                <a:lnTo>
                  <a:pt x="2677361" y="2474559"/>
                </a:lnTo>
                <a:lnTo>
                  <a:pt x="2698840" y="2433344"/>
                </a:lnTo>
                <a:lnTo>
                  <a:pt x="2716039" y="2389830"/>
                </a:lnTo>
                <a:lnTo>
                  <a:pt x="2728675" y="2344301"/>
                </a:lnTo>
                <a:lnTo>
                  <a:pt x="2736464" y="2297041"/>
                </a:lnTo>
                <a:lnTo>
                  <a:pt x="2739123" y="2248331"/>
                </a:lnTo>
                <a:lnTo>
                  <a:pt x="2739123" y="449681"/>
                </a:lnTo>
                <a:lnTo>
                  <a:pt x="2736464" y="400974"/>
                </a:lnTo>
                <a:lnTo>
                  <a:pt x="2728675" y="353715"/>
                </a:lnTo>
                <a:lnTo>
                  <a:pt x="2716039" y="308187"/>
                </a:lnTo>
                <a:lnTo>
                  <a:pt x="2698840" y="264674"/>
                </a:lnTo>
                <a:lnTo>
                  <a:pt x="2677361" y="223459"/>
                </a:lnTo>
                <a:lnTo>
                  <a:pt x="2651885" y="184825"/>
                </a:lnTo>
                <a:lnTo>
                  <a:pt x="2622694" y="149056"/>
                </a:lnTo>
                <a:lnTo>
                  <a:pt x="2590074" y="116434"/>
                </a:lnTo>
                <a:lnTo>
                  <a:pt x="2554305" y="87242"/>
                </a:lnTo>
                <a:lnTo>
                  <a:pt x="2515672" y="61765"/>
                </a:lnTo>
                <a:lnTo>
                  <a:pt x="2474458" y="40285"/>
                </a:lnTo>
                <a:lnTo>
                  <a:pt x="2430946" y="23085"/>
                </a:lnTo>
                <a:lnTo>
                  <a:pt x="2385420" y="10448"/>
                </a:lnTo>
                <a:lnTo>
                  <a:pt x="2338161" y="2659"/>
                </a:lnTo>
                <a:lnTo>
                  <a:pt x="2289454" y="0"/>
                </a:lnTo>
                <a:close/>
              </a:path>
            </a:pathLst>
          </a:custGeom>
          <a:solidFill>
            <a:srgbClr val="006FC0">
              <a:alpha val="1176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14886432" y="2648839"/>
            <a:ext cx="23310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Production</a:t>
            </a:r>
            <a:r>
              <a:rPr dirty="0" sz="18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exceeded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domestic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244060"/>
                </a:solidFill>
                <a:latin typeface="Arial"/>
                <a:cs typeface="Arial"/>
              </a:rPr>
              <a:t>~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1.6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Mt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2025,</a:t>
            </a:r>
            <a:endParaRPr sz="18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886432" y="3471798"/>
            <a:ext cx="235394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reflecting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industry's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requirements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improved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4886432" y="4294759"/>
            <a:ext cx="1040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utilization.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26277" y="4725736"/>
            <a:ext cx="224154" cy="10922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b="1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r>
              <a:rPr dirty="0" sz="14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44060"/>
                </a:solidFill>
                <a:latin typeface="Arial"/>
                <a:cs typeface="Arial"/>
              </a:rPr>
              <a:t>(Mt.)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355772" y="4768831"/>
            <a:ext cx="224154" cy="105283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b="1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400" spc="-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335983" y="5299849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87" name="object 8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187768" y="4550927"/>
            <a:ext cx="1239807" cy="1239807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10335983" y="6049581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335983" y="6799313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5343623" y="7211021"/>
            <a:ext cx="2501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1.58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366080" y="7329475"/>
            <a:ext cx="288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Calibri"/>
                <a:cs typeface="Calibri"/>
              </a:rPr>
              <a:t>-</a:t>
            </a:r>
            <a:r>
              <a:rPr dirty="0" sz="1000" spc="-20">
                <a:latin typeface="Calibri"/>
                <a:cs typeface="Calibri"/>
              </a:rPr>
              <a:t>54.6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88695" y="7587335"/>
            <a:ext cx="3892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2021A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50951" y="7540605"/>
            <a:ext cx="1275715" cy="51308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465"/>
              </a:spcBef>
            </a:pP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2022A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Industry</a:t>
            </a:r>
            <a:r>
              <a:rPr dirty="0" sz="14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Capacity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19497" y="7587335"/>
            <a:ext cx="3892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768439" y="7900213"/>
            <a:ext cx="277495" cy="90170"/>
          </a:xfrm>
          <a:custGeom>
            <a:avLst/>
            <a:gdLst/>
            <a:ahLst/>
            <a:cxnLst/>
            <a:rect l="l" t="t" r="r" b="b"/>
            <a:pathLst>
              <a:path w="277494" h="90170">
                <a:moveTo>
                  <a:pt x="277200" y="0"/>
                </a:moveTo>
                <a:lnTo>
                  <a:pt x="0" y="0"/>
                </a:lnTo>
                <a:lnTo>
                  <a:pt x="0" y="90004"/>
                </a:lnTo>
                <a:lnTo>
                  <a:pt x="277200" y="90004"/>
                </a:lnTo>
                <a:lnTo>
                  <a:pt x="277200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332990" y="7900213"/>
            <a:ext cx="277495" cy="90170"/>
          </a:xfrm>
          <a:custGeom>
            <a:avLst/>
            <a:gdLst/>
            <a:ahLst/>
            <a:cxnLst/>
            <a:rect l="l" t="t" r="r" b="b"/>
            <a:pathLst>
              <a:path w="277495" h="90170">
                <a:moveTo>
                  <a:pt x="277200" y="0"/>
                </a:moveTo>
                <a:lnTo>
                  <a:pt x="0" y="0"/>
                </a:lnTo>
                <a:lnTo>
                  <a:pt x="0" y="90004"/>
                </a:lnTo>
                <a:lnTo>
                  <a:pt x="277200" y="90004"/>
                </a:lnTo>
                <a:lnTo>
                  <a:pt x="277200" y="0"/>
                </a:lnTo>
                <a:close/>
              </a:path>
            </a:pathLst>
          </a:custGeom>
          <a:solidFill>
            <a:srgbClr val="90D4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4615489" y="7540605"/>
            <a:ext cx="2510790" cy="51308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465"/>
              </a:spcBef>
              <a:tabLst>
                <a:tab pos="1658620" algn="l"/>
              </a:tabLst>
            </a:pP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2023A</a:t>
            </a:r>
            <a:r>
              <a:rPr dirty="0" sz="11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100" spc="-10">
                <a:solidFill>
                  <a:srgbClr val="585858"/>
                </a:solidFill>
                <a:latin typeface="Calibri"/>
                <a:cs typeface="Calibri"/>
              </a:rPr>
              <a:t>2024A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1759585" algn="l"/>
              </a:tabLst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Industry</a:t>
            </a:r>
            <a:r>
              <a:rPr dirty="0" sz="14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Production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Utilization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393915" y="7549057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080104" y="7895450"/>
            <a:ext cx="277495" cy="99695"/>
            <a:chOff x="6080104" y="7895450"/>
            <a:chExt cx="277495" cy="99695"/>
          </a:xfrm>
        </p:grpSpPr>
        <p:sp>
          <p:nvSpPr>
            <p:cNvPr id="64" name="object 64"/>
            <p:cNvSpPr/>
            <p:nvPr/>
          </p:nvSpPr>
          <p:spPr>
            <a:xfrm>
              <a:off x="6080104" y="7944155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5" h="0">
                  <a:moveTo>
                    <a:pt x="0" y="0"/>
                  </a:moveTo>
                  <a:lnTo>
                    <a:pt x="277200" y="0"/>
                  </a:lnTo>
                </a:path>
              </a:pathLst>
            </a:custGeom>
            <a:ln w="38099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68941" y="7895450"/>
              <a:ext cx="99524" cy="99529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0808976" y="7752524"/>
            <a:ext cx="51822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6895" algn="l"/>
                <a:tab pos="4121785" algn="l"/>
              </a:tabLst>
            </a:pP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Industry</a:t>
            </a:r>
            <a:r>
              <a:rPr dirty="0" sz="1400" spc="-7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Production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Less:</a:t>
            </a:r>
            <a:r>
              <a:rPr dirty="0" sz="14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Domestic</a:t>
            </a:r>
            <a:r>
              <a:rPr dirty="0" sz="14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Demand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Residual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dirty="0" sz="14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585858"/>
                </a:solidFill>
                <a:latin typeface="Calibri"/>
                <a:cs typeface="Calibri"/>
              </a:rPr>
              <a:t>Gap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20700" y="8081765"/>
            <a:ext cx="15904210" cy="121031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*Utilization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calculated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using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licensed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76Mt;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production/capacity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figures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shown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separately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based</a:t>
            </a:r>
            <a:r>
              <a:rPr dirty="0" sz="14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on</a:t>
            </a:r>
            <a:r>
              <a:rPr dirty="0" sz="14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44060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baseline="3968" sz="2100" spc="-397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1230" b="1">
                <a:solidFill>
                  <a:srgbClr val="244060"/>
                </a:solidFill>
                <a:latin typeface="Arial"/>
                <a:cs typeface="Arial"/>
              </a:rPr>
              <a:t>K</a:t>
            </a:r>
            <a:r>
              <a:rPr dirty="0" baseline="3968" sz="2100" spc="-30">
                <a:solidFill>
                  <a:srgbClr val="244060"/>
                </a:solidFill>
                <a:latin typeface="Arial"/>
                <a:cs typeface="Arial"/>
              </a:rPr>
              <a:t>s</a:t>
            </a:r>
            <a:r>
              <a:rPr dirty="0" baseline="3968" sz="2100" spc="-330">
                <a:solidFill>
                  <a:srgbClr val="244060"/>
                </a:solidFill>
                <a:latin typeface="Arial"/>
                <a:cs typeface="Arial"/>
              </a:rPr>
              <a:t>s</a:t>
            </a:r>
            <a:r>
              <a:rPr dirty="0" sz="2000" spc="-940" b="1">
                <a:solidFill>
                  <a:srgbClr val="244060"/>
                </a:solidFill>
                <a:latin typeface="Arial"/>
                <a:cs typeface="Arial"/>
              </a:rPr>
              <a:t>e</a:t>
            </a:r>
            <a:r>
              <a:rPr dirty="0" baseline="3968" sz="2100" spc="-30">
                <a:solidFill>
                  <a:srgbClr val="244060"/>
                </a:solidFill>
                <a:latin typeface="Arial"/>
                <a:cs typeface="Arial"/>
              </a:rPr>
              <a:t>u</a:t>
            </a:r>
            <a:r>
              <a:rPr dirty="0" baseline="3968" sz="2100" spc="-1575">
                <a:solidFill>
                  <a:srgbClr val="244060"/>
                </a:solidFill>
                <a:latin typeface="Arial"/>
                <a:cs typeface="Arial"/>
              </a:rPr>
              <a:t>m</a:t>
            </a:r>
            <a:r>
              <a:rPr dirty="0" sz="2000" spc="-105" b="1">
                <a:solidFill>
                  <a:srgbClr val="244060"/>
                </a:solidFill>
                <a:latin typeface="Arial"/>
                <a:cs typeface="Arial"/>
              </a:rPr>
              <a:t>y</a:t>
            </a:r>
            <a:r>
              <a:rPr dirty="0" baseline="3968" sz="2100" spc="-240">
                <a:solidFill>
                  <a:srgbClr val="244060"/>
                </a:solidFill>
                <a:latin typeface="Arial"/>
                <a:cs typeface="Arial"/>
              </a:rPr>
              <a:t>p</a:t>
            </a:r>
            <a:r>
              <a:rPr dirty="0" sz="2000" spc="-430" b="1">
                <a:solidFill>
                  <a:srgbClr val="244060"/>
                </a:solidFill>
                <a:latin typeface="Arial"/>
                <a:cs typeface="Arial"/>
              </a:rPr>
              <a:t>I</a:t>
            </a:r>
            <a:r>
              <a:rPr dirty="0" baseline="3968" sz="2100" spc="-22">
                <a:solidFill>
                  <a:srgbClr val="244060"/>
                </a:solidFill>
                <a:latin typeface="Arial"/>
                <a:cs typeface="Arial"/>
              </a:rPr>
              <a:t>t</a:t>
            </a:r>
            <a:r>
              <a:rPr dirty="0" baseline="3968" sz="2100" spc="-465">
                <a:solidFill>
                  <a:srgbClr val="244060"/>
                </a:solidFill>
                <a:latin typeface="Arial"/>
                <a:cs typeface="Arial"/>
              </a:rPr>
              <a:t>i</a:t>
            </a:r>
            <a:r>
              <a:rPr dirty="0" sz="2000" spc="-965" b="1">
                <a:solidFill>
                  <a:srgbClr val="244060"/>
                </a:solidFill>
                <a:latin typeface="Arial"/>
                <a:cs typeface="Arial"/>
              </a:rPr>
              <a:t>n</a:t>
            </a:r>
            <a:r>
              <a:rPr dirty="0" baseline="3968" sz="2100" spc="-30">
                <a:solidFill>
                  <a:srgbClr val="244060"/>
                </a:solidFill>
                <a:latin typeface="Arial"/>
                <a:cs typeface="Arial"/>
              </a:rPr>
              <a:t>o</a:t>
            </a:r>
            <a:r>
              <a:rPr dirty="0" baseline="3968" sz="2100" spc="-952">
                <a:solidFill>
                  <a:srgbClr val="244060"/>
                </a:solidFill>
                <a:latin typeface="Arial"/>
                <a:cs typeface="Arial"/>
              </a:rPr>
              <a:t>n</a:t>
            </a:r>
            <a:r>
              <a:rPr dirty="0" sz="2000" spc="-515" b="1">
                <a:solidFill>
                  <a:srgbClr val="244060"/>
                </a:solidFill>
                <a:latin typeface="Arial"/>
                <a:cs typeface="Arial"/>
              </a:rPr>
              <a:t>s</a:t>
            </a:r>
            <a:r>
              <a:rPr dirty="0" baseline="3968" sz="2100" spc="-337">
                <a:solidFill>
                  <a:srgbClr val="244060"/>
                </a:solidFill>
                <a:latin typeface="Arial"/>
                <a:cs typeface="Arial"/>
              </a:rPr>
              <a:t>s</a:t>
            </a:r>
            <a:r>
              <a:rPr dirty="0" sz="2000" spc="-365" b="1">
                <a:solidFill>
                  <a:srgbClr val="244060"/>
                </a:solidFill>
                <a:latin typeface="Arial"/>
                <a:cs typeface="Arial"/>
              </a:rPr>
              <a:t>i</a:t>
            </a:r>
            <a:r>
              <a:rPr dirty="0" baseline="3968" sz="2100" spc="-82">
                <a:solidFill>
                  <a:srgbClr val="244060"/>
                </a:solidFill>
                <a:latin typeface="Arial"/>
                <a:cs typeface="Arial"/>
              </a:rPr>
              <a:t>.</a:t>
            </a:r>
            <a:r>
              <a:rPr dirty="0" sz="2000" spc="-15" b="1">
                <a:solidFill>
                  <a:srgbClr val="244060"/>
                </a:solidFill>
                <a:latin typeface="Arial"/>
                <a:cs typeface="Arial"/>
              </a:rPr>
              <a:t>ght:</a:t>
            </a:r>
            <a:endParaRPr sz="200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  <a:spcBef>
                <a:spcPts val="18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Tighter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supply-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dynamics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have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created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supportive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pricing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environment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for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Egyptian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industry.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ct val="100000"/>
              </a:lnSpc>
              <a:spcBef>
                <a:spcPts val="114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1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1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Analysis,</a:t>
            </a:r>
            <a:r>
              <a:rPr dirty="0" sz="1400" spc="-1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Model</a:t>
            </a:r>
            <a:r>
              <a:rPr dirty="0" sz="1400" spc="-1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Assumptions</a:t>
            </a:r>
            <a:r>
              <a:rPr dirty="0" sz="1400" spc="-1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(2021-2025)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7" name="object 17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5983" y="498886"/>
            <a:ext cx="44843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Pricing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Dynamics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681" y="1093927"/>
            <a:ext cx="9525" cy="1076960"/>
          </a:xfrm>
          <a:custGeom>
            <a:avLst/>
            <a:gdLst/>
            <a:ahLst/>
            <a:cxnLst/>
            <a:rect l="l" t="t" r="r" b="b"/>
            <a:pathLst>
              <a:path w="9525" h="1076960">
                <a:moveTo>
                  <a:pt x="9524" y="0"/>
                </a:moveTo>
                <a:lnTo>
                  <a:pt x="0" y="1076401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809487" y="1047200"/>
            <a:ext cx="148558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Tighter</a:t>
            </a:r>
            <a:r>
              <a:rPr dirty="0" spc="-45"/>
              <a:t> </a:t>
            </a:r>
            <a:r>
              <a:rPr dirty="0"/>
              <a:t>Supply</a:t>
            </a:r>
            <a:r>
              <a:rPr dirty="0" spc="-40"/>
              <a:t> </a:t>
            </a:r>
            <a:r>
              <a:rPr dirty="0"/>
              <a:t>Has</a:t>
            </a:r>
            <a:r>
              <a:rPr dirty="0" spc="-45"/>
              <a:t> </a:t>
            </a:r>
            <a:r>
              <a:rPr dirty="0"/>
              <a:t>Driven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Significant</a:t>
            </a:r>
            <a:r>
              <a:rPr dirty="0" spc="-45"/>
              <a:t> </a:t>
            </a:r>
            <a:r>
              <a:rPr dirty="0"/>
              <a:t>Repricing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Cement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318" y="1588121"/>
            <a:ext cx="1630108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prices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increased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-80-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85%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YoY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2025,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supported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balanced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market.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However,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government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intervention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and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reactivation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are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expected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moderate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pricing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power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over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medium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term.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31586" y="2503030"/>
            <a:ext cx="46272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Increase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02020" y="2898076"/>
            <a:ext cx="8964295" cy="4221480"/>
            <a:chOff x="8402020" y="2898076"/>
            <a:chExt cx="8964295" cy="4221480"/>
          </a:xfrm>
        </p:grpSpPr>
        <p:sp>
          <p:nvSpPr>
            <p:cNvPr id="23" name="object 23"/>
            <p:cNvSpPr/>
            <p:nvPr/>
          </p:nvSpPr>
          <p:spPr>
            <a:xfrm>
              <a:off x="8489848" y="3275939"/>
              <a:ext cx="8789035" cy="3829685"/>
            </a:xfrm>
            <a:custGeom>
              <a:avLst/>
              <a:gdLst/>
              <a:ahLst/>
              <a:cxnLst/>
              <a:rect l="l" t="t" r="r" b="b"/>
              <a:pathLst>
                <a:path w="8789035" h="3829684">
                  <a:moveTo>
                    <a:pt x="281597" y="2813062"/>
                  </a:moveTo>
                  <a:lnTo>
                    <a:pt x="0" y="2813062"/>
                  </a:lnTo>
                  <a:lnTo>
                    <a:pt x="0" y="3829316"/>
                  </a:lnTo>
                  <a:lnTo>
                    <a:pt x="281597" y="3829316"/>
                  </a:lnTo>
                  <a:lnTo>
                    <a:pt x="281597" y="2813062"/>
                  </a:lnTo>
                  <a:close/>
                </a:path>
                <a:path w="8789035" h="3829684">
                  <a:moveTo>
                    <a:pt x="729322" y="2943771"/>
                  </a:moveTo>
                  <a:lnTo>
                    <a:pt x="447725" y="2943771"/>
                  </a:lnTo>
                  <a:lnTo>
                    <a:pt x="447725" y="3829316"/>
                  </a:lnTo>
                  <a:lnTo>
                    <a:pt x="729322" y="3829316"/>
                  </a:lnTo>
                  <a:lnTo>
                    <a:pt x="729322" y="2943771"/>
                  </a:lnTo>
                  <a:close/>
                </a:path>
                <a:path w="8789035" h="3829684">
                  <a:moveTo>
                    <a:pt x="1177061" y="2818752"/>
                  </a:moveTo>
                  <a:lnTo>
                    <a:pt x="895477" y="2818752"/>
                  </a:lnTo>
                  <a:lnTo>
                    <a:pt x="895477" y="3829316"/>
                  </a:lnTo>
                  <a:lnTo>
                    <a:pt x="1177061" y="3829316"/>
                  </a:lnTo>
                  <a:lnTo>
                    <a:pt x="1177061" y="2818752"/>
                  </a:lnTo>
                  <a:close/>
                </a:path>
                <a:path w="8789035" h="3829684">
                  <a:moveTo>
                    <a:pt x="1624799" y="2652522"/>
                  </a:moveTo>
                  <a:lnTo>
                    <a:pt x="1343202" y="2652522"/>
                  </a:lnTo>
                  <a:lnTo>
                    <a:pt x="1343202" y="3829316"/>
                  </a:lnTo>
                  <a:lnTo>
                    <a:pt x="1624799" y="3829316"/>
                  </a:lnTo>
                  <a:lnTo>
                    <a:pt x="1624799" y="2652522"/>
                  </a:lnTo>
                  <a:close/>
                </a:path>
                <a:path w="8789035" h="3829684">
                  <a:moveTo>
                    <a:pt x="2072525" y="2575801"/>
                  </a:moveTo>
                  <a:lnTo>
                    <a:pt x="1790941" y="2575801"/>
                  </a:lnTo>
                  <a:lnTo>
                    <a:pt x="1790941" y="3829316"/>
                  </a:lnTo>
                  <a:lnTo>
                    <a:pt x="2072525" y="3829316"/>
                  </a:lnTo>
                  <a:lnTo>
                    <a:pt x="2072525" y="2575801"/>
                  </a:lnTo>
                  <a:close/>
                </a:path>
                <a:path w="8789035" h="3829684">
                  <a:moveTo>
                    <a:pt x="2520264" y="2460726"/>
                  </a:moveTo>
                  <a:lnTo>
                    <a:pt x="2238667" y="2460726"/>
                  </a:lnTo>
                  <a:lnTo>
                    <a:pt x="2238667" y="3829316"/>
                  </a:lnTo>
                  <a:lnTo>
                    <a:pt x="2520264" y="3829316"/>
                  </a:lnTo>
                  <a:lnTo>
                    <a:pt x="2520264" y="2460726"/>
                  </a:lnTo>
                  <a:close/>
                </a:path>
                <a:path w="8789035" h="3829684">
                  <a:moveTo>
                    <a:pt x="2968002" y="2497658"/>
                  </a:moveTo>
                  <a:lnTo>
                    <a:pt x="2686405" y="2497658"/>
                  </a:lnTo>
                  <a:lnTo>
                    <a:pt x="2686405" y="3829316"/>
                  </a:lnTo>
                  <a:lnTo>
                    <a:pt x="2968002" y="3829316"/>
                  </a:lnTo>
                  <a:lnTo>
                    <a:pt x="2968002" y="2497658"/>
                  </a:lnTo>
                  <a:close/>
                </a:path>
                <a:path w="8789035" h="3829684">
                  <a:moveTo>
                    <a:pt x="3415728" y="2165210"/>
                  </a:moveTo>
                  <a:lnTo>
                    <a:pt x="3134144" y="2165210"/>
                  </a:lnTo>
                  <a:lnTo>
                    <a:pt x="3134144" y="3829316"/>
                  </a:lnTo>
                  <a:lnTo>
                    <a:pt x="3415728" y="3829316"/>
                  </a:lnTo>
                  <a:lnTo>
                    <a:pt x="3415728" y="2165210"/>
                  </a:lnTo>
                  <a:close/>
                </a:path>
                <a:path w="8789035" h="3829684">
                  <a:moveTo>
                    <a:pt x="3863467" y="1964880"/>
                  </a:moveTo>
                  <a:lnTo>
                    <a:pt x="3581870" y="1964880"/>
                  </a:lnTo>
                  <a:lnTo>
                    <a:pt x="3581870" y="3829316"/>
                  </a:lnTo>
                  <a:lnTo>
                    <a:pt x="3863467" y="3829316"/>
                  </a:lnTo>
                  <a:lnTo>
                    <a:pt x="3863467" y="1964880"/>
                  </a:lnTo>
                  <a:close/>
                </a:path>
                <a:path w="8789035" h="3829684">
                  <a:moveTo>
                    <a:pt x="4311193" y="1977669"/>
                  </a:moveTo>
                  <a:lnTo>
                    <a:pt x="4029608" y="1977669"/>
                  </a:lnTo>
                  <a:lnTo>
                    <a:pt x="4029608" y="3829316"/>
                  </a:lnTo>
                  <a:lnTo>
                    <a:pt x="4311193" y="3829316"/>
                  </a:lnTo>
                  <a:lnTo>
                    <a:pt x="4311193" y="1977669"/>
                  </a:lnTo>
                  <a:close/>
                </a:path>
                <a:path w="8789035" h="3829684">
                  <a:moveTo>
                    <a:pt x="4758931" y="1906625"/>
                  </a:moveTo>
                  <a:lnTo>
                    <a:pt x="4477334" y="1906625"/>
                  </a:lnTo>
                  <a:lnTo>
                    <a:pt x="4477334" y="3829316"/>
                  </a:lnTo>
                  <a:lnTo>
                    <a:pt x="4758931" y="3829316"/>
                  </a:lnTo>
                  <a:lnTo>
                    <a:pt x="4758931" y="1906625"/>
                  </a:lnTo>
                  <a:close/>
                </a:path>
                <a:path w="8789035" h="3829684">
                  <a:moveTo>
                    <a:pt x="5206670" y="1775917"/>
                  </a:moveTo>
                  <a:lnTo>
                    <a:pt x="4925072" y="1775917"/>
                  </a:lnTo>
                  <a:lnTo>
                    <a:pt x="4925072" y="3829316"/>
                  </a:lnTo>
                  <a:lnTo>
                    <a:pt x="5206670" y="3829316"/>
                  </a:lnTo>
                  <a:lnTo>
                    <a:pt x="5206670" y="1775917"/>
                  </a:lnTo>
                  <a:close/>
                </a:path>
                <a:path w="8789035" h="3829684">
                  <a:moveTo>
                    <a:pt x="5654395" y="1906625"/>
                  </a:moveTo>
                  <a:lnTo>
                    <a:pt x="5372798" y="1906625"/>
                  </a:lnTo>
                  <a:lnTo>
                    <a:pt x="5372798" y="3829316"/>
                  </a:lnTo>
                  <a:lnTo>
                    <a:pt x="5654395" y="3829316"/>
                  </a:lnTo>
                  <a:lnTo>
                    <a:pt x="5654395" y="1906625"/>
                  </a:lnTo>
                  <a:close/>
                </a:path>
                <a:path w="8789035" h="3829684">
                  <a:moveTo>
                    <a:pt x="6102134" y="1565656"/>
                  </a:moveTo>
                  <a:lnTo>
                    <a:pt x="5820537" y="1565656"/>
                  </a:lnTo>
                  <a:lnTo>
                    <a:pt x="5820537" y="3829316"/>
                  </a:lnTo>
                  <a:lnTo>
                    <a:pt x="6102134" y="3829316"/>
                  </a:lnTo>
                  <a:lnTo>
                    <a:pt x="6102134" y="1565656"/>
                  </a:lnTo>
                  <a:close/>
                </a:path>
                <a:path w="8789035" h="3829684">
                  <a:moveTo>
                    <a:pt x="6549860" y="1282928"/>
                  </a:moveTo>
                  <a:lnTo>
                    <a:pt x="6268275" y="1282928"/>
                  </a:lnTo>
                  <a:lnTo>
                    <a:pt x="6268275" y="3829316"/>
                  </a:lnTo>
                  <a:lnTo>
                    <a:pt x="6549860" y="3829316"/>
                  </a:lnTo>
                  <a:lnTo>
                    <a:pt x="6549860" y="1282928"/>
                  </a:lnTo>
                  <a:close/>
                </a:path>
                <a:path w="8789035" h="3829684">
                  <a:moveTo>
                    <a:pt x="6997598" y="851027"/>
                  </a:moveTo>
                  <a:lnTo>
                    <a:pt x="6716001" y="851027"/>
                  </a:lnTo>
                  <a:lnTo>
                    <a:pt x="6716001" y="3829316"/>
                  </a:lnTo>
                  <a:lnTo>
                    <a:pt x="6997598" y="3829316"/>
                  </a:lnTo>
                  <a:lnTo>
                    <a:pt x="6997598" y="851027"/>
                  </a:lnTo>
                  <a:close/>
                </a:path>
                <a:path w="8789035" h="3829684">
                  <a:moveTo>
                    <a:pt x="7445337" y="625119"/>
                  </a:moveTo>
                  <a:lnTo>
                    <a:pt x="7163740" y="625119"/>
                  </a:lnTo>
                  <a:lnTo>
                    <a:pt x="7163740" y="3829316"/>
                  </a:lnTo>
                  <a:lnTo>
                    <a:pt x="7445337" y="3829316"/>
                  </a:lnTo>
                  <a:lnTo>
                    <a:pt x="7445337" y="625119"/>
                  </a:lnTo>
                  <a:close/>
                </a:path>
                <a:path w="8789035" h="3829684">
                  <a:moveTo>
                    <a:pt x="7893063" y="220218"/>
                  </a:moveTo>
                  <a:lnTo>
                    <a:pt x="7611465" y="220218"/>
                  </a:lnTo>
                  <a:lnTo>
                    <a:pt x="7611465" y="3829316"/>
                  </a:lnTo>
                  <a:lnTo>
                    <a:pt x="7893063" y="3829316"/>
                  </a:lnTo>
                  <a:lnTo>
                    <a:pt x="7893063" y="220218"/>
                  </a:lnTo>
                  <a:close/>
                </a:path>
                <a:path w="8789035" h="3829684">
                  <a:moveTo>
                    <a:pt x="8340801" y="0"/>
                  </a:moveTo>
                  <a:lnTo>
                    <a:pt x="8059204" y="0"/>
                  </a:lnTo>
                  <a:lnTo>
                    <a:pt x="8059204" y="3829316"/>
                  </a:lnTo>
                  <a:lnTo>
                    <a:pt x="8340801" y="3829316"/>
                  </a:lnTo>
                  <a:lnTo>
                    <a:pt x="8340801" y="0"/>
                  </a:lnTo>
                  <a:close/>
                </a:path>
                <a:path w="8789035" h="3829684">
                  <a:moveTo>
                    <a:pt x="8788527" y="129286"/>
                  </a:moveTo>
                  <a:lnTo>
                    <a:pt x="8506943" y="129286"/>
                  </a:lnTo>
                  <a:lnTo>
                    <a:pt x="8506943" y="3829316"/>
                  </a:lnTo>
                  <a:lnTo>
                    <a:pt x="8788527" y="3829316"/>
                  </a:lnTo>
                  <a:lnTo>
                    <a:pt x="8788527" y="129286"/>
                  </a:lnTo>
                  <a:close/>
                </a:path>
              </a:pathLst>
            </a:custGeom>
            <a:solidFill>
              <a:srgbClr val="70C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406782" y="7114781"/>
              <a:ext cx="8954770" cy="0"/>
            </a:xfrm>
            <a:custGeom>
              <a:avLst/>
              <a:gdLst/>
              <a:ahLst/>
              <a:cxnLst/>
              <a:rect l="l" t="t" r="r" b="b"/>
              <a:pathLst>
                <a:path w="8954769" h="0">
                  <a:moveTo>
                    <a:pt x="0" y="0"/>
                  </a:moveTo>
                  <a:lnTo>
                    <a:pt x="8954663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02015" y="7110031"/>
              <a:ext cx="8964295" cy="9525"/>
            </a:xfrm>
            <a:custGeom>
              <a:avLst/>
              <a:gdLst/>
              <a:ahLst/>
              <a:cxnLst/>
              <a:rect l="l" t="t" r="r" b="b"/>
              <a:pathLst>
                <a:path w="8964294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8964294" h="9525">
                  <a:moveTo>
                    <a:pt x="457250" y="4749"/>
                  </a:moveTo>
                  <a:lnTo>
                    <a:pt x="455866" y="1384"/>
                  </a:lnTo>
                  <a:lnTo>
                    <a:pt x="452501" y="0"/>
                  </a:lnTo>
                  <a:lnTo>
                    <a:pt x="449122" y="1384"/>
                  </a:lnTo>
                  <a:lnTo>
                    <a:pt x="447738" y="4749"/>
                  </a:lnTo>
                  <a:lnTo>
                    <a:pt x="449122" y="8128"/>
                  </a:lnTo>
                  <a:lnTo>
                    <a:pt x="452501" y="9512"/>
                  </a:lnTo>
                  <a:lnTo>
                    <a:pt x="455866" y="8128"/>
                  </a:lnTo>
                  <a:lnTo>
                    <a:pt x="457250" y="4749"/>
                  </a:lnTo>
                  <a:close/>
                </a:path>
                <a:path w="8964294" h="9525">
                  <a:moveTo>
                    <a:pt x="904989" y="4749"/>
                  </a:moveTo>
                  <a:lnTo>
                    <a:pt x="903605" y="1384"/>
                  </a:lnTo>
                  <a:lnTo>
                    <a:pt x="900239" y="0"/>
                  </a:lnTo>
                  <a:lnTo>
                    <a:pt x="896861" y="1384"/>
                  </a:lnTo>
                  <a:lnTo>
                    <a:pt x="895477" y="4749"/>
                  </a:lnTo>
                  <a:lnTo>
                    <a:pt x="896861" y="8128"/>
                  </a:lnTo>
                  <a:lnTo>
                    <a:pt x="900239" y="9512"/>
                  </a:lnTo>
                  <a:lnTo>
                    <a:pt x="903605" y="8128"/>
                  </a:lnTo>
                  <a:lnTo>
                    <a:pt x="904989" y="4749"/>
                  </a:lnTo>
                  <a:close/>
                </a:path>
                <a:path w="8964294" h="9525">
                  <a:moveTo>
                    <a:pt x="1352715" y="4749"/>
                  </a:moveTo>
                  <a:lnTo>
                    <a:pt x="1351330" y="1384"/>
                  </a:lnTo>
                  <a:lnTo>
                    <a:pt x="1347965" y="0"/>
                  </a:lnTo>
                  <a:lnTo>
                    <a:pt x="1344587" y="1384"/>
                  </a:lnTo>
                  <a:lnTo>
                    <a:pt x="1343202" y="4749"/>
                  </a:lnTo>
                  <a:lnTo>
                    <a:pt x="1344587" y="8128"/>
                  </a:lnTo>
                  <a:lnTo>
                    <a:pt x="1347965" y="9512"/>
                  </a:lnTo>
                  <a:lnTo>
                    <a:pt x="1351330" y="8128"/>
                  </a:lnTo>
                  <a:lnTo>
                    <a:pt x="1352715" y="4749"/>
                  </a:lnTo>
                  <a:close/>
                </a:path>
                <a:path w="8964294" h="9525">
                  <a:moveTo>
                    <a:pt x="1800453" y="4749"/>
                  </a:moveTo>
                  <a:lnTo>
                    <a:pt x="1799069" y="1384"/>
                  </a:lnTo>
                  <a:lnTo>
                    <a:pt x="1795703" y="0"/>
                  </a:lnTo>
                  <a:lnTo>
                    <a:pt x="1792325" y="1384"/>
                  </a:lnTo>
                  <a:lnTo>
                    <a:pt x="1790941" y="4749"/>
                  </a:lnTo>
                  <a:lnTo>
                    <a:pt x="1792325" y="8128"/>
                  </a:lnTo>
                  <a:lnTo>
                    <a:pt x="1795703" y="9512"/>
                  </a:lnTo>
                  <a:lnTo>
                    <a:pt x="1799069" y="8128"/>
                  </a:lnTo>
                  <a:lnTo>
                    <a:pt x="1800453" y="4749"/>
                  </a:lnTo>
                  <a:close/>
                </a:path>
                <a:path w="8964294" h="9525">
                  <a:moveTo>
                    <a:pt x="2248179" y="4749"/>
                  </a:moveTo>
                  <a:lnTo>
                    <a:pt x="2246795" y="1384"/>
                  </a:lnTo>
                  <a:lnTo>
                    <a:pt x="2243429" y="0"/>
                  </a:lnTo>
                  <a:lnTo>
                    <a:pt x="2240051" y="1384"/>
                  </a:lnTo>
                  <a:lnTo>
                    <a:pt x="2238667" y="4749"/>
                  </a:lnTo>
                  <a:lnTo>
                    <a:pt x="2240051" y="8128"/>
                  </a:lnTo>
                  <a:lnTo>
                    <a:pt x="2243429" y="9512"/>
                  </a:lnTo>
                  <a:lnTo>
                    <a:pt x="2246795" y="8128"/>
                  </a:lnTo>
                  <a:lnTo>
                    <a:pt x="2248179" y="4749"/>
                  </a:lnTo>
                  <a:close/>
                </a:path>
                <a:path w="8964294" h="9525">
                  <a:moveTo>
                    <a:pt x="2695918" y="4749"/>
                  </a:moveTo>
                  <a:lnTo>
                    <a:pt x="2694533" y="1384"/>
                  </a:lnTo>
                  <a:lnTo>
                    <a:pt x="2691168" y="0"/>
                  </a:lnTo>
                  <a:lnTo>
                    <a:pt x="2687790" y="1384"/>
                  </a:lnTo>
                  <a:lnTo>
                    <a:pt x="2686405" y="4749"/>
                  </a:lnTo>
                  <a:lnTo>
                    <a:pt x="2687790" y="8128"/>
                  </a:lnTo>
                  <a:lnTo>
                    <a:pt x="2691168" y="9512"/>
                  </a:lnTo>
                  <a:lnTo>
                    <a:pt x="2694533" y="8128"/>
                  </a:lnTo>
                  <a:lnTo>
                    <a:pt x="2695918" y="4749"/>
                  </a:lnTo>
                  <a:close/>
                </a:path>
                <a:path w="8964294" h="9525">
                  <a:moveTo>
                    <a:pt x="3143656" y="4749"/>
                  </a:moveTo>
                  <a:lnTo>
                    <a:pt x="3142272" y="1384"/>
                  </a:lnTo>
                  <a:lnTo>
                    <a:pt x="3138906" y="0"/>
                  </a:lnTo>
                  <a:lnTo>
                    <a:pt x="3135528" y="1384"/>
                  </a:lnTo>
                  <a:lnTo>
                    <a:pt x="3134144" y="4749"/>
                  </a:lnTo>
                  <a:lnTo>
                    <a:pt x="3135528" y="8128"/>
                  </a:lnTo>
                  <a:lnTo>
                    <a:pt x="3138906" y="9512"/>
                  </a:lnTo>
                  <a:lnTo>
                    <a:pt x="3142272" y="8128"/>
                  </a:lnTo>
                  <a:lnTo>
                    <a:pt x="3143656" y="4749"/>
                  </a:lnTo>
                  <a:close/>
                </a:path>
                <a:path w="8964294" h="9525">
                  <a:moveTo>
                    <a:pt x="3591382" y="4749"/>
                  </a:moveTo>
                  <a:lnTo>
                    <a:pt x="3589998" y="1384"/>
                  </a:lnTo>
                  <a:lnTo>
                    <a:pt x="3586632" y="0"/>
                  </a:lnTo>
                  <a:lnTo>
                    <a:pt x="3583254" y="1384"/>
                  </a:lnTo>
                  <a:lnTo>
                    <a:pt x="3581870" y="4749"/>
                  </a:lnTo>
                  <a:lnTo>
                    <a:pt x="3583254" y="8128"/>
                  </a:lnTo>
                  <a:lnTo>
                    <a:pt x="3586632" y="9512"/>
                  </a:lnTo>
                  <a:lnTo>
                    <a:pt x="3589998" y="8128"/>
                  </a:lnTo>
                  <a:lnTo>
                    <a:pt x="3591382" y="4749"/>
                  </a:lnTo>
                  <a:close/>
                </a:path>
                <a:path w="8964294" h="9525">
                  <a:moveTo>
                    <a:pt x="4039120" y="4749"/>
                  </a:moveTo>
                  <a:lnTo>
                    <a:pt x="4037736" y="1384"/>
                  </a:lnTo>
                  <a:lnTo>
                    <a:pt x="4034371" y="0"/>
                  </a:lnTo>
                  <a:lnTo>
                    <a:pt x="4030992" y="1384"/>
                  </a:lnTo>
                  <a:lnTo>
                    <a:pt x="4029608" y="4749"/>
                  </a:lnTo>
                  <a:lnTo>
                    <a:pt x="4030992" y="8128"/>
                  </a:lnTo>
                  <a:lnTo>
                    <a:pt x="4034371" y="9512"/>
                  </a:lnTo>
                  <a:lnTo>
                    <a:pt x="4037736" y="8128"/>
                  </a:lnTo>
                  <a:lnTo>
                    <a:pt x="4039120" y="4749"/>
                  </a:lnTo>
                  <a:close/>
                </a:path>
                <a:path w="8964294" h="9525">
                  <a:moveTo>
                    <a:pt x="4486846" y="4749"/>
                  </a:moveTo>
                  <a:lnTo>
                    <a:pt x="4485462" y="1384"/>
                  </a:lnTo>
                  <a:lnTo>
                    <a:pt x="4482096" y="0"/>
                  </a:lnTo>
                  <a:lnTo>
                    <a:pt x="4478718" y="1384"/>
                  </a:lnTo>
                  <a:lnTo>
                    <a:pt x="4477334" y="4749"/>
                  </a:lnTo>
                  <a:lnTo>
                    <a:pt x="4478718" y="8128"/>
                  </a:lnTo>
                  <a:lnTo>
                    <a:pt x="4482096" y="9512"/>
                  </a:lnTo>
                  <a:lnTo>
                    <a:pt x="4485462" y="8128"/>
                  </a:lnTo>
                  <a:lnTo>
                    <a:pt x="4486846" y="4749"/>
                  </a:lnTo>
                  <a:close/>
                </a:path>
                <a:path w="8964294" h="9525">
                  <a:moveTo>
                    <a:pt x="4934585" y="4749"/>
                  </a:moveTo>
                  <a:lnTo>
                    <a:pt x="4933200" y="1384"/>
                  </a:lnTo>
                  <a:lnTo>
                    <a:pt x="4929835" y="0"/>
                  </a:lnTo>
                  <a:lnTo>
                    <a:pt x="4926457" y="1384"/>
                  </a:lnTo>
                  <a:lnTo>
                    <a:pt x="4925072" y="4749"/>
                  </a:lnTo>
                  <a:lnTo>
                    <a:pt x="4926457" y="8128"/>
                  </a:lnTo>
                  <a:lnTo>
                    <a:pt x="4929835" y="9512"/>
                  </a:lnTo>
                  <a:lnTo>
                    <a:pt x="4933200" y="8128"/>
                  </a:lnTo>
                  <a:lnTo>
                    <a:pt x="4934585" y="4749"/>
                  </a:lnTo>
                  <a:close/>
                </a:path>
                <a:path w="8964294" h="9525">
                  <a:moveTo>
                    <a:pt x="5382323" y="4749"/>
                  </a:moveTo>
                  <a:lnTo>
                    <a:pt x="5380939" y="1384"/>
                  </a:lnTo>
                  <a:lnTo>
                    <a:pt x="5377573" y="0"/>
                  </a:lnTo>
                  <a:lnTo>
                    <a:pt x="5374195" y="1384"/>
                  </a:lnTo>
                  <a:lnTo>
                    <a:pt x="5372811" y="4749"/>
                  </a:lnTo>
                  <a:lnTo>
                    <a:pt x="5374195" y="8128"/>
                  </a:lnTo>
                  <a:lnTo>
                    <a:pt x="5377573" y="9512"/>
                  </a:lnTo>
                  <a:lnTo>
                    <a:pt x="5380939" y="8128"/>
                  </a:lnTo>
                  <a:lnTo>
                    <a:pt x="5382323" y="4749"/>
                  </a:lnTo>
                  <a:close/>
                </a:path>
                <a:path w="8964294" h="9525">
                  <a:moveTo>
                    <a:pt x="5830049" y="4749"/>
                  </a:moveTo>
                  <a:lnTo>
                    <a:pt x="5828665" y="1384"/>
                  </a:lnTo>
                  <a:lnTo>
                    <a:pt x="5825299" y="0"/>
                  </a:lnTo>
                  <a:lnTo>
                    <a:pt x="5821921" y="1384"/>
                  </a:lnTo>
                  <a:lnTo>
                    <a:pt x="5820537" y="4749"/>
                  </a:lnTo>
                  <a:lnTo>
                    <a:pt x="5821921" y="8128"/>
                  </a:lnTo>
                  <a:lnTo>
                    <a:pt x="5825299" y="9512"/>
                  </a:lnTo>
                  <a:lnTo>
                    <a:pt x="5828665" y="8128"/>
                  </a:lnTo>
                  <a:lnTo>
                    <a:pt x="5830049" y="4749"/>
                  </a:lnTo>
                  <a:close/>
                </a:path>
                <a:path w="8964294" h="9525">
                  <a:moveTo>
                    <a:pt x="6277788" y="4749"/>
                  </a:moveTo>
                  <a:lnTo>
                    <a:pt x="6276403" y="1384"/>
                  </a:lnTo>
                  <a:lnTo>
                    <a:pt x="6273038" y="0"/>
                  </a:lnTo>
                  <a:lnTo>
                    <a:pt x="6269660" y="1384"/>
                  </a:lnTo>
                  <a:lnTo>
                    <a:pt x="6268275" y="4749"/>
                  </a:lnTo>
                  <a:lnTo>
                    <a:pt x="6269660" y="8128"/>
                  </a:lnTo>
                  <a:lnTo>
                    <a:pt x="6273038" y="9512"/>
                  </a:lnTo>
                  <a:lnTo>
                    <a:pt x="6276403" y="8128"/>
                  </a:lnTo>
                  <a:lnTo>
                    <a:pt x="6277788" y="4749"/>
                  </a:lnTo>
                  <a:close/>
                </a:path>
                <a:path w="8964294" h="9525">
                  <a:moveTo>
                    <a:pt x="6725513" y="4749"/>
                  </a:moveTo>
                  <a:lnTo>
                    <a:pt x="6724129" y="1384"/>
                  </a:lnTo>
                  <a:lnTo>
                    <a:pt x="6720764" y="0"/>
                  </a:lnTo>
                  <a:lnTo>
                    <a:pt x="6717385" y="1384"/>
                  </a:lnTo>
                  <a:lnTo>
                    <a:pt x="6716001" y="4749"/>
                  </a:lnTo>
                  <a:lnTo>
                    <a:pt x="6717385" y="8128"/>
                  </a:lnTo>
                  <a:lnTo>
                    <a:pt x="6720764" y="9512"/>
                  </a:lnTo>
                  <a:lnTo>
                    <a:pt x="6724129" y="8128"/>
                  </a:lnTo>
                  <a:lnTo>
                    <a:pt x="6725513" y="4749"/>
                  </a:lnTo>
                  <a:close/>
                </a:path>
                <a:path w="8964294" h="9525">
                  <a:moveTo>
                    <a:pt x="7173252" y="4749"/>
                  </a:moveTo>
                  <a:lnTo>
                    <a:pt x="7171868" y="1384"/>
                  </a:lnTo>
                  <a:lnTo>
                    <a:pt x="7168502" y="0"/>
                  </a:lnTo>
                  <a:lnTo>
                    <a:pt x="7165124" y="1384"/>
                  </a:lnTo>
                  <a:lnTo>
                    <a:pt x="7163740" y="4749"/>
                  </a:lnTo>
                  <a:lnTo>
                    <a:pt x="7165124" y="8128"/>
                  </a:lnTo>
                  <a:lnTo>
                    <a:pt x="7168502" y="9512"/>
                  </a:lnTo>
                  <a:lnTo>
                    <a:pt x="7171868" y="8128"/>
                  </a:lnTo>
                  <a:lnTo>
                    <a:pt x="7173252" y="4749"/>
                  </a:lnTo>
                  <a:close/>
                </a:path>
                <a:path w="8964294" h="9525">
                  <a:moveTo>
                    <a:pt x="7620978" y="4749"/>
                  </a:moveTo>
                  <a:lnTo>
                    <a:pt x="7619593" y="1384"/>
                  </a:lnTo>
                  <a:lnTo>
                    <a:pt x="7616228" y="0"/>
                  </a:lnTo>
                  <a:lnTo>
                    <a:pt x="7612850" y="1384"/>
                  </a:lnTo>
                  <a:lnTo>
                    <a:pt x="7611465" y="4749"/>
                  </a:lnTo>
                  <a:lnTo>
                    <a:pt x="7612850" y="8128"/>
                  </a:lnTo>
                  <a:lnTo>
                    <a:pt x="7616228" y="9512"/>
                  </a:lnTo>
                  <a:lnTo>
                    <a:pt x="7619593" y="8128"/>
                  </a:lnTo>
                  <a:lnTo>
                    <a:pt x="7620978" y="4749"/>
                  </a:lnTo>
                  <a:close/>
                </a:path>
                <a:path w="8964294" h="9525">
                  <a:moveTo>
                    <a:pt x="8068716" y="4749"/>
                  </a:moveTo>
                  <a:lnTo>
                    <a:pt x="8067332" y="1384"/>
                  </a:lnTo>
                  <a:lnTo>
                    <a:pt x="8063966" y="0"/>
                  </a:lnTo>
                  <a:lnTo>
                    <a:pt x="8060588" y="1384"/>
                  </a:lnTo>
                  <a:lnTo>
                    <a:pt x="8059204" y="4749"/>
                  </a:lnTo>
                  <a:lnTo>
                    <a:pt x="8060588" y="8128"/>
                  </a:lnTo>
                  <a:lnTo>
                    <a:pt x="8063966" y="9512"/>
                  </a:lnTo>
                  <a:lnTo>
                    <a:pt x="8067332" y="8128"/>
                  </a:lnTo>
                  <a:lnTo>
                    <a:pt x="8068716" y="4749"/>
                  </a:lnTo>
                  <a:close/>
                </a:path>
                <a:path w="8964294" h="9525">
                  <a:moveTo>
                    <a:pt x="8516455" y="4749"/>
                  </a:moveTo>
                  <a:lnTo>
                    <a:pt x="8515071" y="1384"/>
                  </a:lnTo>
                  <a:lnTo>
                    <a:pt x="8511705" y="0"/>
                  </a:lnTo>
                  <a:lnTo>
                    <a:pt x="8508327" y="1384"/>
                  </a:lnTo>
                  <a:lnTo>
                    <a:pt x="8506943" y="4749"/>
                  </a:lnTo>
                  <a:lnTo>
                    <a:pt x="8508327" y="8128"/>
                  </a:lnTo>
                  <a:lnTo>
                    <a:pt x="8511705" y="9512"/>
                  </a:lnTo>
                  <a:lnTo>
                    <a:pt x="8515071" y="8128"/>
                  </a:lnTo>
                  <a:lnTo>
                    <a:pt x="8516455" y="4749"/>
                  </a:lnTo>
                  <a:close/>
                </a:path>
                <a:path w="8964294" h="9525">
                  <a:moveTo>
                    <a:pt x="8964181" y="4749"/>
                  </a:moveTo>
                  <a:lnTo>
                    <a:pt x="8962796" y="1384"/>
                  </a:lnTo>
                  <a:lnTo>
                    <a:pt x="8959431" y="0"/>
                  </a:lnTo>
                  <a:lnTo>
                    <a:pt x="8956053" y="1384"/>
                  </a:lnTo>
                  <a:lnTo>
                    <a:pt x="8954668" y="4749"/>
                  </a:lnTo>
                  <a:lnTo>
                    <a:pt x="8956053" y="8128"/>
                  </a:lnTo>
                  <a:lnTo>
                    <a:pt x="8959431" y="9512"/>
                  </a:lnTo>
                  <a:lnTo>
                    <a:pt x="8962796" y="8128"/>
                  </a:lnTo>
                  <a:lnTo>
                    <a:pt x="8964181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805535" y="2912364"/>
              <a:ext cx="2112645" cy="1600200"/>
            </a:xfrm>
            <a:custGeom>
              <a:avLst/>
              <a:gdLst/>
              <a:ahLst/>
              <a:cxnLst/>
              <a:rect l="l" t="t" r="r" b="b"/>
              <a:pathLst>
                <a:path w="2112644" h="1600200">
                  <a:moveTo>
                    <a:pt x="0" y="1600200"/>
                  </a:moveTo>
                  <a:lnTo>
                    <a:pt x="2112162" y="0"/>
                  </a:lnTo>
                </a:path>
              </a:pathLst>
            </a:custGeom>
            <a:ln w="28575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09188" y="2898076"/>
              <a:ext cx="122796" cy="11450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014278" y="2660751"/>
            <a:ext cx="3832860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1140" b="1">
                <a:solidFill>
                  <a:srgbClr val="244060"/>
                </a:solidFill>
                <a:latin typeface="Arial"/>
                <a:cs typeface="Arial"/>
              </a:rPr>
              <a:t>E</a:t>
            </a:r>
            <a:r>
              <a:rPr dirty="0" baseline="18518" sz="1350" spc="-1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r>
              <a:rPr dirty="0" baseline="18518" sz="1350" spc="-39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2000" spc="-990" b="1">
                <a:solidFill>
                  <a:srgbClr val="244060"/>
                </a:solidFill>
                <a:latin typeface="Arial"/>
                <a:cs typeface="Arial"/>
              </a:rPr>
              <a:t>g</a:t>
            </a:r>
            <a:r>
              <a:rPr dirty="0" baseline="18518" sz="1350" spc="-7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baseline="18518" sz="1350" spc="457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ypt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Market</a:t>
            </a:r>
            <a:r>
              <a:rPr dirty="0" sz="20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(EGP/ton,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quarterly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Q1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2021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–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Q4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2025)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3400" y="2954515"/>
            <a:ext cx="6696709" cy="1179830"/>
          </a:xfrm>
          <a:custGeom>
            <a:avLst/>
            <a:gdLst/>
            <a:ahLst/>
            <a:cxnLst/>
            <a:rect l="l" t="t" r="r" b="b"/>
            <a:pathLst>
              <a:path w="6696709" h="1179829">
                <a:moveTo>
                  <a:pt x="6500012" y="0"/>
                </a:moveTo>
                <a:lnTo>
                  <a:pt x="196640" y="0"/>
                </a:lnTo>
                <a:lnTo>
                  <a:pt x="151781" y="5231"/>
                </a:lnTo>
                <a:lnTo>
                  <a:pt x="110481" y="20112"/>
                </a:lnTo>
                <a:lnTo>
                  <a:pt x="73957" y="43426"/>
                </a:lnTo>
                <a:lnTo>
                  <a:pt x="43428" y="73953"/>
                </a:lnTo>
                <a:lnTo>
                  <a:pt x="20114" y="110476"/>
                </a:lnTo>
                <a:lnTo>
                  <a:pt x="5231" y="151775"/>
                </a:lnTo>
                <a:lnTo>
                  <a:pt x="0" y="196634"/>
                </a:lnTo>
                <a:lnTo>
                  <a:pt x="0" y="983183"/>
                </a:lnTo>
                <a:lnTo>
                  <a:pt x="5231" y="1028041"/>
                </a:lnTo>
                <a:lnTo>
                  <a:pt x="20114" y="1069341"/>
                </a:lnTo>
                <a:lnTo>
                  <a:pt x="43428" y="1105863"/>
                </a:lnTo>
                <a:lnTo>
                  <a:pt x="73957" y="1136390"/>
                </a:lnTo>
                <a:lnTo>
                  <a:pt x="110481" y="1159704"/>
                </a:lnTo>
                <a:lnTo>
                  <a:pt x="151781" y="1174586"/>
                </a:lnTo>
                <a:lnTo>
                  <a:pt x="196640" y="1179817"/>
                </a:lnTo>
                <a:lnTo>
                  <a:pt x="6500012" y="1179817"/>
                </a:lnTo>
                <a:lnTo>
                  <a:pt x="6544871" y="1174586"/>
                </a:lnTo>
                <a:lnTo>
                  <a:pt x="6586172" y="1159704"/>
                </a:lnTo>
                <a:lnTo>
                  <a:pt x="6622697" y="1136390"/>
                </a:lnTo>
                <a:lnTo>
                  <a:pt x="6653227" y="1105863"/>
                </a:lnTo>
                <a:lnTo>
                  <a:pt x="6676543" y="1069341"/>
                </a:lnTo>
                <a:lnTo>
                  <a:pt x="6691427" y="1028041"/>
                </a:lnTo>
                <a:lnTo>
                  <a:pt x="6696659" y="983183"/>
                </a:lnTo>
                <a:lnTo>
                  <a:pt x="6696659" y="196634"/>
                </a:lnTo>
                <a:lnTo>
                  <a:pt x="6691427" y="151775"/>
                </a:lnTo>
                <a:lnTo>
                  <a:pt x="6676543" y="110476"/>
                </a:lnTo>
                <a:lnTo>
                  <a:pt x="6653227" y="73953"/>
                </a:lnTo>
                <a:lnTo>
                  <a:pt x="6622697" y="43426"/>
                </a:lnTo>
                <a:lnTo>
                  <a:pt x="6586172" y="20112"/>
                </a:lnTo>
                <a:lnTo>
                  <a:pt x="6544871" y="5231"/>
                </a:lnTo>
                <a:lnTo>
                  <a:pt x="6500012" y="0"/>
                </a:lnTo>
                <a:close/>
              </a:path>
            </a:pathLst>
          </a:custGeom>
          <a:solidFill>
            <a:srgbClr val="C7EDD9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635061" y="3097885"/>
            <a:ext cx="2496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Higher</a:t>
            </a:r>
            <a:r>
              <a:rPr dirty="0" sz="2400" spc="-3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35061" y="3407257"/>
            <a:ext cx="4407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exceeded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90%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2025.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reducing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67319" y="3472531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35061" y="3640429"/>
            <a:ext cx="543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available</a:t>
            </a:r>
            <a:r>
              <a:rPr dirty="0" sz="18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supply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strengthening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pricing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conditions.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5373" y="2947873"/>
            <a:ext cx="1002393" cy="1106297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7619936" y="2483002"/>
            <a:ext cx="0" cy="5138420"/>
          </a:xfrm>
          <a:custGeom>
            <a:avLst/>
            <a:gdLst/>
            <a:ahLst/>
            <a:cxnLst/>
            <a:rect l="l" t="t" r="r" b="b"/>
            <a:pathLst>
              <a:path w="0" h="5138420">
                <a:moveTo>
                  <a:pt x="0" y="0"/>
                </a:moveTo>
                <a:lnTo>
                  <a:pt x="0" y="5138051"/>
                </a:lnTo>
              </a:path>
            </a:pathLst>
          </a:custGeom>
          <a:ln w="44449">
            <a:solidFill>
              <a:srgbClr val="244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 rot="19440000">
            <a:off x="13395290" y="3762967"/>
            <a:ext cx="181909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 i="1">
                <a:solidFill>
                  <a:srgbClr val="585858"/>
                </a:solidFill>
                <a:latin typeface="Arial"/>
                <a:cs typeface="Arial"/>
              </a:rPr>
              <a:t>2025:</a:t>
            </a:r>
            <a:r>
              <a:rPr dirty="0" sz="1400" spc="-30" b="1" i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baseline="1984" sz="2100" spc="-15" b="1" i="1">
                <a:solidFill>
                  <a:srgbClr val="585858"/>
                </a:solidFill>
                <a:latin typeface="Arial"/>
                <a:cs typeface="Arial"/>
              </a:rPr>
              <a:t>su</a:t>
            </a:r>
            <a:r>
              <a:rPr dirty="0" baseline="3968" sz="2100" spc="-15" b="1" i="1">
                <a:solidFill>
                  <a:srgbClr val="585858"/>
                </a:solidFill>
                <a:latin typeface="Arial"/>
                <a:cs typeface="Arial"/>
              </a:rPr>
              <a:t>stain</a:t>
            </a:r>
            <a:r>
              <a:rPr dirty="0" baseline="5952" sz="2100" spc="-15" b="1" i="1">
                <a:solidFill>
                  <a:srgbClr val="585858"/>
                </a:solidFill>
                <a:latin typeface="Arial"/>
                <a:cs typeface="Arial"/>
              </a:rPr>
              <a:t>ed</a:t>
            </a:r>
            <a:r>
              <a:rPr dirty="0" baseline="5952" sz="2100" spc="-44" b="1" i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baseline="5952" sz="2100" spc="-30" b="1" i="1">
                <a:solidFill>
                  <a:srgbClr val="585858"/>
                </a:solidFill>
                <a:latin typeface="Arial"/>
                <a:cs typeface="Arial"/>
              </a:rPr>
              <a:t>pri</a:t>
            </a:r>
            <a:r>
              <a:rPr dirty="0" baseline="7936" sz="2100" spc="-30" b="1" i="1">
                <a:solidFill>
                  <a:srgbClr val="585858"/>
                </a:solidFill>
                <a:latin typeface="Arial"/>
                <a:cs typeface="Arial"/>
              </a:rPr>
              <a:t>ce</a:t>
            </a:r>
            <a:endParaRPr baseline="7936" sz="2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67319" y="4182897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5115" y="4277880"/>
            <a:ext cx="6696709" cy="1179830"/>
          </a:xfrm>
          <a:custGeom>
            <a:avLst/>
            <a:gdLst/>
            <a:ahLst/>
            <a:cxnLst/>
            <a:rect l="l" t="t" r="r" b="b"/>
            <a:pathLst>
              <a:path w="6696709" h="1179829">
                <a:moveTo>
                  <a:pt x="6500012" y="0"/>
                </a:moveTo>
                <a:lnTo>
                  <a:pt x="196640" y="0"/>
                </a:lnTo>
                <a:lnTo>
                  <a:pt x="151781" y="5231"/>
                </a:lnTo>
                <a:lnTo>
                  <a:pt x="110481" y="20112"/>
                </a:lnTo>
                <a:lnTo>
                  <a:pt x="73957" y="43426"/>
                </a:lnTo>
                <a:lnTo>
                  <a:pt x="43428" y="73953"/>
                </a:lnTo>
                <a:lnTo>
                  <a:pt x="20114" y="110476"/>
                </a:lnTo>
                <a:lnTo>
                  <a:pt x="5231" y="151775"/>
                </a:lnTo>
                <a:lnTo>
                  <a:pt x="0" y="196634"/>
                </a:lnTo>
                <a:lnTo>
                  <a:pt x="0" y="983183"/>
                </a:lnTo>
                <a:lnTo>
                  <a:pt x="5231" y="1028041"/>
                </a:lnTo>
                <a:lnTo>
                  <a:pt x="20114" y="1069341"/>
                </a:lnTo>
                <a:lnTo>
                  <a:pt x="43428" y="1105863"/>
                </a:lnTo>
                <a:lnTo>
                  <a:pt x="73957" y="1136390"/>
                </a:lnTo>
                <a:lnTo>
                  <a:pt x="110481" y="1159704"/>
                </a:lnTo>
                <a:lnTo>
                  <a:pt x="151781" y="1174586"/>
                </a:lnTo>
                <a:lnTo>
                  <a:pt x="196640" y="1179817"/>
                </a:lnTo>
                <a:lnTo>
                  <a:pt x="6500012" y="1179817"/>
                </a:lnTo>
                <a:lnTo>
                  <a:pt x="6544871" y="1174586"/>
                </a:lnTo>
                <a:lnTo>
                  <a:pt x="6586172" y="1159704"/>
                </a:lnTo>
                <a:lnTo>
                  <a:pt x="6622697" y="1136390"/>
                </a:lnTo>
                <a:lnTo>
                  <a:pt x="6653227" y="1105863"/>
                </a:lnTo>
                <a:lnTo>
                  <a:pt x="6676543" y="1069341"/>
                </a:lnTo>
                <a:lnTo>
                  <a:pt x="6691427" y="1028041"/>
                </a:lnTo>
                <a:lnTo>
                  <a:pt x="6696659" y="983183"/>
                </a:lnTo>
                <a:lnTo>
                  <a:pt x="6696659" y="196634"/>
                </a:lnTo>
                <a:lnTo>
                  <a:pt x="6691427" y="151775"/>
                </a:lnTo>
                <a:lnTo>
                  <a:pt x="6676543" y="110476"/>
                </a:lnTo>
                <a:lnTo>
                  <a:pt x="6653227" y="73953"/>
                </a:lnTo>
                <a:lnTo>
                  <a:pt x="6622697" y="43426"/>
                </a:lnTo>
                <a:lnTo>
                  <a:pt x="6586172" y="20112"/>
                </a:lnTo>
                <a:lnTo>
                  <a:pt x="6544871" y="5231"/>
                </a:lnTo>
                <a:lnTo>
                  <a:pt x="6500012" y="0"/>
                </a:lnTo>
                <a:close/>
              </a:path>
            </a:pathLst>
          </a:custGeom>
          <a:solidFill>
            <a:srgbClr val="C7EDD9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626781" y="4421238"/>
            <a:ext cx="515683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6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Tighter</a:t>
            </a:r>
            <a:r>
              <a:rPr dirty="0" sz="2400" spc="-3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supply-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2400" spc="-3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balance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1839"/>
              </a:lnSpc>
              <a:spcBef>
                <a:spcPts val="10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Persistent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limited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available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supply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led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upward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pressure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prices.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5257" y="4210900"/>
            <a:ext cx="1043363" cy="1179817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 rot="19440000">
            <a:off x="13595154" y="4162553"/>
            <a:ext cx="1054591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10" b="1" i="1">
                <a:solidFill>
                  <a:srgbClr val="585858"/>
                </a:solidFill>
                <a:latin typeface="Arial"/>
                <a:cs typeface="Arial"/>
              </a:rPr>
              <a:t>accel</a:t>
            </a:r>
            <a:r>
              <a:rPr dirty="0" baseline="1984" sz="2100" spc="-15" b="1" i="1">
                <a:solidFill>
                  <a:srgbClr val="585858"/>
                </a:solidFill>
                <a:latin typeface="Arial"/>
                <a:cs typeface="Arial"/>
              </a:rPr>
              <a:t>erati</a:t>
            </a:r>
            <a:r>
              <a:rPr dirty="0" baseline="3968" sz="2100" spc="-15" b="1" i="1">
                <a:solidFill>
                  <a:srgbClr val="585858"/>
                </a:solidFill>
                <a:latin typeface="Arial"/>
                <a:cs typeface="Arial"/>
              </a:rPr>
              <a:t>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67319" y="4893271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2098" y="5623471"/>
            <a:ext cx="6696709" cy="1179830"/>
          </a:xfrm>
          <a:custGeom>
            <a:avLst/>
            <a:gdLst/>
            <a:ahLst/>
            <a:cxnLst/>
            <a:rect l="l" t="t" r="r" b="b"/>
            <a:pathLst>
              <a:path w="6696709" h="1179829">
                <a:moveTo>
                  <a:pt x="6500012" y="0"/>
                </a:moveTo>
                <a:lnTo>
                  <a:pt x="196640" y="0"/>
                </a:lnTo>
                <a:lnTo>
                  <a:pt x="151781" y="5231"/>
                </a:lnTo>
                <a:lnTo>
                  <a:pt x="110481" y="20112"/>
                </a:lnTo>
                <a:lnTo>
                  <a:pt x="73957" y="43426"/>
                </a:lnTo>
                <a:lnTo>
                  <a:pt x="43428" y="73953"/>
                </a:lnTo>
                <a:lnTo>
                  <a:pt x="20114" y="110476"/>
                </a:lnTo>
                <a:lnTo>
                  <a:pt x="5231" y="151775"/>
                </a:lnTo>
                <a:lnTo>
                  <a:pt x="0" y="196634"/>
                </a:lnTo>
                <a:lnTo>
                  <a:pt x="0" y="983183"/>
                </a:lnTo>
                <a:lnTo>
                  <a:pt x="5231" y="1028041"/>
                </a:lnTo>
                <a:lnTo>
                  <a:pt x="20114" y="1069341"/>
                </a:lnTo>
                <a:lnTo>
                  <a:pt x="43428" y="1105863"/>
                </a:lnTo>
                <a:lnTo>
                  <a:pt x="73957" y="1136390"/>
                </a:lnTo>
                <a:lnTo>
                  <a:pt x="110481" y="1159704"/>
                </a:lnTo>
                <a:lnTo>
                  <a:pt x="151781" y="1174586"/>
                </a:lnTo>
                <a:lnTo>
                  <a:pt x="196640" y="1179817"/>
                </a:lnTo>
                <a:lnTo>
                  <a:pt x="6500012" y="1179817"/>
                </a:lnTo>
                <a:lnTo>
                  <a:pt x="6544871" y="1174586"/>
                </a:lnTo>
                <a:lnTo>
                  <a:pt x="6586172" y="1159704"/>
                </a:lnTo>
                <a:lnTo>
                  <a:pt x="6622697" y="1136390"/>
                </a:lnTo>
                <a:lnTo>
                  <a:pt x="6653227" y="1105863"/>
                </a:lnTo>
                <a:lnTo>
                  <a:pt x="6676543" y="1069341"/>
                </a:lnTo>
                <a:lnTo>
                  <a:pt x="6691427" y="1028041"/>
                </a:lnTo>
                <a:lnTo>
                  <a:pt x="6696659" y="983183"/>
                </a:lnTo>
                <a:lnTo>
                  <a:pt x="6696659" y="196634"/>
                </a:lnTo>
                <a:lnTo>
                  <a:pt x="6691427" y="151775"/>
                </a:lnTo>
                <a:lnTo>
                  <a:pt x="6676543" y="110476"/>
                </a:lnTo>
                <a:lnTo>
                  <a:pt x="6653227" y="73953"/>
                </a:lnTo>
                <a:lnTo>
                  <a:pt x="6622697" y="43426"/>
                </a:lnTo>
                <a:lnTo>
                  <a:pt x="6586172" y="20112"/>
                </a:lnTo>
                <a:lnTo>
                  <a:pt x="6544871" y="5231"/>
                </a:lnTo>
                <a:lnTo>
                  <a:pt x="6500012" y="0"/>
                </a:lnTo>
                <a:close/>
              </a:path>
            </a:pathLst>
          </a:custGeom>
          <a:solidFill>
            <a:srgbClr val="C7EDD9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067319" y="560364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63763" y="5766841"/>
            <a:ext cx="5167630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60"/>
              </a:lnSpc>
              <a:spcBef>
                <a:spcPts val="10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Regulatory</a:t>
            </a:r>
            <a:r>
              <a:rPr dirty="0" sz="2400" spc="-6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supply</a:t>
            </a:r>
            <a:r>
              <a:rPr dirty="0" sz="24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constraints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939"/>
              </a:lnSpc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Government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measures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limited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available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63763" y="6309385"/>
            <a:ext cx="5280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capacity,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reinforcing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tight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market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conditions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2025.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5235" y="5681560"/>
            <a:ext cx="1160240" cy="119829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8125250" y="6314008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9398" y="6948589"/>
            <a:ext cx="693800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Policy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Outlook: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Reactivation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Moderate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Prices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41112" y="702438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045332" y="7214248"/>
            <a:ext cx="5314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4135">
              <a:lnSpc>
                <a:spcPct val="100000"/>
              </a:lnSpc>
              <a:spcBef>
                <a:spcPts val="100"/>
              </a:spcBef>
              <a:tabLst>
                <a:tab pos="460375" algn="l"/>
                <a:tab pos="524510" algn="l"/>
                <a:tab pos="908050" algn="l"/>
                <a:tab pos="972185" algn="l"/>
                <a:tab pos="1355725" algn="l"/>
                <a:tab pos="1419860" algn="l"/>
                <a:tab pos="1803400" algn="l"/>
                <a:tab pos="1868170" algn="l"/>
                <a:tab pos="2251075" algn="l"/>
                <a:tab pos="2315845" algn="l"/>
                <a:tab pos="2698750" algn="l"/>
                <a:tab pos="2763520" algn="l"/>
                <a:tab pos="3146425" algn="l"/>
                <a:tab pos="3211195" algn="l"/>
                <a:tab pos="3594100" algn="l"/>
                <a:tab pos="3658870" algn="l"/>
                <a:tab pos="4041775" algn="l"/>
                <a:tab pos="4106545" algn="l"/>
                <a:tab pos="4489450" algn="l"/>
                <a:tab pos="4554220" algn="l"/>
                <a:tab pos="5001895" algn="l"/>
              </a:tabLst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Q4 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2025</a:t>
            </a:r>
            <a:r>
              <a:rPr dirty="0" sz="1200" spc="3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4634" y="7861846"/>
            <a:ext cx="7452995" cy="390525"/>
            <a:chOff x="494634" y="7861846"/>
            <a:chExt cx="7452995" cy="390525"/>
          </a:xfrm>
        </p:grpSpPr>
        <p:sp>
          <p:nvSpPr>
            <p:cNvPr id="52" name="object 52"/>
            <p:cNvSpPr/>
            <p:nvPr/>
          </p:nvSpPr>
          <p:spPr>
            <a:xfrm>
              <a:off x="494634" y="7861846"/>
              <a:ext cx="2484755" cy="390525"/>
            </a:xfrm>
            <a:custGeom>
              <a:avLst/>
              <a:gdLst/>
              <a:ahLst/>
              <a:cxnLst/>
              <a:rect l="l" t="t" r="r" b="b"/>
              <a:pathLst>
                <a:path w="2484755" h="390525">
                  <a:moveTo>
                    <a:pt x="2289098" y="0"/>
                  </a:moveTo>
                  <a:lnTo>
                    <a:pt x="0" y="0"/>
                  </a:lnTo>
                  <a:lnTo>
                    <a:pt x="195110" y="195110"/>
                  </a:lnTo>
                  <a:lnTo>
                    <a:pt x="0" y="390220"/>
                  </a:lnTo>
                  <a:lnTo>
                    <a:pt x="2289098" y="390220"/>
                  </a:lnTo>
                  <a:lnTo>
                    <a:pt x="2484208" y="195110"/>
                  </a:lnTo>
                  <a:lnTo>
                    <a:pt x="228909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978848" y="7861846"/>
              <a:ext cx="2484755" cy="390525"/>
            </a:xfrm>
            <a:custGeom>
              <a:avLst/>
              <a:gdLst/>
              <a:ahLst/>
              <a:cxnLst/>
              <a:rect l="l" t="t" r="r" b="b"/>
              <a:pathLst>
                <a:path w="2484754" h="390525">
                  <a:moveTo>
                    <a:pt x="2289098" y="0"/>
                  </a:moveTo>
                  <a:lnTo>
                    <a:pt x="0" y="0"/>
                  </a:lnTo>
                  <a:lnTo>
                    <a:pt x="195110" y="195110"/>
                  </a:lnTo>
                  <a:lnTo>
                    <a:pt x="0" y="390220"/>
                  </a:lnTo>
                  <a:lnTo>
                    <a:pt x="2289098" y="390220"/>
                  </a:lnTo>
                  <a:lnTo>
                    <a:pt x="2484208" y="195110"/>
                  </a:lnTo>
                  <a:lnTo>
                    <a:pt x="2289098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63057" y="7861846"/>
              <a:ext cx="2484755" cy="390525"/>
            </a:xfrm>
            <a:custGeom>
              <a:avLst/>
              <a:gdLst/>
              <a:ahLst/>
              <a:cxnLst/>
              <a:rect l="l" t="t" r="r" b="b"/>
              <a:pathLst>
                <a:path w="2484754" h="390525">
                  <a:moveTo>
                    <a:pt x="2115477" y="0"/>
                  </a:moveTo>
                  <a:lnTo>
                    <a:pt x="0" y="0"/>
                  </a:lnTo>
                  <a:lnTo>
                    <a:pt x="368731" y="195110"/>
                  </a:lnTo>
                  <a:lnTo>
                    <a:pt x="0" y="390220"/>
                  </a:lnTo>
                  <a:lnTo>
                    <a:pt x="2115477" y="390220"/>
                  </a:lnTo>
                  <a:lnTo>
                    <a:pt x="2484208" y="195110"/>
                  </a:lnTo>
                  <a:lnTo>
                    <a:pt x="2115477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1437525" y="7888744"/>
            <a:ext cx="5905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16435F"/>
                </a:solidFill>
                <a:latin typeface="Arial"/>
                <a:cs typeface="Arial"/>
              </a:rPr>
              <a:t>2025</a:t>
            </a:r>
            <a:endParaRPr sz="2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80295" y="7888782"/>
            <a:ext cx="1240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2026-</a:t>
            </a:r>
            <a:r>
              <a:rPr dirty="0" sz="2000" spc="-20" b="1">
                <a:solidFill>
                  <a:srgbClr val="16435F"/>
                </a:solidFill>
                <a:latin typeface="Arial"/>
                <a:cs typeface="Arial"/>
              </a:rPr>
              <a:t>2027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64504" y="7896542"/>
            <a:ext cx="1591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Beyond</a:t>
            </a:r>
            <a:r>
              <a:rPr dirty="0" sz="20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2027</a:t>
            </a:r>
            <a:endParaRPr sz="2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184756" y="7214248"/>
            <a:ext cx="3747135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0830" marR="5080" indent="64135">
              <a:lnSpc>
                <a:spcPct val="100000"/>
              </a:lnSpc>
              <a:spcBef>
                <a:spcPts val="100"/>
              </a:spcBef>
              <a:tabLst>
                <a:tab pos="738505" algn="l"/>
                <a:tab pos="803275" algn="l"/>
                <a:tab pos="1186815" algn="l"/>
                <a:tab pos="1250950" algn="l"/>
                <a:tab pos="1634489" algn="l"/>
                <a:tab pos="1698625" algn="l"/>
                <a:tab pos="2082164" algn="l"/>
                <a:tab pos="2146300" algn="l"/>
                <a:tab pos="2529840" algn="l"/>
                <a:tab pos="2593975" algn="l"/>
                <a:tab pos="2977515" algn="l"/>
                <a:tab pos="3042285" algn="l"/>
                <a:tab pos="3425190" algn="l"/>
                <a:tab pos="3489960" algn="l"/>
              </a:tabLst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Q2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Q4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Q3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	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Q4 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33020">
              <a:lnSpc>
                <a:spcPts val="1540"/>
              </a:lnSpc>
              <a:spcBef>
                <a:spcPts val="525"/>
              </a:spcBef>
            </a:pPr>
            <a:r>
              <a:rPr dirty="0" sz="1400" spc="-10" b="1">
                <a:solidFill>
                  <a:srgbClr val="585858"/>
                </a:solidFill>
                <a:latin typeface="Calibri"/>
                <a:cs typeface="Calibri"/>
              </a:rPr>
              <a:t>+80–</a:t>
            </a:r>
            <a:r>
              <a:rPr dirty="0" sz="1400" spc="-25" b="1">
                <a:solidFill>
                  <a:srgbClr val="585858"/>
                </a:solidFill>
                <a:latin typeface="Calibri"/>
                <a:cs typeface="Calibri"/>
              </a:rPr>
              <a:t>85%</a:t>
            </a:r>
            <a:endParaRPr sz="1400">
              <a:latin typeface="Calibri"/>
              <a:cs typeface="Calibri"/>
            </a:endParaRPr>
          </a:p>
          <a:p>
            <a:pPr marL="33020">
              <a:lnSpc>
                <a:spcPts val="1540"/>
              </a:lnSpc>
            </a:pP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Portland</a:t>
            </a:r>
            <a:r>
              <a:rPr dirty="0" sz="1400" spc="-5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cement</a:t>
            </a:r>
            <a:r>
              <a:rPr dirty="0" sz="1400" spc="-5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prices,</a:t>
            </a:r>
            <a:r>
              <a:rPr dirty="0" sz="1400" spc="-5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r>
              <a:rPr dirty="0" sz="1400" spc="-5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585858"/>
                </a:solidFill>
                <a:latin typeface="Calibri"/>
                <a:cs typeface="Calibri"/>
              </a:rPr>
              <a:t>YoY¹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Insight: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25115" y="8353628"/>
            <a:ext cx="7422515" cy="760730"/>
            <a:chOff x="525115" y="8353628"/>
            <a:chExt cx="7422515" cy="760730"/>
          </a:xfrm>
        </p:grpSpPr>
        <p:sp>
          <p:nvSpPr>
            <p:cNvPr id="59" name="object 59"/>
            <p:cNvSpPr/>
            <p:nvPr/>
          </p:nvSpPr>
          <p:spPr>
            <a:xfrm>
              <a:off x="525115" y="8353628"/>
              <a:ext cx="2474595" cy="760730"/>
            </a:xfrm>
            <a:custGeom>
              <a:avLst/>
              <a:gdLst/>
              <a:ahLst/>
              <a:cxnLst/>
              <a:rect l="l" t="t" r="r" b="b"/>
              <a:pathLst>
                <a:path w="2474595" h="760729">
                  <a:moveTo>
                    <a:pt x="2093988" y="0"/>
                  </a:moveTo>
                  <a:lnTo>
                    <a:pt x="0" y="0"/>
                  </a:lnTo>
                  <a:lnTo>
                    <a:pt x="380065" y="380060"/>
                  </a:lnTo>
                  <a:lnTo>
                    <a:pt x="0" y="760133"/>
                  </a:lnTo>
                  <a:lnTo>
                    <a:pt x="2093988" y="760133"/>
                  </a:lnTo>
                  <a:lnTo>
                    <a:pt x="2474048" y="380060"/>
                  </a:lnTo>
                  <a:lnTo>
                    <a:pt x="209398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99168" y="8353628"/>
              <a:ext cx="2474595" cy="760730"/>
            </a:xfrm>
            <a:custGeom>
              <a:avLst/>
              <a:gdLst/>
              <a:ahLst/>
              <a:cxnLst/>
              <a:rect l="l" t="t" r="r" b="b"/>
              <a:pathLst>
                <a:path w="2474595" h="760729">
                  <a:moveTo>
                    <a:pt x="2093988" y="0"/>
                  </a:moveTo>
                  <a:lnTo>
                    <a:pt x="0" y="0"/>
                  </a:lnTo>
                  <a:lnTo>
                    <a:pt x="380065" y="380060"/>
                  </a:lnTo>
                  <a:lnTo>
                    <a:pt x="0" y="760133"/>
                  </a:lnTo>
                  <a:lnTo>
                    <a:pt x="2093988" y="760133"/>
                  </a:lnTo>
                  <a:lnTo>
                    <a:pt x="2474048" y="380060"/>
                  </a:lnTo>
                  <a:lnTo>
                    <a:pt x="2093988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473217" y="8353628"/>
              <a:ext cx="2474595" cy="760730"/>
            </a:xfrm>
            <a:custGeom>
              <a:avLst/>
              <a:gdLst/>
              <a:ahLst/>
              <a:cxnLst/>
              <a:rect l="l" t="t" r="r" b="b"/>
              <a:pathLst>
                <a:path w="2474595" h="760729">
                  <a:moveTo>
                    <a:pt x="2093988" y="0"/>
                  </a:moveTo>
                  <a:lnTo>
                    <a:pt x="0" y="0"/>
                  </a:lnTo>
                  <a:lnTo>
                    <a:pt x="380065" y="380060"/>
                  </a:lnTo>
                  <a:lnTo>
                    <a:pt x="0" y="760133"/>
                  </a:lnTo>
                  <a:lnTo>
                    <a:pt x="2093988" y="760133"/>
                  </a:lnTo>
                  <a:lnTo>
                    <a:pt x="2474048" y="380060"/>
                  </a:lnTo>
                  <a:lnTo>
                    <a:pt x="2093988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913292" y="8514994"/>
            <a:ext cx="1677035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Strong</a:t>
            </a:r>
            <a:r>
              <a:rPr dirty="0" sz="12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price</a:t>
            </a:r>
            <a:r>
              <a:rPr dirty="0" sz="12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repricing</a:t>
            </a:r>
            <a:r>
              <a:rPr dirty="0" sz="1200" spc="-25">
                <a:solidFill>
                  <a:srgbClr val="16435F"/>
                </a:solidFill>
                <a:latin typeface="Arial"/>
                <a:cs typeface="Arial"/>
              </a:rPr>
              <a:t> as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r>
              <a:rPr dirty="0" sz="120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6435F"/>
                </a:solidFill>
                <a:latin typeface="Arial"/>
                <a:cs typeface="Arial"/>
              </a:rPr>
              <a:t>tightened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22802" y="8427948"/>
            <a:ext cx="1739900" cy="5892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Government</a:t>
            </a:r>
            <a:r>
              <a:rPr dirty="0" sz="120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6435F"/>
                </a:solidFill>
                <a:latin typeface="Arial"/>
                <a:cs typeface="Arial"/>
              </a:rPr>
              <a:t>gradual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reactivation</a:t>
            </a:r>
            <a:r>
              <a:rPr dirty="0" sz="12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of</a:t>
            </a:r>
            <a:r>
              <a:rPr dirty="0" sz="12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~12.6Mt</a:t>
            </a:r>
            <a:r>
              <a:rPr dirty="0" sz="1200" spc="-25">
                <a:solidFill>
                  <a:srgbClr val="16435F"/>
                </a:solidFill>
                <a:latin typeface="Arial"/>
                <a:cs typeface="Arial"/>
              </a:rPr>
              <a:t> of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previously</a:t>
            </a:r>
            <a:r>
              <a:rPr dirty="0" sz="12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6435F"/>
                </a:solidFill>
                <a:latin typeface="Arial"/>
                <a:cs typeface="Arial"/>
              </a:rPr>
              <a:t>idle</a:t>
            </a:r>
            <a:r>
              <a:rPr dirty="0" sz="1200" spc="-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6435F"/>
                </a:solidFill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64504" y="8450224"/>
            <a:ext cx="1871980" cy="5892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Increasing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supply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expected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ease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moderate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pricing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05178" y="8446134"/>
            <a:ext cx="9398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Sustainable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will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rely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on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recovery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rather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than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continued</a:t>
            </a:r>
            <a:r>
              <a:rPr dirty="0" sz="18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exceptional</a:t>
            </a:r>
            <a:r>
              <a:rPr dirty="0" sz="18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increases.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03855" y="9118739"/>
            <a:ext cx="56064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Model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Assumptions,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HC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Securities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(Nov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Industry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7" name="object 17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5983" y="498886"/>
            <a:ext cx="43853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Outlook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681" y="1093927"/>
            <a:ext cx="9525" cy="1341755"/>
          </a:xfrm>
          <a:custGeom>
            <a:avLst/>
            <a:gdLst/>
            <a:ahLst/>
            <a:cxnLst/>
            <a:rect l="l" t="t" r="r" b="b"/>
            <a:pathLst>
              <a:path w="9525" h="1341755">
                <a:moveTo>
                  <a:pt x="9522" y="0"/>
                </a:moveTo>
                <a:lnTo>
                  <a:pt x="0" y="1341589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809487" y="1047200"/>
            <a:ext cx="14652625" cy="955040"/>
          </a:xfrm>
          <a:prstGeom prst="rect"/>
        </p:spPr>
        <p:txBody>
          <a:bodyPr wrap="square" lIns="0" tIns="180340" rIns="0" bIns="0" rtlCol="0" vert="horz">
            <a:spAutoFit/>
          </a:bodyPr>
          <a:lstStyle/>
          <a:p>
            <a:pPr marL="12700" marR="5080">
              <a:lnSpc>
                <a:spcPct val="69400"/>
              </a:lnSpc>
              <a:spcBef>
                <a:spcPts val="1420"/>
              </a:spcBef>
            </a:pPr>
            <a:r>
              <a:rPr dirty="0"/>
              <a:t>Demand</a:t>
            </a:r>
            <a:r>
              <a:rPr dirty="0" spc="-45"/>
              <a:t> </a:t>
            </a:r>
            <a:r>
              <a:rPr dirty="0"/>
              <a:t>Recovery</a:t>
            </a:r>
            <a:r>
              <a:rPr dirty="0" spc="-45"/>
              <a:t> </a:t>
            </a:r>
            <a:r>
              <a:rPr dirty="0"/>
              <a:t>Supports</a:t>
            </a:r>
            <a:r>
              <a:rPr dirty="0" spc="-45"/>
              <a:t> </a:t>
            </a:r>
            <a:r>
              <a:rPr dirty="0"/>
              <a:t>Volume</a:t>
            </a:r>
            <a:r>
              <a:rPr dirty="0" spc="-45"/>
              <a:t> </a:t>
            </a:r>
            <a:r>
              <a:rPr dirty="0"/>
              <a:t>Growth,</a:t>
            </a:r>
            <a:r>
              <a:rPr dirty="0" spc="-45"/>
              <a:t> </a:t>
            </a:r>
            <a:r>
              <a:rPr dirty="0"/>
              <a:t>But</a:t>
            </a:r>
            <a:r>
              <a:rPr dirty="0" spc="-45"/>
              <a:t> </a:t>
            </a:r>
            <a:r>
              <a:rPr dirty="0"/>
              <a:t>Limits</a:t>
            </a:r>
            <a:r>
              <a:rPr dirty="0" spc="-45"/>
              <a:t> </a:t>
            </a:r>
            <a:r>
              <a:rPr dirty="0" spc="-30"/>
              <a:t>Long-</a:t>
            </a:r>
            <a:r>
              <a:rPr dirty="0" spc="-20"/>
              <a:t>Term </a:t>
            </a:r>
            <a:r>
              <a:rPr dirty="0"/>
              <a:t>Pricing</a:t>
            </a:r>
            <a:r>
              <a:rPr dirty="0" spc="-55"/>
              <a:t> </a:t>
            </a:r>
            <a:r>
              <a:rPr dirty="0" spc="-10"/>
              <a:t>Upside</a:t>
            </a: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09487" y="1930603"/>
            <a:ext cx="15645130" cy="52324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Egyptian</a:t>
            </a:r>
            <a:r>
              <a:rPr dirty="0" sz="1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expected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grow</a:t>
            </a:r>
            <a:r>
              <a:rPr dirty="0" sz="1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moderately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through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2030,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shifting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industry's</a:t>
            </a:r>
            <a:r>
              <a:rPr dirty="0" sz="1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44060"/>
                </a:solidFill>
                <a:latin typeface="Arial"/>
                <a:cs typeface="Arial"/>
              </a:rPr>
              <a:t>long-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term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opportunity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1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expansion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toward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44060"/>
                </a:solidFill>
                <a:latin typeface="Arial"/>
                <a:cs typeface="Arial"/>
              </a:rPr>
              <a:t>volume recovery.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708690" y="2317737"/>
            <a:ext cx="2193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4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takeaways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0700" y="2659633"/>
            <a:ext cx="456184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Domestic</a:t>
            </a:r>
            <a:r>
              <a:rPr dirty="0" sz="2000" spc="-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000" spc="-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39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(Mt.,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2021A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Forecasted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with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2.2%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CAGR</a:t>
            </a:r>
            <a:endParaRPr sz="1600">
              <a:latin typeface="Arial"/>
              <a:cs typeface="Arial"/>
            </a:endParaRPr>
          </a:p>
          <a:p>
            <a:pPr marL="66040">
              <a:lnSpc>
                <a:spcPts val="1360"/>
              </a:lnSpc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65.00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22116" y="3596842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60.9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55218" y="3977462"/>
            <a:ext cx="9363710" cy="3519804"/>
            <a:chOff x="1055218" y="3977462"/>
            <a:chExt cx="9363710" cy="3519804"/>
          </a:xfrm>
        </p:grpSpPr>
        <p:sp>
          <p:nvSpPr>
            <p:cNvPr id="23" name="object 23"/>
            <p:cNvSpPr/>
            <p:nvPr/>
          </p:nvSpPr>
          <p:spPr>
            <a:xfrm>
              <a:off x="1059981" y="7492276"/>
              <a:ext cx="9354185" cy="0"/>
            </a:xfrm>
            <a:custGeom>
              <a:avLst/>
              <a:gdLst/>
              <a:ahLst/>
              <a:cxnLst/>
              <a:rect l="l" t="t" r="r" b="b"/>
              <a:pathLst>
                <a:path w="9354185" h="0">
                  <a:moveTo>
                    <a:pt x="0" y="0"/>
                  </a:moveTo>
                  <a:lnTo>
                    <a:pt x="9353595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55217" y="7487526"/>
              <a:ext cx="9363710" cy="9525"/>
            </a:xfrm>
            <a:custGeom>
              <a:avLst/>
              <a:gdLst/>
              <a:ahLst/>
              <a:cxnLst/>
              <a:rect l="l" t="t" r="r" b="b"/>
              <a:pathLst>
                <a:path w="936371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84" y="1384"/>
                  </a:lnTo>
                  <a:lnTo>
                    <a:pt x="0" y="4749"/>
                  </a:lnTo>
                  <a:lnTo>
                    <a:pt x="1384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9363710" h="9525">
                  <a:moveTo>
                    <a:pt x="944880" y="4749"/>
                  </a:moveTo>
                  <a:lnTo>
                    <a:pt x="943483" y="1384"/>
                  </a:lnTo>
                  <a:lnTo>
                    <a:pt x="940117" y="0"/>
                  </a:lnTo>
                  <a:lnTo>
                    <a:pt x="936752" y="1384"/>
                  </a:lnTo>
                  <a:lnTo>
                    <a:pt x="935355" y="4749"/>
                  </a:lnTo>
                  <a:lnTo>
                    <a:pt x="936752" y="8128"/>
                  </a:lnTo>
                  <a:lnTo>
                    <a:pt x="940117" y="9512"/>
                  </a:lnTo>
                  <a:lnTo>
                    <a:pt x="943483" y="8128"/>
                  </a:lnTo>
                  <a:lnTo>
                    <a:pt x="944880" y="4749"/>
                  </a:lnTo>
                  <a:close/>
                </a:path>
                <a:path w="9363710" h="9525">
                  <a:moveTo>
                    <a:pt x="1880235" y="4749"/>
                  </a:moveTo>
                  <a:lnTo>
                    <a:pt x="1878838" y="1384"/>
                  </a:lnTo>
                  <a:lnTo>
                    <a:pt x="1875472" y="0"/>
                  </a:lnTo>
                  <a:lnTo>
                    <a:pt x="1872107" y="1384"/>
                  </a:lnTo>
                  <a:lnTo>
                    <a:pt x="1870710" y="4749"/>
                  </a:lnTo>
                  <a:lnTo>
                    <a:pt x="1872107" y="8128"/>
                  </a:lnTo>
                  <a:lnTo>
                    <a:pt x="1875472" y="9512"/>
                  </a:lnTo>
                  <a:lnTo>
                    <a:pt x="1878838" y="8128"/>
                  </a:lnTo>
                  <a:lnTo>
                    <a:pt x="1880235" y="4749"/>
                  </a:lnTo>
                  <a:close/>
                </a:path>
                <a:path w="9363710" h="9525">
                  <a:moveTo>
                    <a:pt x="2815602" y="4749"/>
                  </a:moveTo>
                  <a:lnTo>
                    <a:pt x="2814205" y="1384"/>
                  </a:lnTo>
                  <a:lnTo>
                    <a:pt x="2810840" y="0"/>
                  </a:lnTo>
                  <a:lnTo>
                    <a:pt x="2807474" y="1384"/>
                  </a:lnTo>
                  <a:lnTo>
                    <a:pt x="2806077" y="4749"/>
                  </a:lnTo>
                  <a:lnTo>
                    <a:pt x="2807474" y="8128"/>
                  </a:lnTo>
                  <a:lnTo>
                    <a:pt x="2810840" y="9512"/>
                  </a:lnTo>
                  <a:lnTo>
                    <a:pt x="2814205" y="8128"/>
                  </a:lnTo>
                  <a:lnTo>
                    <a:pt x="2815602" y="4749"/>
                  </a:lnTo>
                  <a:close/>
                </a:path>
                <a:path w="9363710" h="9525">
                  <a:moveTo>
                    <a:pt x="3750957" y="4749"/>
                  </a:moveTo>
                  <a:lnTo>
                    <a:pt x="3749560" y="1384"/>
                  </a:lnTo>
                  <a:lnTo>
                    <a:pt x="3746195" y="0"/>
                  </a:lnTo>
                  <a:lnTo>
                    <a:pt x="3742829" y="1384"/>
                  </a:lnTo>
                  <a:lnTo>
                    <a:pt x="3741432" y="4749"/>
                  </a:lnTo>
                  <a:lnTo>
                    <a:pt x="3742829" y="8128"/>
                  </a:lnTo>
                  <a:lnTo>
                    <a:pt x="3746195" y="9512"/>
                  </a:lnTo>
                  <a:lnTo>
                    <a:pt x="3749560" y="8128"/>
                  </a:lnTo>
                  <a:lnTo>
                    <a:pt x="3750957" y="4749"/>
                  </a:lnTo>
                  <a:close/>
                </a:path>
                <a:path w="9363710" h="9525">
                  <a:moveTo>
                    <a:pt x="4686312" y="4749"/>
                  </a:moveTo>
                  <a:lnTo>
                    <a:pt x="4684915" y="1384"/>
                  </a:lnTo>
                  <a:lnTo>
                    <a:pt x="4681550" y="0"/>
                  </a:lnTo>
                  <a:lnTo>
                    <a:pt x="4678184" y="1384"/>
                  </a:lnTo>
                  <a:lnTo>
                    <a:pt x="4676787" y="4749"/>
                  </a:lnTo>
                  <a:lnTo>
                    <a:pt x="4678184" y="8128"/>
                  </a:lnTo>
                  <a:lnTo>
                    <a:pt x="4681550" y="9512"/>
                  </a:lnTo>
                  <a:lnTo>
                    <a:pt x="4684915" y="8128"/>
                  </a:lnTo>
                  <a:lnTo>
                    <a:pt x="4686312" y="4749"/>
                  </a:lnTo>
                  <a:close/>
                </a:path>
                <a:path w="9363710" h="9525">
                  <a:moveTo>
                    <a:pt x="5621680" y="4749"/>
                  </a:moveTo>
                  <a:lnTo>
                    <a:pt x="5620283" y="1384"/>
                  </a:lnTo>
                  <a:lnTo>
                    <a:pt x="5616918" y="0"/>
                  </a:lnTo>
                  <a:lnTo>
                    <a:pt x="5613552" y="1384"/>
                  </a:lnTo>
                  <a:lnTo>
                    <a:pt x="5612155" y="4749"/>
                  </a:lnTo>
                  <a:lnTo>
                    <a:pt x="5613552" y="8128"/>
                  </a:lnTo>
                  <a:lnTo>
                    <a:pt x="5616918" y="9512"/>
                  </a:lnTo>
                  <a:lnTo>
                    <a:pt x="5620283" y="8128"/>
                  </a:lnTo>
                  <a:lnTo>
                    <a:pt x="5621680" y="4749"/>
                  </a:lnTo>
                  <a:close/>
                </a:path>
                <a:path w="9363710" h="9525">
                  <a:moveTo>
                    <a:pt x="6557035" y="4749"/>
                  </a:moveTo>
                  <a:lnTo>
                    <a:pt x="6555638" y="1384"/>
                  </a:lnTo>
                  <a:lnTo>
                    <a:pt x="6552273" y="0"/>
                  </a:lnTo>
                  <a:lnTo>
                    <a:pt x="6548907" y="1384"/>
                  </a:lnTo>
                  <a:lnTo>
                    <a:pt x="6547510" y="4749"/>
                  </a:lnTo>
                  <a:lnTo>
                    <a:pt x="6548907" y="8128"/>
                  </a:lnTo>
                  <a:lnTo>
                    <a:pt x="6552273" y="9512"/>
                  </a:lnTo>
                  <a:lnTo>
                    <a:pt x="6555638" y="8128"/>
                  </a:lnTo>
                  <a:lnTo>
                    <a:pt x="6557035" y="4749"/>
                  </a:lnTo>
                  <a:close/>
                </a:path>
                <a:path w="9363710" h="9525">
                  <a:moveTo>
                    <a:pt x="7492390" y="4749"/>
                  </a:moveTo>
                  <a:lnTo>
                    <a:pt x="7490993" y="1384"/>
                  </a:lnTo>
                  <a:lnTo>
                    <a:pt x="7487628" y="0"/>
                  </a:lnTo>
                  <a:lnTo>
                    <a:pt x="7484262" y="1384"/>
                  </a:lnTo>
                  <a:lnTo>
                    <a:pt x="7482865" y="4749"/>
                  </a:lnTo>
                  <a:lnTo>
                    <a:pt x="7484262" y="8128"/>
                  </a:lnTo>
                  <a:lnTo>
                    <a:pt x="7487628" y="9512"/>
                  </a:lnTo>
                  <a:lnTo>
                    <a:pt x="7490993" y="8128"/>
                  </a:lnTo>
                  <a:lnTo>
                    <a:pt x="7492390" y="4749"/>
                  </a:lnTo>
                  <a:close/>
                </a:path>
                <a:path w="9363710" h="9525">
                  <a:moveTo>
                    <a:pt x="8427758" y="4749"/>
                  </a:moveTo>
                  <a:lnTo>
                    <a:pt x="8426361" y="1384"/>
                  </a:lnTo>
                  <a:lnTo>
                    <a:pt x="8422996" y="0"/>
                  </a:lnTo>
                  <a:lnTo>
                    <a:pt x="8419630" y="1384"/>
                  </a:lnTo>
                  <a:lnTo>
                    <a:pt x="8418233" y="4749"/>
                  </a:lnTo>
                  <a:lnTo>
                    <a:pt x="8419630" y="8128"/>
                  </a:lnTo>
                  <a:lnTo>
                    <a:pt x="8422996" y="9512"/>
                  </a:lnTo>
                  <a:lnTo>
                    <a:pt x="8426361" y="8128"/>
                  </a:lnTo>
                  <a:lnTo>
                    <a:pt x="8427758" y="4749"/>
                  </a:lnTo>
                  <a:close/>
                </a:path>
                <a:path w="9363710" h="9525">
                  <a:moveTo>
                    <a:pt x="9363113" y="4749"/>
                  </a:moveTo>
                  <a:lnTo>
                    <a:pt x="9361716" y="1384"/>
                  </a:lnTo>
                  <a:lnTo>
                    <a:pt x="9358351" y="0"/>
                  </a:lnTo>
                  <a:lnTo>
                    <a:pt x="9354985" y="1384"/>
                  </a:lnTo>
                  <a:lnTo>
                    <a:pt x="9353588" y="4749"/>
                  </a:lnTo>
                  <a:lnTo>
                    <a:pt x="9354985" y="8128"/>
                  </a:lnTo>
                  <a:lnTo>
                    <a:pt x="9358351" y="9512"/>
                  </a:lnTo>
                  <a:lnTo>
                    <a:pt x="9361716" y="8128"/>
                  </a:lnTo>
                  <a:lnTo>
                    <a:pt x="9363113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27661" y="5047462"/>
              <a:ext cx="3742054" cy="1212850"/>
            </a:xfrm>
            <a:custGeom>
              <a:avLst/>
              <a:gdLst/>
              <a:ahLst/>
              <a:cxnLst/>
              <a:rect l="l" t="t" r="r" b="b"/>
              <a:pathLst>
                <a:path w="3742054" h="1212850">
                  <a:moveTo>
                    <a:pt x="0" y="443750"/>
                  </a:moveTo>
                  <a:lnTo>
                    <a:pt x="935360" y="643026"/>
                  </a:lnTo>
                </a:path>
                <a:path w="3742054" h="1212850">
                  <a:moveTo>
                    <a:pt x="935360" y="643026"/>
                  </a:moveTo>
                  <a:lnTo>
                    <a:pt x="1870715" y="1212367"/>
                  </a:lnTo>
                </a:path>
                <a:path w="3742054" h="1212850">
                  <a:moveTo>
                    <a:pt x="1870715" y="1212367"/>
                  </a:moveTo>
                  <a:lnTo>
                    <a:pt x="2806082" y="909269"/>
                  </a:lnTo>
                </a:path>
                <a:path w="3742054" h="1212850">
                  <a:moveTo>
                    <a:pt x="2806082" y="909269"/>
                  </a:moveTo>
                  <a:lnTo>
                    <a:pt x="3741437" y="0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69099" y="3996512"/>
              <a:ext cx="4677410" cy="1051560"/>
            </a:xfrm>
            <a:custGeom>
              <a:avLst/>
              <a:gdLst/>
              <a:ahLst/>
              <a:cxnLst/>
              <a:rect l="l" t="t" r="r" b="b"/>
              <a:pathLst>
                <a:path w="4677409" h="1051560">
                  <a:moveTo>
                    <a:pt x="0" y="1050950"/>
                  </a:moveTo>
                  <a:lnTo>
                    <a:pt x="935367" y="849807"/>
                  </a:lnTo>
                </a:path>
                <a:path w="4677409" h="1051560">
                  <a:moveTo>
                    <a:pt x="935367" y="849807"/>
                  </a:moveTo>
                  <a:lnTo>
                    <a:pt x="1870722" y="644245"/>
                  </a:lnTo>
                </a:path>
                <a:path w="4677409" h="1051560">
                  <a:moveTo>
                    <a:pt x="1870722" y="644245"/>
                  </a:moveTo>
                  <a:lnTo>
                    <a:pt x="2806077" y="434149"/>
                  </a:lnTo>
                </a:path>
                <a:path w="4677409" h="1051560">
                  <a:moveTo>
                    <a:pt x="2806077" y="434149"/>
                  </a:moveTo>
                  <a:lnTo>
                    <a:pt x="3741445" y="219430"/>
                  </a:lnTo>
                </a:path>
                <a:path w="4677409" h="1051560">
                  <a:moveTo>
                    <a:pt x="3741445" y="219430"/>
                  </a:moveTo>
                  <a:lnTo>
                    <a:pt x="4676800" y="0"/>
                  </a:lnTo>
                </a:path>
              </a:pathLst>
            </a:custGeom>
            <a:ln w="38099">
              <a:solidFill>
                <a:srgbClr val="2440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786748" y="3816278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59.6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4328" y="4027529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60.00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51394" y="4030992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58.3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16039" y="4241084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57.0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80671" y="4446651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55.8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80952" y="4647793"/>
            <a:ext cx="604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54.60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4328" y="4864798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55.00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9507" y="5091544"/>
            <a:ext cx="604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51.95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43976" y="5230380"/>
            <a:ext cx="604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50.76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04730" y="5310174"/>
            <a:ext cx="604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47.36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62298" y="5295785"/>
            <a:ext cx="604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49.17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4328" y="5702058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50.00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4328" y="6539318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45.00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4328" y="7376579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40.00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94171" y="3150806"/>
            <a:ext cx="0" cy="4505325"/>
          </a:xfrm>
          <a:custGeom>
            <a:avLst/>
            <a:gdLst/>
            <a:ahLst/>
            <a:cxnLst/>
            <a:rect l="l" t="t" r="r" b="b"/>
            <a:pathLst>
              <a:path w="0" h="4505325">
                <a:moveTo>
                  <a:pt x="0" y="0"/>
                </a:moveTo>
                <a:lnTo>
                  <a:pt x="0" y="4505121"/>
                </a:lnTo>
              </a:path>
            </a:pathLst>
          </a:custGeom>
          <a:ln w="34924">
            <a:solidFill>
              <a:srgbClr val="80808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0892028" y="2721952"/>
            <a:ext cx="6243320" cy="1981835"/>
            <a:chOff x="10892028" y="2721952"/>
            <a:chExt cx="6243320" cy="1981835"/>
          </a:xfrm>
        </p:grpSpPr>
        <p:sp>
          <p:nvSpPr>
            <p:cNvPr id="46" name="object 46"/>
            <p:cNvSpPr/>
            <p:nvPr/>
          </p:nvSpPr>
          <p:spPr>
            <a:xfrm>
              <a:off x="11104207" y="2831884"/>
              <a:ext cx="6031230" cy="1871345"/>
            </a:xfrm>
            <a:custGeom>
              <a:avLst/>
              <a:gdLst/>
              <a:ahLst/>
              <a:cxnLst/>
              <a:rect l="l" t="t" r="r" b="b"/>
              <a:pathLst>
                <a:path w="6031230" h="1871345">
                  <a:moveTo>
                    <a:pt x="5719140" y="0"/>
                  </a:moveTo>
                  <a:lnTo>
                    <a:pt x="311886" y="0"/>
                  </a:lnTo>
                  <a:lnTo>
                    <a:pt x="266058" y="3407"/>
                  </a:lnTo>
                  <a:lnTo>
                    <a:pt x="222231" y="13298"/>
                  </a:lnTo>
                  <a:lnTo>
                    <a:pt x="180902" y="29175"/>
                  </a:lnTo>
                  <a:lnTo>
                    <a:pt x="142571" y="50538"/>
                  </a:lnTo>
                  <a:lnTo>
                    <a:pt x="107734" y="76891"/>
                  </a:lnTo>
                  <a:lnTo>
                    <a:pt x="76890" y="107735"/>
                  </a:lnTo>
                  <a:lnTo>
                    <a:pt x="50538" y="142571"/>
                  </a:lnTo>
                  <a:lnTo>
                    <a:pt x="29174" y="180903"/>
                  </a:lnTo>
                  <a:lnTo>
                    <a:pt x="13298" y="222231"/>
                  </a:lnTo>
                  <a:lnTo>
                    <a:pt x="3407" y="266058"/>
                  </a:lnTo>
                  <a:lnTo>
                    <a:pt x="0" y="311886"/>
                  </a:lnTo>
                  <a:lnTo>
                    <a:pt x="0" y="1559394"/>
                  </a:lnTo>
                  <a:lnTo>
                    <a:pt x="3407" y="1605222"/>
                  </a:lnTo>
                  <a:lnTo>
                    <a:pt x="13298" y="1649049"/>
                  </a:lnTo>
                  <a:lnTo>
                    <a:pt x="29174" y="1690378"/>
                  </a:lnTo>
                  <a:lnTo>
                    <a:pt x="50538" y="1728709"/>
                  </a:lnTo>
                  <a:lnTo>
                    <a:pt x="76890" y="1763546"/>
                  </a:lnTo>
                  <a:lnTo>
                    <a:pt x="107734" y="1794390"/>
                  </a:lnTo>
                  <a:lnTo>
                    <a:pt x="142571" y="1820742"/>
                  </a:lnTo>
                  <a:lnTo>
                    <a:pt x="180902" y="1842106"/>
                  </a:lnTo>
                  <a:lnTo>
                    <a:pt x="222231" y="1857982"/>
                  </a:lnTo>
                  <a:lnTo>
                    <a:pt x="266058" y="1867873"/>
                  </a:lnTo>
                  <a:lnTo>
                    <a:pt x="311886" y="1871281"/>
                  </a:lnTo>
                  <a:lnTo>
                    <a:pt x="5719140" y="1871281"/>
                  </a:lnTo>
                  <a:lnTo>
                    <a:pt x="5764968" y="1867873"/>
                  </a:lnTo>
                  <a:lnTo>
                    <a:pt x="5808795" y="1857982"/>
                  </a:lnTo>
                  <a:lnTo>
                    <a:pt x="5850123" y="1842106"/>
                  </a:lnTo>
                  <a:lnTo>
                    <a:pt x="5888455" y="1820742"/>
                  </a:lnTo>
                  <a:lnTo>
                    <a:pt x="5923291" y="1794390"/>
                  </a:lnTo>
                  <a:lnTo>
                    <a:pt x="5954135" y="1763546"/>
                  </a:lnTo>
                  <a:lnTo>
                    <a:pt x="5980488" y="1728709"/>
                  </a:lnTo>
                  <a:lnTo>
                    <a:pt x="6001851" y="1690378"/>
                  </a:lnTo>
                  <a:lnTo>
                    <a:pt x="6017728" y="1649049"/>
                  </a:lnTo>
                  <a:lnTo>
                    <a:pt x="6027619" y="1605222"/>
                  </a:lnTo>
                  <a:lnTo>
                    <a:pt x="6031026" y="1559394"/>
                  </a:lnTo>
                  <a:lnTo>
                    <a:pt x="6031026" y="311886"/>
                  </a:lnTo>
                  <a:lnTo>
                    <a:pt x="6027619" y="266058"/>
                  </a:lnTo>
                  <a:lnTo>
                    <a:pt x="6017728" y="222231"/>
                  </a:lnTo>
                  <a:lnTo>
                    <a:pt x="6001851" y="180903"/>
                  </a:lnTo>
                  <a:lnTo>
                    <a:pt x="5980488" y="142571"/>
                  </a:lnTo>
                  <a:lnTo>
                    <a:pt x="5954135" y="107735"/>
                  </a:lnTo>
                  <a:lnTo>
                    <a:pt x="5923291" y="76891"/>
                  </a:lnTo>
                  <a:lnTo>
                    <a:pt x="5888455" y="50538"/>
                  </a:lnTo>
                  <a:lnTo>
                    <a:pt x="5850123" y="29175"/>
                  </a:lnTo>
                  <a:lnTo>
                    <a:pt x="5808795" y="13298"/>
                  </a:lnTo>
                  <a:lnTo>
                    <a:pt x="5764968" y="3407"/>
                  </a:lnTo>
                  <a:lnTo>
                    <a:pt x="5719140" y="0"/>
                  </a:lnTo>
                  <a:close/>
                </a:path>
              </a:pathLst>
            </a:custGeom>
            <a:solidFill>
              <a:srgbClr val="B8CDE4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0892028" y="2721952"/>
              <a:ext cx="636905" cy="641985"/>
            </a:xfrm>
            <a:custGeom>
              <a:avLst/>
              <a:gdLst/>
              <a:ahLst/>
              <a:cxnLst/>
              <a:rect l="l" t="t" r="r" b="b"/>
              <a:pathLst>
                <a:path w="636904" h="641985">
                  <a:moveTo>
                    <a:pt x="318160" y="0"/>
                  </a:moveTo>
                  <a:lnTo>
                    <a:pt x="271410" y="3505"/>
                  </a:lnTo>
                  <a:lnTo>
                    <a:pt x="226701" y="13679"/>
                  </a:lnTo>
                  <a:lnTo>
                    <a:pt x="184541" y="30009"/>
                  </a:lnTo>
                  <a:lnTo>
                    <a:pt x="145439" y="51983"/>
                  </a:lnTo>
                  <a:lnTo>
                    <a:pt x="109901" y="79089"/>
                  </a:lnTo>
                  <a:lnTo>
                    <a:pt x="78437" y="110815"/>
                  </a:lnTo>
                  <a:lnTo>
                    <a:pt x="51554" y="146647"/>
                  </a:lnTo>
                  <a:lnTo>
                    <a:pt x="29761" y="186075"/>
                  </a:lnTo>
                  <a:lnTo>
                    <a:pt x="13566" y="228584"/>
                  </a:lnTo>
                  <a:lnTo>
                    <a:pt x="3476" y="273664"/>
                  </a:lnTo>
                  <a:lnTo>
                    <a:pt x="0" y="320801"/>
                  </a:lnTo>
                  <a:lnTo>
                    <a:pt x="3476" y="367942"/>
                  </a:lnTo>
                  <a:lnTo>
                    <a:pt x="13566" y="413025"/>
                  </a:lnTo>
                  <a:lnTo>
                    <a:pt x="29761" y="455536"/>
                  </a:lnTo>
                  <a:lnTo>
                    <a:pt x="51554" y="494965"/>
                  </a:lnTo>
                  <a:lnTo>
                    <a:pt x="78437" y="530799"/>
                  </a:lnTo>
                  <a:lnTo>
                    <a:pt x="109901" y="562525"/>
                  </a:lnTo>
                  <a:lnTo>
                    <a:pt x="145439" y="589632"/>
                  </a:lnTo>
                  <a:lnTo>
                    <a:pt x="184541" y="611607"/>
                  </a:lnTo>
                  <a:lnTo>
                    <a:pt x="226701" y="627937"/>
                  </a:lnTo>
                  <a:lnTo>
                    <a:pt x="271410" y="638111"/>
                  </a:lnTo>
                  <a:lnTo>
                    <a:pt x="318160" y="641616"/>
                  </a:lnTo>
                  <a:lnTo>
                    <a:pt x="364910" y="638111"/>
                  </a:lnTo>
                  <a:lnTo>
                    <a:pt x="409619" y="627937"/>
                  </a:lnTo>
                  <a:lnTo>
                    <a:pt x="451779" y="611607"/>
                  </a:lnTo>
                  <a:lnTo>
                    <a:pt x="490881" y="589632"/>
                  </a:lnTo>
                  <a:lnTo>
                    <a:pt x="526419" y="562525"/>
                  </a:lnTo>
                  <a:lnTo>
                    <a:pt x="557883" y="530799"/>
                  </a:lnTo>
                  <a:lnTo>
                    <a:pt x="584765" y="494965"/>
                  </a:lnTo>
                  <a:lnTo>
                    <a:pt x="606559" y="455536"/>
                  </a:lnTo>
                  <a:lnTo>
                    <a:pt x="622754" y="413025"/>
                  </a:lnTo>
                  <a:lnTo>
                    <a:pt x="632844" y="367942"/>
                  </a:lnTo>
                  <a:lnTo>
                    <a:pt x="636320" y="320801"/>
                  </a:lnTo>
                  <a:lnTo>
                    <a:pt x="632844" y="273664"/>
                  </a:lnTo>
                  <a:lnTo>
                    <a:pt x="622754" y="228584"/>
                  </a:lnTo>
                  <a:lnTo>
                    <a:pt x="606559" y="186075"/>
                  </a:lnTo>
                  <a:lnTo>
                    <a:pt x="584765" y="146647"/>
                  </a:lnTo>
                  <a:lnTo>
                    <a:pt x="557883" y="110815"/>
                  </a:lnTo>
                  <a:lnTo>
                    <a:pt x="526419" y="79089"/>
                  </a:lnTo>
                  <a:lnTo>
                    <a:pt x="490881" y="51983"/>
                  </a:lnTo>
                  <a:lnTo>
                    <a:pt x="451779" y="30009"/>
                  </a:lnTo>
                  <a:lnTo>
                    <a:pt x="409619" y="13679"/>
                  </a:lnTo>
                  <a:lnTo>
                    <a:pt x="364910" y="3505"/>
                  </a:lnTo>
                  <a:lnTo>
                    <a:pt x="318160" y="0"/>
                  </a:lnTo>
                  <a:close/>
                </a:path>
              </a:pathLst>
            </a:custGeom>
            <a:solidFill>
              <a:srgbClr val="009A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1107546" y="2793948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727827" y="2923314"/>
            <a:ext cx="3632200" cy="1421130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2800" spc="-20" b="1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2400" spc="-10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Recovery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44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reaches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54.6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Mt.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recovering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from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2023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lows.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866411" y="4808778"/>
            <a:ext cx="6243320" cy="1981200"/>
            <a:chOff x="10866411" y="4808778"/>
            <a:chExt cx="6243320" cy="1981200"/>
          </a:xfrm>
        </p:grpSpPr>
        <p:sp>
          <p:nvSpPr>
            <p:cNvPr id="51" name="object 51"/>
            <p:cNvSpPr/>
            <p:nvPr/>
          </p:nvSpPr>
          <p:spPr>
            <a:xfrm>
              <a:off x="11078603" y="4918697"/>
              <a:ext cx="6031230" cy="1871345"/>
            </a:xfrm>
            <a:custGeom>
              <a:avLst/>
              <a:gdLst/>
              <a:ahLst/>
              <a:cxnLst/>
              <a:rect l="l" t="t" r="r" b="b"/>
              <a:pathLst>
                <a:path w="6031230" h="1871345">
                  <a:moveTo>
                    <a:pt x="5719140" y="0"/>
                  </a:moveTo>
                  <a:lnTo>
                    <a:pt x="311886" y="0"/>
                  </a:lnTo>
                  <a:lnTo>
                    <a:pt x="266058" y="3407"/>
                  </a:lnTo>
                  <a:lnTo>
                    <a:pt x="222231" y="13298"/>
                  </a:lnTo>
                  <a:lnTo>
                    <a:pt x="180902" y="29175"/>
                  </a:lnTo>
                  <a:lnTo>
                    <a:pt x="142571" y="50538"/>
                  </a:lnTo>
                  <a:lnTo>
                    <a:pt x="107734" y="76891"/>
                  </a:lnTo>
                  <a:lnTo>
                    <a:pt x="76890" y="107735"/>
                  </a:lnTo>
                  <a:lnTo>
                    <a:pt x="50538" y="142571"/>
                  </a:lnTo>
                  <a:lnTo>
                    <a:pt x="29174" y="180903"/>
                  </a:lnTo>
                  <a:lnTo>
                    <a:pt x="13298" y="222231"/>
                  </a:lnTo>
                  <a:lnTo>
                    <a:pt x="3407" y="266058"/>
                  </a:lnTo>
                  <a:lnTo>
                    <a:pt x="0" y="311886"/>
                  </a:lnTo>
                  <a:lnTo>
                    <a:pt x="0" y="1559394"/>
                  </a:lnTo>
                  <a:lnTo>
                    <a:pt x="3407" y="1605222"/>
                  </a:lnTo>
                  <a:lnTo>
                    <a:pt x="13298" y="1649049"/>
                  </a:lnTo>
                  <a:lnTo>
                    <a:pt x="29174" y="1690378"/>
                  </a:lnTo>
                  <a:lnTo>
                    <a:pt x="50538" y="1728709"/>
                  </a:lnTo>
                  <a:lnTo>
                    <a:pt x="76890" y="1763546"/>
                  </a:lnTo>
                  <a:lnTo>
                    <a:pt x="107734" y="1794390"/>
                  </a:lnTo>
                  <a:lnTo>
                    <a:pt x="142571" y="1820742"/>
                  </a:lnTo>
                  <a:lnTo>
                    <a:pt x="180902" y="1842106"/>
                  </a:lnTo>
                  <a:lnTo>
                    <a:pt x="222231" y="1857982"/>
                  </a:lnTo>
                  <a:lnTo>
                    <a:pt x="266058" y="1867873"/>
                  </a:lnTo>
                  <a:lnTo>
                    <a:pt x="311886" y="1871281"/>
                  </a:lnTo>
                  <a:lnTo>
                    <a:pt x="5719140" y="1871281"/>
                  </a:lnTo>
                  <a:lnTo>
                    <a:pt x="5764968" y="1867873"/>
                  </a:lnTo>
                  <a:lnTo>
                    <a:pt x="5808795" y="1857982"/>
                  </a:lnTo>
                  <a:lnTo>
                    <a:pt x="5850123" y="1842106"/>
                  </a:lnTo>
                  <a:lnTo>
                    <a:pt x="5888455" y="1820742"/>
                  </a:lnTo>
                  <a:lnTo>
                    <a:pt x="5923291" y="1794390"/>
                  </a:lnTo>
                  <a:lnTo>
                    <a:pt x="5954135" y="1763546"/>
                  </a:lnTo>
                  <a:lnTo>
                    <a:pt x="5980488" y="1728709"/>
                  </a:lnTo>
                  <a:lnTo>
                    <a:pt x="6001851" y="1690378"/>
                  </a:lnTo>
                  <a:lnTo>
                    <a:pt x="6017728" y="1649049"/>
                  </a:lnTo>
                  <a:lnTo>
                    <a:pt x="6027619" y="1605222"/>
                  </a:lnTo>
                  <a:lnTo>
                    <a:pt x="6031026" y="1559394"/>
                  </a:lnTo>
                  <a:lnTo>
                    <a:pt x="6031026" y="311886"/>
                  </a:lnTo>
                  <a:lnTo>
                    <a:pt x="6027619" y="266058"/>
                  </a:lnTo>
                  <a:lnTo>
                    <a:pt x="6017728" y="222231"/>
                  </a:lnTo>
                  <a:lnTo>
                    <a:pt x="6001851" y="180903"/>
                  </a:lnTo>
                  <a:lnTo>
                    <a:pt x="5980488" y="142571"/>
                  </a:lnTo>
                  <a:lnTo>
                    <a:pt x="5954135" y="107735"/>
                  </a:lnTo>
                  <a:lnTo>
                    <a:pt x="5923291" y="76891"/>
                  </a:lnTo>
                  <a:lnTo>
                    <a:pt x="5888455" y="50538"/>
                  </a:lnTo>
                  <a:lnTo>
                    <a:pt x="5850123" y="29175"/>
                  </a:lnTo>
                  <a:lnTo>
                    <a:pt x="5808795" y="13298"/>
                  </a:lnTo>
                  <a:lnTo>
                    <a:pt x="5764968" y="3407"/>
                  </a:lnTo>
                  <a:lnTo>
                    <a:pt x="5719140" y="0"/>
                  </a:lnTo>
                  <a:close/>
                </a:path>
              </a:pathLst>
            </a:custGeom>
            <a:solidFill>
              <a:srgbClr val="B8CDE4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866411" y="4808778"/>
              <a:ext cx="636905" cy="641985"/>
            </a:xfrm>
            <a:custGeom>
              <a:avLst/>
              <a:gdLst/>
              <a:ahLst/>
              <a:cxnLst/>
              <a:rect l="l" t="t" r="r" b="b"/>
              <a:pathLst>
                <a:path w="636904" h="641985">
                  <a:moveTo>
                    <a:pt x="318160" y="0"/>
                  </a:moveTo>
                  <a:lnTo>
                    <a:pt x="271410" y="3505"/>
                  </a:lnTo>
                  <a:lnTo>
                    <a:pt x="226701" y="13679"/>
                  </a:lnTo>
                  <a:lnTo>
                    <a:pt x="184541" y="30009"/>
                  </a:lnTo>
                  <a:lnTo>
                    <a:pt x="145439" y="51983"/>
                  </a:lnTo>
                  <a:lnTo>
                    <a:pt x="109901" y="79089"/>
                  </a:lnTo>
                  <a:lnTo>
                    <a:pt x="78437" y="110815"/>
                  </a:lnTo>
                  <a:lnTo>
                    <a:pt x="51554" y="146647"/>
                  </a:lnTo>
                  <a:lnTo>
                    <a:pt x="29761" y="186075"/>
                  </a:lnTo>
                  <a:lnTo>
                    <a:pt x="13566" y="228584"/>
                  </a:lnTo>
                  <a:lnTo>
                    <a:pt x="3476" y="273664"/>
                  </a:lnTo>
                  <a:lnTo>
                    <a:pt x="0" y="320801"/>
                  </a:lnTo>
                  <a:lnTo>
                    <a:pt x="3476" y="367942"/>
                  </a:lnTo>
                  <a:lnTo>
                    <a:pt x="13566" y="413025"/>
                  </a:lnTo>
                  <a:lnTo>
                    <a:pt x="29761" y="455536"/>
                  </a:lnTo>
                  <a:lnTo>
                    <a:pt x="51554" y="494965"/>
                  </a:lnTo>
                  <a:lnTo>
                    <a:pt x="78437" y="530799"/>
                  </a:lnTo>
                  <a:lnTo>
                    <a:pt x="109901" y="562525"/>
                  </a:lnTo>
                  <a:lnTo>
                    <a:pt x="145439" y="589632"/>
                  </a:lnTo>
                  <a:lnTo>
                    <a:pt x="184541" y="611607"/>
                  </a:lnTo>
                  <a:lnTo>
                    <a:pt x="226701" y="627937"/>
                  </a:lnTo>
                  <a:lnTo>
                    <a:pt x="271410" y="638111"/>
                  </a:lnTo>
                  <a:lnTo>
                    <a:pt x="318160" y="641616"/>
                  </a:lnTo>
                  <a:lnTo>
                    <a:pt x="364910" y="638111"/>
                  </a:lnTo>
                  <a:lnTo>
                    <a:pt x="409619" y="627937"/>
                  </a:lnTo>
                  <a:lnTo>
                    <a:pt x="451779" y="611607"/>
                  </a:lnTo>
                  <a:lnTo>
                    <a:pt x="490881" y="589632"/>
                  </a:lnTo>
                  <a:lnTo>
                    <a:pt x="526419" y="562525"/>
                  </a:lnTo>
                  <a:lnTo>
                    <a:pt x="557883" y="530799"/>
                  </a:lnTo>
                  <a:lnTo>
                    <a:pt x="584765" y="494965"/>
                  </a:lnTo>
                  <a:lnTo>
                    <a:pt x="606559" y="455536"/>
                  </a:lnTo>
                  <a:lnTo>
                    <a:pt x="622754" y="413025"/>
                  </a:lnTo>
                  <a:lnTo>
                    <a:pt x="632844" y="367942"/>
                  </a:lnTo>
                  <a:lnTo>
                    <a:pt x="636320" y="320801"/>
                  </a:lnTo>
                  <a:lnTo>
                    <a:pt x="632844" y="273664"/>
                  </a:lnTo>
                  <a:lnTo>
                    <a:pt x="622754" y="228584"/>
                  </a:lnTo>
                  <a:lnTo>
                    <a:pt x="606559" y="186075"/>
                  </a:lnTo>
                  <a:lnTo>
                    <a:pt x="584765" y="146647"/>
                  </a:lnTo>
                  <a:lnTo>
                    <a:pt x="557883" y="110815"/>
                  </a:lnTo>
                  <a:lnTo>
                    <a:pt x="526419" y="79089"/>
                  </a:lnTo>
                  <a:lnTo>
                    <a:pt x="490881" y="51983"/>
                  </a:lnTo>
                  <a:lnTo>
                    <a:pt x="451779" y="30009"/>
                  </a:lnTo>
                  <a:lnTo>
                    <a:pt x="409619" y="13679"/>
                  </a:lnTo>
                  <a:lnTo>
                    <a:pt x="364910" y="3505"/>
                  </a:lnTo>
                  <a:lnTo>
                    <a:pt x="318160" y="0"/>
                  </a:lnTo>
                  <a:close/>
                </a:path>
              </a:pathLst>
            </a:custGeom>
            <a:solidFill>
              <a:srgbClr val="009A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1081942" y="4880762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702224" y="5036019"/>
            <a:ext cx="3924300" cy="145923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2026</a:t>
            </a:r>
            <a:r>
              <a:rPr dirty="0" sz="2800" spc="-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244060"/>
                </a:solidFill>
                <a:latin typeface="Arial"/>
                <a:cs typeface="Arial"/>
              </a:rPr>
              <a:t>-2030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Moderate</a:t>
            </a:r>
            <a:r>
              <a:rPr dirty="0" sz="2400" spc="-6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volume</a:t>
            </a:r>
            <a:r>
              <a:rPr dirty="0" sz="2400" spc="-6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demand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expected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grow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at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2.2%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CAGR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through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2030.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0909541" y="6928434"/>
            <a:ext cx="6243320" cy="1981835"/>
            <a:chOff x="10909541" y="6928434"/>
            <a:chExt cx="6243320" cy="1981835"/>
          </a:xfrm>
        </p:grpSpPr>
        <p:sp>
          <p:nvSpPr>
            <p:cNvPr id="56" name="object 56"/>
            <p:cNvSpPr/>
            <p:nvPr/>
          </p:nvSpPr>
          <p:spPr>
            <a:xfrm>
              <a:off x="11121732" y="7038365"/>
              <a:ext cx="6031230" cy="1871345"/>
            </a:xfrm>
            <a:custGeom>
              <a:avLst/>
              <a:gdLst/>
              <a:ahLst/>
              <a:cxnLst/>
              <a:rect l="l" t="t" r="r" b="b"/>
              <a:pathLst>
                <a:path w="6031230" h="1871345">
                  <a:moveTo>
                    <a:pt x="5719140" y="0"/>
                  </a:moveTo>
                  <a:lnTo>
                    <a:pt x="311886" y="0"/>
                  </a:lnTo>
                  <a:lnTo>
                    <a:pt x="266058" y="3407"/>
                  </a:lnTo>
                  <a:lnTo>
                    <a:pt x="222231" y="13298"/>
                  </a:lnTo>
                  <a:lnTo>
                    <a:pt x="180902" y="29175"/>
                  </a:lnTo>
                  <a:lnTo>
                    <a:pt x="142571" y="50538"/>
                  </a:lnTo>
                  <a:lnTo>
                    <a:pt x="107734" y="76891"/>
                  </a:lnTo>
                  <a:lnTo>
                    <a:pt x="76890" y="107735"/>
                  </a:lnTo>
                  <a:lnTo>
                    <a:pt x="50538" y="142571"/>
                  </a:lnTo>
                  <a:lnTo>
                    <a:pt x="29174" y="180903"/>
                  </a:lnTo>
                  <a:lnTo>
                    <a:pt x="13298" y="222231"/>
                  </a:lnTo>
                  <a:lnTo>
                    <a:pt x="3407" y="266058"/>
                  </a:lnTo>
                  <a:lnTo>
                    <a:pt x="0" y="311886"/>
                  </a:lnTo>
                  <a:lnTo>
                    <a:pt x="0" y="1559394"/>
                  </a:lnTo>
                  <a:lnTo>
                    <a:pt x="3407" y="1605222"/>
                  </a:lnTo>
                  <a:lnTo>
                    <a:pt x="13298" y="1649049"/>
                  </a:lnTo>
                  <a:lnTo>
                    <a:pt x="29174" y="1690378"/>
                  </a:lnTo>
                  <a:lnTo>
                    <a:pt x="50538" y="1728709"/>
                  </a:lnTo>
                  <a:lnTo>
                    <a:pt x="76890" y="1763546"/>
                  </a:lnTo>
                  <a:lnTo>
                    <a:pt x="107734" y="1794390"/>
                  </a:lnTo>
                  <a:lnTo>
                    <a:pt x="142571" y="1820742"/>
                  </a:lnTo>
                  <a:lnTo>
                    <a:pt x="180902" y="1842106"/>
                  </a:lnTo>
                  <a:lnTo>
                    <a:pt x="222231" y="1857982"/>
                  </a:lnTo>
                  <a:lnTo>
                    <a:pt x="266058" y="1867873"/>
                  </a:lnTo>
                  <a:lnTo>
                    <a:pt x="311886" y="1871281"/>
                  </a:lnTo>
                  <a:lnTo>
                    <a:pt x="5719140" y="1871281"/>
                  </a:lnTo>
                  <a:lnTo>
                    <a:pt x="5764968" y="1867873"/>
                  </a:lnTo>
                  <a:lnTo>
                    <a:pt x="5808795" y="1857982"/>
                  </a:lnTo>
                  <a:lnTo>
                    <a:pt x="5850123" y="1842106"/>
                  </a:lnTo>
                  <a:lnTo>
                    <a:pt x="5888455" y="1820742"/>
                  </a:lnTo>
                  <a:lnTo>
                    <a:pt x="5923291" y="1794390"/>
                  </a:lnTo>
                  <a:lnTo>
                    <a:pt x="5954135" y="1763546"/>
                  </a:lnTo>
                  <a:lnTo>
                    <a:pt x="5980488" y="1728709"/>
                  </a:lnTo>
                  <a:lnTo>
                    <a:pt x="6001851" y="1690378"/>
                  </a:lnTo>
                  <a:lnTo>
                    <a:pt x="6017728" y="1649049"/>
                  </a:lnTo>
                  <a:lnTo>
                    <a:pt x="6027619" y="1605222"/>
                  </a:lnTo>
                  <a:lnTo>
                    <a:pt x="6031026" y="1559394"/>
                  </a:lnTo>
                  <a:lnTo>
                    <a:pt x="6031026" y="311886"/>
                  </a:lnTo>
                  <a:lnTo>
                    <a:pt x="6027619" y="266058"/>
                  </a:lnTo>
                  <a:lnTo>
                    <a:pt x="6017728" y="222231"/>
                  </a:lnTo>
                  <a:lnTo>
                    <a:pt x="6001851" y="180903"/>
                  </a:lnTo>
                  <a:lnTo>
                    <a:pt x="5980488" y="142571"/>
                  </a:lnTo>
                  <a:lnTo>
                    <a:pt x="5954135" y="107735"/>
                  </a:lnTo>
                  <a:lnTo>
                    <a:pt x="5923291" y="76891"/>
                  </a:lnTo>
                  <a:lnTo>
                    <a:pt x="5888455" y="50538"/>
                  </a:lnTo>
                  <a:lnTo>
                    <a:pt x="5850123" y="29175"/>
                  </a:lnTo>
                  <a:lnTo>
                    <a:pt x="5808795" y="13298"/>
                  </a:lnTo>
                  <a:lnTo>
                    <a:pt x="5764968" y="3407"/>
                  </a:lnTo>
                  <a:lnTo>
                    <a:pt x="5719140" y="0"/>
                  </a:lnTo>
                  <a:close/>
                </a:path>
              </a:pathLst>
            </a:custGeom>
            <a:solidFill>
              <a:srgbClr val="B8CDE4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0909541" y="6928434"/>
              <a:ext cx="636905" cy="641985"/>
            </a:xfrm>
            <a:custGeom>
              <a:avLst/>
              <a:gdLst/>
              <a:ahLst/>
              <a:cxnLst/>
              <a:rect l="l" t="t" r="r" b="b"/>
              <a:pathLst>
                <a:path w="636904" h="641984">
                  <a:moveTo>
                    <a:pt x="318160" y="0"/>
                  </a:moveTo>
                  <a:lnTo>
                    <a:pt x="271410" y="3505"/>
                  </a:lnTo>
                  <a:lnTo>
                    <a:pt x="226701" y="13679"/>
                  </a:lnTo>
                  <a:lnTo>
                    <a:pt x="184541" y="30009"/>
                  </a:lnTo>
                  <a:lnTo>
                    <a:pt x="145439" y="51983"/>
                  </a:lnTo>
                  <a:lnTo>
                    <a:pt x="109901" y="79089"/>
                  </a:lnTo>
                  <a:lnTo>
                    <a:pt x="78437" y="110815"/>
                  </a:lnTo>
                  <a:lnTo>
                    <a:pt x="51554" y="146647"/>
                  </a:lnTo>
                  <a:lnTo>
                    <a:pt x="29761" y="186075"/>
                  </a:lnTo>
                  <a:lnTo>
                    <a:pt x="13566" y="228584"/>
                  </a:lnTo>
                  <a:lnTo>
                    <a:pt x="3476" y="273664"/>
                  </a:lnTo>
                  <a:lnTo>
                    <a:pt x="0" y="320801"/>
                  </a:lnTo>
                  <a:lnTo>
                    <a:pt x="3476" y="367942"/>
                  </a:lnTo>
                  <a:lnTo>
                    <a:pt x="13566" y="413025"/>
                  </a:lnTo>
                  <a:lnTo>
                    <a:pt x="29761" y="455536"/>
                  </a:lnTo>
                  <a:lnTo>
                    <a:pt x="51554" y="494965"/>
                  </a:lnTo>
                  <a:lnTo>
                    <a:pt x="78437" y="530799"/>
                  </a:lnTo>
                  <a:lnTo>
                    <a:pt x="109901" y="562525"/>
                  </a:lnTo>
                  <a:lnTo>
                    <a:pt x="145439" y="589632"/>
                  </a:lnTo>
                  <a:lnTo>
                    <a:pt x="184541" y="611607"/>
                  </a:lnTo>
                  <a:lnTo>
                    <a:pt x="226701" y="627937"/>
                  </a:lnTo>
                  <a:lnTo>
                    <a:pt x="271410" y="638111"/>
                  </a:lnTo>
                  <a:lnTo>
                    <a:pt x="318160" y="641616"/>
                  </a:lnTo>
                  <a:lnTo>
                    <a:pt x="364910" y="638111"/>
                  </a:lnTo>
                  <a:lnTo>
                    <a:pt x="409619" y="627937"/>
                  </a:lnTo>
                  <a:lnTo>
                    <a:pt x="451779" y="611607"/>
                  </a:lnTo>
                  <a:lnTo>
                    <a:pt x="490881" y="589632"/>
                  </a:lnTo>
                  <a:lnTo>
                    <a:pt x="526419" y="562525"/>
                  </a:lnTo>
                  <a:lnTo>
                    <a:pt x="557883" y="530799"/>
                  </a:lnTo>
                  <a:lnTo>
                    <a:pt x="584765" y="494965"/>
                  </a:lnTo>
                  <a:lnTo>
                    <a:pt x="606559" y="455536"/>
                  </a:lnTo>
                  <a:lnTo>
                    <a:pt x="622754" y="413025"/>
                  </a:lnTo>
                  <a:lnTo>
                    <a:pt x="632844" y="367942"/>
                  </a:lnTo>
                  <a:lnTo>
                    <a:pt x="636320" y="320801"/>
                  </a:lnTo>
                  <a:lnTo>
                    <a:pt x="632844" y="273664"/>
                  </a:lnTo>
                  <a:lnTo>
                    <a:pt x="622754" y="228584"/>
                  </a:lnTo>
                  <a:lnTo>
                    <a:pt x="606559" y="186075"/>
                  </a:lnTo>
                  <a:lnTo>
                    <a:pt x="584765" y="146647"/>
                  </a:lnTo>
                  <a:lnTo>
                    <a:pt x="557883" y="110815"/>
                  </a:lnTo>
                  <a:lnTo>
                    <a:pt x="526419" y="79089"/>
                  </a:lnTo>
                  <a:lnTo>
                    <a:pt x="490881" y="51983"/>
                  </a:lnTo>
                  <a:lnTo>
                    <a:pt x="451779" y="30009"/>
                  </a:lnTo>
                  <a:lnTo>
                    <a:pt x="409619" y="13679"/>
                  </a:lnTo>
                  <a:lnTo>
                    <a:pt x="364910" y="3505"/>
                  </a:lnTo>
                  <a:lnTo>
                    <a:pt x="318160" y="0"/>
                  </a:lnTo>
                  <a:close/>
                </a:path>
              </a:pathLst>
            </a:custGeom>
            <a:solidFill>
              <a:srgbClr val="009A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1125072" y="7000430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796" y="7634211"/>
            <a:ext cx="9815830" cy="1388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6760">
              <a:lnSpc>
                <a:spcPct val="100000"/>
              </a:lnSpc>
              <a:spcBef>
                <a:spcPts val="100"/>
              </a:spcBef>
              <a:tabLst>
                <a:tab pos="1682114" algn="l"/>
                <a:tab pos="2617470" algn="l"/>
                <a:tab pos="3552825" algn="l"/>
                <a:tab pos="4488180" algn="l"/>
                <a:tab pos="5423535" algn="l"/>
                <a:tab pos="6358890" algn="l"/>
                <a:tab pos="7294245" algn="l"/>
                <a:tab pos="8229600" algn="l"/>
                <a:tab pos="9164955" algn="l"/>
              </a:tabLst>
            </a:pP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2024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2026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2027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2028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2029</a:t>
            </a:r>
            <a:r>
              <a:rPr dirty="0" sz="16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600" spc="-20" b="1">
                <a:solidFill>
                  <a:srgbClr val="585858"/>
                </a:solidFill>
                <a:latin typeface="Calibri"/>
                <a:cs typeface="Calibri"/>
              </a:rPr>
              <a:t>2030</a:t>
            </a:r>
            <a:endParaRPr sz="1600">
              <a:latin typeface="Calibri"/>
              <a:cs typeface="Calibri"/>
            </a:endParaRPr>
          </a:p>
          <a:p>
            <a:pPr marL="66675">
              <a:lnSpc>
                <a:spcPct val="100000"/>
              </a:lnSpc>
              <a:spcBef>
                <a:spcPts val="1814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Insight: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7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normalizes,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become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sustainable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1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earnings.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745353" y="7177899"/>
            <a:ext cx="5010785" cy="1686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215"/>
              </a:lnSpc>
              <a:spcBef>
                <a:spcPts val="100"/>
              </a:spcBef>
            </a:pPr>
            <a:r>
              <a:rPr dirty="0" sz="2800" spc="-25" b="1">
                <a:solidFill>
                  <a:srgbClr val="244060"/>
                </a:solidFill>
                <a:latin typeface="Arial"/>
                <a:cs typeface="Arial"/>
              </a:rPr>
              <a:t>Long-</a:t>
            </a:r>
            <a:r>
              <a:rPr dirty="0" sz="2800" spc="-20" b="1">
                <a:solidFill>
                  <a:srgbClr val="244060"/>
                </a:solidFill>
                <a:latin typeface="Arial"/>
                <a:cs typeface="Arial"/>
              </a:rPr>
              <a:t>term</a:t>
            </a:r>
            <a:endParaRPr sz="2800">
              <a:latin typeface="Arial"/>
              <a:cs typeface="Arial"/>
            </a:endParaRPr>
          </a:p>
          <a:p>
            <a:pPr marL="19050" marR="1139190">
              <a:lnSpc>
                <a:spcPts val="2400"/>
              </a:lnSpc>
              <a:spcBef>
                <a:spcPts val="335"/>
              </a:spcBef>
            </a:pP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Volume</a:t>
            </a:r>
            <a:r>
              <a:rPr dirty="0" sz="2400" spc="-8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6435F"/>
                </a:solidFill>
                <a:latin typeface="Arial"/>
                <a:cs typeface="Arial"/>
              </a:rPr>
              <a:t>recovery</a:t>
            </a:r>
            <a:r>
              <a:rPr dirty="0" sz="2400" spc="-8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supports utilization</a:t>
            </a:r>
            <a:endParaRPr sz="2400">
              <a:latin typeface="Arial"/>
              <a:cs typeface="Arial"/>
            </a:endParaRPr>
          </a:p>
          <a:p>
            <a:pPr marL="19050" marR="5080">
              <a:lnSpc>
                <a:spcPts val="2400"/>
              </a:lnSpc>
              <a:spcBef>
                <a:spcPts val="2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domestic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demand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creates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room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ARCC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increase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volumes</a:t>
            </a:r>
            <a:r>
              <a:rPr dirty="0" sz="18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improve</a:t>
            </a:r>
            <a:r>
              <a:rPr dirty="0" sz="18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fixed-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30546" y="9001214"/>
            <a:ext cx="56064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Model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Assumptions,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HC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Securities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(Nov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Industry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751983" y="8869150"/>
            <a:ext cx="4505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absorption</a:t>
            </a:r>
            <a:r>
              <a:rPr dirty="0" sz="18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normalizes.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7" name="object 17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5983" y="498886"/>
            <a:ext cx="5259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Competitive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Positioning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8682" y="1093927"/>
            <a:ext cx="9525" cy="1077595"/>
          </a:xfrm>
          <a:custGeom>
            <a:avLst/>
            <a:gdLst/>
            <a:ahLst/>
            <a:cxnLst/>
            <a:rect l="l" t="t" r="r" b="b"/>
            <a:pathLst>
              <a:path w="9525" h="1077595">
                <a:moveTo>
                  <a:pt x="9521" y="0"/>
                </a:moveTo>
                <a:lnTo>
                  <a:pt x="0" y="1077455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809487" y="1130186"/>
            <a:ext cx="119856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ARCC</a:t>
            </a:r>
            <a:r>
              <a:rPr dirty="0" spc="-65"/>
              <a:t> </a:t>
            </a:r>
            <a:r>
              <a:rPr dirty="0"/>
              <a:t>Stands</a:t>
            </a:r>
            <a:r>
              <a:rPr dirty="0" spc="-50"/>
              <a:t> </a:t>
            </a:r>
            <a:r>
              <a:rPr dirty="0"/>
              <a:t>Out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50"/>
              <a:t> </a:t>
            </a:r>
            <a:r>
              <a:rPr dirty="0"/>
              <a:t>Profitability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Export</a:t>
            </a:r>
            <a:r>
              <a:rPr dirty="0" spc="-60"/>
              <a:t> </a:t>
            </a:r>
            <a:r>
              <a:rPr dirty="0" spc="-10"/>
              <a:t>Flexibility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9487" y="1666468"/>
            <a:ext cx="16243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Relative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Egyptian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peers,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delivers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conversion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greater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exposure,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positioning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it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well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capture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next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phase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16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44060"/>
                </a:solidFill>
                <a:latin typeface="Arial"/>
                <a:cs typeface="Arial"/>
              </a:rPr>
              <a:t>growth.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520700" y="2450998"/>
            <a:ext cx="201485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EBITDA</a:t>
            </a:r>
            <a:r>
              <a:rPr dirty="0" sz="20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Margins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%,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based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79679" y="2450998"/>
            <a:ext cx="308419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000" spc="-9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Mt,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based,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installed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capacity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840843" y="2450998"/>
            <a:ext cx="350329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Exposure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%,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based,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Share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sales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370377" y="2988522"/>
            <a:ext cx="334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Calibri"/>
                <a:cs typeface="Calibri"/>
              </a:rPr>
              <a:t>12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510" y="3384122"/>
            <a:ext cx="1365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164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Calibri"/>
                <a:cs typeface="Calibri"/>
              </a:rPr>
              <a:t>40%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52462" y="3800373"/>
            <a:ext cx="5770245" cy="3025140"/>
            <a:chOff x="652462" y="3800373"/>
            <a:chExt cx="5770245" cy="3025140"/>
          </a:xfrm>
        </p:grpSpPr>
        <p:sp>
          <p:nvSpPr>
            <p:cNvPr id="23" name="object 23"/>
            <p:cNvSpPr/>
            <p:nvPr/>
          </p:nvSpPr>
          <p:spPr>
            <a:xfrm>
              <a:off x="924405" y="3800373"/>
              <a:ext cx="906144" cy="3011170"/>
            </a:xfrm>
            <a:custGeom>
              <a:avLst/>
              <a:gdLst/>
              <a:ahLst/>
              <a:cxnLst/>
              <a:rect l="l" t="t" r="r" b="b"/>
              <a:pathLst>
                <a:path w="906144" h="3011170">
                  <a:moveTo>
                    <a:pt x="905703" y="0"/>
                  </a:moveTo>
                  <a:lnTo>
                    <a:pt x="0" y="0"/>
                  </a:lnTo>
                  <a:lnTo>
                    <a:pt x="0" y="3010661"/>
                  </a:lnTo>
                  <a:lnTo>
                    <a:pt x="905703" y="3010661"/>
                  </a:lnTo>
                  <a:lnTo>
                    <a:pt x="905703" y="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64460" y="3928833"/>
              <a:ext cx="2346325" cy="2882265"/>
            </a:xfrm>
            <a:custGeom>
              <a:avLst/>
              <a:gdLst/>
              <a:ahLst/>
              <a:cxnLst/>
              <a:rect l="l" t="t" r="r" b="b"/>
              <a:pathLst>
                <a:path w="2346325" h="2882265">
                  <a:moveTo>
                    <a:pt x="905700" y="0"/>
                  </a:moveTo>
                  <a:lnTo>
                    <a:pt x="0" y="0"/>
                  </a:lnTo>
                  <a:lnTo>
                    <a:pt x="0" y="2882214"/>
                  </a:lnTo>
                  <a:lnTo>
                    <a:pt x="905700" y="2882214"/>
                  </a:lnTo>
                  <a:lnTo>
                    <a:pt x="905700" y="0"/>
                  </a:lnTo>
                  <a:close/>
                </a:path>
                <a:path w="2346325" h="2882265">
                  <a:moveTo>
                    <a:pt x="2345766" y="152196"/>
                  </a:moveTo>
                  <a:lnTo>
                    <a:pt x="1440065" y="152196"/>
                  </a:lnTo>
                  <a:lnTo>
                    <a:pt x="1440065" y="2882214"/>
                  </a:lnTo>
                  <a:lnTo>
                    <a:pt x="2345766" y="2882214"/>
                  </a:lnTo>
                  <a:lnTo>
                    <a:pt x="2345766" y="152196"/>
                  </a:lnTo>
                  <a:close/>
                </a:path>
              </a:pathLst>
            </a:custGeom>
            <a:solidFill>
              <a:srgbClr val="A1E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7224" y="6820560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 h="0">
                  <a:moveTo>
                    <a:pt x="0" y="0"/>
                  </a:moveTo>
                  <a:lnTo>
                    <a:pt x="5760237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52449" y="6815810"/>
              <a:ext cx="5770245" cy="9525"/>
            </a:xfrm>
            <a:custGeom>
              <a:avLst/>
              <a:gdLst/>
              <a:ahLst/>
              <a:cxnLst/>
              <a:rect l="l" t="t" r="r" b="b"/>
              <a:pathLst>
                <a:path w="5770245" h="9525">
                  <a:moveTo>
                    <a:pt x="9525" y="4749"/>
                  </a:moveTo>
                  <a:lnTo>
                    <a:pt x="8140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40" y="8128"/>
                  </a:lnTo>
                  <a:lnTo>
                    <a:pt x="9525" y="4749"/>
                  </a:lnTo>
                  <a:close/>
                </a:path>
                <a:path w="5770245" h="9525">
                  <a:moveTo>
                    <a:pt x="1449578" y="4749"/>
                  </a:moveTo>
                  <a:lnTo>
                    <a:pt x="1448193" y="1384"/>
                  </a:lnTo>
                  <a:lnTo>
                    <a:pt x="1444828" y="0"/>
                  </a:lnTo>
                  <a:lnTo>
                    <a:pt x="1441450" y="1384"/>
                  </a:lnTo>
                  <a:lnTo>
                    <a:pt x="1440065" y="4749"/>
                  </a:lnTo>
                  <a:lnTo>
                    <a:pt x="1441450" y="8128"/>
                  </a:lnTo>
                  <a:lnTo>
                    <a:pt x="1444828" y="9512"/>
                  </a:lnTo>
                  <a:lnTo>
                    <a:pt x="1448193" y="8128"/>
                  </a:lnTo>
                  <a:lnTo>
                    <a:pt x="1449578" y="4749"/>
                  </a:lnTo>
                  <a:close/>
                </a:path>
                <a:path w="5770245" h="9525">
                  <a:moveTo>
                    <a:pt x="2889643" y="4749"/>
                  </a:moveTo>
                  <a:lnTo>
                    <a:pt x="2888259" y="1384"/>
                  </a:lnTo>
                  <a:lnTo>
                    <a:pt x="2884894" y="0"/>
                  </a:lnTo>
                  <a:lnTo>
                    <a:pt x="2881515" y="1384"/>
                  </a:lnTo>
                  <a:lnTo>
                    <a:pt x="2880131" y="4749"/>
                  </a:lnTo>
                  <a:lnTo>
                    <a:pt x="2881515" y="8128"/>
                  </a:lnTo>
                  <a:lnTo>
                    <a:pt x="2884894" y="9512"/>
                  </a:lnTo>
                  <a:lnTo>
                    <a:pt x="2888259" y="8128"/>
                  </a:lnTo>
                  <a:lnTo>
                    <a:pt x="2889643" y="4749"/>
                  </a:lnTo>
                  <a:close/>
                </a:path>
                <a:path w="5770245" h="9525">
                  <a:moveTo>
                    <a:pt x="4329696" y="4749"/>
                  </a:moveTo>
                  <a:lnTo>
                    <a:pt x="4328312" y="1384"/>
                  </a:lnTo>
                  <a:lnTo>
                    <a:pt x="4324947" y="0"/>
                  </a:lnTo>
                  <a:lnTo>
                    <a:pt x="4321568" y="1384"/>
                  </a:lnTo>
                  <a:lnTo>
                    <a:pt x="4320184" y="4749"/>
                  </a:lnTo>
                  <a:lnTo>
                    <a:pt x="4321568" y="8128"/>
                  </a:lnTo>
                  <a:lnTo>
                    <a:pt x="4324947" y="9512"/>
                  </a:lnTo>
                  <a:lnTo>
                    <a:pt x="4328312" y="8128"/>
                  </a:lnTo>
                  <a:lnTo>
                    <a:pt x="4329696" y="4749"/>
                  </a:lnTo>
                  <a:close/>
                </a:path>
                <a:path w="5770245" h="9525">
                  <a:moveTo>
                    <a:pt x="5769762" y="4749"/>
                  </a:moveTo>
                  <a:lnTo>
                    <a:pt x="5768378" y="1384"/>
                  </a:lnTo>
                  <a:lnTo>
                    <a:pt x="5765012" y="0"/>
                  </a:lnTo>
                  <a:lnTo>
                    <a:pt x="5761634" y="1384"/>
                  </a:lnTo>
                  <a:lnTo>
                    <a:pt x="5760250" y="4749"/>
                  </a:lnTo>
                  <a:lnTo>
                    <a:pt x="5761634" y="8128"/>
                  </a:lnTo>
                  <a:lnTo>
                    <a:pt x="5765012" y="9512"/>
                  </a:lnTo>
                  <a:lnTo>
                    <a:pt x="5768378" y="8128"/>
                  </a:lnTo>
                  <a:lnTo>
                    <a:pt x="5769762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553110" y="3512564"/>
            <a:ext cx="556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Calibri"/>
                <a:cs typeface="Calibri"/>
              </a:rPr>
              <a:t>38%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3163" y="3664761"/>
            <a:ext cx="556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Calibri"/>
                <a:cs typeface="Calibri"/>
              </a:rPr>
              <a:t>36%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06552" y="3404780"/>
            <a:ext cx="5280660" cy="3425825"/>
            <a:chOff x="6906552" y="3404780"/>
            <a:chExt cx="5280660" cy="3425825"/>
          </a:xfrm>
        </p:grpSpPr>
        <p:sp>
          <p:nvSpPr>
            <p:cNvPr id="33" name="object 33"/>
            <p:cNvSpPr/>
            <p:nvPr/>
          </p:nvSpPr>
          <p:spPr>
            <a:xfrm>
              <a:off x="7155802" y="5400217"/>
              <a:ext cx="3464560" cy="1416050"/>
            </a:xfrm>
            <a:custGeom>
              <a:avLst/>
              <a:gdLst/>
              <a:ahLst/>
              <a:cxnLst/>
              <a:rect l="l" t="t" r="r" b="b"/>
              <a:pathLst>
                <a:path w="3464559" h="1416050">
                  <a:moveTo>
                    <a:pt x="828776" y="0"/>
                  </a:moveTo>
                  <a:lnTo>
                    <a:pt x="0" y="0"/>
                  </a:lnTo>
                  <a:lnTo>
                    <a:pt x="0" y="1415783"/>
                  </a:lnTo>
                  <a:lnTo>
                    <a:pt x="828776" y="1415783"/>
                  </a:lnTo>
                  <a:lnTo>
                    <a:pt x="828776" y="0"/>
                  </a:lnTo>
                  <a:close/>
                </a:path>
                <a:path w="3464559" h="1416050">
                  <a:moveTo>
                    <a:pt x="2146554" y="598627"/>
                  </a:moveTo>
                  <a:lnTo>
                    <a:pt x="1317764" y="598627"/>
                  </a:lnTo>
                  <a:lnTo>
                    <a:pt x="1317764" y="1415783"/>
                  </a:lnTo>
                  <a:lnTo>
                    <a:pt x="2146554" y="1415783"/>
                  </a:lnTo>
                  <a:lnTo>
                    <a:pt x="2146554" y="598627"/>
                  </a:lnTo>
                  <a:close/>
                </a:path>
                <a:path w="3464559" h="1416050">
                  <a:moveTo>
                    <a:pt x="3464318" y="855179"/>
                  </a:moveTo>
                  <a:lnTo>
                    <a:pt x="2635529" y="855179"/>
                  </a:lnTo>
                  <a:lnTo>
                    <a:pt x="2635529" y="1415783"/>
                  </a:lnTo>
                  <a:lnTo>
                    <a:pt x="3464318" y="1415783"/>
                  </a:lnTo>
                  <a:lnTo>
                    <a:pt x="3464318" y="855179"/>
                  </a:lnTo>
                  <a:close/>
                </a:path>
              </a:pathLst>
            </a:custGeom>
            <a:solidFill>
              <a:srgbClr val="A1E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1109096" y="3404780"/>
              <a:ext cx="829310" cy="3411220"/>
            </a:xfrm>
            <a:custGeom>
              <a:avLst/>
              <a:gdLst/>
              <a:ahLst/>
              <a:cxnLst/>
              <a:rect l="l" t="t" r="r" b="b"/>
              <a:pathLst>
                <a:path w="829309" h="3411220">
                  <a:moveTo>
                    <a:pt x="828789" y="0"/>
                  </a:moveTo>
                  <a:lnTo>
                    <a:pt x="0" y="0"/>
                  </a:lnTo>
                  <a:lnTo>
                    <a:pt x="0" y="3411219"/>
                  </a:lnTo>
                  <a:lnTo>
                    <a:pt x="828789" y="3411219"/>
                  </a:lnTo>
                  <a:lnTo>
                    <a:pt x="828789" y="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911314" y="6825526"/>
              <a:ext cx="5271135" cy="0"/>
            </a:xfrm>
            <a:custGeom>
              <a:avLst/>
              <a:gdLst/>
              <a:ahLst/>
              <a:cxnLst/>
              <a:rect l="l" t="t" r="r" b="b"/>
              <a:pathLst>
                <a:path w="5271134" h="0">
                  <a:moveTo>
                    <a:pt x="0" y="0"/>
                  </a:moveTo>
                  <a:lnTo>
                    <a:pt x="5271058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06539" y="6820775"/>
              <a:ext cx="5280660" cy="9525"/>
            </a:xfrm>
            <a:custGeom>
              <a:avLst/>
              <a:gdLst/>
              <a:ahLst/>
              <a:cxnLst/>
              <a:rect l="l" t="t" r="r" b="b"/>
              <a:pathLst>
                <a:path w="5280659" h="9525">
                  <a:moveTo>
                    <a:pt x="9525" y="4749"/>
                  </a:moveTo>
                  <a:lnTo>
                    <a:pt x="8140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40" y="8128"/>
                  </a:lnTo>
                  <a:lnTo>
                    <a:pt x="9525" y="4749"/>
                  </a:lnTo>
                  <a:close/>
                </a:path>
                <a:path w="5280659" h="9525">
                  <a:moveTo>
                    <a:pt x="1327289" y="4749"/>
                  </a:moveTo>
                  <a:lnTo>
                    <a:pt x="1325905" y="1384"/>
                  </a:lnTo>
                  <a:lnTo>
                    <a:pt x="1322539" y="0"/>
                  </a:lnTo>
                  <a:lnTo>
                    <a:pt x="1319161" y="1384"/>
                  </a:lnTo>
                  <a:lnTo>
                    <a:pt x="1317777" y="4749"/>
                  </a:lnTo>
                  <a:lnTo>
                    <a:pt x="1319161" y="8128"/>
                  </a:lnTo>
                  <a:lnTo>
                    <a:pt x="1322539" y="9512"/>
                  </a:lnTo>
                  <a:lnTo>
                    <a:pt x="1325905" y="8128"/>
                  </a:lnTo>
                  <a:lnTo>
                    <a:pt x="1327289" y="4749"/>
                  </a:lnTo>
                  <a:close/>
                </a:path>
                <a:path w="5280659" h="9525">
                  <a:moveTo>
                    <a:pt x="2645054" y="4749"/>
                  </a:moveTo>
                  <a:lnTo>
                    <a:pt x="2643670" y="1384"/>
                  </a:lnTo>
                  <a:lnTo>
                    <a:pt x="2640304" y="0"/>
                  </a:lnTo>
                  <a:lnTo>
                    <a:pt x="2636926" y="1384"/>
                  </a:lnTo>
                  <a:lnTo>
                    <a:pt x="2635542" y="4749"/>
                  </a:lnTo>
                  <a:lnTo>
                    <a:pt x="2636926" y="8128"/>
                  </a:lnTo>
                  <a:lnTo>
                    <a:pt x="2640304" y="9512"/>
                  </a:lnTo>
                  <a:lnTo>
                    <a:pt x="2643670" y="8128"/>
                  </a:lnTo>
                  <a:lnTo>
                    <a:pt x="2645054" y="4749"/>
                  </a:lnTo>
                  <a:close/>
                </a:path>
                <a:path w="5280659" h="9525">
                  <a:moveTo>
                    <a:pt x="3962819" y="4749"/>
                  </a:moveTo>
                  <a:lnTo>
                    <a:pt x="3961434" y="1384"/>
                  </a:lnTo>
                  <a:lnTo>
                    <a:pt x="3958069" y="0"/>
                  </a:lnTo>
                  <a:lnTo>
                    <a:pt x="3954691" y="1384"/>
                  </a:lnTo>
                  <a:lnTo>
                    <a:pt x="3953306" y="4749"/>
                  </a:lnTo>
                  <a:lnTo>
                    <a:pt x="3954691" y="8128"/>
                  </a:lnTo>
                  <a:lnTo>
                    <a:pt x="3958069" y="9512"/>
                  </a:lnTo>
                  <a:lnTo>
                    <a:pt x="3961434" y="8128"/>
                  </a:lnTo>
                  <a:lnTo>
                    <a:pt x="3962819" y="4749"/>
                  </a:lnTo>
                  <a:close/>
                </a:path>
                <a:path w="5280659" h="9525">
                  <a:moveTo>
                    <a:pt x="5280584" y="4749"/>
                  </a:moveTo>
                  <a:lnTo>
                    <a:pt x="5279199" y="1384"/>
                  </a:lnTo>
                  <a:lnTo>
                    <a:pt x="5275834" y="0"/>
                  </a:lnTo>
                  <a:lnTo>
                    <a:pt x="5272456" y="1384"/>
                  </a:lnTo>
                  <a:lnTo>
                    <a:pt x="5271071" y="4749"/>
                  </a:lnTo>
                  <a:lnTo>
                    <a:pt x="5272456" y="8128"/>
                  </a:lnTo>
                  <a:lnTo>
                    <a:pt x="5275834" y="9512"/>
                  </a:lnTo>
                  <a:lnTo>
                    <a:pt x="5279199" y="8128"/>
                  </a:lnTo>
                  <a:lnTo>
                    <a:pt x="5280584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3278324" y="3406217"/>
            <a:ext cx="7937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244060"/>
                </a:solidFill>
                <a:latin typeface="Calibri"/>
                <a:cs typeface="Calibri"/>
              </a:rPr>
              <a:t>39.80%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07030" y="4983962"/>
            <a:ext cx="2802890" cy="1246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244060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 marR="5080">
              <a:lnSpc>
                <a:spcPts val="2450"/>
              </a:lnSpc>
              <a:spcBef>
                <a:spcPts val="1830"/>
              </a:spcBef>
            </a:pPr>
            <a:r>
              <a:rPr dirty="0" sz="2400" spc="-25" b="1">
                <a:solidFill>
                  <a:srgbClr val="244060"/>
                </a:solidFill>
                <a:latin typeface="Calibri"/>
                <a:cs typeface="Calibri"/>
              </a:rPr>
              <a:t>2.9</a:t>
            </a:r>
            <a:endParaRPr sz="2400">
              <a:latin typeface="Calibri"/>
              <a:cs typeface="Calibri"/>
            </a:endParaRPr>
          </a:p>
          <a:p>
            <a:pPr algn="ctr" marL="2622550">
              <a:lnSpc>
                <a:spcPts val="2450"/>
              </a:lnSpc>
            </a:pPr>
            <a:r>
              <a:rPr dirty="0" sz="2400" spc="-50" b="1">
                <a:solidFill>
                  <a:srgbClr val="24406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085762" y="3758260"/>
            <a:ext cx="4573270" cy="3082290"/>
            <a:chOff x="13085762" y="3758260"/>
            <a:chExt cx="4573270" cy="3082290"/>
          </a:xfrm>
        </p:grpSpPr>
        <p:sp>
          <p:nvSpPr>
            <p:cNvPr id="40" name="object 40"/>
            <p:cNvSpPr/>
            <p:nvPr/>
          </p:nvSpPr>
          <p:spPr>
            <a:xfrm>
              <a:off x="13302182" y="3758260"/>
              <a:ext cx="717550" cy="3020060"/>
            </a:xfrm>
            <a:custGeom>
              <a:avLst/>
              <a:gdLst/>
              <a:ahLst/>
              <a:cxnLst/>
              <a:rect l="l" t="t" r="r" b="b"/>
              <a:pathLst>
                <a:path w="717550" h="3020059">
                  <a:moveTo>
                    <a:pt x="717480" y="0"/>
                  </a:moveTo>
                  <a:lnTo>
                    <a:pt x="0" y="0"/>
                  </a:lnTo>
                  <a:lnTo>
                    <a:pt x="0" y="3020047"/>
                  </a:lnTo>
                  <a:lnTo>
                    <a:pt x="717480" y="3020047"/>
                  </a:lnTo>
                  <a:lnTo>
                    <a:pt x="717480" y="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4442973" y="4656480"/>
              <a:ext cx="717550" cy="2122170"/>
            </a:xfrm>
            <a:custGeom>
              <a:avLst/>
              <a:gdLst/>
              <a:ahLst/>
              <a:cxnLst/>
              <a:rect l="l" t="t" r="r" b="b"/>
              <a:pathLst>
                <a:path w="717550" h="2122170">
                  <a:moveTo>
                    <a:pt x="717486" y="0"/>
                  </a:moveTo>
                  <a:lnTo>
                    <a:pt x="0" y="0"/>
                  </a:lnTo>
                  <a:lnTo>
                    <a:pt x="0" y="2121827"/>
                  </a:lnTo>
                  <a:lnTo>
                    <a:pt x="717486" y="2121827"/>
                  </a:lnTo>
                  <a:lnTo>
                    <a:pt x="717486" y="0"/>
                  </a:lnTo>
                  <a:close/>
                </a:path>
              </a:pathLst>
            </a:custGeom>
            <a:solidFill>
              <a:srgbClr val="A1E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3090525" y="6787832"/>
              <a:ext cx="4563745" cy="47625"/>
            </a:xfrm>
            <a:custGeom>
              <a:avLst/>
              <a:gdLst/>
              <a:ahLst/>
              <a:cxnLst/>
              <a:rect l="l" t="t" r="r" b="b"/>
              <a:pathLst>
                <a:path w="4563744" h="47625">
                  <a:moveTo>
                    <a:pt x="0" y="0"/>
                  </a:moveTo>
                  <a:lnTo>
                    <a:pt x="4563173" y="0"/>
                  </a:lnTo>
                </a:path>
                <a:path w="4563744" h="47625">
                  <a:moveTo>
                    <a:pt x="0" y="0"/>
                  </a:moveTo>
                  <a:lnTo>
                    <a:pt x="0" y="47625"/>
                  </a:lnTo>
                </a:path>
                <a:path w="4563744" h="47625">
                  <a:moveTo>
                    <a:pt x="1140794" y="0"/>
                  </a:moveTo>
                  <a:lnTo>
                    <a:pt x="1140794" y="47625"/>
                  </a:lnTo>
                </a:path>
                <a:path w="4563744" h="47625">
                  <a:moveTo>
                    <a:pt x="2281593" y="0"/>
                  </a:moveTo>
                  <a:lnTo>
                    <a:pt x="2281593" y="47625"/>
                  </a:lnTo>
                </a:path>
                <a:path w="4563744" h="47625">
                  <a:moveTo>
                    <a:pt x="3422383" y="0"/>
                  </a:moveTo>
                  <a:lnTo>
                    <a:pt x="3422383" y="47625"/>
                  </a:lnTo>
                </a:path>
                <a:path w="4563744" h="47625">
                  <a:moveTo>
                    <a:pt x="4563173" y="0"/>
                  </a:moveTo>
                  <a:lnTo>
                    <a:pt x="4563173" y="47625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4581775" y="4304431"/>
            <a:ext cx="4686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244060"/>
                </a:solidFill>
                <a:latin typeface="Calibri"/>
                <a:cs typeface="Calibri"/>
              </a:rPr>
              <a:t>28%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67401" y="6352552"/>
            <a:ext cx="55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N/A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687547" y="6339649"/>
            <a:ext cx="162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5215" algn="l"/>
              </a:tabLst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N/A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N/A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3510" y="6920027"/>
            <a:ext cx="136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9525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ARCC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0810" y="3067926"/>
            <a:ext cx="1390650" cy="4181475"/>
          </a:xfrm>
          <a:custGeom>
            <a:avLst/>
            <a:gdLst/>
            <a:ahLst/>
            <a:cxnLst/>
            <a:rect l="l" t="t" r="r" b="b"/>
            <a:pathLst>
              <a:path w="1390650" h="4181475">
                <a:moveTo>
                  <a:pt x="0" y="0"/>
                </a:moveTo>
                <a:lnTo>
                  <a:pt x="1390472" y="0"/>
                </a:lnTo>
                <a:lnTo>
                  <a:pt x="1390472" y="4181246"/>
                </a:lnTo>
                <a:lnTo>
                  <a:pt x="0" y="418124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406DA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275603" y="6920027"/>
            <a:ext cx="843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Suez</a:t>
            </a:r>
            <a:r>
              <a:rPr dirty="0" sz="1200" spc="-1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906145" y="4749927"/>
            <a:ext cx="1390650" cy="2477135"/>
          </a:xfrm>
          <a:custGeom>
            <a:avLst/>
            <a:gdLst/>
            <a:ahLst/>
            <a:cxnLst/>
            <a:rect l="l" t="t" r="r" b="b"/>
            <a:pathLst>
              <a:path w="1390650" h="2477134">
                <a:moveTo>
                  <a:pt x="0" y="0"/>
                </a:moveTo>
                <a:lnTo>
                  <a:pt x="1390472" y="0"/>
                </a:lnTo>
                <a:lnTo>
                  <a:pt x="1390472" y="2476931"/>
                </a:lnTo>
                <a:lnTo>
                  <a:pt x="0" y="2476931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406DA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20471" y="3050235"/>
            <a:ext cx="1390650" cy="4181475"/>
          </a:xfrm>
          <a:custGeom>
            <a:avLst/>
            <a:gdLst/>
            <a:ahLst/>
            <a:cxnLst/>
            <a:rect l="l" t="t" r="r" b="b"/>
            <a:pathLst>
              <a:path w="1390650" h="4181475">
                <a:moveTo>
                  <a:pt x="0" y="0"/>
                </a:moveTo>
                <a:lnTo>
                  <a:pt x="1390472" y="0"/>
                </a:lnTo>
                <a:lnTo>
                  <a:pt x="1390472" y="4181246"/>
                </a:lnTo>
                <a:lnTo>
                  <a:pt x="0" y="418124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406DA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254206" y="6848379"/>
            <a:ext cx="2327910" cy="78930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82905">
              <a:lnSpc>
                <a:spcPct val="100000"/>
              </a:lnSpc>
              <a:spcBef>
                <a:spcPts val="665"/>
              </a:spcBef>
              <a:tabLst>
                <a:tab pos="1806575" algn="l"/>
              </a:tabLst>
            </a:pP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SCEM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MCQE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38280" y="7374432"/>
            <a:ext cx="1849208" cy="138531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6918845" y="6858050"/>
            <a:ext cx="5026025" cy="77533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481330">
              <a:lnSpc>
                <a:spcPct val="100000"/>
              </a:lnSpc>
              <a:spcBef>
                <a:spcPts val="625"/>
              </a:spcBef>
              <a:tabLst>
                <a:tab pos="1788795" algn="l"/>
                <a:tab pos="3089910" algn="l"/>
                <a:tab pos="4195445" algn="l"/>
              </a:tabLst>
            </a:pP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ARCC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SCEM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MCQE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Suez</a:t>
            </a:r>
            <a:r>
              <a:rPr dirty="0" sz="1200" spc="-1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Cement</a:t>
            </a:r>
            <a:endParaRPr sz="120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105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COMMERCIAL</a:t>
            </a:r>
            <a:r>
              <a:rPr dirty="0" sz="2400" spc="-1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FLEXIBILITY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79669" y="7361694"/>
            <a:ext cx="1849208" cy="138531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3478485" y="6805739"/>
            <a:ext cx="4025900" cy="81915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1143000" algn="l"/>
                <a:tab pos="2267585" algn="l"/>
                <a:tab pos="3195320" algn="l"/>
              </a:tabLst>
            </a:pP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ARCC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SCEM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200" spc="-20" b="1">
                <a:solidFill>
                  <a:srgbClr val="585858"/>
                </a:solidFill>
                <a:latin typeface="Calibri"/>
                <a:cs typeface="Calibri"/>
              </a:rPr>
              <a:t>MCQE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Suez</a:t>
            </a:r>
            <a:r>
              <a:rPr dirty="0" sz="1200" spc="-2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Cement</a:t>
            </a:r>
            <a:endParaRPr sz="1200">
              <a:latin typeface="Calibri"/>
              <a:cs typeface="Calibri"/>
            </a:endParaRPr>
          </a:p>
          <a:p>
            <a:pPr marL="115570">
              <a:lnSpc>
                <a:spcPct val="100000"/>
              </a:lnSpc>
              <a:spcBef>
                <a:spcPts val="128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EARNING</a:t>
            </a:r>
            <a:r>
              <a:rPr dirty="0" sz="2400" spc="-8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RESILIENCE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16148" y="7724279"/>
            <a:ext cx="1228517" cy="1141539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059504" y="7886331"/>
            <a:ext cx="11062335" cy="94996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ct val="76400"/>
              </a:lnSpc>
              <a:spcBef>
                <a:spcPts val="780"/>
              </a:spcBef>
            </a:pP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Relative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400" spc="-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Egyptian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peers,</a:t>
            </a:r>
            <a:r>
              <a:rPr dirty="0" sz="2400" spc="-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delivers</a:t>
            </a:r>
            <a:r>
              <a:rPr dirty="0" sz="2400" spc="-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2400" spc="-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conversion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244060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maintains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meaningful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44060"/>
                </a:solidFill>
                <a:latin typeface="Arial"/>
                <a:cs typeface="Arial"/>
              </a:rPr>
              <a:t>international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exposure,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positioning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it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well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capture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4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244060"/>
                </a:solidFill>
                <a:latin typeface="Arial"/>
                <a:cs typeface="Arial"/>
              </a:rPr>
              <a:t>next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phase</a:t>
            </a:r>
            <a:r>
              <a:rPr dirty="0" sz="2400" spc="-7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24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4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44060"/>
                </a:solidFill>
                <a:latin typeface="Arial"/>
                <a:cs typeface="Arial"/>
              </a:rPr>
              <a:t>growth.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140" y="9014714"/>
            <a:ext cx="114744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Source: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ARCC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FY2025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Investor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Presentation;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Sinai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FY2025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Statements;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Misr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FY2025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Statements;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Heidelberg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Materials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Egypt.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37131" y="1121341"/>
            <a:ext cx="10160" cy="749300"/>
          </a:xfrm>
          <a:custGeom>
            <a:avLst/>
            <a:gdLst/>
            <a:ahLst/>
            <a:cxnLst/>
            <a:rect l="l" t="t" r="r" b="b"/>
            <a:pathLst>
              <a:path w="10159" h="749300">
                <a:moveTo>
                  <a:pt x="9704" y="0"/>
                </a:moveTo>
                <a:lnTo>
                  <a:pt x="0" y="748703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60411" y="966589"/>
            <a:ext cx="286004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>
                <a:solidFill>
                  <a:srgbClr val="16435F"/>
                </a:solidFill>
              </a:rPr>
              <a:t>5</a:t>
            </a:r>
            <a:r>
              <a:rPr dirty="0" sz="4050" spc="-160">
                <a:solidFill>
                  <a:srgbClr val="16435F"/>
                </a:solidFill>
              </a:rPr>
              <a:t> </a:t>
            </a:r>
            <a:r>
              <a:rPr dirty="0" sz="4050" spc="-70">
                <a:solidFill>
                  <a:srgbClr val="16435F"/>
                </a:solidFill>
              </a:rPr>
              <a:t>PORTERS</a:t>
            </a:r>
            <a:endParaRPr sz="4050"/>
          </a:p>
        </p:txBody>
      </p:sp>
      <p:sp>
        <p:nvSpPr>
          <p:cNvPr id="5" name="object 5"/>
          <p:cNvSpPr txBox="1"/>
          <p:nvPr/>
        </p:nvSpPr>
        <p:spPr>
          <a:xfrm>
            <a:off x="1060411" y="1355844"/>
            <a:ext cx="255524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70" b="1">
                <a:solidFill>
                  <a:srgbClr val="16435F"/>
                </a:solidFill>
                <a:latin typeface="Arial"/>
                <a:cs typeface="Arial"/>
              </a:rPr>
              <a:t>ANALYSIS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28" name="object 28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15983" y="498886"/>
            <a:ext cx="45700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5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Porters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18113" y="1766227"/>
            <a:ext cx="4779010" cy="85979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just" marL="12700" marR="5080">
              <a:lnSpc>
                <a:spcPts val="2050"/>
              </a:lnSpc>
              <a:spcBef>
                <a:spcPts val="509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Large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number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of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established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producers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50">
                <a:solidFill>
                  <a:srgbClr val="16435F"/>
                </a:solidFill>
                <a:latin typeface="Arial"/>
                <a:cs typeface="Arial"/>
              </a:rPr>
              <a:t>+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historical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excess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capacity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→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strong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price competition.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18113" y="1387055"/>
            <a:ext cx="29876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Competitive</a:t>
            </a:r>
            <a:r>
              <a:rPr dirty="0" sz="2500" spc="-7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16435F"/>
                </a:solidFill>
                <a:latin typeface="Arial"/>
                <a:cs typeface="Arial"/>
              </a:rPr>
              <a:t>Rivalry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7565" y="1395285"/>
            <a:ext cx="399957" cy="3491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5170" y="4150740"/>
            <a:ext cx="4798060" cy="85979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r" marL="12700" marR="5080" indent="129539">
              <a:lnSpc>
                <a:spcPts val="2050"/>
              </a:lnSpc>
              <a:spcBef>
                <a:spcPts val="509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High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capital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requirements,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economies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of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scale,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access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raw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materials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create</a:t>
            </a:r>
            <a:endParaRPr sz="2050">
              <a:latin typeface="Arial"/>
              <a:cs typeface="Arial"/>
            </a:endParaRPr>
          </a:p>
          <a:p>
            <a:pPr algn="r" marR="5080">
              <a:lnSpc>
                <a:spcPts val="2055"/>
              </a:lnSpc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strong</a:t>
            </a:r>
            <a:r>
              <a:rPr dirty="0" sz="205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entry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barriers.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891" y="3826738"/>
            <a:ext cx="399958" cy="3491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85034" y="3771569"/>
            <a:ext cx="34994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Threat</a:t>
            </a:r>
            <a:r>
              <a:rPr dirty="0" sz="2500" spc="-2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of</a:t>
            </a:r>
            <a:r>
              <a:rPr dirty="0" sz="2500" spc="-2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New</a:t>
            </a:r>
            <a:r>
              <a:rPr dirty="0" sz="2500" spc="-2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16435F"/>
                </a:solidFill>
                <a:latin typeface="Arial"/>
                <a:cs typeface="Arial"/>
              </a:rPr>
              <a:t>Entrants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80060" y="4545825"/>
            <a:ext cx="4612005" cy="85979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509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High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exposure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energy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fuel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costs,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partly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offset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by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alternative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fuels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and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efficiency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improvements.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80060" y="4166654"/>
            <a:ext cx="23368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Supplier</a:t>
            </a:r>
            <a:r>
              <a:rPr dirty="0" sz="2500" spc="-20" b="1">
                <a:solidFill>
                  <a:srgbClr val="16435F"/>
                </a:solidFill>
                <a:latin typeface="Arial"/>
                <a:cs typeface="Arial"/>
              </a:rPr>
              <a:t> Power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32201" y="4189920"/>
            <a:ext cx="399958" cy="3491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11739" y="7517104"/>
            <a:ext cx="397446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Standardised</a:t>
            </a:r>
            <a:r>
              <a:rPr dirty="0" sz="205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product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multiple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63011" y="7208646"/>
            <a:ext cx="399958" cy="34917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521901" y="7137933"/>
            <a:ext cx="19659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Buyer</a:t>
            </a:r>
            <a:r>
              <a:rPr dirty="0" sz="2500" spc="-1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spc="-20" b="1">
                <a:solidFill>
                  <a:srgbClr val="16435F"/>
                </a:solidFill>
                <a:latin typeface="Arial"/>
                <a:cs typeface="Arial"/>
              </a:rPr>
              <a:t>Power</a:t>
            </a:r>
            <a:endParaRPr sz="2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02158" y="7519606"/>
            <a:ext cx="375602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Limited</a:t>
            </a:r>
            <a:r>
              <a:rPr dirty="0" sz="205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alternatives</a:t>
            </a:r>
            <a:r>
              <a:rPr dirty="0" sz="205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to</a:t>
            </a:r>
            <a:r>
              <a:rPr dirty="0" sz="205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205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in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02158" y="7140423"/>
            <a:ext cx="31997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Threat</a:t>
            </a:r>
            <a:r>
              <a:rPr dirty="0" sz="2500" spc="-3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16435F"/>
                </a:solidFill>
                <a:latin typeface="Arial"/>
                <a:cs typeface="Arial"/>
              </a:rPr>
              <a:t>of</a:t>
            </a:r>
            <a:r>
              <a:rPr dirty="0" sz="2500" spc="-2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16435F"/>
                </a:solidFill>
                <a:latin typeface="Arial"/>
                <a:cs typeface="Arial"/>
              </a:rPr>
              <a:t>Substitutes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2177" y="7208646"/>
            <a:ext cx="399957" cy="3491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2279" y="7777835"/>
            <a:ext cx="423354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suppliers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give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customers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flexibility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to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6947" y="8038566"/>
            <a:ext cx="259969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switch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based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on</a:t>
            </a:r>
            <a:r>
              <a:rPr dirty="0" sz="205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price.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42901" y="1996490"/>
            <a:ext cx="6602730" cy="6281420"/>
            <a:chOff x="5842901" y="1996490"/>
            <a:chExt cx="6602730" cy="6281420"/>
          </a:xfrm>
        </p:grpSpPr>
        <p:sp>
          <p:nvSpPr>
            <p:cNvPr id="25" name="object 25"/>
            <p:cNvSpPr/>
            <p:nvPr/>
          </p:nvSpPr>
          <p:spPr>
            <a:xfrm>
              <a:off x="5861951" y="2015540"/>
              <a:ext cx="6564630" cy="6243320"/>
            </a:xfrm>
            <a:custGeom>
              <a:avLst/>
              <a:gdLst/>
              <a:ahLst/>
              <a:cxnLst/>
              <a:rect l="l" t="t" r="r" b="b"/>
              <a:pathLst>
                <a:path w="6564630" h="6243320">
                  <a:moveTo>
                    <a:pt x="3282048" y="0"/>
                  </a:moveTo>
                  <a:lnTo>
                    <a:pt x="6564096" y="2384552"/>
                  </a:lnTo>
                  <a:lnTo>
                    <a:pt x="5310466" y="6242824"/>
                  </a:lnTo>
                  <a:lnTo>
                    <a:pt x="1253629" y="6242824"/>
                  </a:lnTo>
                  <a:lnTo>
                    <a:pt x="0" y="2384552"/>
                  </a:lnTo>
                  <a:lnTo>
                    <a:pt x="3282048" y="0"/>
                  </a:lnTo>
                </a:path>
                <a:path w="6564630" h="6243320">
                  <a:moveTo>
                    <a:pt x="3282048" y="690194"/>
                  </a:moveTo>
                  <a:lnTo>
                    <a:pt x="5907684" y="2597835"/>
                  </a:lnTo>
                  <a:lnTo>
                    <a:pt x="4904778" y="5684456"/>
                  </a:lnTo>
                  <a:lnTo>
                    <a:pt x="1659318" y="5684456"/>
                  </a:lnTo>
                  <a:lnTo>
                    <a:pt x="656412" y="2597835"/>
                  </a:lnTo>
                  <a:lnTo>
                    <a:pt x="3282048" y="690194"/>
                  </a:lnTo>
                </a:path>
                <a:path w="6564630" h="6243320">
                  <a:moveTo>
                    <a:pt x="3282048" y="1380388"/>
                  </a:moveTo>
                  <a:lnTo>
                    <a:pt x="5251272" y="2811106"/>
                  </a:lnTo>
                  <a:lnTo>
                    <a:pt x="4499102" y="5126075"/>
                  </a:lnTo>
                  <a:lnTo>
                    <a:pt x="2064994" y="5126075"/>
                  </a:lnTo>
                  <a:lnTo>
                    <a:pt x="1312824" y="2811106"/>
                  </a:lnTo>
                  <a:lnTo>
                    <a:pt x="3282048" y="1380388"/>
                  </a:lnTo>
                </a:path>
                <a:path w="6564630" h="6243320">
                  <a:moveTo>
                    <a:pt x="3282048" y="2070569"/>
                  </a:moveTo>
                  <a:lnTo>
                    <a:pt x="4594872" y="3024390"/>
                  </a:lnTo>
                  <a:lnTo>
                    <a:pt x="4093413" y="4567707"/>
                  </a:lnTo>
                  <a:lnTo>
                    <a:pt x="2470683" y="4567707"/>
                  </a:lnTo>
                  <a:lnTo>
                    <a:pt x="1969223" y="3024390"/>
                  </a:lnTo>
                  <a:lnTo>
                    <a:pt x="3282048" y="2070569"/>
                  </a:lnTo>
                </a:path>
                <a:path w="6564630" h="6243320">
                  <a:moveTo>
                    <a:pt x="3282048" y="2760764"/>
                  </a:moveTo>
                  <a:lnTo>
                    <a:pt x="3938460" y="3237674"/>
                  </a:lnTo>
                  <a:lnTo>
                    <a:pt x="3687737" y="4009326"/>
                  </a:lnTo>
                  <a:lnTo>
                    <a:pt x="2876359" y="4009326"/>
                  </a:lnTo>
                  <a:lnTo>
                    <a:pt x="2625636" y="3237674"/>
                  </a:lnTo>
                  <a:lnTo>
                    <a:pt x="3282048" y="2760764"/>
                  </a:lnTo>
                </a:path>
                <a:path w="6564630" h="6243320">
                  <a:moveTo>
                    <a:pt x="3282048" y="3450958"/>
                  </a:moveTo>
                  <a:lnTo>
                    <a:pt x="3282048" y="3450958"/>
                  </a:lnTo>
                  <a:lnTo>
                    <a:pt x="3282048" y="3450958"/>
                  </a:lnTo>
                </a:path>
              </a:pathLst>
            </a:custGeom>
            <a:ln w="38099">
              <a:solidFill>
                <a:srgbClr val="C5D9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521270" y="2015540"/>
              <a:ext cx="3592195" cy="5684520"/>
            </a:xfrm>
            <a:custGeom>
              <a:avLst/>
              <a:gdLst/>
              <a:ahLst/>
              <a:cxnLst/>
              <a:rect l="l" t="t" r="r" b="b"/>
              <a:pathLst>
                <a:path w="3592195" h="5684520">
                  <a:moveTo>
                    <a:pt x="3591953" y="2811107"/>
                  </a:moveTo>
                  <a:lnTo>
                    <a:pt x="1622729" y="0"/>
                  </a:lnTo>
                  <a:lnTo>
                    <a:pt x="966317" y="3237674"/>
                  </a:lnTo>
                  <a:lnTo>
                    <a:pt x="0" y="5684456"/>
                  </a:lnTo>
                  <a:lnTo>
                    <a:pt x="2434094" y="4567707"/>
                  </a:lnTo>
                  <a:lnTo>
                    <a:pt x="3591953" y="2811107"/>
                  </a:lnTo>
                  <a:close/>
                </a:path>
              </a:pathLst>
            </a:custGeom>
            <a:solidFill>
              <a:srgbClr val="20B9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2702158" y="7780337"/>
            <a:ext cx="4623435" cy="59880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509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mainstream</a:t>
            </a:r>
            <a:r>
              <a:rPr dirty="0" sz="2050" spc="-6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residential,</a:t>
            </a:r>
            <a:r>
              <a:rPr dirty="0" sz="205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commercial</a:t>
            </a:r>
            <a:r>
              <a:rPr dirty="0" sz="205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and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infrastructure</a:t>
            </a:r>
            <a:r>
              <a:rPr dirty="0" sz="2050" spc="-1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construction.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28681" y="1093927"/>
            <a:ext cx="9525" cy="1076960"/>
          </a:xfrm>
          <a:custGeom>
            <a:avLst/>
            <a:gdLst/>
            <a:ahLst/>
            <a:cxnLst/>
            <a:rect l="l" t="t" r="r" b="b"/>
            <a:pathLst>
              <a:path w="9525" h="1076960">
                <a:moveTo>
                  <a:pt x="9524" y="0"/>
                </a:moveTo>
                <a:lnTo>
                  <a:pt x="0" y="1076401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3692" y="0"/>
            <a:ext cx="12774307" cy="102870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7" name="object 7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15983" y="498886"/>
            <a:ext cx="2185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9487" y="1016123"/>
            <a:ext cx="128752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ARCC:</a:t>
            </a:r>
            <a:r>
              <a:rPr dirty="0" spc="-65"/>
              <a:t> </a:t>
            </a:r>
            <a:r>
              <a:rPr dirty="0"/>
              <a:t>Three</a:t>
            </a:r>
            <a:r>
              <a:rPr dirty="0" spc="-60"/>
              <a:t> </a:t>
            </a:r>
            <a:r>
              <a:rPr dirty="0"/>
              <a:t>Pillars</a:t>
            </a:r>
            <a:r>
              <a:rPr dirty="0" spc="-65"/>
              <a:t> </a:t>
            </a:r>
            <a:r>
              <a:rPr dirty="0"/>
              <a:t>Driving</a:t>
            </a:r>
            <a:r>
              <a:rPr dirty="0" spc="-60"/>
              <a:t> </a:t>
            </a:r>
            <a:r>
              <a:rPr dirty="0"/>
              <a:t>Structural</a:t>
            </a:r>
            <a:r>
              <a:rPr dirty="0" spc="-60"/>
              <a:t> </a:t>
            </a:r>
            <a:r>
              <a:rPr dirty="0"/>
              <a:t>Earnings</a:t>
            </a:r>
            <a:r>
              <a:rPr dirty="0" spc="-65"/>
              <a:t> </a:t>
            </a:r>
            <a:r>
              <a:rPr dirty="0" spc="-10"/>
              <a:t>Expansion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9487" y="1497469"/>
            <a:ext cx="1288986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see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leveraging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its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integrated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footprint,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agility,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favorable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product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mix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drive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multiple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avenues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long-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term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creation.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0193" y="2628112"/>
            <a:ext cx="5151120" cy="5862320"/>
          </a:xfrm>
          <a:custGeom>
            <a:avLst/>
            <a:gdLst/>
            <a:ahLst/>
            <a:cxnLst/>
            <a:rect l="l" t="t" r="r" b="b"/>
            <a:pathLst>
              <a:path w="5151120" h="5862320">
                <a:moveTo>
                  <a:pt x="4292574" y="0"/>
                </a:moveTo>
                <a:lnTo>
                  <a:pt x="858536" y="0"/>
                </a:lnTo>
                <a:lnTo>
                  <a:pt x="810124" y="1370"/>
                </a:lnTo>
                <a:lnTo>
                  <a:pt x="762382" y="5430"/>
                </a:lnTo>
                <a:lnTo>
                  <a:pt x="715385" y="12105"/>
                </a:lnTo>
                <a:lnTo>
                  <a:pt x="669207" y="21321"/>
                </a:lnTo>
                <a:lnTo>
                  <a:pt x="623924" y="33003"/>
                </a:lnTo>
                <a:lnTo>
                  <a:pt x="579610" y="47075"/>
                </a:lnTo>
                <a:lnTo>
                  <a:pt x="536341" y="63464"/>
                </a:lnTo>
                <a:lnTo>
                  <a:pt x="494190" y="82093"/>
                </a:lnTo>
                <a:lnTo>
                  <a:pt x="453233" y="102889"/>
                </a:lnTo>
                <a:lnTo>
                  <a:pt x="413544" y="125777"/>
                </a:lnTo>
                <a:lnTo>
                  <a:pt x="375199" y="150681"/>
                </a:lnTo>
                <a:lnTo>
                  <a:pt x="338272" y="177528"/>
                </a:lnTo>
                <a:lnTo>
                  <a:pt x="302838" y="206241"/>
                </a:lnTo>
                <a:lnTo>
                  <a:pt x="268972" y="236747"/>
                </a:lnTo>
                <a:lnTo>
                  <a:pt x="236749" y="268970"/>
                </a:lnTo>
                <a:lnTo>
                  <a:pt x="206243" y="302836"/>
                </a:lnTo>
                <a:lnTo>
                  <a:pt x="177529" y="338270"/>
                </a:lnTo>
                <a:lnTo>
                  <a:pt x="150683" y="375197"/>
                </a:lnTo>
                <a:lnTo>
                  <a:pt x="125778" y="413542"/>
                </a:lnTo>
                <a:lnTo>
                  <a:pt x="102890" y="453230"/>
                </a:lnTo>
                <a:lnTo>
                  <a:pt x="82094" y="494187"/>
                </a:lnTo>
                <a:lnTo>
                  <a:pt x="63464" y="536337"/>
                </a:lnTo>
                <a:lnTo>
                  <a:pt x="47075" y="579607"/>
                </a:lnTo>
                <a:lnTo>
                  <a:pt x="33003" y="623921"/>
                </a:lnTo>
                <a:lnTo>
                  <a:pt x="21321" y="669204"/>
                </a:lnTo>
                <a:lnTo>
                  <a:pt x="12105" y="715381"/>
                </a:lnTo>
                <a:lnTo>
                  <a:pt x="5430" y="762378"/>
                </a:lnTo>
                <a:lnTo>
                  <a:pt x="1370" y="810120"/>
                </a:lnTo>
                <a:lnTo>
                  <a:pt x="0" y="858532"/>
                </a:lnTo>
                <a:lnTo>
                  <a:pt x="0" y="5003393"/>
                </a:lnTo>
                <a:lnTo>
                  <a:pt x="1370" y="5051805"/>
                </a:lnTo>
                <a:lnTo>
                  <a:pt x="5430" y="5099547"/>
                </a:lnTo>
                <a:lnTo>
                  <a:pt x="12105" y="5146544"/>
                </a:lnTo>
                <a:lnTo>
                  <a:pt x="21321" y="5192722"/>
                </a:lnTo>
                <a:lnTo>
                  <a:pt x="33003" y="5238005"/>
                </a:lnTo>
                <a:lnTo>
                  <a:pt x="47075" y="5282318"/>
                </a:lnTo>
                <a:lnTo>
                  <a:pt x="63464" y="5325588"/>
                </a:lnTo>
                <a:lnTo>
                  <a:pt x="82094" y="5367738"/>
                </a:lnTo>
                <a:lnTo>
                  <a:pt x="102890" y="5408695"/>
                </a:lnTo>
                <a:lnTo>
                  <a:pt x="125778" y="5448384"/>
                </a:lnTo>
                <a:lnTo>
                  <a:pt x="150683" y="5486729"/>
                </a:lnTo>
                <a:lnTo>
                  <a:pt x="177529" y="5523655"/>
                </a:lnTo>
                <a:lnTo>
                  <a:pt x="206243" y="5559089"/>
                </a:lnTo>
                <a:lnTo>
                  <a:pt x="236749" y="5592955"/>
                </a:lnTo>
                <a:lnTo>
                  <a:pt x="268972" y="5625178"/>
                </a:lnTo>
                <a:lnTo>
                  <a:pt x="302838" y="5655684"/>
                </a:lnTo>
                <a:lnTo>
                  <a:pt x="338272" y="5684398"/>
                </a:lnTo>
                <a:lnTo>
                  <a:pt x="375199" y="5711244"/>
                </a:lnTo>
                <a:lnTo>
                  <a:pt x="413544" y="5736148"/>
                </a:lnTo>
                <a:lnTo>
                  <a:pt x="453233" y="5759036"/>
                </a:lnTo>
                <a:lnTo>
                  <a:pt x="494190" y="5779832"/>
                </a:lnTo>
                <a:lnTo>
                  <a:pt x="536341" y="5798462"/>
                </a:lnTo>
                <a:lnTo>
                  <a:pt x="579610" y="5814850"/>
                </a:lnTo>
                <a:lnTo>
                  <a:pt x="623924" y="5828923"/>
                </a:lnTo>
                <a:lnTo>
                  <a:pt x="669207" y="5840604"/>
                </a:lnTo>
                <a:lnTo>
                  <a:pt x="715385" y="5849820"/>
                </a:lnTo>
                <a:lnTo>
                  <a:pt x="762382" y="5856496"/>
                </a:lnTo>
                <a:lnTo>
                  <a:pt x="810124" y="5860556"/>
                </a:lnTo>
                <a:lnTo>
                  <a:pt x="858536" y="5861926"/>
                </a:lnTo>
                <a:lnTo>
                  <a:pt x="4292574" y="5861926"/>
                </a:lnTo>
                <a:lnTo>
                  <a:pt x="4340986" y="5860556"/>
                </a:lnTo>
                <a:lnTo>
                  <a:pt x="4388728" y="5856496"/>
                </a:lnTo>
                <a:lnTo>
                  <a:pt x="4435725" y="5849820"/>
                </a:lnTo>
                <a:lnTo>
                  <a:pt x="4481903" y="5840604"/>
                </a:lnTo>
                <a:lnTo>
                  <a:pt x="4527187" y="5828923"/>
                </a:lnTo>
                <a:lnTo>
                  <a:pt x="4571501" y="5814850"/>
                </a:lnTo>
                <a:lnTo>
                  <a:pt x="4614771" y="5798462"/>
                </a:lnTo>
                <a:lnTo>
                  <a:pt x="4656922" y="5779832"/>
                </a:lnTo>
                <a:lnTo>
                  <a:pt x="4697879" y="5759036"/>
                </a:lnTo>
                <a:lnTo>
                  <a:pt x="4737568" y="5736148"/>
                </a:lnTo>
                <a:lnTo>
                  <a:pt x="4775914" y="5711244"/>
                </a:lnTo>
                <a:lnTo>
                  <a:pt x="4812841" y="5684398"/>
                </a:lnTo>
                <a:lnTo>
                  <a:pt x="4848276" y="5655684"/>
                </a:lnTo>
                <a:lnTo>
                  <a:pt x="4882142" y="5625178"/>
                </a:lnTo>
                <a:lnTo>
                  <a:pt x="4914366" y="5592955"/>
                </a:lnTo>
                <a:lnTo>
                  <a:pt x="4944872" y="5559089"/>
                </a:lnTo>
                <a:lnTo>
                  <a:pt x="4973587" y="5523655"/>
                </a:lnTo>
                <a:lnTo>
                  <a:pt x="5000434" y="5486729"/>
                </a:lnTo>
                <a:lnTo>
                  <a:pt x="5025339" y="5448384"/>
                </a:lnTo>
                <a:lnTo>
                  <a:pt x="5048227" y="5408695"/>
                </a:lnTo>
                <a:lnTo>
                  <a:pt x="5069023" y="5367738"/>
                </a:lnTo>
                <a:lnTo>
                  <a:pt x="5087654" y="5325588"/>
                </a:lnTo>
                <a:lnTo>
                  <a:pt x="5104043" y="5282318"/>
                </a:lnTo>
                <a:lnTo>
                  <a:pt x="5118115" y="5238005"/>
                </a:lnTo>
                <a:lnTo>
                  <a:pt x="5129797" y="5192722"/>
                </a:lnTo>
                <a:lnTo>
                  <a:pt x="5139014" y="5146544"/>
                </a:lnTo>
                <a:lnTo>
                  <a:pt x="5145689" y="5099547"/>
                </a:lnTo>
                <a:lnTo>
                  <a:pt x="5149749" y="5051805"/>
                </a:lnTo>
                <a:lnTo>
                  <a:pt x="5151120" y="5003393"/>
                </a:lnTo>
                <a:lnTo>
                  <a:pt x="5151120" y="858532"/>
                </a:lnTo>
                <a:lnTo>
                  <a:pt x="5149749" y="810120"/>
                </a:lnTo>
                <a:lnTo>
                  <a:pt x="5145689" y="762378"/>
                </a:lnTo>
                <a:lnTo>
                  <a:pt x="5139014" y="715381"/>
                </a:lnTo>
                <a:lnTo>
                  <a:pt x="5129797" y="669204"/>
                </a:lnTo>
                <a:lnTo>
                  <a:pt x="5118115" y="623921"/>
                </a:lnTo>
                <a:lnTo>
                  <a:pt x="5104043" y="579607"/>
                </a:lnTo>
                <a:lnTo>
                  <a:pt x="5087654" y="536337"/>
                </a:lnTo>
                <a:lnTo>
                  <a:pt x="5069023" y="494187"/>
                </a:lnTo>
                <a:lnTo>
                  <a:pt x="5048227" y="453230"/>
                </a:lnTo>
                <a:lnTo>
                  <a:pt x="5025339" y="413542"/>
                </a:lnTo>
                <a:lnTo>
                  <a:pt x="5000434" y="375197"/>
                </a:lnTo>
                <a:lnTo>
                  <a:pt x="4973587" y="338270"/>
                </a:lnTo>
                <a:lnTo>
                  <a:pt x="4944872" y="302836"/>
                </a:lnTo>
                <a:lnTo>
                  <a:pt x="4914366" y="268970"/>
                </a:lnTo>
                <a:lnTo>
                  <a:pt x="4882142" y="236747"/>
                </a:lnTo>
                <a:lnTo>
                  <a:pt x="4848276" y="206241"/>
                </a:lnTo>
                <a:lnTo>
                  <a:pt x="4812841" y="177528"/>
                </a:lnTo>
                <a:lnTo>
                  <a:pt x="4775914" y="150681"/>
                </a:lnTo>
                <a:lnTo>
                  <a:pt x="4737568" y="125777"/>
                </a:lnTo>
                <a:lnTo>
                  <a:pt x="4697879" y="102889"/>
                </a:lnTo>
                <a:lnTo>
                  <a:pt x="4656922" y="82093"/>
                </a:lnTo>
                <a:lnTo>
                  <a:pt x="4614771" y="63464"/>
                </a:lnTo>
                <a:lnTo>
                  <a:pt x="4571501" y="47075"/>
                </a:lnTo>
                <a:lnTo>
                  <a:pt x="4527187" y="33003"/>
                </a:lnTo>
                <a:lnTo>
                  <a:pt x="4481903" y="21321"/>
                </a:lnTo>
                <a:lnTo>
                  <a:pt x="4435725" y="12105"/>
                </a:lnTo>
                <a:lnTo>
                  <a:pt x="4388728" y="5430"/>
                </a:lnTo>
                <a:lnTo>
                  <a:pt x="4340986" y="1370"/>
                </a:lnTo>
                <a:lnTo>
                  <a:pt x="4292574" y="0"/>
                </a:lnTo>
                <a:close/>
              </a:path>
            </a:pathLst>
          </a:custGeom>
          <a:solidFill>
            <a:srgbClr val="DCE6F1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735505" y="3068028"/>
            <a:ext cx="19437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5505" y="3372827"/>
            <a:ext cx="18084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Leverage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5505" y="3807510"/>
            <a:ext cx="261874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10" b="1">
                <a:solidFill>
                  <a:srgbClr val="244060"/>
                </a:solidFill>
                <a:latin typeface="Arial"/>
                <a:cs typeface="Arial"/>
              </a:rPr>
              <a:t>97.1%</a:t>
            </a:r>
            <a:endParaRPr sz="72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464" y="3268738"/>
            <a:ext cx="1575231" cy="157523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568440" y="2628112"/>
            <a:ext cx="5151120" cy="5862320"/>
          </a:xfrm>
          <a:custGeom>
            <a:avLst/>
            <a:gdLst/>
            <a:ahLst/>
            <a:cxnLst/>
            <a:rect l="l" t="t" r="r" b="b"/>
            <a:pathLst>
              <a:path w="5151120" h="5862320">
                <a:moveTo>
                  <a:pt x="4292574" y="0"/>
                </a:moveTo>
                <a:lnTo>
                  <a:pt x="858536" y="0"/>
                </a:lnTo>
                <a:lnTo>
                  <a:pt x="810124" y="1370"/>
                </a:lnTo>
                <a:lnTo>
                  <a:pt x="762382" y="5430"/>
                </a:lnTo>
                <a:lnTo>
                  <a:pt x="715385" y="12105"/>
                </a:lnTo>
                <a:lnTo>
                  <a:pt x="669207" y="21321"/>
                </a:lnTo>
                <a:lnTo>
                  <a:pt x="623924" y="33003"/>
                </a:lnTo>
                <a:lnTo>
                  <a:pt x="579610" y="47075"/>
                </a:lnTo>
                <a:lnTo>
                  <a:pt x="536341" y="63464"/>
                </a:lnTo>
                <a:lnTo>
                  <a:pt x="494190" y="82093"/>
                </a:lnTo>
                <a:lnTo>
                  <a:pt x="453233" y="102889"/>
                </a:lnTo>
                <a:lnTo>
                  <a:pt x="413544" y="125777"/>
                </a:lnTo>
                <a:lnTo>
                  <a:pt x="375199" y="150681"/>
                </a:lnTo>
                <a:lnTo>
                  <a:pt x="338272" y="177528"/>
                </a:lnTo>
                <a:lnTo>
                  <a:pt x="302838" y="206241"/>
                </a:lnTo>
                <a:lnTo>
                  <a:pt x="268972" y="236747"/>
                </a:lnTo>
                <a:lnTo>
                  <a:pt x="236749" y="268970"/>
                </a:lnTo>
                <a:lnTo>
                  <a:pt x="206243" y="302836"/>
                </a:lnTo>
                <a:lnTo>
                  <a:pt x="177529" y="338270"/>
                </a:lnTo>
                <a:lnTo>
                  <a:pt x="150683" y="375197"/>
                </a:lnTo>
                <a:lnTo>
                  <a:pt x="125778" y="413542"/>
                </a:lnTo>
                <a:lnTo>
                  <a:pt x="102890" y="453230"/>
                </a:lnTo>
                <a:lnTo>
                  <a:pt x="82094" y="494187"/>
                </a:lnTo>
                <a:lnTo>
                  <a:pt x="63464" y="536337"/>
                </a:lnTo>
                <a:lnTo>
                  <a:pt x="47075" y="579607"/>
                </a:lnTo>
                <a:lnTo>
                  <a:pt x="33003" y="623921"/>
                </a:lnTo>
                <a:lnTo>
                  <a:pt x="21321" y="669204"/>
                </a:lnTo>
                <a:lnTo>
                  <a:pt x="12105" y="715381"/>
                </a:lnTo>
                <a:lnTo>
                  <a:pt x="5430" y="762378"/>
                </a:lnTo>
                <a:lnTo>
                  <a:pt x="1370" y="810120"/>
                </a:lnTo>
                <a:lnTo>
                  <a:pt x="0" y="858532"/>
                </a:lnTo>
                <a:lnTo>
                  <a:pt x="0" y="5003393"/>
                </a:lnTo>
                <a:lnTo>
                  <a:pt x="1370" y="5051805"/>
                </a:lnTo>
                <a:lnTo>
                  <a:pt x="5430" y="5099547"/>
                </a:lnTo>
                <a:lnTo>
                  <a:pt x="12105" y="5146544"/>
                </a:lnTo>
                <a:lnTo>
                  <a:pt x="21321" y="5192722"/>
                </a:lnTo>
                <a:lnTo>
                  <a:pt x="33003" y="5238005"/>
                </a:lnTo>
                <a:lnTo>
                  <a:pt x="47075" y="5282318"/>
                </a:lnTo>
                <a:lnTo>
                  <a:pt x="63464" y="5325588"/>
                </a:lnTo>
                <a:lnTo>
                  <a:pt x="82094" y="5367738"/>
                </a:lnTo>
                <a:lnTo>
                  <a:pt x="102890" y="5408695"/>
                </a:lnTo>
                <a:lnTo>
                  <a:pt x="125778" y="5448384"/>
                </a:lnTo>
                <a:lnTo>
                  <a:pt x="150683" y="5486729"/>
                </a:lnTo>
                <a:lnTo>
                  <a:pt x="177529" y="5523655"/>
                </a:lnTo>
                <a:lnTo>
                  <a:pt x="206243" y="5559089"/>
                </a:lnTo>
                <a:lnTo>
                  <a:pt x="236749" y="5592955"/>
                </a:lnTo>
                <a:lnTo>
                  <a:pt x="268972" y="5625178"/>
                </a:lnTo>
                <a:lnTo>
                  <a:pt x="302838" y="5655684"/>
                </a:lnTo>
                <a:lnTo>
                  <a:pt x="338272" y="5684398"/>
                </a:lnTo>
                <a:lnTo>
                  <a:pt x="375199" y="5711244"/>
                </a:lnTo>
                <a:lnTo>
                  <a:pt x="413544" y="5736148"/>
                </a:lnTo>
                <a:lnTo>
                  <a:pt x="453233" y="5759036"/>
                </a:lnTo>
                <a:lnTo>
                  <a:pt x="494190" y="5779832"/>
                </a:lnTo>
                <a:lnTo>
                  <a:pt x="536341" y="5798462"/>
                </a:lnTo>
                <a:lnTo>
                  <a:pt x="579610" y="5814850"/>
                </a:lnTo>
                <a:lnTo>
                  <a:pt x="623924" y="5828923"/>
                </a:lnTo>
                <a:lnTo>
                  <a:pt x="669207" y="5840604"/>
                </a:lnTo>
                <a:lnTo>
                  <a:pt x="715385" y="5849820"/>
                </a:lnTo>
                <a:lnTo>
                  <a:pt x="762382" y="5856496"/>
                </a:lnTo>
                <a:lnTo>
                  <a:pt x="810124" y="5860556"/>
                </a:lnTo>
                <a:lnTo>
                  <a:pt x="858536" y="5861926"/>
                </a:lnTo>
                <a:lnTo>
                  <a:pt x="4292574" y="5861926"/>
                </a:lnTo>
                <a:lnTo>
                  <a:pt x="4340986" y="5860556"/>
                </a:lnTo>
                <a:lnTo>
                  <a:pt x="4388728" y="5856496"/>
                </a:lnTo>
                <a:lnTo>
                  <a:pt x="4435725" y="5849820"/>
                </a:lnTo>
                <a:lnTo>
                  <a:pt x="4481903" y="5840604"/>
                </a:lnTo>
                <a:lnTo>
                  <a:pt x="4527187" y="5828923"/>
                </a:lnTo>
                <a:lnTo>
                  <a:pt x="4571501" y="5814850"/>
                </a:lnTo>
                <a:lnTo>
                  <a:pt x="4614771" y="5798462"/>
                </a:lnTo>
                <a:lnTo>
                  <a:pt x="4656922" y="5779832"/>
                </a:lnTo>
                <a:lnTo>
                  <a:pt x="4697879" y="5759036"/>
                </a:lnTo>
                <a:lnTo>
                  <a:pt x="4737568" y="5736148"/>
                </a:lnTo>
                <a:lnTo>
                  <a:pt x="4775914" y="5711244"/>
                </a:lnTo>
                <a:lnTo>
                  <a:pt x="4812841" y="5684398"/>
                </a:lnTo>
                <a:lnTo>
                  <a:pt x="4848276" y="5655684"/>
                </a:lnTo>
                <a:lnTo>
                  <a:pt x="4882142" y="5625178"/>
                </a:lnTo>
                <a:lnTo>
                  <a:pt x="4914366" y="5592955"/>
                </a:lnTo>
                <a:lnTo>
                  <a:pt x="4944872" y="5559089"/>
                </a:lnTo>
                <a:lnTo>
                  <a:pt x="4973587" y="5523655"/>
                </a:lnTo>
                <a:lnTo>
                  <a:pt x="5000434" y="5486729"/>
                </a:lnTo>
                <a:lnTo>
                  <a:pt x="5025339" y="5448384"/>
                </a:lnTo>
                <a:lnTo>
                  <a:pt x="5048227" y="5408695"/>
                </a:lnTo>
                <a:lnTo>
                  <a:pt x="5069023" y="5367738"/>
                </a:lnTo>
                <a:lnTo>
                  <a:pt x="5087654" y="5325588"/>
                </a:lnTo>
                <a:lnTo>
                  <a:pt x="5104043" y="5282318"/>
                </a:lnTo>
                <a:lnTo>
                  <a:pt x="5118115" y="5238005"/>
                </a:lnTo>
                <a:lnTo>
                  <a:pt x="5129797" y="5192722"/>
                </a:lnTo>
                <a:lnTo>
                  <a:pt x="5139014" y="5146544"/>
                </a:lnTo>
                <a:lnTo>
                  <a:pt x="5145689" y="5099547"/>
                </a:lnTo>
                <a:lnTo>
                  <a:pt x="5149749" y="5051805"/>
                </a:lnTo>
                <a:lnTo>
                  <a:pt x="5151120" y="5003393"/>
                </a:lnTo>
                <a:lnTo>
                  <a:pt x="5151120" y="858532"/>
                </a:lnTo>
                <a:lnTo>
                  <a:pt x="5149749" y="810120"/>
                </a:lnTo>
                <a:lnTo>
                  <a:pt x="5145689" y="762378"/>
                </a:lnTo>
                <a:lnTo>
                  <a:pt x="5139014" y="715381"/>
                </a:lnTo>
                <a:lnTo>
                  <a:pt x="5129797" y="669204"/>
                </a:lnTo>
                <a:lnTo>
                  <a:pt x="5118115" y="623921"/>
                </a:lnTo>
                <a:lnTo>
                  <a:pt x="5104043" y="579607"/>
                </a:lnTo>
                <a:lnTo>
                  <a:pt x="5087654" y="536337"/>
                </a:lnTo>
                <a:lnTo>
                  <a:pt x="5069023" y="494187"/>
                </a:lnTo>
                <a:lnTo>
                  <a:pt x="5048227" y="453230"/>
                </a:lnTo>
                <a:lnTo>
                  <a:pt x="5025339" y="413542"/>
                </a:lnTo>
                <a:lnTo>
                  <a:pt x="5000434" y="375197"/>
                </a:lnTo>
                <a:lnTo>
                  <a:pt x="4973587" y="338270"/>
                </a:lnTo>
                <a:lnTo>
                  <a:pt x="4944872" y="302836"/>
                </a:lnTo>
                <a:lnTo>
                  <a:pt x="4914366" y="268970"/>
                </a:lnTo>
                <a:lnTo>
                  <a:pt x="4882142" y="236747"/>
                </a:lnTo>
                <a:lnTo>
                  <a:pt x="4848276" y="206241"/>
                </a:lnTo>
                <a:lnTo>
                  <a:pt x="4812841" y="177528"/>
                </a:lnTo>
                <a:lnTo>
                  <a:pt x="4775914" y="150681"/>
                </a:lnTo>
                <a:lnTo>
                  <a:pt x="4737568" y="125777"/>
                </a:lnTo>
                <a:lnTo>
                  <a:pt x="4697879" y="102889"/>
                </a:lnTo>
                <a:lnTo>
                  <a:pt x="4656922" y="82093"/>
                </a:lnTo>
                <a:lnTo>
                  <a:pt x="4614771" y="63464"/>
                </a:lnTo>
                <a:lnTo>
                  <a:pt x="4571501" y="47075"/>
                </a:lnTo>
                <a:lnTo>
                  <a:pt x="4527187" y="33003"/>
                </a:lnTo>
                <a:lnTo>
                  <a:pt x="4481903" y="21321"/>
                </a:lnTo>
                <a:lnTo>
                  <a:pt x="4435725" y="12105"/>
                </a:lnTo>
                <a:lnTo>
                  <a:pt x="4388728" y="5430"/>
                </a:lnTo>
                <a:lnTo>
                  <a:pt x="4340986" y="1370"/>
                </a:lnTo>
                <a:lnTo>
                  <a:pt x="4292574" y="0"/>
                </a:lnTo>
                <a:close/>
              </a:path>
            </a:pathLst>
          </a:custGeom>
          <a:solidFill>
            <a:srgbClr val="DCE6F1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986003" y="3068028"/>
            <a:ext cx="20561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244060"/>
                </a:solidFill>
                <a:latin typeface="Arial"/>
                <a:cs typeface="Arial"/>
              </a:rPr>
              <a:t>Natural</a:t>
            </a:r>
            <a:r>
              <a:rPr dirty="0" sz="3200" spc="-25" b="1">
                <a:solidFill>
                  <a:srgbClr val="244060"/>
                </a:solidFill>
                <a:latin typeface="Arial"/>
                <a:cs typeface="Arial"/>
              </a:rPr>
              <a:t> FX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6175" y="3212909"/>
            <a:ext cx="1686382" cy="168638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1966688" y="2628112"/>
            <a:ext cx="5151120" cy="5862320"/>
          </a:xfrm>
          <a:custGeom>
            <a:avLst/>
            <a:gdLst/>
            <a:ahLst/>
            <a:cxnLst/>
            <a:rect l="l" t="t" r="r" b="b"/>
            <a:pathLst>
              <a:path w="5151119" h="5862320">
                <a:moveTo>
                  <a:pt x="4292574" y="0"/>
                </a:moveTo>
                <a:lnTo>
                  <a:pt x="858536" y="0"/>
                </a:lnTo>
                <a:lnTo>
                  <a:pt x="810124" y="1370"/>
                </a:lnTo>
                <a:lnTo>
                  <a:pt x="762382" y="5430"/>
                </a:lnTo>
                <a:lnTo>
                  <a:pt x="715385" y="12105"/>
                </a:lnTo>
                <a:lnTo>
                  <a:pt x="669207" y="21321"/>
                </a:lnTo>
                <a:lnTo>
                  <a:pt x="623924" y="33003"/>
                </a:lnTo>
                <a:lnTo>
                  <a:pt x="579610" y="47075"/>
                </a:lnTo>
                <a:lnTo>
                  <a:pt x="536341" y="63464"/>
                </a:lnTo>
                <a:lnTo>
                  <a:pt x="494190" y="82093"/>
                </a:lnTo>
                <a:lnTo>
                  <a:pt x="453233" y="102889"/>
                </a:lnTo>
                <a:lnTo>
                  <a:pt x="413544" y="125777"/>
                </a:lnTo>
                <a:lnTo>
                  <a:pt x="375199" y="150681"/>
                </a:lnTo>
                <a:lnTo>
                  <a:pt x="338272" y="177528"/>
                </a:lnTo>
                <a:lnTo>
                  <a:pt x="302838" y="206241"/>
                </a:lnTo>
                <a:lnTo>
                  <a:pt x="268972" y="236747"/>
                </a:lnTo>
                <a:lnTo>
                  <a:pt x="236749" y="268970"/>
                </a:lnTo>
                <a:lnTo>
                  <a:pt x="206243" y="302836"/>
                </a:lnTo>
                <a:lnTo>
                  <a:pt x="177529" y="338270"/>
                </a:lnTo>
                <a:lnTo>
                  <a:pt x="150683" y="375197"/>
                </a:lnTo>
                <a:lnTo>
                  <a:pt x="125778" y="413542"/>
                </a:lnTo>
                <a:lnTo>
                  <a:pt x="102890" y="453230"/>
                </a:lnTo>
                <a:lnTo>
                  <a:pt x="82094" y="494187"/>
                </a:lnTo>
                <a:lnTo>
                  <a:pt x="63464" y="536337"/>
                </a:lnTo>
                <a:lnTo>
                  <a:pt x="47075" y="579607"/>
                </a:lnTo>
                <a:lnTo>
                  <a:pt x="33003" y="623921"/>
                </a:lnTo>
                <a:lnTo>
                  <a:pt x="21321" y="669204"/>
                </a:lnTo>
                <a:lnTo>
                  <a:pt x="12105" y="715381"/>
                </a:lnTo>
                <a:lnTo>
                  <a:pt x="5430" y="762378"/>
                </a:lnTo>
                <a:lnTo>
                  <a:pt x="1370" y="810120"/>
                </a:lnTo>
                <a:lnTo>
                  <a:pt x="0" y="858532"/>
                </a:lnTo>
                <a:lnTo>
                  <a:pt x="0" y="5003393"/>
                </a:lnTo>
                <a:lnTo>
                  <a:pt x="1370" y="5051805"/>
                </a:lnTo>
                <a:lnTo>
                  <a:pt x="5430" y="5099547"/>
                </a:lnTo>
                <a:lnTo>
                  <a:pt x="12105" y="5146544"/>
                </a:lnTo>
                <a:lnTo>
                  <a:pt x="21321" y="5192722"/>
                </a:lnTo>
                <a:lnTo>
                  <a:pt x="33003" y="5238005"/>
                </a:lnTo>
                <a:lnTo>
                  <a:pt x="47075" y="5282318"/>
                </a:lnTo>
                <a:lnTo>
                  <a:pt x="63464" y="5325588"/>
                </a:lnTo>
                <a:lnTo>
                  <a:pt x="82094" y="5367738"/>
                </a:lnTo>
                <a:lnTo>
                  <a:pt x="102890" y="5408695"/>
                </a:lnTo>
                <a:lnTo>
                  <a:pt x="125778" y="5448384"/>
                </a:lnTo>
                <a:lnTo>
                  <a:pt x="150683" y="5486729"/>
                </a:lnTo>
                <a:lnTo>
                  <a:pt x="177529" y="5523655"/>
                </a:lnTo>
                <a:lnTo>
                  <a:pt x="206243" y="5559089"/>
                </a:lnTo>
                <a:lnTo>
                  <a:pt x="236749" y="5592955"/>
                </a:lnTo>
                <a:lnTo>
                  <a:pt x="268972" y="5625178"/>
                </a:lnTo>
                <a:lnTo>
                  <a:pt x="302838" y="5655684"/>
                </a:lnTo>
                <a:lnTo>
                  <a:pt x="338272" y="5684398"/>
                </a:lnTo>
                <a:lnTo>
                  <a:pt x="375199" y="5711244"/>
                </a:lnTo>
                <a:lnTo>
                  <a:pt x="413544" y="5736148"/>
                </a:lnTo>
                <a:lnTo>
                  <a:pt x="453233" y="5759036"/>
                </a:lnTo>
                <a:lnTo>
                  <a:pt x="494190" y="5779832"/>
                </a:lnTo>
                <a:lnTo>
                  <a:pt x="536341" y="5798462"/>
                </a:lnTo>
                <a:lnTo>
                  <a:pt x="579610" y="5814850"/>
                </a:lnTo>
                <a:lnTo>
                  <a:pt x="623924" y="5828923"/>
                </a:lnTo>
                <a:lnTo>
                  <a:pt x="669207" y="5840604"/>
                </a:lnTo>
                <a:lnTo>
                  <a:pt x="715385" y="5849820"/>
                </a:lnTo>
                <a:lnTo>
                  <a:pt x="762382" y="5856496"/>
                </a:lnTo>
                <a:lnTo>
                  <a:pt x="810124" y="5860556"/>
                </a:lnTo>
                <a:lnTo>
                  <a:pt x="858536" y="5861926"/>
                </a:lnTo>
                <a:lnTo>
                  <a:pt x="4292574" y="5861926"/>
                </a:lnTo>
                <a:lnTo>
                  <a:pt x="4340986" y="5860556"/>
                </a:lnTo>
                <a:lnTo>
                  <a:pt x="4388728" y="5856496"/>
                </a:lnTo>
                <a:lnTo>
                  <a:pt x="4435725" y="5849820"/>
                </a:lnTo>
                <a:lnTo>
                  <a:pt x="4481903" y="5840604"/>
                </a:lnTo>
                <a:lnTo>
                  <a:pt x="4527187" y="5828923"/>
                </a:lnTo>
                <a:lnTo>
                  <a:pt x="4571501" y="5814850"/>
                </a:lnTo>
                <a:lnTo>
                  <a:pt x="4614771" y="5798462"/>
                </a:lnTo>
                <a:lnTo>
                  <a:pt x="4656922" y="5779832"/>
                </a:lnTo>
                <a:lnTo>
                  <a:pt x="4697879" y="5759036"/>
                </a:lnTo>
                <a:lnTo>
                  <a:pt x="4737568" y="5736148"/>
                </a:lnTo>
                <a:lnTo>
                  <a:pt x="4775914" y="5711244"/>
                </a:lnTo>
                <a:lnTo>
                  <a:pt x="4812841" y="5684398"/>
                </a:lnTo>
                <a:lnTo>
                  <a:pt x="4848276" y="5655684"/>
                </a:lnTo>
                <a:lnTo>
                  <a:pt x="4882142" y="5625178"/>
                </a:lnTo>
                <a:lnTo>
                  <a:pt x="4914366" y="5592955"/>
                </a:lnTo>
                <a:lnTo>
                  <a:pt x="4944872" y="5559089"/>
                </a:lnTo>
                <a:lnTo>
                  <a:pt x="4973587" y="5523655"/>
                </a:lnTo>
                <a:lnTo>
                  <a:pt x="5000434" y="5486729"/>
                </a:lnTo>
                <a:lnTo>
                  <a:pt x="5025339" y="5448384"/>
                </a:lnTo>
                <a:lnTo>
                  <a:pt x="5048227" y="5408695"/>
                </a:lnTo>
                <a:lnTo>
                  <a:pt x="5069023" y="5367738"/>
                </a:lnTo>
                <a:lnTo>
                  <a:pt x="5087654" y="5325588"/>
                </a:lnTo>
                <a:lnTo>
                  <a:pt x="5104043" y="5282318"/>
                </a:lnTo>
                <a:lnTo>
                  <a:pt x="5118115" y="5238005"/>
                </a:lnTo>
                <a:lnTo>
                  <a:pt x="5129797" y="5192722"/>
                </a:lnTo>
                <a:lnTo>
                  <a:pt x="5139014" y="5146544"/>
                </a:lnTo>
                <a:lnTo>
                  <a:pt x="5145689" y="5099547"/>
                </a:lnTo>
                <a:lnTo>
                  <a:pt x="5149749" y="5051805"/>
                </a:lnTo>
                <a:lnTo>
                  <a:pt x="5151120" y="5003393"/>
                </a:lnTo>
                <a:lnTo>
                  <a:pt x="5151120" y="858532"/>
                </a:lnTo>
                <a:lnTo>
                  <a:pt x="5149749" y="810120"/>
                </a:lnTo>
                <a:lnTo>
                  <a:pt x="5145689" y="762378"/>
                </a:lnTo>
                <a:lnTo>
                  <a:pt x="5139014" y="715381"/>
                </a:lnTo>
                <a:lnTo>
                  <a:pt x="5129797" y="669204"/>
                </a:lnTo>
                <a:lnTo>
                  <a:pt x="5118115" y="623921"/>
                </a:lnTo>
                <a:lnTo>
                  <a:pt x="5104043" y="579607"/>
                </a:lnTo>
                <a:lnTo>
                  <a:pt x="5087654" y="536337"/>
                </a:lnTo>
                <a:lnTo>
                  <a:pt x="5069023" y="494187"/>
                </a:lnTo>
                <a:lnTo>
                  <a:pt x="5048227" y="453230"/>
                </a:lnTo>
                <a:lnTo>
                  <a:pt x="5025339" y="413542"/>
                </a:lnTo>
                <a:lnTo>
                  <a:pt x="5000434" y="375197"/>
                </a:lnTo>
                <a:lnTo>
                  <a:pt x="4973587" y="338270"/>
                </a:lnTo>
                <a:lnTo>
                  <a:pt x="4944872" y="302836"/>
                </a:lnTo>
                <a:lnTo>
                  <a:pt x="4914366" y="268970"/>
                </a:lnTo>
                <a:lnTo>
                  <a:pt x="4882142" y="236747"/>
                </a:lnTo>
                <a:lnTo>
                  <a:pt x="4848276" y="206241"/>
                </a:lnTo>
                <a:lnTo>
                  <a:pt x="4812841" y="177528"/>
                </a:lnTo>
                <a:lnTo>
                  <a:pt x="4775914" y="150681"/>
                </a:lnTo>
                <a:lnTo>
                  <a:pt x="4737568" y="125777"/>
                </a:lnTo>
                <a:lnTo>
                  <a:pt x="4697879" y="102889"/>
                </a:lnTo>
                <a:lnTo>
                  <a:pt x="4656922" y="82093"/>
                </a:lnTo>
                <a:lnTo>
                  <a:pt x="4614771" y="63464"/>
                </a:lnTo>
                <a:lnTo>
                  <a:pt x="4571501" y="47075"/>
                </a:lnTo>
                <a:lnTo>
                  <a:pt x="4527187" y="33003"/>
                </a:lnTo>
                <a:lnTo>
                  <a:pt x="4481903" y="21321"/>
                </a:lnTo>
                <a:lnTo>
                  <a:pt x="4435725" y="12105"/>
                </a:lnTo>
                <a:lnTo>
                  <a:pt x="4388728" y="5430"/>
                </a:lnTo>
                <a:lnTo>
                  <a:pt x="4340986" y="1370"/>
                </a:lnTo>
                <a:lnTo>
                  <a:pt x="4292574" y="0"/>
                </a:lnTo>
                <a:close/>
              </a:path>
            </a:pathLst>
          </a:custGeom>
          <a:solidFill>
            <a:srgbClr val="DCE6F1">
              <a:alpha val="3372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381813" y="3099358"/>
            <a:ext cx="23507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244060"/>
                </a:solidFill>
                <a:latin typeface="Arial"/>
                <a:cs typeface="Arial"/>
              </a:rPr>
              <a:t>Product</a:t>
            </a:r>
            <a:r>
              <a:rPr dirty="0" sz="32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244060"/>
                </a:solidFill>
                <a:latin typeface="Arial"/>
                <a:cs typeface="Arial"/>
              </a:rPr>
              <a:t>Mix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1813" y="3404158"/>
            <a:ext cx="24847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Optimization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08040" y="3673538"/>
            <a:ext cx="239014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20" b="1">
                <a:solidFill>
                  <a:srgbClr val="244060"/>
                </a:solidFill>
                <a:latin typeface="Arial"/>
                <a:cs typeface="Arial"/>
              </a:rPr>
              <a:t>&gt;20%</a:t>
            </a:r>
            <a:endParaRPr sz="72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74314" y="3494570"/>
            <a:ext cx="1478267" cy="121936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735505" y="4800015"/>
            <a:ext cx="2522220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6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UTILIZATION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Higher</a:t>
            </a:r>
            <a:r>
              <a:rPr dirty="0" sz="2000" spc="-6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plant</a:t>
            </a:r>
            <a:r>
              <a:rPr dirty="0" sz="2000" spc="-6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utilization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16089" y="3372827"/>
            <a:ext cx="3053715" cy="2252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ts val="3435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Resilience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8015"/>
              </a:lnSpc>
            </a:pPr>
            <a:r>
              <a:rPr dirty="0" sz="7200" spc="-25" b="1">
                <a:solidFill>
                  <a:srgbClr val="244060"/>
                </a:solidFill>
                <a:latin typeface="Arial"/>
                <a:cs typeface="Arial"/>
              </a:rPr>
              <a:t>+40</a:t>
            </a:r>
            <a:endParaRPr sz="7200">
              <a:latin typeface="Arial"/>
              <a:cs typeface="Arial"/>
            </a:endParaRPr>
          </a:p>
          <a:p>
            <a:pPr marL="82550">
              <a:lnSpc>
                <a:spcPts val="2180"/>
              </a:lnSpc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2000" spc="-7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COUNTRIES</a:t>
            </a:r>
            <a:endParaRPr sz="20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1495"/>
              </a:spcBef>
            </a:pP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Diversified</a:t>
            </a:r>
            <a:r>
              <a:rPr dirty="0" sz="20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r>
              <a:rPr dirty="0" sz="20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platform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1813" y="4753978"/>
            <a:ext cx="32143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ALT.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SUBSTITUTION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81813" y="5294693"/>
            <a:ext cx="3835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Increase</a:t>
            </a:r>
            <a:r>
              <a:rPr dirty="0" sz="20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share</a:t>
            </a:r>
            <a:r>
              <a:rPr dirty="0" sz="20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of</a:t>
            </a:r>
            <a:r>
              <a:rPr dirty="0" sz="20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finished</a:t>
            </a:r>
            <a:r>
              <a:rPr dirty="0" sz="20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752600" y="5588152"/>
            <a:ext cx="152400" cy="408305"/>
            <a:chOff x="1752600" y="5588152"/>
            <a:chExt cx="152400" cy="408305"/>
          </a:xfrm>
        </p:grpSpPr>
        <p:sp>
          <p:nvSpPr>
            <p:cNvPr id="27" name="object 27"/>
            <p:cNvSpPr/>
            <p:nvPr/>
          </p:nvSpPr>
          <p:spPr>
            <a:xfrm>
              <a:off x="1828799" y="560720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600" y="5843828"/>
              <a:ext cx="152399" cy="152399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7014159" y="5588152"/>
            <a:ext cx="152400" cy="408305"/>
            <a:chOff x="7014159" y="5588152"/>
            <a:chExt cx="152400" cy="408305"/>
          </a:xfrm>
        </p:grpSpPr>
        <p:sp>
          <p:nvSpPr>
            <p:cNvPr id="40" name="object 40"/>
            <p:cNvSpPr/>
            <p:nvPr/>
          </p:nvSpPr>
          <p:spPr>
            <a:xfrm>
              <a:off x="7090359" y="560720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4159" y="5843828"/>
              <a:ext cx="152399" cy="152399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12398909" y="5588152"/>
            <a:ext cx="152400" cy="408305"/>
            <a:chOff x="12398909" y="5588152"/>
            <a:chExt cx="152400" cy="408305"/>
          </a:xfrm>
        </p:grpSpPr>
        <p:sp>
          <p:nvSpPr>
            <p:cNvPr id="53" name="object 53"/>
            <p:cNvSpPr/>
            <p:nvPr/>
          </p:nvSpPr>
          <p:spPr>
            <a:xfrm>
              <a:off x="12475108" y="560720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98909" y="5843828"/>
              <a:ext cx="152399" cy="1523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735505" y="5975781"/>
            <a:ext cx="22402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Incremental</a:t>
            </a:r>
            <a:r>
              <a:rPr dirty="0" sz="200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volume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97065" y="5975781"/>
            <a:ext cx="2213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16435F"/>
                </a:solidFill>
                <a:latin typeface="Arial"/>
                <a:cs typeface="Arial"/>
              </a:rPr>
              <a:t>FX-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linked</a:t>
            </a:r>
            <a:r>
              <a:rPr dirty="0" sz="2000" spc="-5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revenues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381813" y="5975781"/>
            <a:ext cx="3199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Higher</a:t>
            </a:r>
            <a:r>
              <a:rPr dirty="0" sz="2000" spc="-7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realization</a:t>
            </a:r>
            <a:r>
              <a:rPr dirty="0" sz="2000" spc="-7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vs.</a:t>
            </a:r>
            <a:r>
              <a:rPr dirty="0" sz="2000" spc="-7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clinker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52600" y="6269240"/>
            <a:ext cx="152400" cy="408305"/>
            <a:chOff x="1752600" y="6269240"/>
            <a:chExt cx="152400" cy="408305"/>
          </a:xfrm>
        </p:grpSpPr>
        <p:sp>
          <p:nvSpPr>
            <p:cNvPr id="31" name="object 31"/>
            <p:cNvSpPr/>
            <p:nvPr/>
          </p:nvSpPr>
          <p:spPr>
            <a:xfrm>
              <a:off x="1828799" y="6288290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600" y="6524917"/>
              <a:ext cx="152399" cy="152399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7014159" y="6269240"/>
            <a:ext cx="152400" cy="408305"/>
            <a:chOff x="7014159" y="6269240"/>
            <a:chExt cx="152400" cy="408305"/>
          </a:xfrm>
        </p:grpSpPr>
        <p:sp>
          <p:nvSpPr>
            <p:cNvPr id="44" name="object 44"/>
            <p:cNvSpPr/>
            <p:nvPr/>
          </p:nvSpPr>
          <p:spPr>
            <a:xfrm>
              <a:off x="7090359" y="6288290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4159" y="6524917"/>
              <a:ext cx="152399" cy="152399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2398909" y="6269240"/>
            <a:ext cx="152400" cy="408305"/>
            <a:chOff x="12398909" y="6269240"/>
            <a:chExt cx="152400" cy="408305"/>
          </a:xfrm>
        </p:grpSpPr>
        <p:sp>
          <p:nvSpPr>
            <p:cNvPr id="57" name="object 57"/>
            <p:cNvSpPr/>
            <p:nvPr/>
          </p:nvSpPr>
          <p:spPr>
            <a:xfrm>
              <a:off x="12475108" y="6288290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98909" y="6524917"/>
              <a:ext cx="152399" cy="15239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743214" y="6682295"/>
            <a:ext cx="329755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Greater</a:t>
            </a:r>
            <a:r>
              <a:rPr dirty="0" sz="200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fixed-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cost</a:t>
            </a:r>
            <a:r>
              <a:rPr dirty="0" sz="200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absorption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04773" y="6682295"/>
            <a:ext cx="3115945" cy="546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ct val="70800"/>
              </a:lnSpc>
              <a:spcBef>
                <a:spcPts val="8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Natural</a:t>
            </a:r>
            <a:r>
              <a:rPr dirty="0" sz="2000" spc="-9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hedge</a:t>
            </a:r>
            <a:r>
              <a:rPr dirty="0" sz="2000" spc="-8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against</a:t>
            </a:r>
            <a:r>
              <a:rPr dirty="0" sz="2000" spc="-8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16435F"/>
                </a:solidFill>
                <a:latin typeface="Arial"/>
                <a:cs typeface="Arial"/>
              </a:rPr>
              <a:t>EGP </a:t>
            </a:r>
            <a:r>
              <a:rPr dirty="0" sz="2000" spc="-10">
                <a:solidFill>
                  <a:srgbClr val="16435F"/>
                </a:solidFill>
                <a:latin typeface="Arial"/>
                <a:cs typeface="Arial"/>
              </a:rPr>
              <a:t>depreciation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389522" y="6682295"/>
            <a:ext cx="4159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Better</a:t>
            </a:r>
            <a:r>
              <a:rPr dirty="0" sz="20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product</a:t>
            </a:r>
            <a:r>
              <a:rPr dirty="0" sz="20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mix</a:t>
            </a:r>
            <a:r>
              <a:rPr dirty="0" sz="20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6435F"/>
                </a:solidFill>
                <a:latin typeface="Arial"/>
                <a:cs typeface="Arial"/>
              </a:rPr>
              <a:t>customer</a:t>
            </a:r>
            <a:r>
              <a:rPr dirty="0" sz="2000" spc="-25">
                <a:solidFill>
                  <a:srgbClr val="16435F"/>
                </a:solidFill>
                <a:latin typeface="Arial"/>
                <a:cs typeface="Arial"/>
              </a:rPr>
              <a:t> mix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52600" y="7048500"/>
            <a:ext cx="152400" cy="389255"/>
            <a:chOff x="1752600" y="7048500"/>
            <a:chExt cx="152400" cy="389255"/>
          </a:xfrm>
        </p:grpSpPr>
        <p:sp>
          <p:nvSpPr>
            <p:cNvPr id="35" name="object 35"/>
            <p:cNvSpPr/>
            <p:nvPr/>
          </p:nvSpPr>
          <p:spPr>
            <a:xfrm>
              <a:off x="1828799" y="7048500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600" y="7285126"/>
              <a:ext cx="152399" cy="152399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12398909" y="7048500"/>
            <a:ext cx="152400" cy="389255"/>
            <a:chOff x="12398909" y="7048500"/>
            <a:chExt cx="152400" cy="389255"/>
          </a:xfrm>
        </p:grpSpPr>
        <p:sp>
          <p:nvSpPr>
            <p:cNvPr id="61" name="object 61"/>
            <p:cNvSpPr/>
            <p:nvPr/>
          </p:nvSpPr>
          <p:spPr>
            <a:xfrm>
              <a:off x="12475108" y="7048500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98909" y="7285126"/>
              <a:ext cx="152399" cy="152399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7017931" y="7212812"/>
            <a:ext cx="152400" cy="389255"/>
            <a:chOff x="7017931" y="7212812"/>
            <a:chExt cx="152400" cy="389255"/>
          </a:xfrm>
        </p:grpSpPr>
        <p:sp>
          <p:nvSpPr>
            <p:cNvPr id="48" name="object 48"/>
            <p:cNvSpPr/>
            <p:nvPr/>
          </p:nvSpPr>
          <p:spPr>
            <a:xfrm>
              <a:off x="7094131" y="721281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w="0" h="370204">
                  <a:moveTo>
                    <a:pt x="0" y="0"/>
                  </a:moveTo>
                  <a:lnTo>
                    <a:pt x="0" y="369976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7931" y="7449438"/>
              <a:ext cx="152399" cy="1523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735505" y="7530782"/>
            <a:ext cx="3213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EBITDA</a:t>
            </a:r>
            <a:r>
              <a:rPr dirty="0" sz="20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margin</a:t>
            </a:r>
            <a:r>
              <a:rPr dirty="0" sz="200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expansion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97065" y="7530782"/>
            <a:ext cx="28047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More</a:t>
            </a:r>
            <a:r>
              <a:rPr dirty="0" sz="2000" spc="-2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resilient</a:t>
            </a:r>
            <a:r>
              <a:rPr dirty="0" sz="2000" spc="-2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earnings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381813" y="7530782"/>
            <a:ext cx="3805554" cy="546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ct val="70800"/>
              </a:lnSpc>
              <a:spcBef>
                <a:spcPts val="800"/>
              </a:spcBef>
            </a:pP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Margin</a:t>
            </a:r>
            <a:r>
              <a:rPr dirty="0" sz="20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expansion</a:t>
            </a:r>
            <a:r>
              <a:rPr dirty="0" sz="20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00" spc="-5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6435F"/>
                </a:solidFill>
                <a:latin typeface="Arial"/>
                <a:cs typeface="Arial"/>
              </a:rPr>
              <a:t>stronger </a:t>
            </a:r>
            <a:r>
              <a:rPr dirty="0" sz="2000" b="1">
                <a:solidFill>
                  <a:srgbClr val="16435F"/>
                </a:solidFill>
                <a:latin typeface="Arial"/>
                <a:cs typeface="Arial"/>
              </a:rPr>
              <a:t>cash</a:t>
            </a:r>
            <a:r>
              <a:rPr dirty="0" sz="2000" spc="-6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6435F"/>
                </a:solidFill>
                <a:latin typeface="Arial"/>
                <a:cs typeface="Arial"/>
              </a:rPr>
              <a:t>flows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140" y="9053004"/>
            <a:ext cx="65614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Profile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2025;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FY2024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Earnings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Release,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0" y="9349307"/>
              <a:ext cx="2919095" cy="937894"/>
            </a:xfrm>
            <a:custGeom>
              <a:avLst/>
              <a:gdLst/>
              <a:ahLst/>
              <a:cxnLst/>
              <a:rect l="l" t="t" r="r" b="b"/>
              <a:pathLst>
                <a:path w="2919095" h="937895">
                  <a:moveTo>
                    <a:pt x="2463736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2487844" y="937691"/>
                  </a:lnTo>
                  <a:lnTo>
                    <a:pt x="2918790" y="481609"/>
                  </a:lnTo>
                  <a:lnTo>
                    <a:pt x="2463736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586989" y="9349307"/>
              <a:ext cx="3378200" cy="937894"/>
            </a:xfrm>
            <a:custGeom>
              <a:avLst/>
              <a:gdLst/>
              <a:ahLst/>
              <a:cxnLst/>
              <a:rect l="l" t="t" r="r" b="b"/>
              <a:pathLst>
                <a:path w="3378200" h="937895">
                  <a:moveTo>
                    <a:pt x="2922778" y="0"/>
                  </a:moveTo>
                  <a:lnTo>
                    <a:pt x="0" y="0"/>
                  </a:lnTo>
                  <a:lnTo>
                    <a:pt x="455048" y="481609"/>
                  </a:lnTo>
                  <a:lnTo>
                    <a:pt x="24107" y="937691"/>
                  </a:lnTo>
                  <a:lnTo>
                    <a:pt x="2946885" y="937691"/>
                  </a:lnTo>
                  <a:lnTo>
                    <a:pt x="3377819" y="481609"/>
                  </a:lnTo>
                  <a:lnTo>
                    <a:pt x="292277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637479" y="9349307"/>
              <a:ext cx="8257540" cy="937894"/>
            </a:xfrm>
            <a:custGeom>
              <a:avLst/>
              <a:gdLst/>
              <a:ahLst/>
              <a:cxnLst/>
              <a:rect l="l" t="t" r="r" b="b"/>
              <a:pathLst>
                <a:path w="8257540" h="937895">
                  <a:moveTo>
                    <a:pt x="2309799" y="481609"/>
                  </a:moveTo>
                  <a:lnTo>
                    <a:pt x="1854746" y="0"/>
                  </a:lnTo>
                  <a:lnTo>
                    <a:pt x="0" y="0"/>
                  </a:lnTo>
                  <a:lnTo>
                    <a:pt x="455041" y="481609"/>
                  </a:lnTo>
                  <a:lnTo>
                    <a:pt x="24104" y="937691"/>
                  </a:lnTo>
                  <a:lnTo>
                    <a:pt x="1878850" y="937691"/>
                  </a:lnTo>
                  <a:lnTo>
                    <a:pt x="2309799" y="481609"/>
                  </a:lnTo>
                  <a:close/>
                </a:path>
                <a:path w="8257540" h="937895">
                  <a:moveTo>
                    <a:pt x="4292257" y="481609"/>
                  </a:moveTo>
                  <a:lnTo>
                    <a:pt x="3837203" y="0"/>
                  </a:lnTo>
                  <a:lnTo>
                    <a:pt x="1982457" y="0"/>
                  </a:lnTo>
                  <a:lnTo>
                    <a:pt x="2437498" y="481609"/>
                  </a:lnTo>
                  <a:lnTo>
                    <a:pt x="2006561" y="937691"/>
                  </a:lnTo>
                  <a:lnTo>
                    <a:pt x="3861308" y="937691"/>
                  </a:lnTo>
                  <a:lnTo>
                    <a:pt x="4292257" y="481609"/>
                  </a:lnTo>
                  <a:close/>
                </a:path>
                <a:path w="8257540" h="937895">
                  <a:moveTo>
                    <a:pt x="6274714" y="481609"/>
                  </a:moveTo>
                  <a:lnTo>
                    <a:pt x="5819660" y="0"/>
                  </a:lnTo>
                  <a:lnTo>
                    <a:pt x="3964914" y="0"/>
                  </a:lnTo>
                  <a:lnTo>
                    <a:pt x="4419955" y="481609"/>
                  </a:lnTo>
                  <a:lnTo>
                    <a:pt x="3989019" y="937691"/>
                  </a:lnTo>
                  <a:lnTo>
                    <a:pt x="5843765" y="937691"/>
                  </a:lnTo>
                  <a:lnTo>
                    <a:pt x="6274714" y="481609"/>
                  </a:lnTo>
                  <a:close/>
                </a:path>
                <a:path w="8257540" h="937895">
                  <a:moveTo>
                    <a:pt x="8257184" y="481609"/>
                  </a:moveTo>
                  <a:lnTo>
                    <a:pt x="7802131" y="0"/>
                  </a:lnTo>
                  <a:lnTo>
                    <a:pt x="5947384" y="0"/>
                  </a:lnTo>
                  <a:lnTo>
                    <a:pt x="6402425" y="481609"/>
                  </a:lnTo>
                  <a:lnTo>
                    <a:pt x="5971489" y="937691"/>
                  </a:lnTo>
                  <a:lnTo>
                    <a:pt x="7826235" y="937691"/>
                  </a:lnTo>
                  <a:lnTo>
                    <a:pt x="825718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19830" y="9503536"/>
              <a:ext cx="584767" cy="65473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5048" y="9523323"/>
              <a:ext cx="810848" cy="61516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50545" y="9484232"/>
              <a:ext cx="714256" cy="70374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33003" y="9454908"/>
              <a:ext cx="679263" cy="75199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15460" y="9470770"/>
              <a:ext cx="737575" cy="70855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05753" y="9454908"/>
              <a:ext cx="560925" cy="708558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4002366" y="9551841"/>
            <a:ext cx="1069340" cy="54991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414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Industry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15" name="object 15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15983" y="498886"/>
            <a:ext cx="102812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Revenue,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GP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Margin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Performance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Assumptions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8681" y="1093927"/>
            <a:ext cx="9525" cy="1076960"/>
          </a:xfrm>
          <a:custGeom>
            <a:avLst/>
            <a:gdLst/>
            <a:ahLst/>
            <a:cxnLst/>
            <a:rect l="l" t="t" r="r" b="b"/>
            <a:pathLst>
              <a:path w="9525" h="1076960">
                <a:moveTo>
                  <a:pt x="9524" y="0"/>
                </a:moveTo>
                <a:lnTo>
                  <a:pt x="0" y="1076401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857942" y="1079512"/>
            <a:ext cx="1505711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Revenue</a:t>
            </a:r>
            <a:r>
              <a:rPr dirty="0" spc="-45"/>
              <a:t> </a:t>
            </a:r>
            <a:r>
              <a:rPr dirty="0"/>
              <a:t>Growth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Supported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40"/>
              <a:t> </a:t>
            </a:r>
            <a:r>
              <a:rPr dirty="0"/>
              <a:t>Sustained</a:t>
            </a:r>
            <a:r>
              <a:rPr dirty="0" spc="-40"/>
              <a:t> </a:t>
            </a:r>
            <a:r>
              <a:rPr dirty="0"/>
              <a:t>Gross</a:t>
            </a:r>
            <a:r>
              <a:rPr dirty="0" spc="-40"/>
              <a:t> </a:t>
            </a:r>
            <a:r>
              <a:rPr dirty="0"/>
              <a:t>Margin</a:t>
            </a:r>
            <a:r>
              <a:rPr dirty="0" spc="-40"/>
              <a:t> </a:t>
            </a:r>
            <a:r>
              <a:rPr dirty="0" spc="-10"/>
              <a:t>Expansion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7942" y="1562265"/>
            <a:ext cx="8997315" cy="57150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6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pricing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improving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have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lifted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GPM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sharply,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with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margins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remaining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resilient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through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2030E.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63115" y="2354224"/>
            <a:ext cx="5281295" cy="58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Revenue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Gross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Margin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Evolution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(</a:t>
            </a:r>
            <a:r>
              <a:rPr dirty="0" sz="1600" spc="-235">
                <a:solidFill>
                  <a:srgbClr val="244060"/>
                </a:solidFill>
                <a:latin typeface="Arial"/>
                <a:cs typeface="Arial"/>
              </a:rPr>
              <a:t>2</a:t>
            </a:r>
            <a:r>
              <a:rPr dirty="0" baseline="18518" sz="1350" spc="-352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r>
              <a:rPr dirty="0" sz="1600" spc="-670">
                <a:solidFill>
                  <a:srgbClr val="244060"/>
                </a:solidFill>
                <a:latin typeface="Arial"/>
                <a:cs typeface="Arial"/>
              </a:rPr>
              <a:t>0</a:t>
            </a:r>
            <a:r>
              <a:rPr dirty="0" baseline="18518" sz="1350" spc="-15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r>
              <a:rPr dirty="0" baseline="18518" sz="1350" spc="-39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1600" spc="-650">
                <a:solidFill>
                  <a:srgbClr val="244060"/>
                </a:solidFill>
                <a:latin typeface="Arial"/>
                <a:cs typeface="Arial"/>
              </a:rPr>
              <a:t>2</a:t>
            </a:r>
            <a:r>
              <a:rPr dirty="0" baseline="18518" sz="1350" spc="-15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baseline="18518" sz="1350" spc="-419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1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EGP Mn,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523888" y="2718625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39570" y="2874043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46%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08466" y="2833476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46%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1077905" y="2733255"/>
            <a:ext cx="4977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Volume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Pricing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Outlook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2025A–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2030F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32438" y="3208273"/>
            <a:ext cx="8317865" cy="4565650"/>
            <a:chOff x="1132438" y="3208273"/>
            <a:chExt cx="8317865" cy="4565650"/>
          </a:xfrm>
        </p:grpSpPr>
        <p:sp>
          <p:nvSpPr>
            <p:cNvPr id="22" name="object 22"/>
            <p:cNvSpPr/>
            <p:nvPr/>
          </p:nvSpPr>
          <p:spPr>
            <a:xfrm>
              <a:off x="1332801" y="3939247"/>
              <a:ext cx="7917180" cy="3820160"/>
            </a:xfrm>
            <a:custGeom>
              <a:avLst/>
              <a:gdLst/>
              <a:ahLst/>
              <a:cxnLst/>
              <a:rect l="l" t="t" r="r" b="b"/>
              <a:pathLst>
                <a:path w="7917180" h="3820159">
                  <a:moveTo>
                    <a:pt x="439572" y="3343656"/>
                  </a:moveTo>
                  <a:lnTo>
                    <a:pt x="0" y="3343656"/>
                  </a:lnTo>
                  <a:lnTo>
                    <a:pt x="0" y="3819906"/>
                  </a:lnTo>
                  <a:lnTo>
                    <a:pt x="439572" y="3819906"/>
                  </a:lnTo>
                  <a:lnTo>
                    <a:pt x="439572" y="3343656"/>
                  </a:lnTo>
                  <a:close/>
                </a:path>
                <a:path w="7917180" h="3820159">
                  <a:moveTo>
                    <a:pt x="1270368" y="2901975"/>
                  </a:moveTo>
                  <a:lnTo>
                    <a:pt x="830795" y="2901975"/>
                  </a:lnTo>
                  <a:lnTo>
                    <a:pt x="830795" y="3819906"/>
                  </a:lnTo>
                  <a:lnTo>
                    <a:pt x="1270368" y="3819906"/>
                  </a:lnTo>
                  <a:lnTo>
                    <a:pt x="1270368" y="2901975"/>
                  </a:lnTo>
                  <a:close/>
                </a:path>
                <a:path w="7917180" h="3820159">
                  <a:moveTo>
                    <a:pt x="2101164" y="2630614"/>
                  </a:moveTo>
                  <a:lnTo>
                    <a:pt x="1661591" y="2630614"/>
                  </a:lnTo>
                  <a:lnTo>
                    <a:pt x="1661591" y="3819906"/>
                  </a:lnTo>
                  <a:lnTo>
                    <a:pt x="2101164" y="3819906"/>
                  </a:lnTo>
                  <a:lnTo>
                    <a:pt x="2101164" y="2630614"/>
                  </a:lnTo>
                  <a:close/>
                </a:path>
                <a:path w="7917180" h="3820159">
                  <a:moveTo>
                    <a:pt x="2931960" y="2097570"/>
                  </a:moveTo>
                  <a:lnTo>
                    <a:pt x="2492387" y="2097570"/>
                  </a:lnTo>
                  <a:lnTo>
                    <a:pt x="2492387" y="3819906"/>
                  </a:lnTo>
                  <a:lnTo>
                    <a:pt x="2931960" y="3819906"/>
                  </a:lnTo>
                  <a:lnTo>
                    <a:pt x="2931960" y="2097570"/>
                  </a:lnTo>
                  <a:close/>
                </a:path>
                <a:path w="7917180" h="3820159">
                  <a:moveTo>
                    <a:pt x="3762756" y="1360055"/>
                  </a:moveTo>
                  <a:lnTo>
                    <a:pt x="3323183" y="1360055"/>
                  </a:lnTo>
                  <a:lnTo>
                    <a:pt x="3323183" y="3819906"/>
                  </a:lnTo>
                  <a:lnTo>
                    <a:pt x="3762756" y="3819906"/>
                  </a:lnTo>
                  <a:lnTo>
                    <a:pt x="3762756" y="1360055"/>
                  </a:lnTo>
                  <a:close/>
                </a:path>
                <a:path w="7917180" h="3820159">
                  <a:moveTo>
                    <a:pt x="4593552" y="907961"/>
                  </a:moveTo>
                  <a:lnTo>
                    <a:pt x="4153979" y="907961"/>
                  </a:lnTo>
                  <a:lnTo>
                    <a:pt x="4153979" y="3819906"/>
                  </a:lnTo>
                  <a:lnTo>
                    <a:pt x="4593552" y="3819906"/>
                  </a:lnTo>
                  <a:lnTo>
                    <a:pt x="4593552" y="907961"/>
                  </a:lnTo>
                  <a:close/>
                </a:path>
                <a:path w="7917180" h="3820159">
                  <a:moveTo>
                    <a:pt x="5424348" y="626757"/>
                  </a:moveTo>
                  <a:lnTo>
                    <a:pt x="4984775" y="626757"/>
                  </a:lnTo>
                  <a:lnTo>
                    <a:pt x="4984775" y="3819906"/>
                  </a:lnTo>
                  <a:lnTo>
                    <a:pt x="5424348" y="3819906"/>
                  </a:lnTo>
                  <a:lnTo>
                    <a:pt x="5424348" y="626757"/>
                  </a:lnTo>
                  <a:close/>
                </a:path>
                <a:path w="7917180" h="3820159">
                  <a:moveTo>
                    <a:pt x="6255143" y="403580"/>
                  </a:moveTo>
                  <a:lnTo>
                    <a:pt x="5815571" y="403580"/>
                  </a:lnTo>
                  <a:lnTo>
                    <a:pt x="5815571" y="3819906"/>
                  </a:lnTo>
                  <a:lnTo>
                    <a:pt x="6255143" y="3819906"/>
                  </a:lnTo>
                  <a:lnTo>
                    <a:pt x="6255143" y="403580"/>
                  </a:lnTo>
                  <a:close/>
                </a:path>
                <a:path w="7917180" h="3820159">
                  <a:moveTo>
                    <a:pt x="7085939" y="203695"/>
                  </a:moveTo>
                  <a:lnTo>
                    <a:pt x="6646367" y="203695"/>
                  </a:lnTo>
                  <a:lnTo>
                    <a:pt x="6646367" y="3819906"/>
                  </a:lnTo>
                  <a:lnTo>
                    <a:pt x="7085939" y="3819906"/>
                  </a:lnTo>
                  <a:lnTo>
                    <a:pt x="7085939" y="203695"/>
                  </a:lnTo>
                  <a:close/>
                </a:path>
                <a:path w="7917180" h="3820159">
                  <a:moveTo>
                    <a:pt x="7916735" y="0"/>
                  </a:moveTo>
                  <a:lnTo>
                    <a:pt x="7477150" y="0"/>
                  </a:lnTo>
                  <a:lnTo>
                    <a:pt x="7477150" y="3819906"/>
                  </a:lnTo>
                  <a:lnTo>
                    <a:pt x="7916735" y="3819906"/>
                  </a:lnTo>
                  <a:lnTo>
                    <a:pt x="7916735" y="0"/>
                  </a:lnTo>
                  <a:close/>
                </a:path>
              </a:pathLst>
            </a:custGeom>
            <a:solidFill>
              <a:srgbClr val="70C8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37201" y="7768678"/>
              <a:ext cx="8308340" cy="0"/>
            </a:xfrm>
            <a:custGeom>
              <a:avLst/>
              <a:gdLst/>
              <a:ahLst/>
              <a:cxnLst/>
              <a:rect l="l" t="t" r="r" b="b"/>
              <a:pathLst>
                <a:path w="8308340" h="0">
                  <a:moveTo>
                    <a:pt x="0" y="0"/>
                  </a:moveTo>
                  <a:lnTo>
                    <a:pt x="8307947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32433" y="7763928"/>
              <a:ext cx="8317865" cy="9525"/>
            </a:xfrm>
            <a:custGeom>
              <a:avLst/>
              <a:gdLst/>
              <a:ahLst/>
              <a:cxnLst/>
              <a:rect l="l" t="t" r="r" b="b"/>
              <a:pathLst>
                <a:path w="8317865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8317865" h="9525">
                  <a:moveTo>
                    <a:pt x="840320" y="4749"/>
                  </a:moveTo>
                  <a:lnTo>
                    <a:pt x="838923" y="1384"/>
                  </a:lnTo>
                  <a:lnTo>
                    <a:pt x="835558" y="0"/>
                  </a:lnTo>
                  <a:lnTo>
                    <a:pt x="832192" y="1384"/>
                  </a:lnTo>
                  <a:lnTo>
                    <a:pt x="830795" y="4749"/>
                  </a:lnTo>
                  <a:lnTo>
                    <a:pt x="832192" y="8128"/>
                  </a:lnTo>
                  <a:lnTo>
                    <a:pt x="835558" y="9512"/>
                  </a:lnTo>
                  <a:lnTo>
                    <a:pt x="838923" y="8128"/>
                  </a:lnTo>
                  <a:lnTo>
                    <a:pt x="840320" y="4749"/>
                  </a:lnTo>
                  <a:close/>
                </a:path>
                <a:path w="8317865" h="9525">
                  <a:moveTo>
                    <a:pt x="1671116" y="4749"/>
                  </a:moveTo>
                  <a:lnTo>
                    <a:pt x="1669719" y="1384"/>
                  </a:lnTo>
                  <a:lnTo>
                    <a:pt x="1666354" y="0"/>
                  </a:lnTo>
                  <a:lnTo>
                    <a:pt x="1662988" y="1384"/>
                  </a:lnTo>
                  <a:lnTo>
                    <a:pt x="1661591" y="4749"/>
                  </a:lnTo>
                  <a:lnTo>
                    <a:pt x="1662988" y="8128"/>
                  </a:lnTo>
                  <a:lnTo>
                    <a:pt x="1666354" y="9512"/>
                  </a:lnTo>
                  <a:lnTo>
                    <a:pt x="1669719" y="8128"/>
                  </a:lnTo>
                  <a:lnTo>
                    <a:pt x="1671116" y="4749"/>
                  </a:lnTo>
                  <a:close/>
                </a:path>
                <a:path w="8317865" h="9525">
                  <a:moveTo>
                    <a:pt x="2501912" y="4749"/>
                  </a:moveTo>
                  <a:lnTo>
                    <a:pt x="2500515" y="1384"/>
                  </a:lnTo>
                  <a:lnTo>
                    <a:pt x="2497150" y="0"/>
                  </a:lnTo>
                  <a:lnTo>
                    <a:pt x="2493784" y="1384"/>
                  </a:lnTo>
                  <a:lnTo>
                    <a:pt x="2492387" y="4749"/>
                  </a:lnTo>
                  <a:lnTo>
                    <a:pt x="2493784" y="8128"/>
                  </a:lnTo>
                  <a:lnTo>
                    <a:pt x="2497150" y="9512"/>
                  </a:lnTo>
                  <a:lnTo>
                    <a:pt x="2500515" y="8128"/>
                  </a:lnTo>
                  <a:lnTo>
                    <a:pt x="2501912" y="4749"/>
                  </a:lnTo>
                  <a:close/>
                </a:path>
                <a:path w="8317865" h="9525">
                  <a:moveTo>
                    <a:pt x="3332708" y="4749"/>
                  </a:moveTo>
                  <a:lnTo>
                    <a:pt x="3331311" y="1384"/>
                  </a:lnTo>
                  <a:lnTo>
                    <a:pt x="3327946" y="0"/>
                  </a:lnTo>
                  <a:lnTo>
                    <a:pt x="3324580" y="1384"/>
                  </a:lnTo>
                  <a:lnTo>
                    <a:pt x="3323183" y="4749"/>
                  </a:lnTo>
                  <a:lnTo>
                    <a:pt x="3324580" y="8128"/>
                  </a:lnTo>
                  <a:lnTo>
                    <a:pt x="3327946" y="9512"/>
                  </a:lnTo>
                  <a:lnTo>
                    <a:pt x="3331311" y="8128"/>
                  </a:lnTo>
                  <a:lnTo>
                    <a:pt x="3332708" y="4749"/>
                  </a:lnTo>
                  <a:close/>
                </a:path>
                <a:path w="8317865" h="9525">
                  <a:moveTo>
                    <a:pt x="4163491" y="4749"/>
                  </a:moveTo>
                  <a:lnTo>
                    <a:pt x="4162094" y="1384"/>
                  </a:lnTo>
                  <a:lnTo>
                    <a:pt x="4158729" y="0"/>
                  </a:lnTo>
                  <a:lnTo>
                    <a:pt x="4155363" y="1384"/>
                  </a:lnTo>
                  <a:lnTo>
                    <a:pt x="4153966" y="4749"/>
                  </a:lnTo>
                  <a:lnTo>
                    <a:pt x="4155363" y="8128"/>
                  </a:lnTo>
                  <a:lnTo>
                    <a:pt x="4158729" y="9512"/>
                  </a:lnTo>
                  <a:lnTo>
                    <a:pt x="4162094" y="8128"/>
                  </a:lnTo>
                  <a:lnTo>
                    <a:pt x="4163491" y="4749"/>
                  </a:lnTo>
                  <a:close/>
                </a:path>
                <a:path w="8317865" h="9525">
                  <a:moveTo>
                    <a:pt x="4994287" y="4749"/>
                  </a:moveTo>
                  <a:lnTo>
                    <a:pt x="4992890" y="1384"/>
                  </a:lnTo>
                  <a:lnTo>
                    <a:pt x="4989525" y="0"/>
                  </a:lnTo>
                  <a:lnTo>
                    <a:pt x="4986159" y="1384"/>
                  </a:lnTo>
                  <a:lnTo>
                    <a:pt x="4984762" y="4749"/>
                  </a:lnTo>
                  <a:lnTo>
                    <a:pt x="4986159" y="8128"/>
                  </a:lnTo>
                  <a:lnTo>
                    <a:pt x="4989525" y="9512"/>
                  </a:lnTo>
                  <a:lnTo>
                    <a:pt x="4992890" y="8128"/>
                  </a:lnTo>
                  <a:lnTo>
                    <a:pt x="4994287" y="4749"/>
                  </a:lnTo>
                  <a:close/>
                </a:path>
                <a:path w="8317865" h="9525">
                  <a:moveTo>
                    <a:pt x="5825083" y="4749"/>
                  </a:moveTo>
                  <a:lnTo>
                    <a:pt x="5823686" y="1384"/>
                  </a:lnTo>
                  <a:lnTo>
                    <a:pt x="5820321" y="0"/>
                  </a:lnTo>
                  <a:lnTo>
                    <a:pt x="5816955" y="1384"/>
                  </a:lnTo>
                  <a:lnTo>
                    <a:pt x="5815558" y="4749"/>
                  </a:lnTo>
                  <a:lnTo>
                    <a:pt x="5816955" y="8128"/>
                  </a:lnTo>
                  <a:lnTo>
                    <a:pt x="5820321" y="9512"/>
                  </a:lnTo>
                  <a:lnTo>
                    <a:pt x="5823686" y="8128"/>
                  </a:lnTo>
                  <a:lnTo>
                    <a:pt x="5825083" y="4749"/>
                  </a:lnTo>
                  <a:close/>
                </a:path>
                <a:path w="8317865" h="9525">
                  <a:moveTo>
                    <a:pt x="6655879" y="4749"/>
                  </a:moveTo>
                  <a:lnTo>
                    <a:pt x="6654482" y="1384"/>
                  </a:lnTo>
                  <a:lnTo>
                    <a:pt x="6651117" y="0"/>
                  </a:lnTo>
                  <a:lnTo>
                    <a:pt x="6647751" y="1384"/>
                  </a:lnTo>
                  <a:lnTo>
                    <a:pt x="6646354" y="4749"/>
                  </a:lnTo>
                  <a:lnTo>
                    <a:pt x="6647751" y="8128"/>
                  </a:lnTo>
                  <a:lnTo>
                    <a:pt x="6651117" y="9512"/>
                  </a:lnTo>
                  <a:lnTo>
                    <a:pt x="6654482" y="8128"/>
                  </a:lnTo>
                  <a:lnTo>
                    <a:pt x="6655879" y="4749"/>
                  </a:lnTo>
                  <a:close/>
                </a:path>
                <a:path w="8317865" h="9525">
                  <a:moveTo>
                    <a:pt x="7486675" y="4749"/>
                  </a:moveTo>
                  <a:lnTo>
                    <a:pt x="7485278" y="1384"/>
                  </a:lnTo>
                  <a:lnTo>
                    <a:pt x="7481913" y="0"/>
                  </a:lnTo>
                  <a:lnTo>
                    <a:pt x="7478547" y="1384"/>
                  </a:lnTo>
                  <a:lnTo>
                    <a:pt x="7477150" y="4749"/>
                  </a:lnTo>
                  <a:lnTo>
                    <a:pt x="7478547" y="8128"/>
                  </a:lnTo>
                  <a:lnTo>
                    <a:pt x="7481913" y="9512"/>
                  </a:lnTo>
                  <a:lnTo>
                    <a:pt x="7485278" y="8128"/>
                  </a:lnTo>
                  <a:lnTo>
                    <a:pt x="7486675" y="4749"/>
                  </a:lnTo>
                  <a:close/>
                </a:path>
                <a:path w="8317865" h="9525">
                  <a:moveTo>
                    <a:pt x="8317471" y="4749"/>
                  </a:moveTo>
                  <a:lnTo>
                    <a:pt x="8316074" y="1384"/>
                  </a:lnTo>
                  <a:lnTo>
                    <a:pt x="8312709" y="0"/>
                  </a:lnTo>
                  <a:lnTo>
                    <a:pt x="8309343" y="1384"/>
                  </a:lnTo>
                  <a:lnTo>
                    <a:pt x="8307946" y="4749"/>
                  </a:lnTo>
                  <a:lnTo>
                    <a:pt x="8309343" y="8128"/>
                  </a:lnTo>
                  <a:lnTo>
                    <a:pt x="8312709" y="9512"/>
                  </a:lnTo>
                  <a:lnTo>
                    <a:pt x="8316074" y="8128"/>
                  </a:lnTo>
                  <a:lnTo>
                    <a:pt x="8317471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52597" y="3240595"/>
              <a:ext cx="7477759" cy="2811145"/>
            </a:xfrm>
            <a:custGeom>
              <a:avLst/>
              <a:gdLst/>
              <a:ahLst/>
              <a:cxnLst/>
              <a:rect l="l" t="t" r="r" b="b"/>
              <a:pathLst>
                <a:path w="7477759" h="2811145">
                  <a:moveTo>
                    <a:pt x="0" y="2810878"/>
                  </a:moveTo>
                  <a:lnTo>
                    <a:pt x="83080" y="2741510"/>
                  </a:lnTo>
                  <a:lnTo>
                    <a:pt x="166159" y="2668320"/>
                  </a:lnTo>
                  <a:lnTo>
                    <a:pt x="249238" y="2592971"/>
                  </a:lnTo>
                  <a:lnTo>
                    <a:pt x="332318" y="2517076"/>
                  </a:lnTo>
                  <a:lnTo>
                    <a:pt x="415400" y="2442273"/>
                  </a:lnTo>
                  <a:lnTo>
                    <a:pt x="498471" y="2370175"/>
                  </a:lnTo>
                  <a:lnTo>
                    <a:pt x="581554" y="2302421"/>
                  </a:lnTo>
                  <a:lnTo>
                    <a:pt x="664637" y="2240648"/>
                  </a:lnTo>
                  <a:lnTo>
                    <a:pt x="747721" y="2186482"/>
                  </a:lnTo>
                  <a:lnTo>
                    <a:pt x="830792" y="2141537"/>
                  </a:lnTo>
                </a:path>
                <a:path w="7477759" h="2811145">
                  <a:moveTo>
                    <a:pt x="830792" y="2141537"/>
                  </a:moveTo>
                  <a:lnTo>
                    <a:pt x="913875" y="2106993"/>
                  </a:lnTo>
                  <a:lnTo>
                    <a:pt x="996958" y="2081834"/>
                  </a:lnTo>
                  <a:lnTo>
                    <a:pt x="1080029" y="2064346"/>
                  </a:lnTo>
                  <a:lnTo>
                    <a:pt x="1163112" y="2052853"/>
                  </a:lnTo>
                  <a:lnTo>
                    <a:pt x="1246196" y="2045665"/>
                  </a:lnTo>
                  <a:lnTo>
                    <a:pt x="1329267" y="2041093"/>
                  </a:lnTo>
                  <a:lnTo>
                    <a:pt x="1412350" y="2037448"/>
                  </a:lnTo>
                  <a:lnTo>
                    <a:pt x="1495433" y="2033054"/>
                  </a:lnTo>
                  <a:lnTo>
                    <a:pt x="1578504" y="2026208"/>
                  </a:lnTo>
                  <a:lnTo>
                    <a:pt x="1661587" y="2015235"/>
                  </a:lnTo>
                </a:path>
                <a:path w="7477759" h="2811145">
                  <a:moveTo>
                    <a:pt x="1661587" y="2015235"/>
                  </a:moveTo>
                  <a:lnTo>
                    <a:pt x="1744671" y="2007997"/>
                  </a:lnTo>
                  <a:lnTo>
                    <a:pt x="1827754" y="2010600"/>
                  </a:lnTo>
                  <a:lnTo>
                    <a:pt x="1910825" y="2018741"/>
                  </a:lnTo>
                  <a:lnTo>
                    <a:pt x="1993908" y="2028139"/>
                  </a:lnTo>
                  <a:lnTo>
                    <a:pt x="2076992" y="2034463"/>
                  </a:lnTo>
                  <a:lnTo>
                    <a:pt x="2160062" y="2033422"/>
                  </a:lnTo>
                  <a:lnTo>
                    <a:pt x="2243146" y="2020709"/>
                  </a:lnTo>
                  <a:lnTo>
                    <a:pt x="2326229" y="1992020"/>
                  </a:lnTo>
                  <a:lnTo>
                    <a:pt x="2409300" y="1943049"/>
                  </a:lnTo>
                  <a:lnTo>
                    <a:pt x="2492383" y="1869503"/>
                  </a:lnTo>
                </a:path>
                <a:path w="7477759" h="2811145">
                  <a:moveTo>
                    <a:pt x="2492383" y="1869503"/>
                  </a:moveTo>
                  <a:lnTo>
                    <a:pt x="2575467" y="1762239"/>
                  </a:lnTo>
                  <a:lnTo>
                    <a:pt x="2658537" y="1620647"/>
                  </a:lnTo>
                  <a:lnTo>
                    <a:pt x="2741621" y="1453222"/>
                  </a:lnTo>
                  <a:lnTo>
                    <a:pt x="2824704" y="1268425"/>
                  </a:lnTo>
                  <a:lnTo>
                    <a:pt x="2907788" y="1074737"/>
                  </a:lnTo>
                  <a:lnTo>
                    <a:pt x="2990858" y="880643"/>
                  </a:lnTo>
                  <a:lnTo>
                    <a:pt x="3073942" y="694601"/>
                  </a:lnTo>
                  <a:lnTo>
                    <a:pt x="3157025" y="525106"/>
                  </a:lnTo>
                  <a:lnTo>
                    <a:pt x="3240096" y="380631"/>
                  </a:lnTo>
                  <a:lnTo>
                    <a:pt x="3323179" y="269659"/>
                  </a:lnTo>
                </a:path>
                <a:path w="7477759" h="2811145">
                  <a:moveTo>
                    <a:pt x="3323179" y="269659"/>
                  </a:moveTo>
                  <a:lnTo>
                    <a:pt x="3406263" y="190436"/>
                  </a:lnTo>
                  <a:lnTo>
                    <a:pt x="3489333" y="133223"/>
                  </a:lnTo>
                  <a:lnTo>
                    <a:pt x="3572417" y="94449"/>
                  </a:lnTo>
                  <a:lnTo>
                    <a:pt x="3655500" y="70573"/>
                  </a:lnTo>
                  <a:lnTo>
                    <a:pt x="3738571" y="58051"/>
                  </a:lnTo>
                  <a:lnTo>
                    <a:pt x="3821654" y="53327"/>
                  </a:lnTo>
                  <a:lnTo>
                    <a:pt x="3904738" y="52857"/>
                  </a:lnTo>
                  <a:lnTo>
                    <a:pt x="3987821" y="53073"/>
                  </a:lnTo>
                  <a:lnTo>
                    <a:pt x="4070892" y="50444"/>
                  </a:lnTo>
                  <a:lnTo>
                    <a:pt x="4153975" y="41401"/>
                  </a:lnTo>
                </a:path>
                <a:path w="7477759" h="2811145">
                  <a:moveTo>
                    <a:pt x="4153975" y="41401"/>
                  </a:moveTo>
                  <a:lnTo>
                    <a:pt x="4237059" y="29540"/>
                  </a:lnTo>
                  <a:lnTo>
                    <a:pt x="4320129" y="20510"/>
                  </a:lnTo>
                  <a:lnTo>
                    <a:pt x="4403213" y="13919"/>
                  </a:lnTo>
                  <a:lnTo>
                    <a:pt x="4486296" y="9334"/>
                  </a:lnTo>
                  <a:lnTo>
                    <a:pt x="4569367" y="6362"/>
                  </a:lnTo>
                  <a:lnTo>
                    <a:pt x="4652450" y="4584"/>
                  </a:lnTo>
                  <a:lnTo>
                    <a:pt x="4735534" y="3581"/>
                  </a:lnTo>
                  <a:lnTo>
                    <a:pt x="4818604" y="2946"/>
                  </a:lnTo>
                  <a:lnTo>
                    <a:pt x="4901688" y="2273"/>
                  </a:lnTo>
                  <a:lnTo>
                    <a:pt x="4984771" y="1143"/>
                  </a:lnTo>
                </a:path>
                <a:path w="7477759" h="2811145">
                  <a:moveTo>
                    <a:pt x="4984771" y="1143"/>
                  </a:moveTo>
                  <a:lnTo>
                    <a:pt x="5067842" y="126"/>
                  </a:lnTo>
                  <a:lnTo>
                    <a:pt x="5150925" y="0"/>
                  </a:lnTo>
                  <a:lnTo>
                    <a:pt x="5234009" y="596"/>
                  </a:lnTo>
                  <a:lnTo>
                    <a:pt x="5317092" y="1739"/>
                  </a:lnTo>
                  <a:lnTo>
                    <a:pt x="5400163" y="3289"/>
                  </a:lnTo>
                  <a:lnTo>
                    <a:pt x="5483246" y="5079"/>
                  </a:lnTo>
                  <a:lnTo>
                    <a:pt x="5566329" y="6934"/>
                  </a:lnTo>
                  <a:lnTo>
                    <a:pt x="5649400" y="8712"/>
                  </a:lnTo>
                  <a:lnTo>
                    <a:pt x="5732484" y="10248"/>
                  </a:lnTo>
                  <a:lnTo>
                    <a:pt x="5815567" y="11366"/>
                  </a:lnTo>
                </a:path>
                <a:path w="7477759" h="2811145">
                  <a:moveTo>
                    <a:pt x="5815567" y="11366"/>
                  </a:moveTo>
                  <a:lnTo>
                    <a:pt x="5898638" y="12217"/>
                  </a:lnTo>
                  <a:lnTo>
                    <a:pt x="5981721" y="13004"/>
                  </a:lnTo>
                  <a:lnTo>
                    <a:pt x="6064804" y="13754"/>
                  </a:lnTo>
                  <a:lnTo>
                    <a:pt x="6147888" y="14477"/>
                  </a:lnTo>
                  <a:lnTo>
                    <a:pt x="6230959" y="15163"/>
                  </a:lnTo>
                  <a:lnTo>
                    <a:pt x="6314042" y="15836"/>
                  </a:lnTo>
                  <a:lnTo>
                    <a:pt x="6397125" y="16497"/>
                  </a:lnTo>
                  <a:lnTo>
                    <a:pt x="6480196" y="17157"/>
                  </a:lnTo>
                  <a:lnTo>
                    <a:pt x="6563279" y="17818"/>
                  </a:lnTo>
                  <a:lnTo>
                    <a:pt x="6646363" y="18478"/>
                  </a:lnTo>
                </a:path>
                <a:path w="7477759" h="2811145">
                  <a:moveTo>
                    <a:pt x="6646363" y="18478"/>
                  </a:moveTo>
                  <a:lnTo>
                    <a:pt x="6729434" y="19151"/>
                  </a:lnTo>
                  <a:lnTo>
                    <a:pt x="6812517" y="19811"/>
                  </a:lnTo>
                  <a:lnTo>
                    <a:pt x="6895600" y="20459"/>
                  </a:lnTo>
                  <a:lnTo>
                    <a:pt x="6978671" y="21094"/>
                  </a:lnTo>
                  <a:lnTo>
                    <a:pt x="7061754" y="21729"/>
                  </a:lnTo>
                  <a:lnTo>
                    <a:pt x="7144838" y="22364"/>
                  </a:lnTo>
                  <a:lnTo>
                    <a:pt x="7227909" y="22986"/>
                  </a:lnTo>
                  <a:lnTo>
                    <a:pt x="7310992" y="23622"/>
                  </a:lnTo>
                  <a:lnTo>
                    <a:pt x="7394075" y="24256"/>
                  </a:lnTo>
                  <a:lnTo>
                    <a:pt x="7477146" y="24892"/>
                  </a:lnTo>
                </a:path>
              </a:pathLst>
            </a:custGeom>
            <a:ln w="34924">
              <a:solidFill>
                <a:srgbClr val="2740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9140" y="6018022"/>
              <a:ext cx="66915" cy="669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49938" y="5348668"/>
              <a:ext cx="66916" cy="669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80734" y="5222379"/>
              <a:ext cx="66916" cy="669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11529" y="5076634"/>
              <a:ext cx="66916" cy="669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2325" y="3476802"/>
              <a:ext cx="66903" cy="6690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3108" y="3248545"/>
              <a:ext cx="66916" cy="6690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03905" y="3208273"/>
              <a:ext cx="66916" cy="669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34700" y="3218510"/>
              <a:ext cx="66916" cy="669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65497" y="3225622"/>
              <a:ext cx="66916" cy="669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96292" y="3232022"/>
              <a:ext cx="66916" cy="66916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8288462" y="2916790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45%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119258" y="3100995"/>
            <a:ext cx="627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45%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45%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1474" y="3447708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45%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39807" y="3710557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39878" y="3637864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43%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73652" y="3651420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19303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523888" y="3710557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40%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42857" y="3855106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18276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12073" y="4054995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17269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523888" y="4206519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35%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81277" y="4278172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16144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9807" y="4702492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75682" y="4526508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27%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50482" y="4559376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14726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523888" y="4702492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19686" y="5011470"/>
            <a:ext cx="540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404040"/>
                </a:solidFill>
                <a:latin typeface="Calibri"/>
                <a:cs typeface="Calibri"/>
              </a:rPr>
              <a:t>12447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523888" y="5198452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25%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1051299" y="3437699"/>
            <a:ext cx="6065520" cy="2118360"/>
          </a:xfrm>
          <a:custGeom>
            <a:avLst/>
            <a:gdLst/>
            <a:ahLst/>
            <a:cxnLst/>
            <a:rect l="l" t="t" r="r" b="b"/>
            <a:pathLst>
              <a:path w="6065519" h="2118360">
                <a:moveTo>
                  <a:pt x="6065190" y="353060"/>
                </a:moveTo>
                <a:lnTo>
                  <a:pt x="6061938" y="305435"/>
                </a:lnTo>
                <a:lnTo>
                  <a:pt x="6052477" y="259664"/>
                </a:lnTo>
                <a:lnTo>
                  <a:pt x="6037250" y="216192"/>
                </a:lnTo>
                <a:lnTo>
                  <a:pt x="6016688" y="175450"/>
                </a:lnTo>
                <a:lnTo>
                  <a:pt x="5991212" y="137883"/>
                </a:lnTo>
                <a:lnTo>
                  <a:pt x="5961278" y="103911"/>
                </a:lnTo>
                <a:lnTo>
                  <a:pt x="5927306" y="73964"/>
                </a:lnTo>
                <a:lnTo>
                  <a:pt x="5889726" y="48501"/>
                </a:lnTo>
                <a:lnTo>
                  <a:pt x="5848985" y="27940"/>
                </a:lnTo>
                <a:lnTo>
                  <a:pt x="5805513" y="12712"/>
                </a:lnTo>
                <a:lnTo>
                  <a:pt x="5759742" y="3251"/>
                </a:lnTo>
                <a:lnTo>
                  <a:pt x="5712117" y="0"/>
                </a:lnTo>
                <a:lnTo>
                  <a:pt x="353060" y="0"/>
                </a:lnTo>
                <a:lnTo>
                  <a:pt x="305422" y="3251"/>
                </a:lnTo>
                <a:lnTo>
                  <a:pt x="259651" y="12712"/>
                </a:lnTo>
                <a:lnTo>
                  <a:pt x="216179" y="27940"/>
                </a:lnTo>
                <a:lnTo>
                  <a:pt x="175437" y="48501"/>
                </a:lnTo>
                <a:lnTo>
                  <a:pt x="137871" y="73964"/>
                </a:lnTo>
                <a:lnTo>
                  <a:pt x="103898" y="103911"/>
                </a:lnTo>
                <a:lnTo>
                  <a:pt x="73952" y="137883"/>
                </a:lnTo>
                <a:lnTo>
                  <a:pt x="48488" y="175450"/>
                </a:lnTo>
                <a:lnTo>
                  <a:pt x="27927" y="216192"/>
                </a:lnTo>
                <a:lnTo>
                  <a:pt x="12700" y="259664"/>
                </a:lnTo>
                <a:lnTo>
                  <a:pt x="3238" y="305435"/>
                </a:lnTo>
                <a:lnTo>
                  <a:pt x="0" y="353060"/>
                </a:lnTo>
                <a:lnTo>
                  <a:pt x="0" y="1765287"/>
                </a:lnTo>
                <a:lnTo>
                  <a:pt x="3238" y="1812925"/>
                </a:lnTo>
                <a:lnTo>
                  <a:pt x="12700" y="1858695"/>
                </a:lnTo>
                <a:lnTo>
                  <a:pt x="27927" y="1902167"/>
                </a:lnTo>
                <a:lnTo>
                  <a:pt x="48488" y="1942909"/>
                </a:lnTo>
                <a:lnTo>
                  <a:pt x="73952" y="1980488"/>
                </a:lnTo>
                <a:lnTo>
                  <a:pt x="103898" y="2014461"/>
                </a:lnTo>
                <a:lnTo>
                  <a:pt x="137871" y="2044395"/>
                </a:lnTo>
                <a:lnTo>
                  <a:pt x="175437" y="2069858"/>
                </a:lnTo>
                <a:lnTo>
                  <a:pt x="216179" y="2090420"/>
                </a:lnTo>
                <a:lnTo>
                  <a:pt x="259651" y="2105647"/>
                </a:lnTo>
                <a:lnTo>
                  <a:pt x="305422" y="2115108"/>
                </a:lnTo>
                <a:lnTo>
                  <a:pt x="353060" y="2118347"/>
                </a:lnTo>
                <a:lnTo>
                  <a:pt x="5712117" y="2118347"/>
                </a:lnTo>
                <a:lnTo>
                  <a:pt x="5759742" y="2115108"/>
                </a:lnTo>
                <a:lnTo>
                  <a:pt x="5805513" y="2105647"/>
                </a:lnTo>
                <a:lnTo>
                  <a:pt x="5848985" y="2090420"/>
                </a:lnTo>
                <a:lnTo>
                  <a:pt x="5889726" y="2069858"/>
                </a:lnTo>
                <a:lnTo>
                  <a:pt x="5927306" y="2044395"/>
                </a:lnTo>
                <a:lnTo>
                  <a:pt x="5961278" y="2014461"/>
                </a:lnTo>
                <a:lnTo>
                  <a:pt x="5991212" y="1980488"/>
                </a:lnTo>
                <a:lnTo>
                  <a:pt x="6016688" y="1942909"/>
                </a:lnTo>
                <a:lnTo>
                  <a:pt x="6037250" y="1902167"/>
                </a:lnTo>
                <a:lnTo>
                  <a:pt x="6052477" y="1858695"/>
                </a:lnTo>
                <a:lnTo>
                  <a:pt x="6061938" y="1812925"/>
                </a:lnTo>
                <a:lnTo>
                  <a:pt x="6065190" y="1765287"/>
                </a:lnTo>
                <a:lnTo>
                  <a:pt x="6065190" y="353060"/>
                </a:lnTo>
                <a:close/>
              </a:path>
            </a:pathLst>
          </a:custGeom>
          <a:solidFill>
            <a:srgbClr val="C7ED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1409616" y="3685197"/>
            <a:ext cx="3175635" cy="1853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55"/>
              </a:lnSpc>
              <a:spcBef>
                <a:spcPts val="100"/>
              </a:spcBef>
            </a:pPr>
            <a:r>
              <a:rPr dirty="0" sz="2000">
                <a:solidFill>
                  <a:srgbClr val="1F395F"/>
                </a:solidFill>
                <a:latin typeface="Arial"/>
                <a:cs typeface="Arial"/>
              </a:rPr>
              <a:t>TOTAL</a:t>
            </a:r>
            <a:r>
              <a:rPr dirty="0" sz="2000" spc="-60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395F"/>
                </a:solidFill>
                <a:latin typeface="Arial"/>
                <a:cs typeface="Arial"/>
              </a:rPr>
              <a:t>SALES</a:t>
            </a:r>
            <a:r>
              <a:rPr dirty="0" sz="2000" spc="-60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395F"/>
                </a:solidFill>
                <a:latin typeface="Arial"/>
                <a:cs typeface="Arial"/>
              </a:rPr>
              <a:t>VOLUME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4175"/>
              </a:lnSpc>
            </a:pP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4.85</a:t>
            </a:r>
            <a:r>
              <a:rPr dirty="0" sz="3600" spc="-20" b="1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→</a:t>
            </a:r>
            <a:r>
              <a:rPr dirty="0" sz="3600" spc="-5" b="1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5.00</a:t>
            </a:r>
            <a:r>
              <a:rPr dirty="0" sz="3600" spc="-5" b="1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3600" spc="-35" b="1">
                <a:solidFill>
                  <a:srgbClr val="1F395F"/>
                </a:solidFill>
                <a:latin typeface="Arial"/>
                <a:cs typeface="Arial"/>
              </a:rPr>
              <a:t>Mt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2400">
                <a:solidFill>
                  <a:srgbClr val="1F395F"/>
                </a:solidFill>
                <a:latin typeface="Arial"/>
                <a:cs typeface="Arial"/>
              </a:rPr>
              <a:t>2025A</a:t>
            </a:r>
            <a:r>
              <a:rPr dirty="0" sz="2400" spc="-45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395F"/>
                </a:solidFill>
                <a:latin typeface="Arial"/>
                <a:cs typeface="Arial"/>
              </a:rPr>
              <a:t>→</a:t>
            </a:r>
            <a:r>
              <a:rPr dirty="0" sz="2400" spc="-45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F395F"/>
                </a:solidFill>
                <a:latin typeface="Arial"/>
                <a:cs typeface="Arial"/>
              </a:rPr>
              <a:t>2030F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400" spc="-10" b="1">
                <a:solidFill>
                  <a:srgbClr val="00AF50"/>
                </a:solidFill>
                <a:latin typeface="Arial"/>
                <a:cs typeface="Arial"/>
              </a:rPr>
              <a:t>+3.0%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90986" y="5383441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25%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39807" y="5694426"/>
            <a:ext cx="314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10000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23690" y="5522442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24%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40388" y="5748985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404040"/>
                </a:solidFill>
                <a:latin typeface="Calibri"/>
                <a:cs typeface="Calibri"/>
              </a:rPr>
              <a:t>8730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523888" y="5694426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42100" y="5886983"/>
            <a:ext cx="421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17%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523888" y="6190386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15%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09592" y="6282042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404040"/>
                </a:solidFill>
                <a:latin typeface="Calibri"/>
                <a:cs typeface="Calibri"/>
              </a:rPr>
              <a:t>6043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97737" y="6686359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5000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8797" y="6553390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404040"/>
                </a:solidFill>
                <a:latin typeface="Calibri"/>
                <a:cs typeface="Calibri"/>
              </a:rPr>
              <a:t>4675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523888" y="6686359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47998" y="6995070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404040"/>
                </a:solidFill>
                <a:latin typeface="Calibri"/>
                <a:cs typeface="Calibri"/>
              </a:rPr>
              <a:t>2449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523888" y="7182319"/>
            <a:ext cx="165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1530" y="767829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523888" y="7678292"/>
            <a:ext cx="165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1047755" y="5668848"/>
            <a:ext cx="6065520" cy="2118360"/>
          </a:xfrm>
          <a:custGeom>
            <a:avLst/>
            <a:gdLst/>
            <a:ahLst/>
            <a:cxnLst/>
            <a:rect l="l" t="t" r="r" b="b"/>
            <a:pathLst>
              <a:path w="6065519" h="2118359">
                <a:moveTo>
                  <a:pt x="5712117" y="0"/>
                </a:moveTo>
                <a:lnTo>
                  <a:pt x="353065" y="0"/>
                </a:lnTo>
                <a:lnTo>
                  <a:pt x="305430" y="3248"/>
                </a:lnTo>
                <a:lnTo>
                  <a:pt x="259659" y="12702"/>
                </a:lnTo>
                <a:lnTo>
                  <a:pt x="216187" y="27930"/>
                </a:lnTo>
                <a:lnTo>
                  <a:pt x="175446" y="48495"/>
                </a:lnTo>
                <a:lnTo>
                  <a:pt x="137873" y="73963"/>
                </a:lnTo>
                <a:lnTo>
                  <a:pt x="103900" y="103901"/>
                </a:lnTo>
                <a:lnTo>
                  <a:pt x="73962" y="137874"/>
                </a:lnTo>
                <a:lnTo>
                  <a:pt x="48493" y="175448"/>
                </a:lnTo>
                <a:lnTo>
                  <a:pt x="27929" y="216187"/>
                </a:lnTo>
                <a:lnTo>
                  <a:pt x="12702" y="259659"/>
                </a:lnTo>
                <a:lnTo>
                  <a:pt x="3248" y="305428"/>
                </a:lnTo>
                <a:lnTo>
                  <a:pt x="0" y="353059"/>
                </a:lnTo>
                <a:lnTo>
                  <a:pt x="0" y="1765287"/>
                </a:lnTo>
                <a:lnTo>
                  <a:pt x="3248" y="1812921"/>
                </a:lnTo>
                <a:lnTo>
                  <a:pt x="12702" y="1858692"/>
                </a:lnTo>
                <a:lnTo>
                  <a:pt x="27929" y="1902164"/>
                </a:lnTo>
                <a:lnTo>
                  <a:pt x="48493" y="1942904"/>
                </a:lnTo>
                <a:lnTo>
                  <a:pt x="73962" y="1980477"/>
                </a:lnTo>
                <a:lnTo>
                  <a:pt x="103900" y="2014450"/>
                </a:lnTo>
                <a:lnTo>
                  <a:pt x="137873" y="2044387"/>
                </a:lnTo>
                <a:lnTo>
                  <a:pt x="175446" y="2069854"/>
                </a:lnTo>
                <a:lnTo>
                  <a:pt x="216187" y="2090419"/>
                </a:lnTo>
                <a:lnTo>
                  <a:pt x="259659" y="2105645"/>
                </a:lnTo>
                <a:lnTo>
                  <a:pt x="305430" y="2115099"/>
                </a:lnTo>
                <a:lnTo>
                  <a:pt x="353065" y="2118347"/>
                </a:lnTo>
                <a:lnTo>
                  <a:pt x="5712117" y="2118347"/>
                </a:lnTo>
                <a:lnTo>
                  <a:pt x="5759751" y="2115099"/>
                </a:lnTo>
                <a:lnTo>
                  <a:pt x="5805523" y="2105645"/>
                </a:lnTo>
                <a:lnTo>
                  <a:pt x="5848996" y="2090419"/>
                </a:lnTo>
                <a:lnTo>
                  <a:pt x="5889737" y="2069854"/>
                </a:lnTo>
                <a:lnTo>
                  <a:pt x="5927312" y="2044387"/>
                </a:lnTo>
                <a:lnTo>
                  <a:pt x="5961286" y="2014450"/>
                </a:lnTo>
                <a:lnTo>
                  <a:pt x="5991224" y="1980477"/>
                </a:lnTo>
                <a:lnTo>
                  <a:pt x="6016694" y="1942904"/>
                </a:lnTo>
                <a:lnTo>
                  <a:pt x="6037259" y="1902164"/>
                </a:lnTo>
                <a:lnTo>
                  <a:pt x="6052486" y="1858692"/>
                </a:lnTo>
                <a:lnTo>
                  <a:pt x="6061941" y="1812921"/>
                </a:lnTo>
                <a:lnTo>
                  <a:pt x="6065189" y="1765287"/>
                </a:lnTo>
                <a:lnTo>
                  <a:pt x="6065189" y="353059"/>
                </a:lnTo>
                <a:lnTo>
                  <a:pt x="6061941" y="305428"/>
                </a:lnTo>
                <a:lnTo>
                  <a:pt x="6052486" y="259659"/>
                </a:lnTo>
                <a:lnTo>
                  <a:pt x="6037259" y="216187"/>
                </a:lnTo>
                <a:lnTo>
                  <a:pt x="6016694" y="175448"/>
                </a:lnTo>
                <a:lnTo>
                  <a:pt x="5991224" y="137874"/>
                </a:lnTo>
                <a:lnTo>
                  <a:pt x="5961286" y="103901"/>
                </a:lnTo>
                <a:lnTo>
                  <a:pt x="5927312" y="73963"/>
                </a:lnTo>
                <a:lnTo>
                  <a:pt x="5889737" y="48495"/>
                </a:lnTo>
                <a:lnTo>
                  <a:pt x="5848996" y="27930"/>
                </a:lnTo>
                <a:lnTo>
                  <a:pt x="5805523" y="12702"/>
                </a:lnTo>
                <a:lnTo>
                  <a:pt x="5759751" y="3248"/>
                </a:lnTo>
                <a:lnTo>
                  <a:pt x="5712117" y="0"/>
                </a:lnTo>
                <a:close/>
              </a:path>
            </a:pathLst>
          </a:custGeom>
          <a:solidFill>
            <a:srgbClr val="C7ED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11327079" y="5845162"/>
            <a:ext cx="4827270" cy="1853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55"/>
              </a:lnSpc>
              <a:spcBef>
                <a:spcPts val="100"/>
              </a:spcBef>
            </a:pPr>
            <a:r>
              <a:rPr dirty="0" sz="2000">
                <a:solidFill>
                  <a:srgbClr val="1F395F"/>
                </a:solidFill>
                <a:latin typeface="Arial"/>
                <a:cs typeface="Arial"/>
              </a:rPr>
              <a:t>Total</a:t>
            </a:r>
            <a:r>
              <a:rPr dirty="0" sz="2000" spc="-40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1F395F"/>
                </a:solidFill>
                <a:latin typeface="Arial"/>
                <a:cs typeface="Arial"/>
              </a:rPr>
              <a:t>ASP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4175"/>
              </a:lnSpc>
            </a:pP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2,565</a:t>
            </a:r>
            <a:r>
              <a:rPr dirty="0" sz="3600" spc="-20" b="1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→</a:t>
            </a:r>
            <a:r>
              <a:rPr dirty="0" sz="3600" spc="-10" b="1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F395F"/>
                </a:solidFill>
                <a:latin typeface="Arial"/>
                <a:cs typeface="Arial"/>
              </a:rPr>
              <a:t>3861</a:t>
            </a:r>
            <a:r>
              <a:rPr dirty="0" sz="3600" spc="-10" b="1">
                <a:solidFill>
                  <a:srgbClr val="1F395F"/>
                </a:solidFill>
                <a:latin typeface="Arial"/>
                <a:cs typeface="Arial"/>
              </a:rPr>
              <a:t> EGP/ton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2400">
                <a:solidFill>
                  <a:srgbClr val="1F395F"/>
                </a:solidFill>
                <a:latin typeface="Arial"/>
                <a:cs typeface="Arial"/>
              </a:rPr>
              <a:t>2025A</a:t>
            </a:r>
            <a:r>
              <a:rPr dirty="0" sz="2400" spc="-45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395F"/>
                </a:solidFill>
                <a:latin typeface="Arial"/>
                <a:cs typeface="Arial"/>
              </a:rPr>
              <a:t>→</a:t>
            </a:r>
            <a:r>
              <a:rPr dirty="0" sz="2400" spc="-45">
                <a:solidFill>
                  <a:srgbClr val="1F395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F395F"/>
                </a:solidFill>
                <a:latin typeface="Arial"/>
                <a:cs typeface="Arial"/>
              </a:rPr>
              <a:t>2030F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400" spc="-10" b="1">
                <a:solidFill>
                  <a:srgbClr val="00AF50"/>
                </a:solidFill>
                <a:latin typeface="Arial"/>
                <a:cs typeface="Arial"/>
              </a:rPr>
              <a:t>+50.5%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17306925" y="5881408"/>
            <a:ext cx="1000125" cy="990600"/>
            <a:chOff x="17306925" y="5881408"/>
            <a:chExt cx="1000125" cy="990600"/>
          </a:xfrm>
        </p:grpSpPr>
        <p:sp>
          <p:nvSpPr>
            <p:cNvPr id="90" name="object 90"/>
            <p:cNvSpPr/>
            <p:nvPr/>
          </p:nvSpPr>
          <p:spPr>
            <a:xfrm>
              <a:off x="17325974" y="5900458"/>
              <a:ext cx="962025" cy="895350"/>
            </a:xfrm>
            <a:custGeom>
              <a:avLst/>
              <a:gdLst/>
              <a:ahLst/>
              <a:cxnLst/>
              <a:rect l="l" t="t" r="r" b="b"/>
              <a:pathLst>
                <a:path w="962025" h="895350">
                  <a:moveTo>
                    <a:pt x="0" y="895184"/>
                  </a:moveTo>
                  <a:lnTo>
                    <a:pt x="624046" y="895184"/>
                  </a:lnTo>
                  <a:lnTo>
                    <a:pt x="624046" y="0"/>
                  </a:lnTo>
                  <a:lnTo>
                    <a:pt x="962025" y="0"/>
                  </a:lnTo>
                </a:path>
              </a:pathLst>
            </a:custGeom>
            <a:ln w="38099">
              <a:solidFill>
                <a:srgbClr val="009A4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306925" y="6719442"/>
              <a:ext cx="152399" cy="15239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308232" y="7881772"/>
            <a:ext cx="488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2021A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139029" y="7881772"/>
            <a:ext cx="488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2022A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34383" y="7881772"/>
            <a:ext cx="467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2028F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965179" y="7881772"/>
            <a:ext cx="467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2029F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795975" y="7881772"/>
            <a:ext cx="467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2030F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632722" y="8243887"/>
            <a:ext cx="426720" cy="237490"/>
          </a:xfrm>
          <a:custGeom>
            <a:avLst/>
            <a:gdLst/>
            <a:ahLst/>
            <a:cxnLst/>
            <a:rect l="l" t="t" r="r" b="b"/>
            <a:pathLst>
              <a:path w="426719" h="237490">
                <a:moveTo>
                  <a:pt x="426551" y="0"/>
                </a:moveTo>
                <a:lnTo>
                  <a:pt x="0" y="0"/>
                </a:lnTo>
                <a:lnTo>
                  <a:pt x="0" y="237070"/>
                </a:lnTo>
                <a:lnTo>
                  <a:pt x="426551" y="237070"/>
                </a:lnTo>
                <a:lnTo>
                  <a:pt x="426551" y="0"/>
                </a:lnTo>
                <a:close/>
              </a:path>
            </a:pathLst>
          </a:custGeom>
          <a:solidFill>
            <a:srgbClr val="70C8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2969825" y="7774492"/>
            <a:ext cx="3801745" cy="713105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  <a:tabLst>
                <a:tab pos="843280" algn="l"/>
                <a:tab pos="1673860" algn="l"/>
                <a:tab pos="2515235" algn="l"/>
                <a:tab pos="3345815" algn="l"/>
              </a:tabLst>
            </a:pP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2023A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2024A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2026F</a:t>
            </a:r>
            <a:r>
              <a:rPr dirty="0" sz="14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585858"/>
                </a:solidFill>
                <a:latin typeface="Calibri"/>
                <a:cs typeface="Calibri"/>
              </a:rPr>
              <a:t>2027F</a:t>
            </a:r>
            <a:endParaRPr sz="1400">
              <a:latin typeface="Calibri"/>
              <a:cs typeface="Calibri"/>
            </a:endParaRPr>
          </a:p>
          <a:p>
            <a:pPr marL="135890">
              <a:lnSpc>
                <a:spcPct val="100000"/>
              </a:lnSpc>
              <a:spcBef>
                <a:spcPts val="965"/>
              </a:spcBef>
              <a:tabLst>
                <a:tab pos="2917190" algn="l"/>
              </a:tabLst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Sales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Revenue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GPM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199583" y="8278672"/>
            <a:ext cx="641350" cy="177800"/>
            <a:chOff x="5199583" y="8278672"/>
            <a:chExt cx="641350" cy="177800"/>
          </a:xfrm>
        </p:grpSpPr>
        <p:sp>
          <p:nvSpPr>
            <p:cNvPr id="80" name="object 80"/>
            <p:cNvSpPr/>
            <p:nvPr/>
          </p:nvSpPr>
          <p:spPr>
            <a:xfrm>
              <a:off x="5199583" y="8384540"/>
              <a:ext cx="641350" cy="0"/>
            </a:xfrm>
            <a:custGeom>
              <a:avLst/>
              <a:gdLst/>
              <a:ahLst/>
              <a:cxnLst/>
              <a:rect l="l" t="t" r="r" b="b"/>
              <a:pathLst>
                <a:path w="641350" h="0">
                  <a:moveTo>
                    <a:pt x="640867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199583" y="8361540"/>
              <a:ext cx="641350" cy="0"/>
            </a:xfrm>
            <a:custGeom>
              <a:avLst/>
              <a:gdLst/>
              <a:ahLst/>
              <a:cxnLst/>
              <a:rect l="l" t="t" r="r" b="b"/>
              <a:pathLst>
                <a:path w="641350" h="0">
                  <a:moveTo>
                    <a:pt x="0" y="0"/>
                  </a:moveTo>
                  <a:lnTo>
                    <a:pt x="640867" y="0"/>
                  </a:lnTo>
                </a:path>
              </a:pathLst>
            </a:custGeom>
            <a:ln w="38099">
              <a:solidFill>
                <a:srgbClr val="0A2F4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5673" y="8278672"/>
              <a:ext cx="189712" cy="177406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609726" y="8552574"/>
            <a:ext cx="9717405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2025A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marks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inflection,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with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GPM</a:t>
            </a:r>
            <a:r>
              <a:rPr dirty="0" sz="1800" spc="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sustaining</a:t>
            </a:r>
            <a:r>
              <a:rPr dirty="0" sz="20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at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elevated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levels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intensity improves.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126495" y="9025140"/>
            <a:ext cx="66509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Consolidated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(2021-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349307"/>
              <a:ext cx="4255135" cy="937894"/>
            </a:xfrm>
            <a:custGeom>
              <a:avLst/>
              <a:gdLst/>
              <a:ahLst/>
              <a:cxnLst/>
              <a:rect l="l" t="t" r="r" b="b"/>
              <a:pathLst>
                <a:path w="4255135" h="937895">
                  <a:moveTo>
                    <a:pt x="2565870" y="481596"/>
                  </a:moveTo>
                  <a:lnTo>
                    <a:pt x="210761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2131885" y="937691"/>
                  </a:lnTo>
                  <a:lnTo>
                    <a:pt x="2565870" y="481596"/>
                  </a:lnTo>
                  <a:close/>
                </a:path>
                <a:path w="4255135" h="937895">
                  <a:moveTo>
                    <a:pt x="4254589" y="481596"/>
                  </a:moveTo>
                  <a:lnTo>
                    <a:pt x="3796334" y="0"/>
                  </a:lnTo>
                  <a:lnTo>
                    <a:pt x="2231745" y="0"/>
                  </a:lnTo>
                  <a:lnTo>
                    <a:pt x="2689999" y="481596"/>
                  </a:lnTo>
                  <a:lnTo>
                    <a:pt x="2256015" y="937691"/>
                  </a:lnTo>
                  <a:lnTo>
                    <a:pt x="3820604" y="937691"/>
                  </a:lnTo>
                  <a:lnTo>
                    <a:pt x="4254589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24198" y="9349307"/>
              <a:ext cx="3705860" cy="937894"/>
            </a:xfrm>
            <a:custGeom>
              <a:avLst/>
              <a:gdLst/>
              <a:ahLst/>
              <a:cxnLst/>
              <a:rect l="l" t="t" r="r" b="b"/>
              <a:pathLst>
                <a:path w="3705860" h="937895">
                  <a:moveTo>
                    <a:pt x="3247351" y="0"/>
                  </a:moveTo>
                  <a:lnTo>
                    <a:pt x="0" y="0"/>
                  </a:lnTo>
                  <a:lnTo>
                    <a:pt x="458255" y="481596"/>
                  </a:lnTo>
                  <a:lnTo>
                    <a:pt x="24277" y="937691"/>
                  </a:lnTo>
                  <a:lnTo>
                    <a:pt x="3271628" y="937691"/>
                  </a:lnTo>
                  <a:lnTo>
                    <a:pt x="3705605" y="481596"/>
                  </a:lnTo>
                  <a:lnTo>
                    <a:pt x="324735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00163" y="9349307"/>
              <a:ext cx="6319520" cy="937894"/>
            </a:xfrm>
            <a:custGeom>
              <a:avLst/>
              <a:gdLst/>
              <a:ahLst/>
              <a:cxnLst/>
              <a:rect l="l" t="t" r="r" b="b"/>
              <a:pathLst>
                <a:path w="6319520" h="937895">
                  <a:moveTo>
                    <a:pt x="2326068" y="481596"/>
                  </a:moveTo>
                  <a:lnTo>
                    <a:pt x="1867814" y="0"/>
                  </a:lnTo>
                  <a:lnTo>
                    <a:pt x="0" y="0"/>
                  </a:lnTo>
                  <a:lnTo>
                    <a:pt x="458254" y="481596"/>
                  </a:lnTo>
                  <a:lnTo>
                    <a:pt x="24269" y="937691"/>
                  </a:lnTo>
                  <a:lnTo>
                    <a:pt x="1892084" y="937691"/>
                  </a:lnTo>
                  <a:lnTo>
                    <a:pt x="2326068" y="481596"/>
                  </a:lnTo>
                  <a:close/>
                </a:path>
                <a:path w="6319520" h="937895">
                  <a:moveTo>
                    <a:pt x="4322483" y="481596"/>
                  </a:moveTo>
                  <a:lnTo>
                    <a:pt x="3864229" y="0"/>
                  </a:lnTo>
                  <a:lnTo>
                    <a:pt x="1996414" y="0"/>
                  </a:lnTo>
                  <a:lnTo>
                    <a:pt x="2454681" y="481596"/>
                  </a:lnTo>
                  <a:lnTo>
                    <a:pt x="2020697" y="937691"/>
                  </a:lnTo>
                  <a:lnTo>
                    <a:pt x="3888511" y="937691"/>
                  </a:lnTo>
                  <a:lnTo>
                    <a:pt x="4322483" y="481596"/>
                  </a:lnTo>
                  <a:close/>
                </a:path>
                <a:path w="6319520" h="937895">
                  <a:moveTo>
                    <a:pt x="6318923" y="481596"/>
                  </a:moveTo>
                  <a:lnTo>
                    <a:pt x="5860669" y="0"/>
                  </a:lnTo>
                  <a:lnTo>
                    <a:pt x="3992854" y="0"/>
                  </a:lnTo>
                  <a:lnTo>
                    <a:pt x="4451121" y="481596"/>
                  </a:lnTo>
                  <a:lnTo>
                    <a:pt x="4017137" y="937691"/>
                  </a:lnTo>
                  <a:lnTo>
                    <a:pt x="5884951" y="937691"/>
                  </a:lnTo>
                  <a:lnTo>
                    <a:pt x="6318923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3098" y="9516528"/>
              <a:ext cx="816563" cy="6287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724" y="9496310"/>
              <a:ext cx="588890" cy="6691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1176" y="9471265"/>
              <a:ext cx="719289" cy="719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18957" y="9446602"/>
              <a:ext cx="684049" cy="7685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15384" y="9462820"/>
              <a:ext cx="742773" cy="7242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19711" y="9446602"/>
              <a:ext cx="564879" cy="724204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5626100" y="9524396"/>
            <a:ext cx="1125855" cy="5556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5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Financial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270856"/>
            <a:ext cx="17462500" cy="1515745"/>
            <a:chOff x="555007" y="270856"/>
            <a:chExt cx="17462500" cy="151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5983" y="498886"/>
            <a:ext cx="4568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Outlook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681" y="1093927"/>
            <a:ext cx="9525" cy="855344"/>
          </a:xfrm>
          <a:custGeom>
            <a:avLst/>
            <a:gdLst/>
            <a:ahLst/>
            <a:cxnLst/>
            <a:rect l="l" t="t" r="r" b="b"/>
            <a:pathLst>
              <a:path w="9525" h="855344">
                <a:moveTo>
                  <a:pt x="9523" y="0"/>
                </a:moveTo>
                <a:lnTo>
                  <a:pt x="0" y="855052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57942" y="1069149"/>
            <a:ext cx="125952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ARCC</a:t>
            </a:r>
            <a:r>
              <a:rPr dirty="0" spc="-70"/>
              <a:t> </a:t>
            </a:r>
            <a:r>
              <a:rPr dirty="0"/>
              <a:t>Sustains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Higher</a:t>
            </a:r>
            <a:r>
              <a:rPr dirty="0" spc="-60"/>
              <a:t> </a:t>
            </a:r>
            <a:r>
              <a:rPr dirty="0"/>
              <a:t>Profitability</a:t>
            </a:r>
            <a:r>
              <a:rPr dirty="0" spc="-60"/>
              <a:t> </a:t>
            </a:r>
            <a:r>
              <a:rPr dirty="0"/>
              <a:t>Base</a:t>
            </a:r>
            <a:r>
              <a:rPr dirty="0" spc="-60"/>
              <a:t> </a:t>
            </a:r>
            <a:r>
              <a:rPr dirty="0"/>
              <a:t>Through</a:t>
            </a:r>
            <a:r>
              <a:rPr dirty="0" spc="-55"/>
              <a:t> </a:t>
            </a:r>
            <a:r>
              <a:rPr dirty="0" spc="-10"/>
              <a:t>2030F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7942" y="1634820"/>
            <a:ext cx="149072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2025A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margin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step-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up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establishes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stronger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base,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with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remaining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resilient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growth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normalizes.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12522" y="2033371"/>
            <a:ext cx="3777615" cy="85788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Revenue,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EBITDA,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EBIT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NPM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(2021A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2025A),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Mn,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465"/>
              </a:spcBef>
            </a:pPr>
            <a:r>
              <a:rPr dirty="0" sz="1000" spc="-10">
                <a:latin typeface="Calibri"/>
                <a:cs typeface="Calibri"/>
              </a:rPr>
              <a:t>14000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22008" y="343305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4762"/>
                </a:moveTo>
                <a:lnTo>
                  <a:pt x="1394" y="1394"/>
                </a:lnTo>
                <a:lnTo>
                  <a:pt x="4762" y="0"/>
                </a:lnTo>
                <a:lnTo>
                  <a:pt x="8129" y="1394"/>
                </a:lnTo>
                <a:lnTo>
                  <a:pt x="9524" y="4762"/>
                </a:lnTo>
                <a:lnTo>
                  <a:pt x="8129" y="8129"/>
                </a:lnTo>
                <a:lnTo>
                  <a:pt x="4762" y="9524"/>
                </a:lnTo>
                <a:lnTo>
                  <a:pt x="1394" y="8129"/>
                </a:lnTo>
                <a:lnTo>
                  <a:pt x="0" y="47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922008" y="417850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4762"/>
                </a:moveTo>
                <a:lnTo>
                  <a:pt x="1394" y="1394"/>
                </a:lnTo>
                <a:lnTo>
                  <a:pt x="4762" y="0"/>
                </a:lnTo>
                <a:lnTo>
                  <a:pt x="8129" y="1394"/>
                </a:lnTo>
                <a:lnTo>
                  <a:pt x="9524" y="4762"/>
                </a:lnTo>
                <a:lnTo>
                  <a:pt x="8129" y="8129"/>
                </a:lnTo>
                <a:lnTo>
                  <a:pt x="4762" y="9524"/>
                </a:lnTo>
                <a:lnTo>
                  <a:pt x="1394" y="8129"/>
                </a:lnTo>
                <a:lnTo>
                  <a:pt x="0" y="47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9922008" y="2687599"/>
            <a:ext cx="7368540" cy="4482465"/>
            <a:chOff x="9922008" y="2687599"/>
            <a:chExt cx="7368540" cy="4482465"/>
          </a:xfrm>
        </p:grpSpPr>
        <p:sp>
          <p:nvSpPr>
            <p:cNvPr id="13" name="object 13"/>
            <p:cNvSpPr/>
            <p:nvPr/>
          </p:nvSpPr>
          <p:spPr>
            <a:xfrm>
              <a:off x="9926764" y="5094376"/>
              <a:ext cx="2761615" cy="1905635"/>
            </a:xfrm>
            <a:custGeom>
              <a:avLst/>
              <a:gdLst/>
              <a:ahLst/>
              <a:cxnLst/>
              <a:rect l="l" t="t" r="r" b="b"/>
              <a:pathLst>
                <a:path w="2761615" h="1905634">
                  <a:moveTo>
                    <a:pt x="2724658" y="0"/>
                  </a:moveTo>
                  <a:lnTo>
                    <a:pt x="0" y="0"/>
                  </a:lnTo>
                  <a:lnTo>
                    <a:pt x="0" y="414147"/>
                  </a:lnTo>
                  <a:lnTo>
                    <a:pt x="2724658" y="414147"/>
                  </a:lnTo>
                  <a:lnTo>
                    <a:pt x="2724658" y="0"/>
                  </a:lnTo>
                  <a:close/>
                </a:path>
                <a:path w="2761615" h="1905634">
                  <a:moveTo>
                    <a:pt x="2732773" y="745464"/>
                  </a:moveTo>
                  <a:lnTo>
                    <a:pt x="0" y="745464"/>
                  </a:lnTo>
                  <a:lnTo>
                    <a:pt x="0" y="1159598"/>
                  </a:lnTo>
                  <a:lnTo>
                    <a:pt x="2732773" y="1159598"/>
                  </a:lnTo>
                  <a:lnTo>
                    <a:pt x="2732773" y="745464"/>
                  </a:lnTo>
                  <a:close/>
                </a:path>
                <a:path w="2761615" h="1905634">
                  <a:moveTo>
                    <a:pt x="2761310" y="1490916"/>
                  </a:moveTo>
                  <a:lnTo>
                    <a:pt x="0" y="1490916"/>
                  </a:lnTo>
                  <a:lnTo>
                    <a:pt x="0" y="1905063"/>
                  </a:lnTo>
                  <a:lnTo>
                    <a:pt x="2761310" y="1905063"/>
                  </a:lnTo>
                  <a:lnTo>
                    <a:pt x="2761310" y="1490916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651422" y="5094376"/>
              <a:ext cx="2636520" cy="1905635"/>
            </a:xfrm>
            <a:custGeom>
              <a:avLst/>
              <a:gdLst/>
              <a:ahLst/>
              <a:cxnLst/>
              <a:rect l="l" t="t" r="r" b="b"/>
              <a:pathLst>
                <a:path w="2636519" h="1905634">
                  <a:moveTo>
                    <a:pt x="2583599" y="0"/>
                  </a:moveTo>
                  <a:lnTo>
                    <a:pt x="0" y="0"/>
                  </a:lnTo>
                  <a:lnTo>
                    <a:pt x="0" y="414147"/>
                  </a:lnTo>
                  <a:lnTo>
                    <a:pt x="2583599" y="414147"/>
                  </a:lnTo>
                  <a:lnTo>
                    <a:pt x="2583599" y="0"/>
                  </a:lnTo>
                  <a:close/>
                </a:path>
                <a:path w="2636519" h="1905634">
                  <a:moveTo>
                    <a:pt x="2589530" y="745464"/>
                  </a:moveTo>
                  <a:lnTo>
                    <a:pt x="8115" y="745464"/>
                  </a:lnTo>
                  <a:lnTo>
                    <a:pt x="8115" y="1159598"/>
                  </a:lnTo>
                  <a:lnTo>
                    <a:pt x="2589530" y="1159598"/>
                  </a:lnTo>
                  <a:lnTo>
                    <a:pt x="2589530" y="745464"/>
                  </a:lnTo>
                  <a:close/>
                </a:path>
                <a:path w="2636519" h="1905634">
                  <a:moveTo>
                    <a:pt x="2635974" y="1490916"/>
                  </a:moveTo>
                  <a:lnTo>
                    <a:pt x="36652" y="1490916"/>
                  </a:lnTo>
                  <a:lnTo>
                    <a:pt x="36652" y="1905063"/>
                  </a:lnTo>
                  <a:lnTo>
                    <a:pt x="2635974" y="1905063"/>
                  </a:lnTo>
                  <a:lnTo>
                    <a:pt x="2635974" y="1490916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235009" y="5094388"/>
              <a:ext cx="2055495" cy="1905635"/>
            </a:xfrm>
            <a:custGeom>
              <a:avLst/>
              <a:gdLst/>
              <a:ahLst/>
              <a:cxnLst/>
              <a:rect l="l" t="t" r="r" b="b"/>
              <a:pathLst>
                <a:path w="2055494" h="1905634">
                  <a:moveTo>
                    <a:pt x="2054936" y="1490916"/>
                  </a:moveTo>
                  <a:lnTo>
                    <a:pt x="52374" y="1490916"/>
                  </a:lnTo>
                  <a:lnTo>
                    <a:pt x="52374" y="1905063"/>
                  </a:lnTo>
                  <a:lnTo>
                    <a:pt x="2054936" y="1905063"/>
                  </a:lnTo>
                  <a:lnTo>
                    <a:pt x="2054936" y="1490916"/>
                  </a:lnTo>
                  <a:close/>
                </a:path>
                <a:path w="2055494" h="1905634">
                  <a:moveTo>
                    <a:pt x="2054936" y="745464"/>
                  </a:moveTo>
                  <a:lnTo>
                    <a:pt x="5930" y="745464"/>
                  </a:lnTo>
                  <a:lnTo>
                    <a:pt x="5930" y="1159598"/>
                  </a:lnTo>
                  <a:lnTo>
                    <a:pt x="2054936" y="1159598"/>
                  </a:lnTo>
                  <a:lnTo>
                    <a:pt x="2054936" y="745464"/>
                  </a:lnTo>
                  <a:close/>
                </a:path>
                <a:path w="2055494" h="1905634">
                  <a:moveTo>
                    <a:pt x="2054936" y="0"/>
                  </a:moveTo>
                  <a:lnTo>
                    <a:pt x="0" y="0"/>
                  </a:lnTo>
                  <a:lnTo>
                    <a:pt x="0" y="414147"/>
                  </a:lnTo>
                  <a:lnTo>
                    <a:pt x="2054936" y="414147"/>
                  </a:lnTo>
                  <a:lnTo>
                    <a:pt x="2054936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26770" y="2692361"/>
              <a:ext cx="0" cy="4472940"/>
            </a:xfrm>
            <a:custGeom>
              <a:avLst/>
              <a:gdLst/>
              <a:ahLst/>
              <a:cxnLst/>
              <a:rect l="l" t="t" r="r" b="b"/>
              <a:pathLst>
                <a:path w="0" h="4472940">
                  <a:moveTo>
                    <a:pt x="0" y="44727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922002" y="2687611"/>
              <a:ext cx="9525" cy="4482465"/>
            </a:xfrm>
            <a:custGeom>
              <a:avLst/>
              <a:gdLst/>
              <a:ahLst/>
              <a:cxnLst/>
              <a:rect l="l" t="t" r="r" b="b"/>
              <a:pathLst>
                <a:path w="9525" h="4482465">
                  <a:moveTo>
                    <a:pt x="9525" y="4477474"/>
                  </a:moveTo>
                  <a:lnTo>
                    <a:pt x="8128" y="4474108"/>
                  </a:lnTo>
                  <a:lnTo>
                    <a:pt x="4762" y="4472724"/>
                  </a:lnTo>
                  <a:lnTo>
                    <a:pt x="1397" y="4474108"/>
                  </a:lnTo>
                  <a:lnTo>
                    <a:pt x="0" y="4477474"/>
                  </a:lnTo>
                  <a:lnTo>
                    <a:pt x="1397" y="4480852"/>
                  </a:lnTo>
                  <a:lnTo>
                    <a:pt x="4762" y="4482236"/>
                  </a:lnTo>
                  <a:lnTo>
                    <a:pt x="8128" y="4480852"/>
                  </a:lnTo>
                  <a:lnTo>
                    <a:pt x="9525" y="4477474"/>
                  </a:lnTo>
                  <a:close/>
                </a:path>
                <a:path w="9525" h="4482465">
                  <a:moveTo>
                    <a:pt x="9525" y="3732022"/>
                  </a:moveTo>
                  <a:lnTo>
                    <a:pt x="8128" y="3728656"/>
                  </a:lnTo>
                  <a:lnTo>
                    <a:pt x="4762" y="3727272"/>
                  </a:lnTo>
                  <a:lnTo>
                    <a:pt x="1397" y="3728656"/>
                  </a:lnTo>
                  <a:lnTo>
                    <a:pt x="0" y="3732022"/>
                  </a:lnTo>
                  <a:lnTo>
                    <a:pt x="1397" y="3735400"/>
                  </a:lnTo>
                  <a:lnTo>
                    <a:pt x="4762" y="3736784"/>
                  </a:lnTo>
                  <a:lnTo>
                    <a:pt x="8128" y="3735400"/>
                  </a:lnTo>
                  <a:lnTo>
                    <a:pt x="9525" y="3732022"/>
                  </a:lnTo>
                  <a:close/>
                </a:path>
                <a:path w="9525" h="4482465">
                  <a:moveTo>
                    <a:pt x="9525" y="2986570"/>
                  </a:moveTo>
                  <a:lnTo>
                    <a:pt x="8128" y="2983204"/>
                  </a:lnTo>
                  <a:lnTo>
                    <a:pt x="4762" y="2981820"/>
                  </a:lnTo>
                  <a:lnTo>
                    <a:pt x="1397" y="2983204"/>
                  </a:lnTo>
                  <a:lnTo>
                    <a:pt x="0" y="2986570"/>
                  </a:lnTo>
                  <a:lnTo>
                    <a:pt x="1397" y="2989948"/>
                  </a:lnTo>
                  <a:lnTo>
                    <a:pt x="4762" y="2991332"/>
                  </a:lnTo>
                  <a:lnTo>
                    <a:pt x="8128" y="2989948"/>
                  </a:lnTo>
                  <a:lnTo>
                    <a:pt x="9525" y="2986570"/>
                  </a:lnTo>
                  <a:close/>
                </a:path>
                <a:path w="9525" h="4482465">
                  <a:moveTo>
                    <a:pt x="9525" y="2241118"/>
                  </a:moveTo>
                  <a:lnTo>
                    <a:pt x="8128" y="2237752"/>
                  </a:lnTo>
                  <a:lnTo>
                    <a:pt x="4762" y="2236368"/>
                  </a:lnTo>
                  <a:lnTo>
                    <a:pt x="1397" y="2237752"/>
                  </a:lnTo>
                  <a:lnTo>
                    <a:pt x="0" y="2241118"/>
                  </a:lnTo>
                  <a:lnTo>
                    <a:pt x="1397" y="2244496"/>
                  </a:lnTo>
                  <a:lnTo>
                    <a:pt x="4762" y="2245880"/>
                  </a:lnTo>
                  <a:lnTo>
                    <a:pt x="8128" y="2244496"/>
                  </a:lnTo>
                  <a:lnTo>
                    <a:pt x="9525" y="2241118"/>
                  </a:lnTo>
                  <a:close/>
                </a:path>
                <a:path w="9525" h="448246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297758" y="2071471"/>
            <a:ext cx="4765040" cy="64643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Net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Margins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(2025E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%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Revenue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510140" y="2712986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35%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16163" y="3325342"/>
            <a:ext cx="3467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Calibri"/>
                <a:cs typeface="Calibri"/>
              </a:rPr>
              <a:t>12000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156214" y="3287204"/>
            <a:ext cx="7265034" cy="3816350"/>
            <a:chOff x="1156214" y="3287204"/>
            <a:chExt cx="7265034" cy="3816350"/>
          </a:xfrm>
        </p:grpSpPr>
        <p:sp>
          <p:nvSpPr>
            <p:cNvPr id="53" name="object 53"/>
            <p:cNvSpPr/>
            <p:nvPr/>
          </p:nvSpPr>
          <p:spPr>
            <a:xfrm>
              <a:off x="1438262" y="3287204"/>
              <a:ext cx="6057900" cy="3801745"/>
            </a:xfrm>
            <a:custGeom>
              <a:avLst/>
              <a:gdLst/>
              <a:ahLst/>
              <a:cxnLst/>
              <a:rect l="l" t="t" r="r" b="b"/>
              <a:pathLst>
                <a:path w="6057900" h="3801745">
                  <a:moveTo>
                    <a:pt x="253238" y="3061385"/>
                  </a:moveTo>
                  <a:lnTo>
                    <a:pt x="0" y="3061385"/>
                  </a:lnTo>
                  <a:lnTo>
                    <a:pt x="0" y="3801580"/>
                  </a:lnTo>
                  <a:lnTo>
                    <a:pt x="253238" y="3801580"/>
                  </a:lnTo>
                  <a:lnTo>
                    <a:pt x="253238" y="3061385"/>
                  </a:lnTo>
                  <a:close/>
                </a:path>
                <a:path w="6057900" h="3801745">
                  <a:moveTo>
                    <a:pt x="1704263" y="2379726"/>
                  </a:moveTo>
                  <a:lnTo>
                    <a:pt x="1451025" y="2379726"/>
                  </a:lnTo>
                  <a:lnTo>
                    <a:pt x="1451025" y="3801580"/>
                  </a:lnTo>
                  <a:lnTo>
                    <a:pt x="1704263" y="3801580"/>
                  </a:lnTo>
                  <a:lnTo>
                    <a:pt x="1704263" y="2379726"/>
                  </a:lnTo>
                  <a:close/>
                </a:path>
                <a:path w="6057900" h="3801745">
                  <a:moveTo>
                    <a:pt x="3155302" y="1960918"/>
                  </a:moveTo>
                  <a:lnTo>
                    <a:pt x="2902064" y="1960918"/>
                  </a:lnTo>
                  <a:lnTo>
                    <a:pt x="2902064" y="3801580"/>
                  </a:lnTo>
                  <a:lnTo>
                    <a:pt x="3155302" y="3801580"/>
                  </a:lnTo>
                  <a:lnTo>
                    <a:pt x="3155302" y="1960918"/>
                  </a:lnTo>
                  <a:close/>
                </a:path>
                <a:path w="6057900" h="3801745">
                  <a:moveTo>
                    <a:pt x="4606341" y="1138237"/>
                  </a:moveTo>
                  <a:lnTo>
                    <a:pt x="4353103" y="1138237"/>
                  </a:lnTo>
                  <a:lnTo>
                    <a:pt x="4353103" y="3801580"/>
                  </a:lnTo>
                  <a:lnTo>
                    <a:pt x="4606341" y="3801580"/>
                  </a:lnTo>
                  <a:lnTo>
                    <a:pt x="4606341" y="1138237"/>
                  </a:lnTo>
                  <a:close/>
                </a:path>
                <a:path w="6057900" h="3801745">
                  <a:moveTo>
                    <a:pt x="6057379" y="0"/>
                  </a:moveTo>
                  <a:lnTo>
                    <a:pt x="5804141" y="0"/>
                  </a:lnTo>
                  <a:lnTo>
                    <a:pt x="5804141" y="3801580"/>
                  </a:lnTo>
                  <a:lnTo>
                    <a:pt x="6057379" y="3801580"/>
                  </a:lnTo>
                  <a:lnTo>
                    <a:pt x="6057379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759864" y="5585764"/>
              <a:ext cx="6057900" cy="1503045"/>
            </a:xfrm>
            <a:custGeom>
              <a:avLst/>
              <a:gdLst/>
              <a:ahLst/>
              <a:cxnLst/>
              <a:rect l="l" t="t" r="r" b="b"/>
              <a:pathLst>
                <a:path w="6057900" h="1503045">
                  <a:moveTo>
                    <a:pt x="253238" y="1394968"/>
                  </a:moveTo>
                  <a:lnTo>
                    <a:pt x="0" y="1394968"/>
                  </a:lnTo>
                  <a:lnTo>
                    <a:pt x="0" y="1503019"/>
                  </a:lnTo>
                  <a:lnTo>
                    <a:pt x="253238" y="1503019"/>
                  </a:lnTo>
                  <a:lnTo>
                    <a:pt x="253238" y="1394968"/>
                  </a:lnTo>
                  <a:close/>
                </a:path>
                <a:path w="6057900" h="1503045">
                  <a:moveTo>
                    <a:pt x="1704276" y="1205191"/>
                  </a:moveTo>
                  <a:lnTo>
                    <a:pt x="1451038" y="1205191"/>
                  </a:lnTo>
                  <a:lnTo>
                    <a:pt x="1451038" y="1503019"/>
                  </a:lnTo>
                  <a:lnTo>
                    <a:pt x="1704276" y="1503019"/>
                  </a:lnTo>
                  <a:lnTo>
                    <a:pt x="1704276" y="1205191"/>
                  </a:lnTo>
                  <a:close/>
                </a:path>
                <a:path w="6057900" h="1503045">
                  <a:moveTo>
                    <a:pt x="3155315" y="1100874"/>
                  </a:moveTo>
                  <a:lnTo>
                    <a:pt x="2902077" y="1100874"/>
                  </a:lnTo>
                  <a:lnTo>
                    <a:pt x="2902077" y="1503019"/>
                  </a:lnTo>
                  <a:lnTo>
                    <a:pt x="3155315" y="1503019"/>
                  </a:lnTo>
                  <a:lnTo>
                    <a:pt x="3155315" y="1100874"/>
                  </a:lnTo>
                  <a:close/>
                </a:path>
                <a:path w="6057900" h="1503045">
                  <a:moveTo>
                    <a:pt x="4606341" y="888199"/>
                  </a:moveTo>
                  <a:lnTo>
                    <a:pt x="4353115" y="888199"/>
                  </a:lnTo>
                  <a:lnTo>
                    <a:pt x="4353115" y="1503019"/>
                  </a:lnTo>
                  <a:lnTo>
                    <a:pt x="4606341" y="1503019"/>
                  </a:lnTo>
                  <a:lnTo>
                    <a:pt x="4606341" y="888199"/>
                  </a:lnTo>
                  <a:close/>
                </a:path>
                <a:path w="6057900" h="1503045">
                  <a:moveTo>
                    <a:pt x="6057379" y="0"/>
                  </a:moveTo>
                  <a:lnTo>
                    <a:pt x="5804141" y="0"/>
                  </a:lnTo>
                  <a:lnTo>
                    <a:pt x="5804141" y="1503019"/>
                  </a:lnTo>
                  <a:lnTo>
                    <a:pt x="6057379" y="1503019"/>
                  </a:lnTo>
                  <a:lnTo>
                    <a:pt x="6057379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081479" y="5674486"/>
              <a:ext cx="6057900" cy="1414780"/>
            </a:xfrm>
            <a:custGeom>
              <a:avLst/>
              <a:gdLst/>
              <a:ahLst/>
              <a:cxnLst/>
              <a:rect l="l" t="t" r="r" b="b"/>
              <a:pathLst>
                <a:path w="6057900" h="1414779">
                  <a:moveTo>
                    <a:pt x="253225" y="1385379"/>
                  </a:moveTo>
                  <a:lnTo>
                    <a:pt x="0" y="1385379"/>
                  </a:lnTo>
                  <a:lnTo>
                    <a:pt x="0" y="1414297"/>
                  </a:lnTo>
                  <a:lnTo>
                    <a:pt x="253225" y="1414297"/>
                  </a:lnTo>
                  <a:lnTo>
                    <a:pt x="253225" y="1385379"/>
                  </a:lnTo>
                  <a:close/>
                </a:path>
                <a:path w="6057900" h="1414779">
                  <a:moveTo>
                    <a:pt x="1704263" y="1190523"/>
                  </a:moveTo>
                  <a:lnTo>
                    <a:pt x="1451025" y="1190523"/>
                  </a:lnTo>
                  <a:lnTo>
                    <a:pt x="1451025" y="1414297"/>
                  </a:lnTo>
                  <a:lnTo>
                    <a:pt x="1704263" y="1414297"/>
                  </a:lnTo>
                  <a:lnTo>
                    <a:pt x="1704263" y="1190523"/>
                  </a:lnTo>
                  <a:close/>
                </a:path>
                <a:path w="6057900" h="1414779">
                  <a:moveTo>
                    <a:pt x="3155302" y="1088834"/>
                  </a:moveTo>
                  <a:lnTo>
                    <a:pt x="2902064" y="1088834"/>
                  </a:lnTo>
                  <a:lnTo>
                    <a:pt x="2902064" y="1414297"/>
                  </a:lnTo>
                  <a:lnTo>
                    <a:pt x="3155302" y="1414297"/>
                  </a:lnTo>
                  <a:lnTo>
                    <a:pt x="3155302" y="1088834"/>
                  </a:lnTo>
                  <a:close/>
                </a:path>
                <a:path w="6057900" h="1414779">
                  <a:moveTo>
                    <a:pt x="4606341" y="878103"/>
                  </a:moveTo>
                  <a:lnTo>
                    <a:pt x="4353103" y="878103"/>
                  </a:lnTo>
                  <a:lnTo>
                    <a:pt x="4353103" y="1414297"/>
                  </a:lnTo>
                  <a:lnTo>
                    <a:pt x="4606341" y="1414297"/>
                  </a:lnTo>
                  <a:lnTo>
                    <a:pt x="4606341" y="878103"/>
                  </a:lnTo>
                  <a:close/>
                </a:path>
                <a:path w="6057900" h="1414779">
                  <a:moveTo>
                    <a:pt x="6057379" y="0"/>
                  </a:moveTo>
                  <a:lnTo>
                    <a:pt x="5804141" y="0"/>
                  </a:lnTo>
                  <a:lnTo>
                    <a:pt x="5804141" y="1414297"/>
                  </a:lnTo>
                  <a:lnTo>
                    <a:pt x="6057379" y="1414297"/>
                  </a:lnTo>
                  <a:lnTo>
                    <a:pt x="6057379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160976" y="7098309"/>
              <a:ext cx="7255509" cy="0"/>
            </a:xfrm>
            <a:custGeom>
              <a:avLst/>
              <a:gdLst/>
              <a:ahLst/>
              <a:cxnLst/>
              <a:rect l="l" t="t" r="r" b="b"/>
              <a:pathLst>
                <a:path w="7255509" h="0">
                  <a:moveTo>
                    <a:pt x="0" y="0"/>
                  </a:moveTo>
                  <a:lnTo>
                    <a:pt x="7255183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156208" y="7093559"/>
              <a:ext cx="7265034" cy="9525"/>
            </a:xfrm>
            <a:custGeom>
              <a:avLst/>
              <a:gdLst/>
              <a:ahLst/>
              <a:cxnLst/>
              <a:rect l="l" t="t" r="r" b="b"/>
              <a:pathLst>
                <a:path w="7265034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7265034" h="9525">
                  <a:moveTo>
                    <a:pt x="1460550" y="4749"/>
                  </a:moveTo>
                  <a:lnTo>
                    <a:pt x="1459153" y="1384"/>
                  </a:lnTo>
                  <a:lnTo>
                    <a:pt x="1455788" y="0"/>
                  </a:lnTo>
                  <a:lnTo>
                    <a:pt x="1452422" y="1384"/>
                  </a:lnTo>
                  <a:lnTo>
                    <a:pt x="1451025" y="4749"/>
                  </a:lnTo>
                  <a:lnTo>
                    <a:pt x="1452422" y="8128"/>
                  </a:lnTo>
                  <a:lnTo>
                    <a:pt x="1455788" y="9512"/>
                  </a:lnTo>
                  <a:lnTo>
                    <a:pt x="1459153" y="8128"/>
                  </a:lnTo>
                  <a:lnTo>
                    <a:pt x="1460550" y="4749"/>
                  </a:lnTo>
                  <a:close/>
                </a:path>
                <a:path w="7265034" h="9525">
                  <a:moveTo>
                    <a:pt x="2911589" y="4749"/>
                  </a:moveTo>
                  <a:lnTo>
                    <a:pt x="2910192" y="1384"/>
                  </a:lnTo>
                  <a:lnTo>
                    <a:pt x="2906826" y="0"/>
                  </a:lnTo>
                  <a:lnTo>
                    <a:pt x="2903461" y="1384"/>
                  </a:lnTo>
                  <a:lnTo>
                    <a:pt x="2902064" y="4749"/>
                  </a:lnTo>
                  <a:lnTo>
                    <a:pt x="2903461" y="8128"/>
                  </a:lnTo>
                  <a:lnTo>
                    <a:pt x="2906826" y="9512"/>
                  </a:lnTo>
                  <a:lnTo>
                    <a:pt x="2910192" y="8128"/>
                  </a:lnTo>
                  <a:lnTo>
                    <a:pt x="2911589" y="4749"/>
                  </a:lnTo>
                  <a:close/>
                </a:path>
                <a:path w="7265034" h="9525">
                  <a:moveTo>
                    <a:pt x="4362628" y="4749"/>
                  </a:moveTo>
                  <a:lnTo>
                    <a:pt x="4361231" y="1384"/>
                  </a:lnTo>
                  <a:lnTo>
                    <a:pt x="4357865" y="0"/>
                  </a:lnTo>
                  <a:lnTo>
                    <a:pt x="4354500" y="1384"/>
                  </a:lnTo>
                  <a:lnTo>
                    <a:pt x="4353103" y="4749"/>
                  </a:lnTo>
                  <a:lnTo>
                    <a:pt x="4354500" y="8128"/>
                  </a:lnTo>
                  <a:lnTo>
                    <a:pt x="4357865" y="9512"/>
                  </a:lnTo>
                  <a:lnTo>
                    <a:pt x="4361231" y="8128"/>
                  </a:lnTo>
                  <a:lnTo>
                    <a:pt x="4362628" y="4749"/>
                  </a:lnTo>
                  <a:close/>
                </a:path>
                <a:path w="7265034" h="9525">
                  <a:moveTo>
                    <a:pt x="5813666" y="4749"/>
                  </a:moveTo>
                  <a:lnTo>
                    <a:pt x="5812269" y="1384"/>
                  </a:lnTo>
                  <a:lnTo>
                    <a:pt x="5808904" y="0"/>
                  </a:lnTo>
                  <a:lnTo>
                    <a:pt x="5805538" y="1384"/>
                  </a:lnTo>
                  <a:lnTo>
                    <a:pt x="5804141" y="4749"/>
                  </a:lnTo>
                  <a:lnTo>
                    <a:pt x="5805538" y="8128"/>
                  </a:lnTo>
                  <a:lnTo>
                    <a:pt x="5808904" y="9512"/>
                  </a:lnTo>
                  <a:lnTo>
                    <a:pt x="5812269" y="8128"/>
                  </a:lnTo>
                  <a:lnTo>
                    <a:pt x="5813666" y="4749"/>
                  </a:lnTo>
                  <a:close/>
                </a:path>
                <a:path w="7265034" h="9525">
                  <a:moveTo>
                    <a:pt x="7264705" y="4749"/>
                  </a:moveTo>
                  <a:lnTo>
                    <a:pt x="7263308" y="1384"/>
                  </a:lnTo>
                  <a:lnTo>
                    <a:pt x="7259942" y="0"/>
                  </a:lnTo>
                  <a:lnTo>
                    <a:pt x="7256577" y="1384"/>
                  </a:lnTo>
                  <a:lnTo>
                    <a:pt x="7255180" y="4749"/>
                  </a:lnTo>
                  <a:lnTo>
                    <a:pt x="7256577" y="8128"/>
                  </a:lnTo>
                  <a:lnTo>
                    <a:pt x="7259942" y="9512"/>
                  </a:lnTo>
                  <a:lnTo>
                    <a:pt x="7263308" y="8128"/>
                  </a:lnTo>
                  <a:lnTo>
                    <a:pt x="7264705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886493" y="3556507"/>
              <a:ext cx="5804535" cy="3371215"/>
            </a:xfrm>
            <a:custGeom>
              <a:avLst/>
              <a:gdLst/>
              <a:ahLst/>
              <a:cxnLst/>
              <a:rect l="l" t="t" r="r" b="b"/>
              <a:pathLst>
                <a:path w="5804534" h="3371215">
                  <a:moveTo>
                    <a:pt x="0" y="3370795"/>
                  </a:moveTo>
                  <a:lnTo>
                    <a:pt x="1451038" y="2601366"/>
                  </a:lnTo>
                </a:path>
                <a:path w="5804534" h="3371215">
                  <a:moveTo>
                    <a:pt x="1451038" y="2601366"/>
                  </a:moveTo>
                  <a:lnTo>
                    <a:pt x="2902077" y="2128164"/>
                  </a:lnTo>
                </a:path>
                <a:path w="5804534" h="3371215">
                  <a:moveTo>
                    <a:pt x="2902077" y="2128164"/>
                  </a:moveTo>
                  <a:lnTo>
                    <a:pt x="4353102" y="1914232"/>
                  </a:lnTo>
                </a:path>
                <a:path w="5804534" h="3371215">
                  <a:moveTo>
                    <a:pt x="4353102" y="1914232"/>
                  </a:moveTo>
                  <a:lnTo>
                    <a:pt x="5804141" y="0"/>
                  </a:lnTo>
                </a:path>
              </a:pathLst>
            </a:custGeom>
            <a:ln w="28575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780135" y="339202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F395F"/>
                </a:solidFill>
                <a:latin typeface="Calibri"/>
                <a:cs typeface="Calibri"/>
              </a:rPr>
              <a:t>29%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510140" y="3325342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30%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16163" y="3937698"/>
            <a:ext cx="3467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Calibri"/>
                <a:cs typeface="Calibri"/>
              </a:rPr>
              <a:t>10000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510140" y="3937698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25%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0529" y="4550054"/>
            <a:ext cx="282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8000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510140" y="4550054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20%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9368193" y="2858020"/>
          <a:ext cx="7998459" cy="190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00"/>
                <a:gridCol w="2726054"/>
                <a:gridCol w="2585720"/>
                <a:gridCol w="2052320"/>
              </a:tblGrid>
              <a:tr h="414020"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dirty="0" sz="1200" spc="-10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2030A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414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1F395F"/>
                          </a:solidFill>
                          <a:latin typeface="Calibri"/>
                          <a:cs typeface="Calibri"/>
                        </a:rPr>
                        <a:t>32%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DCE6F1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14020"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dirty="0" sz="1200" spc="-10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2029A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4140"/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1F395F"/>
                          </a:solidFill>
                          <a:latin typeface="Calibri"/>
                          <a:cs typeface="Calibri"/>
                        </a:rPr>
                        <a:t>32%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DCE6F1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14020"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dirty="0" sz="1200" spc="-10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2028A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4140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spc="-25" b="1">
                          <a:solidFill>
                            <a:srgbClr val="1F395F"/>
                          </a:solidFill>
                          <a:latin typeface="Calibri"/>
                          <a:cs typeface="Calibri"/>
                        </a:rPr>
                        <a:t>32%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72" name="object 72"/>
          <p:cNvSpPr txBox="1"/>
          <p:nvPr/>
        </p:nvSpPr>
        <p:spPr>
          <a:xfrm>
            <a:off x="780529" y="5162410"/>
            <a:ext cx="282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6000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510140" y="5162410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15%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87243" y="5185765"/>
            <a:ext cx="4260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2027A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13418" y="5153824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42%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67541" y="5153824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404040"/>
                </a:solidFill>
                <a:latin typeface="Calibri"/>
                <a:cs typeface="Calibri"/>
              </a:rPr>
              <a:t>40%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091577" y="5153824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1F395F"/>
                </a:solidFill>
                <a:latin typeface="Calibri"/>
                <a:cs typeface="Calibri"/>
              </a:rPr>
              <a:t>32%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329097" y="5306250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F395F"/>
                </a:solidFill>
                <a:latin typeface="Calibri"/>
                <a:cs typeface="Calibri"/>
              </a:rPr>
              <a:t>13%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0529" y="5774766"/>
            <a:ext cx="282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4000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78071" y="5774182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F395F"/>
                </a:solidFill>
                <a:latin typeface="Calibri"/>
                <a:cs typeface="Calibri"/>
              </a:rPr>
              <a:t>12%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510140" y="5774766"/>
            <a:ext cx="245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10%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87243" y="5931217"/>
            <a:ext cx="4260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2026A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17469" y="5899289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42%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74563" y="5899289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404040"/>
                </a:solidFill>
                <a:latin typeface="Calibri"/>
                <a:cs typeface="Calibri"/>
              </a:rPr>
              <a:t>40%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94536" y="5899289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1F395F"/>
                </a:solidFill>
                <a:latin typeface="Calibri"/>
                <a:cs typeface="Calibri"/>
              </a:rPr>
              <a:t>32%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414333" y="6120384"/>
            <a:ext cx="307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F395F"/>
                </a:solidFill>
                <a:latin typeface="Calibri"/>
                <a:cs typeface="Calibri"/>
              </a:rPr>
              <a:t>8%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19819" y="6280213"/>
            <a:ext cx="307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F395F"/>
                </a:solidFill>
                <a:latin typeface="Calibri"/>
                <a:cs typeface="Calibri"/>
              </a:rPr>
              <a:t>1%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-19049" y="6438912"/>
            <a:ext cx="553085" cy="830580"/>
            <a:chOff x="-19049" y="6438912"/>
            <a:chExt cx="553085" cy="830580"/>
          </a:xfrm>
        </p:grpSpPr>
        <p:sp>
          <p:nvSpPr>
            <p:cNvPr id="91" name="object 91"/>
            <p:cNvSpPr/>
            <p:nvPr/>
          </p:nvSpPr>
          <p:spPr>
            <a:xfrm>
              <a:off x="0" y="6515112"/>
              <a:ext cx="514984" cy="735330"/>
            </a:xfrm>
            <a:custGeom>
              <a:avLst/>
              <a:gdLst/>
              <a:ahLst/>
              <a:cxnLst/>
              <a:rect l="l" t="t" r="r" b="b"/>
              <a:pathLst>
                <a:path w="514984" h="735329">
                  <a:moveTo>
                    <a:pt x="0" y="735063"/>
                  </a:moveTo>
                  <a:lnTo>
                    <a:pt x="183765" y="735063"/>
                  </a:lnTo>
                  <a:lnTo>
                    <a:pt x="183765" y="0"/>
                  </a:lnTo>
                  <a:lnTo>
                    <a:pt x="514813" y="0"/>
                  </a:lnTo>
                </a:path>
              </a:pathLst>
            </a:custGeom>
            <a:ln w="38099">
              <a:solidFill>
                <a:srgbClr val="009A4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464" y="6438912"/>
              <a:ext cx="152398" cy="15239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780529" y="6387122"/>
            <a:ext cx="282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latin typeface="Calibri"/>
                <a:cs typeface="Calibri"/>
              </a:rPr>
              <a:t>2000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510140" y="6387122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87243" y="6676669"/>
            <a:ext cx="4260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31744" y="6644741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40%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12054" y="6644741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404040"/>
                </a:solidFill>
                <a:latin typeface="Calibri"/>
                <a:cs typeface="Calibri"/>
              </a:rPr>
              <a:t>37%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17765" y="6644741"/>
            <a:ext cx="379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1F395F"/>
                </a:solidFill>
                <a:latin typeface="Calibri"/>
                <a:cs typeface="Calibri"/>
              </a:rPr>
              <a:t>29%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73630" y="6999478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510140" y="6999478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89859" y="7198588"/>
            <a:ext cx="39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2021A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140889" y="7198588"/>
            <a:ext cx="39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2022A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91927" y="7198588"/>
            <a:ext cx="39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2023A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42966" y="7198588"/>
            <a:ext cx="39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2024A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494004" y="7198588"/>
            <a:ext cx="39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2025A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936674" y="6743712"/>
            <a:ext cx="1495425" cy="662305"/>
            <a:chOff x="7936674" y="6743712"/>
            <a:chExt cx="1495425" cy="662305"/>
          </a:xfrm>
        </p:grpSpPr>
        <p:sp>
          <p:nvSpPr>
            <p:cNvPr id="86" name="object 86"/>
            <p:cNvSpPr/>
            <p:nvPr/>
          </p:nvSpPr>
          <p:spPr>
            <a:xfrm>
              <a:off x="7955724" y="6819912"/>
              <a:ext cx="1457325" cy="509905"/>
            </a:xfrm>
            <a:custGeom>
              <a:avLst/>
              <a:gdLst/>
              <a:ahLst/>
              <a:cxnLst/>
              <a:rect l="l" t="t" r="r" b="b"/>
              <a:pathLst>
                <a:path w="1457325" h="509904">
                  <a:moveTo>
                    <a:pt x="0" y="509638"/>
                  </a:moveTo>
                  <a:lnTo>
                    <a:pt x="906772" y="509638"/>
                  </a:lnTo>
                  <a:lnTo>
                    <a:pt x="906772" y="0"/>
                  </a:lnTo>
                  <a:lnTo>
                    <a:pt x="1456715" y="0"/>
                  </a:lnTo>
                </a:path>
              </a:pathLst>
            </a:custGeom>
            <a:ln w="38099">
              <a:solidFill>
                <a:srgbClr val="009A4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6674" y="7253350"/>
              <a:ext cx="152399" cy="15239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9089" y="6743712"/>
              <a:ext cx="152399" cy="15239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844252" y="7236511"/>
            <a:ext cx="165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89836" y="7236511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764369" y="7236511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40%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238916" y="7236511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60%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713462" y="7236511"/>
            <a:ext cx="222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80%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159030" y="7236511"/>
            <a:ext cx="280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100%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77021" y="7552423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19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437803" y="7525842"/>
            <a:ext cx="8388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Revenue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87509" y="7561618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20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94B3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848277" y="7535036"/>
            <a:ext cx="7594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EBITDA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815027" y="7570825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20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275808" y="7544244"/>
            <a:ext cx="4775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EBIT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897524" y="7562443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20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486D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358305" y="7535862"/>
            <a:ext cx="47688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NPM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47373" y="7588174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20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244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2008154" y="7561580"/>
            <a:ext cx="7594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EBITDA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084302" y="7584541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19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94B3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3545058" y="7557960"/>
            <a:ext cx="4775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EBIT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4494763" y="7594600"/>
            <a:ext cx="426720" cy="248920"/>
          </a:xfrm>
          <a:custGeom>
            <a:avLst/>
            <a:gdLst/>
            <a:ahLst/>
            <a:cxnLst/>
            <a:rect l="l" t="t" r="r" b="b"/>
            <a:pathLst>
              <a:path w="426719" h="248920">
                <a:moveTo>
                  <a:pt x="426551" y="0"/>
                </a:moveTo>
                <a:lnTo>
                  <a:pt x="0" y="0"/>
                </a:lnTo>
                <a:lnTo>
                  <a:pt x="0" y="248551"/>
                </a:lnTo>
                <a:lnTo>
                  <a:pt x="426551" y="248551"/>
                </a:lnTo>
                <a:lnTo>
                  <a:pt x="426551" y="0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4955519" y="7568018"/>
            <a:ext cx="47688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NPM</a:t>
            </a:r>
            <a:endParaRPr sz="16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93554" y="8319211"/>
            <a:ext cx="160693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takeaway: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ARCC’s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inflection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visible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across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gross,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EBITDA,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net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margins,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setting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base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for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forward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2000" spc="-8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recovery.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12140" y="9097454"/>
            <a:ext cx="665099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Consolidated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(2021-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0" y="9349307"/>
              <a:ext cx="4255135" cy="937894"/>
            </a:xfrm>
            <a:custGeom>
              <a:avLst/>
              <a:gdLst/>
              <a:ahLst/>
              <a:cxnLst/>
              <a:rect l="l" t="t" r="r" b="b"/>
              <a:pathLst>
                <a:path w="4255135" h="937895">
                  <a:moveTo>
                    <a:pt x="2565870" y="481596"/>
                  </a:moveTo>
                  <a:lnTo>
                    <a:pt x="210761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2131885" y="937691"/>
                  </a:lnTo>
                  <a:lnTo>
                    <a:pt x="2565870" y="481596"/>
                  </a:lnTo>
                  <a:close/>
                </a:path>
                <a:path w="4255135" h="937895">
                  <a:moveTo>
                    <a:pt x="4254589" y="481596"/>
                  </a:moveTo>
                  <a:lnTo>
                    <a:pt x="3796334" y="0"/>
                  </a:lnTo>
                  <a:lnTo>
                    <a:pt x="2231745" y="0"/>
                  </a:lnTo>
                  <a:lnTo>
                    <a:pt x="2689999" y="481596"/>
                  </a:lnTo>
                  <a:lnTo>
                    <a:pt x="2256015" y="937691"/>
                  </a:lnTo>
                  <a:lnTo>
                    <a:pt x="3820604" y="937691"/>
                  </a:lnTo>
                  <a:lnTo>
                    <a:pt x="4254589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924198" y="9349307"/>
              <a:ext cx="3705860" cy="937894"/>
            </a:xfrm>
            <a:custGeom>
              <a:avLst/>
              <a:gdLst/>
              <a:ahLst/>
              <a:cxnLst/>
              <a:rect l="l" t="t" r="r" b="b"/>
              <a:pathLst>
                <a:path w="3705860" h="937895">
                  <a:moveTo>
                    <a:pt x="3247351" y="0"/>
                  </a:moveTo>
                  <a:lnTo>
                    <a:pt x="0" y="0"/>
                  </a:lnTo>
                  <a:lnTo>
                    <a:pt x="458255" y="481596"/>
                  </a:lnTo>
                  <a:lnTo>
                    <a:pt x="24277" y="937691"/>
                  </a:lnTo>
                  <a:lnTo>
                    <a:pt x="3271628" y="937691"/>
                  </a:lnTo>
                  <a:lnTo>
                    <a:pt x="3705605" y="481596"/>
                  </a:lnTo>
                  <a:lnTo>
                    <a:pt x="324735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300163" y="9349307"/>
              <a:ext cx="6319520" cy="937894"/>
            </a:xfrm>
            <a:custGeom>
              <a:avLst/>
              <a:gdLst/>
              <a:ahLst/>
              <a:cxnLst/>
              <a:rect l="l" t="t" r="r" b="b"/>
              <a:pathLst>
                <a:path w="6319520" h="937895">
                  <a:moveTo>
                    <a:pt x="2326068" y="481596"/>
                  </a:moveTo>
                  <a:lnTo>
                    <a:pt x="1867814" y="0"/>
                  </a:lnTo>
                  <a:lnTo>
                    <a:pt x="0" y="0"/>
                  </a:lnTo>
                  <a:lnTo>
                    <a:pt x="458254" y="481596"/>
                  </a:lnTo>
                  <a:lnTo>
                    <a:pt x="24269" y="937691"/>
                  </a:lnTo>
                  <a:lnTo>
                    <a:pt x="1892084" y="937691"/>
                  </a:lnTo>
                  <a:lnTo>
                    <a:pt x="2326068" y="481596"/>
                  </a:lnTo>
                  <a:close/>
                </a:path>
                <a:path w="6319520" h="937895">
                  <a:moveTo>
                    <a:pt x="4322483" y="481596"/>
                  </a:moveTo>
                  <a:lnTo>
                    <a:pt x="3864229" y="0"/>
                  </a:lnTo>
                  <a:lnTo>
                    <a:pt x="1996414" y="0"/>
                  </a:lnTo>
                  <a:lnTo>
                    <a:pt x="2454681" y="481596"/>
                  </a:lnTo>
                  <a:lnTo>
                    <a:pt x="2020697" y="937691"/>
                  </a:lnTo>
                  <a:lnTo>
                    <a:pt x="3888511" y="937691"/>
                  </a:lnTo>
                  <a:lnTo>
                    <a:pt x="4322483" y="481596"/>
                  </a:lnTo>
                  <a:close/>
                </a:path>
                <a:path w="6319520" h="937895">
                  <a:moveTo>
                    <a:pt x="6318923" y="481596"/>
                  </a:moveTo>
                  <a:lnTo>
                    <a:pt x="5860669" y="0"/>
                  </a:lnTo>
                  <a:lnTo>
                    <a:pt x="3992854" y="0"/>
                  </a:lnTo>
                  <a:lnTo>
                    <a:pt x="4451121" y="481596"/>
                  </a:lnTo>
                  <a:lnTo>
                    <a:pt x="4017137" y="937691"/>
                  </a:lnTo>
                  <a:lnTo>
                    <a:pt x="5884951" y="937691"/>
                  </a:lnTo>
                  <a:lnTo>
                    <a:pt x="6318923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3098" y="9516528"/>
              <a:ext cx="816563" cy="628751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48724" y="9496310"/>
              <a:ext cx="588890" cy="66918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41176" y="9471265"/>
              <a:ext cx="719289" cy="71928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15384" y="9462820"/>
              <a:ext cx="742773" cy="72420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18957" y="9446602"/>
              <a:ext cx="684049" cy="768591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119711" y="9446602"/>
              <a:ext cx="564879" cy="724204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5626100" y="9524396"/>
            <a:ext cx="1125855" cy="5556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5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Financial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270856"/>
            <a:ext cx="17462500" cy="1515745"/>
            <a:chOff x="555007" y="270856"/>
            <a:chExt cx="17462500" cy="151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5983" y="498886"/>
            <a:ext cx="6444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Balance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Sheet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Working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Capital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" y="946743"/>
            <a:ext cx="19685" cy="1308735"/>
          </a:xfrm>
          <a:custGeom>
            <a:avLst/>
            <a:gdLst/>
            <a:ahLst/>
            <a:cxnLst/>
            <a:rect l="l" t="t" r="r" b="b"/>
            <a:pathLst>
              <a:path w="19684" h="1308735">
                <a:moveTo>
                  <a:pt x="19081" y="0"/>
                </a:moveTo>
                <a:lnTo>
                  <a:pt x="0" y="1308366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73983" y="879612"/>
            <a:ext cx="152863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Leverage</a:t>
            </a:r>
            <a:r>
              <a:rPr dirty="0" spc="-50"/>
              <a:t> </a:t>
            </a:r>
            <a:r>
              <a:rPr dirty="0"/>
              <a:t>Normalizes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0"/>
              <a:t> </a:t>
            </a:r>
            <a:r>
              <a:rPr dirty="0"/>
              <a:t>Working</a:t>
            </a:r>
            <a:r>
              <a:rPr dirty="0" spc="-50"/>
              <a:t> </a:t>
            </a:r>
            <a:r>
              <a:rPr dirty="0"/>
              <a:t>Capital</a:t>
            </a:r>
            <a:r>
              <a:rPr dirty="0" spc="-50"/>
              <a:t> </a:t>
            </a:r>
            <a:r>
              <a:rPr dirty="0"/>
              <a:t>Efficiency</a:t>
            </a:r>
            <a:r>
              <a:rPr dirty="0" spc="-50"/>
              <a:t> </a:t>
            </a:r>
            <a:r>
              <a:rPr dirty="0"/>
              <a:t>Recovers</a:t>
            </a:r>
            <a:r>
              <a:rPr dirty="0" spc="-50"/>
              <a:t> </a:t>
            </a:r>
            <a:r>
              <a:rPr dirty="0" spc="-10"/>
              <a:t>Through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3983" y="1222512"/>
            <a:ext cx="13201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2030F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7942" y="1697304"/>
            <a:ext cx="15981044" cy="57150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6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liabilities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relative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equity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normalized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conversion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cycle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point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balanced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balance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sheet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steadier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cash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conversion.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6441" y="2428226"/>
            <a:ext cx="1986914" cy="561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Solvency</a:t>
            </a:r>
            <a:r>
              <a:rPr dirty="0" sz="2000" spc="-9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Ratios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(2021A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ratio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868981" y="2447404"/>
            <a:ext cx="2860675" cy="561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8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Conversion</a:t>
            </a:r>
            <a:r>
              <a:rPr dirty="0" sz="2000" spc="-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Cycle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(2021A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Day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9232" y="3144812"/>
            <a:ext cx="6929120" cy="4502150"/>
            <a:chOff x="1019232" y="3144812"/>
            <a:chExt cx="6929120" cy="4502150"/>
          </a:xfrm>
        </p:grpSpPr>
        <p:sp>
          <p:nvSpPr>
            <p:cNvPr id="13" name="object 13"/>
            <p:cNvSpPr/>
            <p:nvPr/>
          </p:nvSpPr>
          <p:spPr>
            <a:xfrm>
              <a:off x="1023988" y="3374186"/>
              <a:ext cx="4789170" cy="4192270"/>
            </a:xfrm>
            <a:custGeom>
              <a:avLst/>
              <a:gdLst/>
              <a:ahLst/>
              <a:cxnLst/>
              <a:rect l="l" t="t" r="r" b="b"/>
              <a:pathLst>
                <a:path w="4789170" h="4192270">
                  <a:moveTo>
                    <a:pt x="389280" y="0"/>
                  </a:moveTo>
                  <a:lnTo>
                    <a:pt x="0" y="0"/>
                  </a:lnTo>
                  <a:lnTo>
                    <a:pt x="0" y="148755"/>
                  </a:lnTo>
                  <a:lnTo>
                    <a:pt x="389280" y="148755"/>
                  </a:lnTo>
                  <a:lnTo>
                    <a:pt x="389280" y="0"/>
                  </a:lnTo>
                  <a:close/>
                </a:path>
                <a:path w="4789170" h="4192270">
                  <a:moveTo>
                    <a:pt x="472414" y="449224"/>
                  </a:moveTo>
                  <a:lnTo>
                    <a:pt x="0" y="449224"/>
                  </a:lnTo>
                  <a:lnTo>
                    <a:pt x="0" y="597979"/>
                  </a:lnTo>
                  <a:lnTo>
                    <a:pt x="472414" y="597979"/>
                  </a:lnTo>
                  <a:lnTo>
                    <a:pt x="472414" y="449224"/>
                  </a:lnTo>
                  <a:close/>
                </a:path>
                <a:path w="4789170" h="4192270">
                  <a:moveTo>
                    <a:pt x="603250" y="898461"/>
                  </a:moveTo>
                  <a:lnTo>
                    <a:pt x="0" y="898461"/>
                  </a:lnTo>
                  <a:lnTo>
                    <a:pt x="0" y="1047203"/>
                  </a:lnTo>
                  <a:lnTo>
                    <a:pt x="603250" y="1047203"/>
                  </a:lnTo>
                  <a:lnTo>
                    <a:pt x="603250" y="898461"/>
                  </a:lnTo>
                  <a:close/>
                </a:path>
                <a:path w="4789170" h="4192270">
                  <a:moveTo>
                    <a:pt x="808850" y="1347685"/>
                  </a:moveTo>
                  <a:lnTo>
                    <a:pt x="0" y="1347685"/>
                  </a:lnTo>
                  <a:lnTo>
                    <a:pt x="0" y="1496428"/>
                  </a:lnTo>
                  <a:lnTo>
                    <a:pt x="808850" y="1496428"/>
                  </a:lnTo>
                  <a:lnTo>
                    <a:pt x="808850" y="1347685"/>
                  </a:lnTo>
                  <a:close/>
                </a:path>
                <a:path w="4789170" h="4192270">
                  <a:moveTo>
                    <a:pt x="1173010" y="1796910"/>
                  </a:moveTo>
                  <a:lnTo>
                    <a:pt x="0" y="1796910"/>
                  </a:lnTo>
                  <a:lnTo>
                    <a:pt x="0" y="1945665"/>
                  </a:lnTo>
                  <a:lnTo>
                    <a:pt x="1173010" y="1945665"/>
                  </a:lnTo>
                  <a:lnTo>
                    <a:pt x="1173010" y="1796910"/>
                  </a:lnTo>
                  <a:close/>
                </a:path>
                <a:path w="4789170" h="4192270">
                  <a:moveTo>
                    <a:pt x="1904568" y="2246134"/>
                  </a:moveTo>
                  <a:lnTo>
                    <a:pt x="0" y="2246134"/>
                  </a:lnTo>
                  <a:lnTo>
                    <a:pt x="0" y="2394889"/>
                  </a:lnTo>
                  <a:lnTo>
                    <a:pt x="1904568" y="2394889"/>
                  </a:lnTo>
                  <a:lnTo>
                    <a:pt x="1904568" y="2246134"/>
                  </a:lnTo>
                  <a:close/>
                </a:path>
                <a:path w="4789170" h="4192270">
                  <a:moveTo>
                    <a:pt x="2596654" y="3144596"/>
                  </a:moveTo>
                  <a:lnTo>
                    <a:pt x="0" y="3144596"/>
                  </a:lnTo>
                  <a:lnTo>
                    <a:pt x="0" y="3293338"/>
                  </a:lnTo>
                  <a:lnTo>
                    <a:pt x="2596654" y="3293338"/>
                  </a:lnTo>
                  <a:lnTo>
                    <a:pt x="2596654" y="3144596"/>
                  </a:lnTo>
                  <a:close/>
                </a:path>
                <a:path w="4789170" h="4192270">
                  <a:moveTo>
                    <a:pt x="3286252" y="2695359"/>
                  </a:moveTo>
                  <a:lnTo>
                    <a:pt x="0" y="2695359"/>
                  </a:lnTo>
                  <a:lnTo>
                    <a:pt x="0" y="2844114"/>
                  </a:lnTo>
                  <a:lnTo>
                    <a:pt x="3286252" y="2844114"/>
                  </a:lnTo>
                  <a:lnTo>
                    <a:pt x="3286252" y="2695359"/>
                  </a:lnTo>
                  <a:close/>
                </a:path>
                <a:path w="4789170" h="4192270">
                  <a:moveTo>
                    <a:pt x="3848011" y="4043045"/>
                  </a:moveTo>
                  <a:lnTo>
                    <a:pt x="0" y="4043045"/>
                  </a:lnTo>
                  <a:lnTo>
                    <a:pt x="0" y="4191800"/>
                  </a:lnTo>
                  <a:lnTo>
                    <a:pt x="3848011" y="4191800"/>
                  </a:lnTo>
                  <a:lnTo>
                    <a:pt x="3848011" y="4043045"/>
                  </a:lnTo>
                  <a:close/>
                </a:path>
                <a:path w="4789170" h="4192270">
                  <a:moveTo>
                    <a:pt x="4788763" y="3593820"/>
                  </a:moveTo>
                  <a:lnTo>
                    <a:pt x="0" y="3593820"/>
                  </a:lnTo>
                  <a:lnTo>
                    <a:pt x="0" y="3742575"/>
                  </a:lnTo>
                  <a:lnTo>
                    <a:pt x="4788763" y="3742575"/>
                  </a:lnTo>
                  <a:lnTo>
                    <a:pt x="4788763" y="3593820"/>
                  </a:lnTo>
                  <a:close/>
                </a:path>
              </a:pathLst>
            </a:custGeom>
            <a:solidFill>
              <a:srgbClr val="A1E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23988" y="3225431"/>
              <a:ext cx="6924675" cy="4192270"/>
            </a:xfrm>
            <a:custGeom>
              <a:avLst/>
              <a:gdLst/>
              <a:ahLst/>
              <a:cxnLst/>
              <a:rect l="l" t="t" r="r" b="b"/>
              <a:pathLst>
                <a:path w="6924675" h="4192270">
                  <a:moveTo>
                    <a:pt x="2524620" y="0"/>
                  </a:moveTo>
                  <a:lnTo>
                    <a:pt x="0" y="0"/>
                  </a:lnTo>
                  <a:lnTo>
                    <a:pt x="0" y="148755"/>
                  </a:lnTo>
                  <a:lnTo>
                    <a:pt x="2524620" y="148755"/>
                  </a:lnTo>
                  <a:lnTo>
                    <a:pt x="2524620" y="0"/>
                  </a:lnTo>
                  <a:close/>
                </a:path>
                <a:path w="6924675" h="4192270">
                  <a:moveTo>
                    <a:pt x="2607754" y="449237"/>
                  </a:moveTo>
                  <a:lnTo>
                    <a:pt x="0" y="449237"/>
                  </a:lnTo>
                  <a:lnTo>
                    <a:pt x="0" y="597979"/>
                  </a:lnTo>
                  <a:lnTo>
                    <a:pt x="2607754" y="597979"/>
                  </a:lnTo>
                  <a:lnTo>
                    <a:pt x="2607754" y="449237"/>
                  </a:lnTo>
                  <a:close/>
                </a:path>
                <a:path w="6924675" h="4192270">
                  <a:moveTo>
                    <a:pt x="2738590" y="898461"/>
                  </a:moveTo>
                  <a:lnTo>
                    <a:pt x="0" y="898461"/>
                  </a:lnTo>
                  <a:lnTo>
                    <a:pt x="0" y="1047216"/>
                  </a:lnTo>
                  <a:lnTo>
                    <a:pt x="2738590" y="1047216"/>
                  </a:lnTo>
                  <a:lnTo>
                    <a:pt x="2738590" y="898461"/>
                  </a:lnTo>
                  <a:close/>
                </a:path>
                <a:path w="6924675" h="4192270">
                  <a:moveTo>
                    <a:pt x="2944190" y="1347685"/>
                  </a:moveTo>
                  <a:lnTo>
                    <a:pt x="0" y="1347685"/>
                  </a:lnTo>
                  <a:lnTo>
                    <a:pt x="0" y="1496441"/>
                  </a:lnTo>
                  <a:lnTo>
                    <a:pt x="2944190" y="1496441"/>
                  </a:lnTo>
                  <a:lnTo>
                    <a:pt x="2944190" y="1347685"/>
                  </a:lnTo>
                  <a:close/>
                </a:path>
                <a:path w="6924675" h="4192270">
                  <a:moveTo>
                    <a:pt x="3308350" y="1796910"/>
                  </a:moveTo>
                  <a:lnTo>
                    <a:pt x="0" y="1796910"/>
                  </a:lnTo>
                  <a:lnTo>
                    <a:pt x="0" y="1945665"/>
                  </a:lnTo>
                  <a:lnTo>
                    <a:pt x="3308350" y="1945665"/>
                  </a:lnTo>
                  <a:lnTo>
                    <a:pt x="3308350" y="1796910"/>
                  </a:lnTo>
                  <a:close/>
                </a:path>
                <a:path w="6924675" h="4192270">
                  <a:moveTo>
                    <a:pt x="4039908" y="2246147"/>
                  </a:moveTo>
                  <a:lnTo>
                    <a:pt x="0" y="2246147"/>
                  </a:lnTo>
                  <a:lnTo>
                    <a:pt x="0" y="2394889"/>
                  </a:lnTo>
                  <a:lnTo>
                    <a:pt x="4039908" y="2394889"/>
                  </a:lnTo>
                  <a:lnTo>
                    <a:pt x="4039908" y="2246147"/>
                  </a:lnTo>
                  <a:close/>
                </a:path>
                <a:path w="6924675" h="4192270">
                  <a:moveTo>
                    <a:pt x="4731994" y="3144596"/>
                  </a:moveTo>
                  <a:lnTo>
                    <a:pt x="0" y="3144596"/>
                  </a:lnTo>
                  <a:lnTo>
                    <a:pt x="0" y="3293351"/>
                  </a:lnTo>
                  <a:lnTo>
                    <a:pt x="4731994" y="3293351"/>
                  </a:lnTo>
                  <a:lnTo>
                    <a:pt x="4731994" y="3144596"/>
                  </a:lnTo>
                  <a:close/>
                </a:path>
                <a:path w="6924675" h="4192270">
                  <a:moveTo>
                    <a:pt x="5421592" y="2695371"/>
                  </a:moveTo>
                  <a:lnTo>
                    <a:pt x="0" y="2695371"/>
                  </a:lnTo>
                  <a:lnTo>
                    <a:pt x="0" y="2844114"/>
                  </a:lnTo>
                  <a:lnTo>
                    <a:pt x="5421592" y="2844114"/>
                  </a:lnTo>
                  <a:lnTo>
                    <a:pt x="5421592" y="2695371"/>
                  </a:lnTo>
                  <a:close/>
                </a:path>
                <a:path w="6924675" h="4192270">
                  <a:moveTo>
                    <a:pt x="5983351" y="4043045"/>
                  </a:moveTo>
                  <a:lnTo>
                    <a:pt x="0" y="4043045"/>
                  </a:lnTo>
                  <a:lnTo>
                    <a:pt x="0" y="4191800"/>
                  </a:lnTo>
                  <a:lnTo>
                    <a:pt x="5983351" y="4191800"/>
                  </a:lnTo>
                  <a:lnTo>
                    <a:pt x="5983351" y="4043045"/>
                  </a:lnTo>
                  <a:close/>
                </a:path>
                <a:path w="6924675" h="4192270">
                  <a:moveTo>
                    <a:pt x="6924103" y="3593820"/>
                  </a:moveTo>
                  <a:lnTo>
                    <a:pt x="0" y="3593820"/>
                  </a:lnTo>
                  <a:lnTo>
                    <a:pt x="0" y="3742575"/>
                  </a:lnTo>
                  <a:lnTo>
                    <a:pt x="6924103" y="3742575"/>
                  </a:lnTo>
                  <a:lnTo>
                    <a:pt x="6924103" y="359382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23994" y="3149574"/>
              <a:ext cx="0" cy="4492625"/>
            </a:xfrm>
            <a:custGeom>
              <a:avLst/>
              <a:gdLst/>
              <a:ahLst/>
              <a:cxnLst/>
              <a:rect l="l" t="t" r="r" b="b"/>
              <a:pathLst>
                <a:path w="0" h="4492625">
                  <a:moveTo>
                    <a:pt x="0" y="449226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19225" y="3144824"/>
              <a:ext cx="9525" cy="4502150"/>
            </a:xfrm>
            <a:custGeom>
              <a:avLst/>
              <a:gdLst/>
              <a:ahLst/>
              <a:cxnLst/>
              <a:rect l="l" t="t" r="r" b="b"/>
              <a:pathLst>
                <a:path w="9525" h="4502150">
                  <a:moveTo>
                    <a:pt x="9525" y="4497019"/>
                  </a:moveTo>
                  <a:lnTo>
                    <a:pt x="8128" y="4493653"/>
                  </a:lnTo>
                  <a:lnTo>
                    <a:pt x="4762" y="4492269"/>
                  </a:lnTo>
                  <a:lnTo>
                    <a:pt x="1397" y="4493653"/>
                  </a:lnTo>
                  <a:lnTo>
                    <a:pt x="0" y="4497019"/>
                  </a:lnTo>
                  <a:lnTo>
                    <a:pt x="1397" y="4500397"/>
                  </a:lnTo>
                  <a:lnTo>
                    <a:pt x="4762" y="4501781"/>
                  </a:lnTo>
                  <a:lnTo>
                    <a:pt x="8128" y="4500397"/>
                  </a:lnTo>
                  <a:lnTo>
                    <a:pt x="9525" y="4497019"/>
                  </a:lnTo>
                  <a:close/>
                </a:path>
                <a:path w="9525" h="4502150">
                  <a:moveTo>
                    <a:pt x="9525" y="4047794"/>
                  </a:moveTo>
                  <a:lnTo>
                    <a:pt x="8128" y="4044429"/>
                  </a:lnTo>
                  <a:lnTo>
                    <a:pt x="4762" y="4043045"/>
                  </a:lnTo>
                  <a:lnTo>
                    <a:pt x="1397" y="4044429"/>
                  </a:lnTo>
                  <a:lnTo>
                    <a:pt x="0" y="4047794"/>
                  </a:lnTo>
                  <a:lnTo>
                    <a:pt x="1397" y="4051173"/>
                  </a:lnTo>
                  <a:lnTo>
                    <a:pt x="4762" y="4052557"/>
                  </a:lnTo>
                  <a:lnTo>
                    <a:pt x="8128" y="4051173"/>
                  </a:lnTo>
                  <a:lnTo>
                    <a:pt x="9525" y="4047794"/>
                  </a:lnTo>
                  <a:close/>
                </a:path>
                <a:path w="9525" h="4502150">
                  <a:moveTo>
                    <a:pt x="9525" y="3598570"/>
                  </a:moveTo>
                  <a:lnTo>
                    <a:pt x="8128" y="3595205"/>
                  </a:lnTo>
                  <a:lnTo>
                    <a:pt x="4762" y="3593820"/>
                  </a:lnTo>
                  <a:lnTo>
                    <a:pt x="1397" y="3595205"/>
                  </a:lnTo>
                  <a:lnTo>
                    <a:pt x="0" y="3598570"/>
                  </a:lnTo>
                  <a:lnTo>
                    <a:pt x="1397" y="3601948"/>
                  </a:lnTo>
                  <a:lnTo>
                    <a:pt x="4762" y="3603333"/>
                  </a:lnTo>
                  <a:lnTo>
                    <a:pt x="8128" y="3601948"/>
                  </a:lnTo>
                  <a:lnTo>
                    <a:pt x="9525" y="3598570"/>
                  </a:lnTo>
                  <a:close/>
                </a:path>
                <a:path w="9525" h="4502150">
                  <a:moveTo>
                    <a:pt x="9525" y="3149346"/>
                  </a:moveTo>
                  <a:lnTo>
                    <a:pt x="8128" y="3145980"/>
                  </a:lnTo>
                  <a:lnTo>
                    <a:pt x="4762" y="3144596"/>
                  </a:lnTo>
                  <a:lnTo>
                    <a:pt x="1397" y="3145980"/>
                  </a:lnTo>
                  <a:lnTo>
                    <a:pt x="0" y="3149346"/>
                  </a:lnTo>
                  <a:lnTo>
                    <a:pt x="1397" y="3152724"/>
                  </a:lnTo>
                  <a:lnTo>
                    <a:pt x="4762" y="3154108"/>
                  </a:lnTo>
                  <a:lnTo>
                    <a:pt x="8128" y="3152724"/>
                  </a:lnTo>
                  <a:lnTo>
                    <a:pt x="9525" y="3149346"/>
                  </a:lnTo>
                  <a:close/>
                </a:path>
                <a:path w="9525" h="4502150">
                  <a:moveTo>
                    <a:pt x="9525" y="2700109"/>
                  </a:moveTo>
                  <a:lnTo>
                    <a:pt x="8128" y="2696743"/>
                  </a:lnTo>
                  <a:lnTo>
                    <a:pt x="4762" y="2695359"/>
                  </a:lnTo>
                  <a:lnTo>
                    <a:pt x="1397" y="2696743"/>
                  </a:lnTo>
                  <a:lnTo>
                    <a:pt x="0" y="2700109"/>
                  </a:lnTo>
                  <a:lnTo>
                    <a:pt x="1397" y="2703487"/>
                  </a:lnTo>
                  <a:lnTo>
                    <a:pt x="4762" y="2704871"/>
                  </a:lnTo>
                  <a:lnTo>
                    <a:pt x="8128" y="2703487"/>
                  </a:lnTo>
                  <a:lnTo>
                    <a:pt x="9525" y="2700109"/>
                  </a:lnTo>
                  <a:close/>
                </a:path>
                <a:path w="9525" h="4502150">
                  <a:moveTo>
                    <a:pt x="9525" y="2250884"/>
                  </a:moveTo>
                  <a:lnTo>
                    <a:pt x="8128" y="2247519"/>
                  </a:lnTo>
                  <a:lnTo>
                    <a:pt x="4762" y="2246134"/>
                  </a:lnTo>
                  <a:lnTo>
                    <a:pt x="1397" y="2247519"/>
                  </a:lnTo>
                  <a:lnTo>
                    <a:pt x="0" y="2250884"/>
                  </a:lnTo>
                  <a:lnTo>
                    <a:pt x="1397" y="2254262"/>
                  </a:lnTo>
                  <a:lnTo>
                    <a:pt x="4762" y="2255647"/>
                  </a:lnTo>
                  <a:lnTo>
                    <a:pt x="8128" y="2254262"/>
                  </a:lnTo>
                  <a:lnTo>
                    <a:pt x="9525" y="2250884"/>
                  </a:lnTo>
                  <a:close/>
                </a:path>
                <a:path w="9525" h="4502150">
                  <a:moveTo>
                    <a:pt x="9525" y="1801660"/>
                  </a:moveTo>
                  <a:lnTo>
                    <a:pt x="8128" y="1798294"/>
                  </a:lnTo>
                  <a:lnTo>
                    <a:pt x="4762" y="1796910"/>
                  </a:lnTo>
                  <a:lnTo>
                    <a:pt x="1397" y="1798294"/>
                  </a:lnTo>
                  <a:lnTo>
                    <a:pt x="0" y="1801660"/>
                  </a:lnTo>
                  <a:lnTo>
                    <a:pt x="1397" y="1805038"/>
                  </a:lnTo>
                  <a:lnTo>
                    <a:pt x="4762" y="1806422"/>
                  </a:lnTo>
                  <a:lnTo>
                    <a:pt x="8128" y="1805038"/>
                  </a:lnTo>
                  <a:lnTo>
                    <a:pt x="9525" y="1801660"/>
                  </a:lnTo>
                  <a:close/>
                </a:path>
                <a:path w="9525" h="4502150">
                  <a:moveTo>
                    <a:pt x="9525" y="1352435"/>
                  </a:moveTo>
                  <a:lnTo>
                    <a:pt x="8128" y="1349070"/>
                  </a:lnTo>
                  <a:lnTo>
                    <a:pt x="4762" y="1347685"/>
                  </a:lnTo>
                  <a:lnTo>
                    <a:pt x="1397" y="1349070"/>
                  </a:lnTo>
                  <a:lnTo>
                    <a:pt x="0" y="1352435"/>
                  </a:lnTo>
                  <a:lnTo>
                    <a:pt x="1397" y="1355813"/>
                  </a:lnTo>
                  <a:lnTo>
                    <a:pt x="4762" y="1357198"/>
                  </a:lnTo>
                  <a:lnTo>
                    <a:pt x="8128" y="1355813"/>
                  </a:lnTo>
                  <a:lnTo>
                    <a:pt x="9525" y="1352435"/>
                  </a:lnTo>
                  <a:close/>
                </a:path>
                <a:path w="9525" h="4502150">
                  <a:moveTo>
                    <a:pt x="9525" y="903198"/>
                  </a:moveTo>
                  <a:lnTo>
                    <a:pt x="8128" y="899833"/>
                  </a:lnTo>
                  <a:lnTo>
                    <a:pt x="4762" y="898448"/>
                  </a:lnTo>
                  <a:lnTo>
                    <a:pt x="1397" y="899833"/>
                  </a:lnTo>
                  <a:lnTo>
                    <a:pt x="0" y="903198"/>
                  </a:lnTo>
                  <a:lnTo>
                    <a:pt x="1397" y="906576"/>
                  </a:lnTo>
                  <a:lnTo>
                    <a:pt x="4762" y="907961"/>
                  </a:lnTo>
                  <a:lnTo>
                    <a:pt x="8128" y="906576"/>
                  </a:lnTo>
                  <a:lnTo>
                    <a:pt x="9525" y="903198"/>
                  </a:lnTo>
                  <a:close/>
                </a:path>
                <a:path w="9525" h="4502150">
                  <a:moveTo>
                    <a:pt x="9525" y="453974"/>
                  </a:moveTo>
                  <a:lnTo>
                    <a:pt x="8128" y="450608"/>
                  </a:lnTo>
                  <a:lnTo>
                    <a:pt x="4762" y="449224"/>
                  </a:lnTo>
                  <a:lnTo>
                    <a:pt x="1397" y="450608"/>
                  </a:lnTo>
                  <a:lnTo>
                    <a:pt x="0" y="453974"/>
                  </a:lnTo>
                  <a:lnTo>
                    <a:pt x="1397" y="457352"/>
                  </a:lnTo>
                  <a:lnTo>
                    <a:pt x="4762" y="458736"/>
                  </a:lnTo>
                  <a:lnTo>
                    <a:pt x="8128" y="457352"/>
                  </a:lnTo>
                  <a:lnTo>
                    <a:pt x="9525" y="453974"/>
                  </a:lnTo>
                  <a:close/>
                </a:path>
                <a:path w="9525" h="4502150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3590492" y="3140532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933942" y="3189846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2069" y="3283793"/>
            <a:ext cx="309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2030F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55152" y="3284072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541368" y="3332798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54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2069" y="3733020"/>
            <a:ext cx="309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2029F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73626" y="3584549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38290" y="3733300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933942" y="392189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2069" y="4182247"/>
            <a:ext cx="309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2028F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04461" y="4033777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69121" y="4182527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2069" y="4631474"/>
            <a:ext cx="309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2027F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10062" y="4482998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4722" y="4631753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2069" y="5080698"/>
            <a:ext cx="309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2026F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74221" y="4932235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8881" y="5080977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5271" y="5529935"/>
            <a:ext cx="326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05779" y="5381459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70440" y="5530215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311842" y="5478233"/>
            <a:ext cx="86995" cy="269875"/>
            <a:chOff x="7311842" y="5478233"/>
            <a:chExt cx="86995" cy="269875"/>
          </a:xfrm>
        </p:grpSpPr>
        <p:sp>
          <p:nvSpPr>
            <p:cNvPr id="57" name="object 57"/>
            <p:cNvSpPr/>
            <p:nvPr/>
          </p:nvSpPr>
          <p:spPr>
            <a:xfrm>
              <a:off x="7311842" y="5661113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86400" y="0"/>
                  </a:moveTo>
                  <a:lnTo>
                    <a:pt x="0" y="0"/>
                  </a:lnTo>
                  <a:lnTo>
                    <a:pt x="0" y="86398"/>
                  </a:lnTo>
                  <a:lnTo>
                    <a:pt x="86400" y="86398"/>
                  </a:lnTo>
                  <a:lnTo>
                    <a:pt x="86400" y="0"/>
                  </a:lnTo>
                  <a:close/>
                </a:path>
              </a:pathLst>
            </a:custGeom>
            <a:solidFill>
              <a:srgbClr val="A1E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311842" y="5478233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5">
                  <a:moveTo>
                    <a:pt x="86400" y="0"/>
                  </a:moveTo>
                  <a:lnTo>
                    <a:pt x="0" y="0"/>
                  </a:lnTo>
                  <a:lnTo>
                    <a:pt x="0" y="86398"/>
                  </a:lnTo>
                  <a:lnTo>
                    <a:pt x="86400" y="86398"/>
                  </a:lnTo>
                  <a:lnTo>
                    <a:pt x="86400" y="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480470" y="5590413"/>
            <a:ext cx="1192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Liabilities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Equity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80470" y="5407533"/>
            <a:ext cx="1008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Assets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Equity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9547676" y="3720401"/>
            <a:ext cx="7022465" cy="2011045"/>
          </a:xfrm>
          <a:custGeom>
            <a:avLst/>
            <a:gdLst/>
            <a:ahLst/>
            <a:cxnLst/>
            <a:rect l="l" t="t" r="r" b="b"/>
            <a:pathLst>
              <a:path w="7022465" h="2011045">
                <a:moveTo>
                  <a:pt x="0" y="2010917"/>
                </a:moveTo>
                <a:lnTo>
                  <a:pt x="78026" y="1914016"/>
                </a:lnTo>
                <a:lnTo>
                  <a:pt x="156052" y="1807489"/>
                </a:lnTo>
                <a:lnTo>
                  <a:pt x="234078" y="1695462"/>
                </a:lnTo>
                <a:lnTo>
                  <a:pt x="312105" y="1582064"/>
                </a:lnTo>
                <a:lnTo>
                  <a:pt x="390131" y="1471421"/>
                </a:lnTo>
                <a:lnTo>
                  <a:pt x="468157" y="1367637"/>
                </a:lnTo>
                <a:lnTo>
                  <a:pt x="546183" y="1274851"/>
                </a:lnTo>
                <a:lnTo>
                  <a:pt x="624211" y="1197190"/>
                </a:lnTo>
                <a:lnTo>
                  <a:pt x="702240" y="1138758"/>
                </a:lnTo>
                <a:lnTo>
                  <a:pt x="780268" y="1103693"/>
                </a:lnTo>
              </a:path>
              <a:path w="7022465" h="2011045">
                <a:moveTo>
                  <a:pt x="780268" y="1103693"/>
                </a:moveTo>
                <a:lnTo>
                  <a:pt x="858285" y="1095527"/>
                </a:lnTo>
                <a:lnTo>
                  <a:pt x="936313" y="1111986"/>
                </a:lnTo>
                <a:lnTo>
                  <a:pt x="1014342" y="1148397"/>
                </a:lnTo>
                <a:lnTo>
                  <a:pt x="1092371" y="1200099"/>
                </a:lnTo>
                <a:lnTo>
                  <a:pt x="1170400" y="1262443"/>
                </a:lnTo>
                <a:lnTo>
                  <a:pt x="1248416" y="1330756"/>
                </a:lnTo>
                <a:lnTo>
                  <a:pt x="1326445" y="1400403"/>
                </a:lnTo>
                <a:lnTo>
                  <a:pt x="1404473" y="1466710"/>
                </a:lnTo>
                <a:lnTo>
                  <a:pt x="1482502" y="1525015"/>
                </a:lnTo>
                <a:lnTo>
                  <a:pt x="1560531" y="1570659"/>
                </a:lnTo>
              </a:path>
              <a:path w="7022465" h="2011045">
                <a:moveTo>
                  <a:pt x="1560531" y="1570659"/>
                </a:moveTo>
                <a:lnTo>
                  <a:pt x="1614417" y="1600187"/>
                </a:lnTo>
                <a:lnTo>
                  <a:pt x="1684394" y="1642465"/>
                </a:lnTo>
                <a:lnTo>
                  <a:pt x="1766449" y="1692643"/>
                </a:lnTo>
                <a:lnTo>
                  <a:pt x="1856543" y="1745894"/>
                </a:lnTo>
                <a:lnTo>
                  <a:pt x="1950662" y="1797380"/>
                </a:lnTo>
                <a:lnTo>
                  <a:pt x="2044782" y="1842274"/>
                </a:lnTo>
                <a:lnTo>
                  <a:pt x="2134876" y="1875726"/>
                </a:lnTo>
                <a:lnTo>
                  <a:pt x="2216918" y="1892922"/>
                </a:lnTo>
                <a:lnTo>
                  <a:pt x="2286895" y="1888998"/>
                </a:lnTo>
                <a:lnTo>
                  <a:pt x="2340794" y="1859127"/>
                </a:lnTo>
              </a:path>
              <a:path w="7022465" h="2011045">
                <a:moveTo>
                  <a:pt x="2340794" y="1859127"/>
                </a:moveTo>
                <a:lnTo>
                  <a:pt x="2418810" y="1748193"/>
                </a:lnTo>
                <a:lnTo>
                  <a:pt x="2496839" y="1581150"/>
                </a:lnTo>
                <a:lnTo>
                  <a:pt x="2574867" y="1372908"/>
                </a:lnTo>
                <a:lnTo>
                  <a:pt x="2652896" y="1138351"/>
                </a:lnTo>
                <a:lnTo>
                  <a:pt x="2730925" y="892352"/>
                </a:lnTo>
                <a:lnTo>
                  <a:pt x="2808941" y="649820"/>
                </a:lnTo>
                <a:lnTo>
                  <a:pt x="2886970" y="425640"/>
                </a:lnTo>
                <a:lnTo>
                  <a:pt x="2964999" y="234695"/>
                </a:lnTo>
                <a:lnTo>
                  <a:pt x="3043027" y="91871"/>
                </a:lnTo>
                <a:lnTo>
                  <a:pt x="3121056" y="12064"/>
                </a:lnTo>
              </a:path>
              <a:path w="7022465" h="2011045">
                <a:moveTo>
                  <a:pt x="3121056" y="12064"/>
                </a:moveTo>
                <a:lnTo>
                  <a:pt x="3199085" y="0"/>
                </a:lnTo>
                <a:lnTo>
                  <a:pt x="3277101" y="42862"/>
                </a:lnTo>
                <a:lnTo>
                  <a:pt x="3355130" y="129235"/>
                </a:lnTo>
                <a:lnTo>
                  <a:pt x="3433159" y="247688"/>
                </a:lnTo>
                <a:lnTo>
                  <a:pt x="3511188" y="386803"/>
                </a:lnTo>
                <a:lnTo>
                  <a:pt x="3589216" y="535152"/>
                </a:lnTo>
                <a:lnTo>
                  <a:pt x="3667232" y="681316"/>
                </a:lnTo>
                <a:lnTo>
                  <a:pt x="3745261" y="813854"/>
                </a:lnTo>
                <a:lnTo>
                  <a:pt x="3823290" y="921372"/>
                </a:lnTo>
                <a:lnTo>
                  <a:pt x="3901319" y="992428"/>
                </a:lnTo>
              </a:path>
              <a:path w="7022465" h="2011045">
                <a:moveTo>
                  <a:pt x="3901319" y="992428"/>
                </a:moveTo>
                <a:lnTo>
                  <a:pt x="3935609" y="1001229"/>
                </a:lnTo>
                <a:lnTo>
                  <a:pt x="3999058" y="1006335"/>
                </a:lnTo>
                <a:lnTo>
                  <a:pt x="4084377" y="1008392"/>
                </a:lnTo>
                <a:lnTo>
                  <a:pt x="4184262" y="1008062"/>
                </a:lnTo>
                <a:lnTo>
                  <a:pt x="4291450" y="1006005"/>
                </a:lnTo>
                <a:lnTo>
                  <a:pt x="4398625" y="1002855"/>
                </a:lnTo>
                <a:lnTo>
                  <a:pt x="4498524" y="999274"/>
                </a:lnTo>
                <a:lnTo>
                  <a:pt x="4583842" y="995908"/>
                </a:lnTo>
                <a:lnTo>
                  <a:pt x="4647279" y="993406"/>
                </a:lnTo>
                <a:lnTo>
                  <a:pt x="4681581" y="992428"/>
                </a:lnTo>
              </a:path>
              <a:path w="7022465" h="2011045">
                <a:moveTo>
                  <a:pt x="4681581" y="992428"/>
                </a:moveTo>
                <a:lnTo>
                  <a:pt x="4759610" y="992428"/>
                </a:lnTo>
                <a:lnTo>
                  <a:pt x="5383815" y="992428"/>
                </a:lnTo>
                <a:lnTo>
                  <a:pt x="5461844" y="992428"/>
                </a:lnTo>
              </a:path>
              <a:path w="7022465" h="2011045">
                <a:moveTo>
                  <a:pt x="5461844" y="992428"/>
                </a:moveTo>
                <a:lnTo>
                  <a:pt x="5539873" y="992428"/>
                </a:lnTo>
                <a:lnTo>
                  <a:pt x="6164078" y="992428"/>
                </a:lnTo>
                <a:lnTo>
                  <a:pt x="6242107" y="992428"/>
                </a:lnTo>
              </a:path>
              <a:path w="7022465" h="2011045">
                <a:moveTo>
                  <a:pt x="6242107" y="992428"/>
                </a:moveTo>
                <a:lnTo>
                  <a:pt x="6320135" y="992428"/>
                </a:lnTo>
                <a:lnTo>
                  <a:pt x="6944340" y="992428"/>
                </a:lnTo>
                <a:lnTo>
                  <a:pt x="7022369" y="992428"/>
                </a:lnTo>
              </a:path>
            </a:pathLst>
          </a:custGeom>
          <a:ln w="44449">
            <a:solidFill>
              <a:srgbClr val="244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13385117" y="4188734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200580" y="4424426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39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101894" y="4313162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882156" y="4313162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662419" y="4313162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442681" y="4313162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933942" y="465394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980842" y="4891392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33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933942" y="5385993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420315" y="5331650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27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075266" y="5372938"/>
            <a:ext cx="2832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404040"/>
                </a:solidFill>
                <a:latin typeface="Calibri"/>
                <a:cs typeface="Calibri"/>
              </a:rPr>
              <a:t>29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5271" y="5979159"/>
            <a:ext cx="326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2024A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7463" y="5830684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2.5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2123" y="5979439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933942" y="6118047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5271" y="6428384"/>
            <a:ext cx="326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2023A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97866" y="6279908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2.2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2526" y="6428663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5271" y="6877608"/>
            <a:ext cx="326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2022A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9975" y="6729145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3.2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54635" y="6877887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2.2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933942" y="6850088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5271" y="7326833"/>
            <a:ext cx="326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85858"/>
                </a:solidFill>
                <a:latin typeface="Calibri"/>
                <a:cs typeface="Calibri"/>
              </a:rPr>
              <a:t>2021A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49223" y="7178370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2.8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3883" y="7327124"/>
            <a:ext cx="31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44060"/>
                </a:solidFill>
                <a:latin typeface="Calibri"/>
                <a:cs typeface="Calibri"/>
              </a:rPr>
              <a:t>1.8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991872" y="758214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152780" y="7667764"/>
            <a:ext cx="7812405" cy="9525"/>
            <a:chOff x="9152780" y="7667764"/>
            <a:chExt cx="7812405" cy="9525"/>
          </a:xfrm>
        </p:grpSpPr>
        <p:sp>
          <p:nvSpPr>
            <p:cNvPr id="61" name="object 61"/>
            <p:cNvSpPr/>
            <p:nvPr/>
          </p:nvSpPr>
          <p:spPr>
            <a:xfrm>
              <a:off x="9157543" y="7672526"/>
              <a:ext cx="7802880" cy="0"/>
            </a:xfrm>
            <a:custGeom>
              <a:avLst/>
              <a:gdLst/>
              <a:ahLst/>
              <a:cxnLst/>
              <a:rect l="l" t="t" r="r" b="b"/>
              <a:pathLst>
                <a:path w="7802880" h="0">
                  <a:moveTo>
                    <a:pt x="0" y="0"/>
                  </a:moveTo>
                  <a:lnTo>
                    <a:pt x="7802633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9152776" y="7667777"/>
              <a:ext cx="7812405" cy="9525"/>
            </a:xfrm>
            <a:custGeom>
              <a:avLst/>
              <a:gdLst/>
              <a:ahLst/>
              <a:cxnLst/>
              <a:rect l="l" t="t" r="r" b="b"/>
              <a:pathLst>
                <a:path w="7812405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7812405" h="9525">
                  <a:moveTo>
                    <a:pt x="789787" y="4749"/>
                  </a:moveTo>
                  <a:lnTo>
                    <a:pt x="788390" y="1384"/>
                  </a:lnTo>
                  <a:lnTo>
                    <a:pt x="785025" y="0"/>
                  </a:lnTo>
                  <a:lnTo>
                    <a:pt x="781659" y="1384"/>
                  </a:lnTo>
                  <a:lnTo>
                    <a:pt x="780262" y="4749"/>
                  </a:lnTo>
                  <a:lnTo>
                    <a:pt x="781659" y="8128"/>
                  </a:lnTo>
                  <a:lnTo>
                    <a:pt x="785025" y="9512"/>
                  </a:lnTo>
                  <a:lnTo>
                    <a:pt x="788390" y="8128"/>
                  </a:lnTo>
                  <a:lnTo>
                    <a:pt x="789787" y="4749"/>
                  </a:lnTo>
                  <a:close/>
                </a:path>
                <a:path w="7812405" h="9525">
                  <a:moveTo>
                    <a:pt x="1570050" y="4749"/>
                  </a:moveTo>
                  <a:lnTo>
                    <a:pt x="1568665" y="1384"/>
                  </a:lnTo>
                  <a:lnTo>
                    <a:pt x="1565300" y="0"/>
                  </a:lnTo>
                  <a:lnTo>
                    <a:pt x="1561922" y="1384"/>
                  </a:lnTo>
                  <a:lnTo>
                    <a:pt x="1560537" y="4749"/>
                  </a:lnTo>
                  <a:lnTo>
                    <a:pt x="1561922" y="8128"/>
                  </a:lnTo>
                  <a:lnTo>
                    <a:pt x="1565300" y="9512"/>
                  </a:lnTo>
                  <a:lnTo>
                    <a:pt x="1568665" y="8128"/>
                  </a:lnTo>
                  <a:lnTo>
                    <a:pt x="1570050" y="4749"/>
                  </a:lnTo>
                  <a:close/>
                </a:path>
                <a:path w="7812405" h="9525">
                  <a:moveTo>
                    <a:pt x="2350312" y="4749"/>
                  </a:moveTo>
                  <a:lnTo>
                    <a:pt x="2348928" y="1384"/>
                  </a:lnTo>
                  <a:lnTo>
                    <a:pt x="2345563" y="0"/>
                  </a:lnTo>
                  <a:lnTo>
                    <a:pt x="2342184" y="1384"/>
                  </a:lnTo>
                  <a:lnTo>
                    <a:pt x="2340800" y="4749"/>
                  </a:lnTo>
                  <a:lnTo>
                    <a:pt x="2342184" y="8128"/>
                  </a:lnTo>
                  <a:lnTo>
                    <a:pt x="2345563" y="9512"/>
                  </a:lnTo>
                  <a:lnTo>
                    <a:pt x="2348928" y="8128"/>
                  </a:lnTo>
                  <a:lnTo>
                    <a:pt x="2350312" y="4749"/>
                  </a:lnTo>
                  <a:close/>
                </a:path>
                <a:path w="7812405" h="9525">
                  <a:moveTo>
                    <a:pt x="3130575" y="4749"/>
                  </a:moveTo>
                  <a:lnTo>
                    <a:pt x="3129191" y="1384"/>
                  </a:lnTo>
                  <a:lnTo>
                    <a:pt x="3125825" y="0"/>
                  </a:lnTo>
                  <a:lnTo>
                    <a:pt x="3122447" y="1384"/>
                  </a:lnTo>
                  <a:lnTo>
                    <a:pt x="3121063" y="4749"/>
                  </a:lnTo>
                  <a:lnTo>
                    <a:pt x="3122447" y="8128"/>
                  </a:lnTo>
                  <a:lnTo>
                    <a:pt x="3125825" y="9512"/>
                  </a:lnTo>
                  <a:lnTo>
                    <a:pt x="3129191" y="8128"/>
                  </a:lnTo>
                  <a:lnTo>
                    <a:pt x="3130575" y="4749"/>
                  </a:lnTo>
                  <a:close/>
                </a:path>
                <a:path w="7812405" h="9525">
                  <a:moveTo>
                    <a:pt x="3910838" y="4749"/>
                  </a:moveTo>
                  <a:lnTo>
                    <a:pt x="3909453" y="1384"/>
                  </a:lnTo>
                  <a:lnTo>
                    <a:pt x="3906088" y="0"/>
                  </a:lnTo>
                  <a:lnTo>
                    <a:pt x="3902710" y="1384"/>
                  </a:lnTo>
                  <a:lnTo>
                    <a:pt x="3901325" y="4749"/>
                  </a:lnTo>
                  <a:lnTo>
                    <a:pt x="3902710" y="8128"/>
                  </a:lnTo>
                  <a:lnTo>
                    <a:pt x="3906088" y="9512"/>
                  </a:lnTo>
                  <a:lnTo>
                    <a:pt x="3909453" y="8128"/>
                  </a:lnTo>
                  <a:lnTo>
                    <a:pt x="3910838" y="4749"/>
                  </a:lnTo>
                  <a:close/>
                </a:path>
                <a:path w="7812405" h="9525">
                  <a:moveTo>
                    <a:pt x="4691100" y="4749"/>
                  </a:moveTo>
                  <a:lnTo>
                    <a:pt x="4689716" y="1384"/>
                  </a:lnTo>
                  <a:lnTo>
                    <a:pt x="4686351" y="0"/>
                  </a:lnTo>
                  <a:lnTo>
                    <a:pt x="4682972" y="1384"/>
                  </a:lnTo>
                  <a:lnTo>
                    <a:pt x="4681588" y="4749"/>
                  </a:lnTo>
                  <a:lnTo>
                    <a:pt x="4682972" y="8128"/>
                  </a:lnTo>
                  <a:lnTo>
                    <a:pt x="4686351" y="9512"/>
                  </a:lnTo>
                  <a:lnTo>
                    <a:pt x="4689716" y="8128"/>
                  </a:lnTo>
                  <a:lnTo>
                    <a:pt x="4691100" y="4749"/>
                  </a:lnTo>
                  <a:close/>
                </a:path>
                <a:path w="7812405" h="9525">
                  <a:moveTo>
                    <a:pt x="5471363" y="4749"/>
                  </a:moveTo>
                  <a:lnTo>
                    <a:pt x="5469979" y="1384"/>
                  </a:lnTo>
                  <a:lnTo>
                    <a:pt x="5466613" y="0"/>
                  </a:lnTo>
                  <a:lnTo>
                    <a:pt x="5463235" y="1384"/>
                  </a:lnTo>
                  <a:lnTo>
                    <a:pt x="5461851" y="4749"/>
                  </a:lnTo>
                  <a:lnTo>
                    <a:pt x="5463235" y="8128"/>
                  </a:lnTo>
                  <a:lnTo>
                    <a:pt x="5466613" y="9512"/>
                  </a:lnTo>
                  <a:lnTo>
                    <a:pt x="5469979" y="8128"/>
                  </a:lnTo>
                  <a:lnTo>
                    <a:pt x="5471363" y="4749"/>
                  </a:lnTo>
                  <a:close/>
                </a:path>
                <a:path w="7812405" h="9525">
                  <a:moveTo>
                    <a:pt x="6251626" y="4749"/>
                  </a:moveTo>
                  <a:lnTo>
                    <a:pt x="6250241" y="1384"/>
                  </a:lnTo>
                  <a:lnTo>
                    <a:pt x="6246876" y="0"/>
                  </a:lnTo>
                  <a:lnTo>
                    <a:pt x="6243498" y="1384"/>
                  </a:lnTo>
                  <a:lnTo>
                    <a:pt x="6242113" y="4749"/>
                  </a:lnTo>
                  <a:lnTo>
                    <a:pt x="6243498" y="8128"/>
                  </a:lnTo>
                  <a:lnTo>
                    <a:pt x="6246876" y="9512"/>
                  </a:lnTo>
                  <a:lnTo>
                    <a:pt x="6250241" y="8128"/>
                  </a:lnTo>
                  <a:lnTo>
                    <a:pt x="6251626" y="4749"/>
                  </a:lnTo>
                  <a:close/>
                </a:path>
                <a:path w="7812405" h="9525">
                  <a:moveTo>
                    <a:pt x="7031888" y="4749"/>
                  </a:moveTo>
                  <a:lnTo>
                    <a:pt x="7030504" y="1384"/>
                  </a:lnTo>
                  <a:lnTo>
                    <a:pt x="7027138" y="0"/>
                  </a:lnTo>
                  <a:lnTo>
                    <a:pt x="7023760" y="1384"/>
                  </a:lnTo>
                  <a:lnTo>
                    <a:pt x="7022376" y="4749"/>
                  </a:lnTo>
                  <a:lnTo>
                    <a:pt x="7023760" y="8128"/>
                  </a:lnTo>
                  <a:lnTo>
                    <a:pt x="7027138" y="9512"/>
                  </a:lnTo>
                  <a:lnTo>
                    <a:pt x="7030504" y="8128"/>
                  </a:lnTo>
                  <a:lnTo>
                    <a:pt x="7031888" y="4749"/>
                  </a:lnTo>
                  <a:close/>
                </a:path>
                <a:path w="7812405" h="9525">
                  <a:moveTo>
                    <a:pt x="7812151" y="4749"/>
                  </a:moveTo>
                  <a:lnTo>
                    <a:pt x="7810767" y="1384"/>
                  </a:lnTo>
                  <a:lnTo>
                    <a:pt x="7807401" y="0"/>
                  </a:lnTo>
                  <a:lnTo>
                    <a:pt x="7804023" y="1384"/>
                  </a:lnTo>
                  <a:lnTo>
                    <a:pt x="7802639" y="4749"/>
                  </a:lnTo>
                  <a:lnTo>
                    <a:pt x="7804023" y="8128"/>
                  </a:lnTo>
                  <a:lnTo>
                    <a:pt x="7807401" y="9512"/>
                  </a:lnTo>
                  <a:lnTo>
                    <a:pt x="7810767" y="8128"/>
                  </a:lnTo>
                  <a:lnTo>
                    <a:pt x="7812151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938937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0.0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06607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0.5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74280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41943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1.5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09619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77283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2.5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44960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12623" y="771326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3.5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69500" y="7758391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2021A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149763" y="7758391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2022A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930032" y="7758391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2023A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1710295" y="7758391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2024A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2490557" y="7758391"/>
            <a:ext cx="356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3278386" y="7758391"/>
            <a:ext cx="340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2026F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058648" y="7758391"/>
            <a:ext cx="340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2027F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838911" y="7758391"/>
            <a:ext cx="340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2028F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619173" y="7758391"/>
            <a:ext cx="340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2029F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399436" y="7758391"/>
            <a:ext cx="340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2030F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352" y="8227479"/>
            <a:ext cx="16606519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takeaway: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ARCC’s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balance-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sheet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profile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improves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leverage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trends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lower,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while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conversion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cycle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normalizes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after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2025A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peak,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supporting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more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efficient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working-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capital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management.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12140" y="9097454"/>
            <a:ext cx="665099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Consolidated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(2021-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0" y="9349307"/>
              <a:ext cx="4255135" cy="937894"/>
            </a:xfrm>
            <a:custGeom>
              <a:avLst/>
              <a:gdLst/>
              <a:ahLst/>
              <a:cxnLst/>
              <a:rect l="l" t="t" r="r" b="b"/>
              <a:pathLst>
                <a:path w="4255135" h="937895">
                  <a:moveTo>
                    <a:pt x="2565870" y="481596"/>
                  </a:moveTo>
                  <a:lnTo>
                    <a:pt x="210761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2131885" y="937691"/>
                  </a:lnTo>
                  <a:lnTo>
                    <a:pt x="2565870" y="481596"/>
                  </a:lnTo>
                  <a:close/>
                </a:path>
                <a:path w="4255135" h="937895">
                  <a:moveTo>
                    <a:pt x="4254589" y="481596"/>
                  </a:moveTo>
                  <a:lnTo>
                    <a:pt x="3796334" y="0"/>
                  </a:lnTo>
                  <a:lnTo>
                    <a:pt x="2231745" y="0"/>
                  </a:lnTo>
                  <a:lnTo>
                    <a:pt x="2689999" y="481596"/>
                  </a:lnTo>
                  <a:lnTo>
                    <a:pt x="2256015" y="937691"/>
                  </a:lnTo>
                  <a:lnTo>
                    <a:pt x="3820604" y="937691"/>
                  </a:lnTo>
                  <a:lnTo>
                    <a:pt x="4254589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924198" y="9349307"/>
              <a:ext cx="3705860" cy="937894"/>
            </a:xfrm>
            <a:custGeom>
              <a:avLst/>
              <a:gdLst/>
              <a:ahLst/>
              <a:cxnLst/>
              <a:rect l="l" t="t" r="r" b="b"/>
              <a:pathLst>
                <a:path w="3705860" h="937895">
                  <a:moveTo>
                    <a:pt x="3247351" y="0"/>
                  </a:moveTo>
                  <a:lnTo>
                    <a:pt x="0" y="0"/>
                  </a:lnTo>
                  <a:lnTo>
                    <a:pt x="458255" y="481596"/>
                  </a:lnTo>
                  <a:lnTo>
                    <a:pt x="24277" y="937691"/>
                  </a:lnTo>
                  <a:lnTo>
                    <a:pt x="3271628" y="937691"/>
                  </a:lnTo>
                  <a:lnTo>
                    <a:pt x="3705605" y="481596"/>
                  </a:lnTo>
                  <a:lnTo>
                    <a:pt x="324735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300163" y="9349307"/>
              <a:ext cx="6319520" cy="937894"/>
            </a:xfrm>
            <a:custGeom>
              <a:avLst/>
              <a:gdLst/>
              <a:ahLst/>
              <a:cxnLst/>
              <a:rect l="l" t="t" r="r" b="b"/>
              <a:pathLst>
                <a:path w="6319520" h="937895">
                  <a:moveTo>
                    <a:pt x="2326068" y="481596"/>
                  </a:moveTo>
                  <a:lnTo>
                    <a:pt x="1867814" y="0"/>
                  </a:lnTo>
                  <a:lnTo>
                    <a:pt x="0" y="0"/>
                  </a:lnTo>
                  <a:lnTo>
                    <a:pt x="458254" y="481596"/>
                  </a:lnTo>
                  <a:lnTo>
                    <a:pt x="24269" y="937691"/>
                  </a:lnTo>
                  <a:lnTo>
                    <a:pt x="1892084" y="937691"/>
                  </a:lnTo>
                  <a:lnTo>
                    <a:pt x="2326068" y="481596"/>
                  </a:lnTo>
                  <a:close/>
                </a:path>
                <a:path w="6319520" h="937895">
                  <a:moveTo>
                    <a:pt x="4322483" y="481596"/>
                  </a:moveTo>
                  <a:lnTo>
                    <a:pt x="3864229" y="0"/>
                  </a:lnTo>
                  <a:lnTo>
                    <a:pt x="1996414" y="0"/>
                  </a:lnTo>
                  <a:lnTo>
                    <a:pt x="2454681" y="481596"/>
                  </a:lnTo>
                  <a:lnTo>
                    <a:pt x="2020697" y="937691"/>
                  </a:lnTo>
                  <a:lnTo>
                    <a:pt x="3888511" y="937691"/>
                  </a:lnTo>
                  <a:lnTo>
                    <a:pt x="4322483" y="481596"/>
                  </a:lnTo>
                  <a:close/>
                </a:path>
                <a:path w="6319520" h="937895">
                  <a:moveTo>
                    <a:pt x="6318923" y="481596"/>
                  </a:moveTo>
                  <a:lnTo>
                    <a:pt x="5860669" y="0"/>
                  </a:lnTo>
                  <a:lnTo>
                    <a:pt x="3992854" y="0"/>
                  </a:lnTo>
                  <a:lnTo>
                    <a:pt x="4451121" y="481596"/>
                  </a:lnTo>
                  <a:lnTo>
                    <a:pt x="4017137" y="937691"/>
                  </a:lnTo>
                  <a:lnTo>
                    <a:pt x="5884951" y="937691"/>
                  </a:lnTo>
                  <a:lnTo>
                    <a:pt x="6318923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8724" y="9496310"/>
              <a:ext cx="588890" cy="66918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3098" y="9516528"/>
              <a:ext cx="816563" cy="628751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1176" y="9471265"/>
              <a:ext cx="719289" cy="71928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15384" y="9462820"/>
              <a:ext cx="742773" cy="72420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18957" y="9446602"/>
              <a:ext cx="684049" cy="768591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19711" y="9446602"/>
              <a:ext cx="564879" cy="724204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5626100" y="9524396"/>
            <a:ext cx="1125855" cy="5556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5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Financial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4" name="object 14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15983" y="498886"/>
            <a:ext cx="61341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Capital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7686" y="351213"/>
            <a:ext cx="17469485" cy="1709420"/>
            <a:chOff x="547686" y="351213"/>
            <a:chExt cx="17469485" cy="170942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01491" y="351213"/>
              <a:ext cx="1515681" cy="151568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7686" y="911352"/>
              <a:ext cx="123825" cy="1149350"/>
            </a:xfrm>
            <a:custGeom>
              <a:avLst/>
              <a:gdLst/>
              <a:ahLst/>
              <a:cxnLst/>
              <a:rect l="l" t="t" r="r" b="b"/>
              <a:pathLst>
                <a:path w="123825" h="1149350">
                  <a:moveTo>
                    <a:pt x="123825" y="1149019"/>
                  </a:moveTo>
                  <a:lnTo>
                    <a:pt x="0" y="1149019"/>
                  </a:lnTo>
                  <a:lnTo>
                    <a:pt x="0" y="0"/>
                  </a:lnTo>
                  <a:lnTo>
                    <a:pt x="123825" y="0"/>
                  </a:lnTo>
                  <a:lnTo>
                    <a:pt x="123825" y="1149019"/>
                  </a:lnTo>
                  <a:close/>
                </a:path>
              </a:pathLst>
            </a:custGeom>
            <a:solidFill>
              <a:srgbClr val="1643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823421" y="886479"/>
            <a:ext cx="149288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Returns</a:t>
            </a:r>
            <a:r>
              <a:rPr dirty="0" spc="-65"/>
              <a:t> </a:t>
            </a:r>
            <a:r>
              <a:rPr dirty="0"/>
              <a:t>Rebalance</a:t>
            </a:r>
            <a:r>
              <a:rPr dirty="0" spc="-65"/>
              <a:t> </a:t>
            </a:r>
            <a:r>
              <a:rPr dirty="0"/>
              <a:t>as</a:t>
            </a:r>
            <a:r>
              <a:rPr dirty="0" spc="-60"/>
              <a:t> </a:t>
            </a:r>
            <a:r>
              <a:rPr dirty="0"/>
              <a:t>Capital</a:t>
            </a:r>
            <a:r>
              <a:rPr dirty="0" spc="-65"/>
              <a:t> </a:t>
            </a:r>
            <a:r>
              <a:rPr dirty="0"/>
              <a:t>Efficiency</a:t>
            </a:r>
            <a:r>
              <a:rPr dirty="0" spc="-60"/>
              <a:t> </a:t>
            </a:r>
            <a:r>
              <a:rPr dirty="0"/>
              <a:t>Strengthens</a:t>
            </a:r>
            <a:r>
              <a:rPr dirty="0" spc="-65"/>
              <a:t> </a:t>
            </a:r>
            <a:r>
              <a:rPr dirty="0"/>
              <a:t>Through</a:t>
            </a:r>
            <a:r>
              <a:rPr dirty="0" spc="-65"/>
              <a:t> </a:t>
            </a:r>
            <a:r>
              <a:rPr dirty="0" spc="-10"/>
              <a:t>2030F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23421" y="1441056"/>
            <a:ext cx="13329285" cy="57150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6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ROE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ROA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normalize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elevated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levels,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while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rising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ROIC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declining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WACC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support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widening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return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spread.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8305" y="2111882"/>
            <a:ext cx="3595370" cy="786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ROE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ROA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(2021A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57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140%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441688" y="2102764"/>
            <a:ext cx="4892675" cy="79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CAPITAL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ROIC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VS.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WACC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(2025A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2030E),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64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180%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503600" y="3260698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160%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48785" y="3415096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120%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8785" y="4109897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100%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3152" y="4804689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80%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52685" y="4989182"/>
            <a:ext cx="8172450" cy="2698750"/>
            <a:chOff x="1052685" y="4989182"/>
            <a:chExt cx="8172450" cy="2698750"/>
          </a:xfrm>
        </p:grpSpPr>
        <p:sp>
          <p:nvSpPr>
            <p:cNvPr id="23" name="object 23"/>
            <p:cNvSpPr/>
            <p:nvPr/>
          </p:nvSpPr>
          <p:spPr>
            <a:xfrm>
              <a:off x="1225499" y="4989182"/>
              <a:ext cx="7010400" cy="2684145"/>
            </a:xfrm>
            <a:custGeom>
              <a:avLst/>
              <a:gdLst/>
              <a:ahLst/>
              <a:cxnLst/>
              <a:rect l="l" t="t" r="r" b="b"/>
              <a:pathLst>
                <a:path w="7010400" h="2684145">
                  <a:moveTo>
                    <a:pt x="480148" y="2581567"/>
                  </a:moveTo>
                  <a:lnTo>
                    <a:pt x="0" y="2581567"/>
                  </a:lnTo>
                  <a:lnTo>
                    <a:pt x="0" y="2683980"/>
                  </a:lnTo>
                  <a:lnTo>
                    <a:pt x="480148" y="2683980"/>
                  </a:lnTo>
                  <a:lnTo>
                    <a:pt x="480148" y="2581567"/>
                  </a:lnTo>
                  <a:close/>
                </a:path>
                <a:path w="7010400" h="2684145">
                  <a:moveTo>
                    <a:pt x="1296403" y="1621243"/>
                  </a:moveTo>
                  <a:lnTo>
                    <a:pt x="816254" y="1621243"/>
                  </a:lnTo>
                  <a:lnTo>
                    <a:pt x="816254" y="2683980"/>
                  </a:lnTo>
                  <a:lnTo>
                    <a:pt x="1296403" y="2683980"/>
                  </a:lnTo>
                  <a:lnTo>
                    <a:pt x="1296403" y="1621243"/>
                  </a:lnTo>
                  <a:close/>
                </a:path>
                <a:path w="7010400" h="2684145">
                  <a:moveTo>
                    <a:pt x="2112657" y="1312252"/>
                  </a:moveTo>
                  <a:lnTo>
                    <a:pt x="1632508" y="1312252"/>
                  </a:lnTo>
                  <a:lnTo>
                    <a:pt x="1632508" y="2683980"/>
                  </a:lnTo>
                  <a:lnTo>
                    <a:pt x="2112657" y="2683980"/>
                  </a:lnTo>
                  <a:lnTo>
                    <a:pt x="2112657" y="1312252"/>
                  </a:lnTo>
                  <a:close/>
                </a:path>
                <a:path w="7010400" h="2684145">
                  <a:moveTo>
                    <a:pt x="2928924" y="943902"/>
                  </a:moveTo>
                  <a:lnTo>
                    <a:pt x="2448763" y="943902"/>
                  </a:lnTo>
                  <a:lnTo>
                    <a:pt x="2448763" y="2683980"/>
                  </a:lnTo>
                  <a:lnTo>
                    <a:pt x="2928924" y="2683980"/>
                  </a:lnTo>
                  <a:lnTo>
                    <a:pt x="2928924" y="943902"/>
                  </a:lnTo>
                  <a:close/>
                </a:path>
                <a:path w="7010400" h="2684145">
                  <a:moveTo>
                    <a:pt x="3745179" y="0"/>
                  </a:moveTo>
                  <a:lnTo>
                    <a:pt x="3265030" y="0"/>
                  </a:lnTo>
                  <a:lnTo>
                    <a:pt x="3265030" y="2683980"/>
                  </a:lnTo>
                  <a:lnTo>
                    <a:pt x="3745179" y="2683980"/>
                  </a:lnTo>
                  <a:lnTo>
                    <a:pt x="3745179" y="0"/>
                  </a:lnTo>
                  <a:close/>
                </a:path>
                <a:path w="7010400" h="2684145">
                  <a:moveTo>
                    <a:pt x="4561433" y="598805"/>
                  </a:moveTo>
                  <a:lnTo>
                    <a:pt x="4081284" y="598805"/>
                  </a:lnTo>
                  <a:lnTo>
                    <a:pt x="4081284" y="2683980"/>
                  </a:lnTo>
                  <a:lnTo>
                    <a:pt x="4561433" y="2683980"/>
                  </a:lnTo>
                  <a:lnTo>
                    <a:pt x="4561433" y="598805"/>
                  </a:lnTo>
                  <a:close/>
                </a:path>
                <a:path w="7010400" h="2684145">
                  <a:moveTo>
                    <a:pt x="5377688" y="1081544"/>
                  </a:moveTo>
                  <a:lnTo>
                    <a:pt x="4897539" y="1081544"/>
                  </a:lnTo>
                  <a:lnTo>
                    <a:pt x="4897539" y="2683980"/>
                  </a:lnTo>
                  <a:lnTo>
                    <a:pt x="5377688" y="2683980"/>
                  </a:lnTo>
                  <a:lnTo>
                    <a:pt x="5377688" y="1081544"/>
                  </a:lnTo>
                  <a:close/>
                </a:path>
                <a:path w="7010400" h="2684145">
                  <a:moveTo>
                    <a:pt x="6193955" y="1395107"/>
                  </a:moveTo>
                  <a:lnTo>
                    <a:pt x="5713793" y="1395107"/>
                  </a:lnTo>
                  <a:lnTo>
                    <a:pt x="5713793" y="2683980"/>
                  </a:lnTo>
                  <a:lnTo>
                    <a:pt x="6193955" y="2683980"/>
                  </a:lnTo>
                  <a:lnTo>
                    <a:pt x="6193955" y="1395107"/>
                  </a:lnTo>
                  <a:close/>
                </a:path>
                <a:path w="7010400" h="2684145">
                  <a:moveTo>
                    <a:pt x="7010209" y="1600263"/>
                  </a:moveTo>
                  <a:lnTo>
                    <a:pt x="6530060" y="1600263"/>
                  </a:lnTo>
                  <a:lnTo>
                    <a:pt x="6530060" y="2683980"/>
                  </a:lnTo>
                  <a:lnTo>
                    <a:pt x="7010209" y="2683980"/>
                  </a:lnTo>
                  <a:lnTo>
                    <a:pt x="7010209" y="1600263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25500" y="7530795"/>
              <a:ext cx="480695" cy="40005"/>
            </a:xfrm>
            <a:custGeom>
              <a:avLst/>
              <a:gdLst/>
              <a:ahLst/>
              <a:cxnLst/>
              <a:rect l="l" t="t" r="r" b="b"/>
              <a:pathLst>
                <a:path w="480694" h="40004">
                  <a:moveTo>
                    <a:pt x="480151" y="0"/>
                  </a:moveTo>
                  <a:lnTo>
                    <a:pt x="0" y="0"/>
                  </a:lnTo>
                  <a:lnTo>
                    <a:pt x="0" y="39954"/>
                  </a:lnTo>
                  <a:lnTo>
                    <a:pt x="480151" y="39954"/>
                  </a:lnTo>
                  <a:lnTo>
                    <a:pt x="480151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57447" y="7682687"/>
              <a:ext cx="8162925" cy="0"/>
            </a:xfrm>
            <a:custGeom>
              <a:avLst/>
              <a:gdLst/>
              <a:ahLst/>
              <a:cxnLst/>
              <a:rect l="l" t="t" r="r" b="b"/>
              <a:pathLst>
                <a:path w="8162925" h="0">
                  <a:moveTo>
                    <a:pt x="0" y="0"/>
                  </a:moveTo>
                  <a:lnTo>
                    <a:pt x="816258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52677" y="7677937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8172450" h="9525">
                  <a:moveTo>
                    <a:pt x="825779" y="4749"/>
                  </a:moveTo>
                  <a:lnTo>
                    <a:pt x="824382" y="1384"/>
                  </a:lnTo>
                  <a:lnTo>
                    <a:pt x="821016" y="0"/>
                  </a:lnTo>
                  <a:lnTo>
                    <a:pt x="817651" y="1384"/>
                  </a:lnTo>
                  <a:lnTo>
                    <a:pt x="816254" y="4749"/>
                  </a:lnTo>
                  <a:lnTo>
                    <a:pt x="817651" y="8128"/>
                  </a:lnTo>
                  <a:lnTo>
                    <a:pt x="821016" y="9512"/>
                  </a:lnTo>
                  <a:lnTo>
                    <a:pt x="824382" y="8128"/>
                  </a:lnTo>
                  <a:lnTo>
                    <a:pt x="825779" y="4749"/>
                  </a:lnTo>
                  <a:close/>
                </a:path>
                <a:path w="8172450" h="9525">
                  <a:moveTo>
                    <a:pt x="1642046" y="4749"/>
                  </a:moveTo>
                  <a:lnTo>
                    <a:pt x="1640649" y="1384"/>
                  </a:lnTo>
                  <a:lnTo>
                    <a:pt x="1637284" y="0"/>
                  </a:lnTo>
                  <a:lnTo>
                    <a:pt x="1633918" y="1384"/>
                  </a:lnTo>
                  <a:lnTo>
                    <a:pt x="1632521" y="4749"/>
                  </a:lnTo>
                  <a:lnTo>
                    <a:pt x="1633918" y="8128"/>
                  </a:lnTo>
                  <a:lnTo>
                    <a:pt x="1637284" y="9512"/>
                  </a:lnTo>
                  <a:lnTo>
                    <a:pt x="1640649" y="8128"/>
                  </a:lnTo>
                  <a:lnTo>
                    <a:pt x="1642046" y="4749"/>
                  </a:lnTo>
                  <a:close/>
                </a:path>
                <a:path w="8172450" h="9525">
                  <a:moveTo>
                    <a:pt x="2458301" y="4749"/>
                  </a:moveTo>
                  <a:lnTo>
                    <a:pt x="2456904" y="1384"/>
                  </a:lnTo>
                  <a:lnTo>
                    <a:pt x="2453538" y="0"/>
                  </a:lnTo>
                  <a:lnTo>
                    <a:pt x="2450173" y="1384"/>
                  </a:lnTo>
                  <a:lnTo>
                    <a:pt x="2448776" y="4749"/>
                  </a:lnTo>
                  <a:lnTo>
                    <a:pt x="2450173" y="8128"/>
                  </a:lnTo>
                  <a:lnTo>
                    <a:pt x="2453538" y="9512"/>
                  </a:lnTo>
                  <a:lnTo>
                    <a:pt x="2456904" y="8128"/>
                  </a:lnTo>
                  <a:lnTo>
                    <a:pt x="2458301" y="4749"/>
                  </a:lnTo>
                  <a:close/>
                </a:path>
                <a:path w="8172450" h="9525">
                  <a:moveTo>
                    <a:pt x="3274555" y="4749"/>
                  </a:moveTo>
                  <a:lnTo>
                    <a:pt x="3273158" y="1384"/>
                  </a:lnTo>
                  <a:lnTo>
                    <a:pt x="3269792" y="0"/>
                  </a:lnTo>
                  <a:lnTo>
                    <a:pt x="3266427" y="1384"/>
                  </a:lnTo>
                  <a:lnTo>
                    <a:pt x="3265030" y="4749"/>
                  </a:lnTo>
                  <a:lnTo>
                    <a:pt x="3266427" y="8128"/>
                  </a:lnTo>
                  <a:lnTo>
                    <a:pt x="3269792" y="9512"/>
                  </a:lnTo>
                  <a:lnTo>
                    <a:pt x="3273158" y="8128"/>
                  </a:lnTo>
                  <a:lnTo>
                    <a:pt x="3274555" y="4749"/>
                  </a:lnTo>
                  <a:close/>
                </a:path>
                <a:path w="8172450" h="9525">
                  <a:moveTo>
                    <a:pt x="4090809" y="4749"/>
                  </a:moveTo>
                  <a:lnTo>
                    <a:pt x="4089412" y="1384"/>
                  </a:lnTo>
                  <a:lnTo>
                    <a:pt x="4086047" y="0"/>
                  </a:lnTo>
                  <a:lnTo>
                    <a:pt x="4082681" y="1384"/>
                  </a:lnTo>
                  <a:lnTo>
                    <a:pt x="4081284" y="4749"/>
                  </a:lnTo>
                  <a:lnTo>
                    <a:pt x="4082681" y="8128"/>
                  </a:lnTo>
                  <a:lnTo>
                    <a:pt x="4086047" y="9512"/>
                  </a:lnTo>
                  <a:lnTo>
                    <a:pt x="4089412" y="8128"/>
                  </a:lnTo>
                  <a:lnTo>
                    <a:pt x="4090809" y="4749"/>
                  </a:lnTo>
                  <a:close/>
                </a:path>
                <a:path w="8172450" h="9525">
                  <a:moveTo>
                    <a:pt x="4907077" y="4749"/>
                  </a:moveTo>
                  <a:lnTo>
                    <a:pt x="4905680" y="1384"/>
                  </a:lnTo>
                  <a:lnTo>
                    <a:pt x="4902314" y="0"/>
                  </a:lnTo>
                  <a:lnTo>
                    <a:pt x="4898949" y="1384"/>
                  </a:lnTo>
                  <a:lnTo>
                    <a:pt x="4897552" y="4749"/>
                  </a:lnTo>
                  <a:lnTo>
                    <a:pt x="4898949" y="8128"/>
                  </a:lnTo>
                  <a:lnTo>
                    <a:pt x="4902314" y="9512"/>
                  </a:lnTo>
                  <a:lnTo>
                    <a:pt x="4905680" y="8128"/>
                  </a:lnTo>
                  <a:lnTo>
                    <a:pt x="4907077" y="4749"/>
                  </a:lnTo>
                  <a:close/>
                </a:path>
                <a:path w="8172450" h="9525">
                  <a:moveTo>
                    <a:pt x="5723331" y="4749"/>
                  </a:moveTo>
                  <a:lnTo>
                    <a:pt x="5721934" y="1384"/>
                  </a:lnTo>
                  <a:lnTo>
                    <a:pt x="5718568" y="0"/>
                  </a:lnTo>
                  <a:lnTo>
                    <a:pt x="5715203" y="1384"/>
                  </a:lnTo>
                  <a:lnTo>
                    <a:pt x="5713806" y="4749"/>
                  </a:lnTo>
                  <a:lnTo>
                    <a:pt x="5715203" y="8128"/>
                  </a:lnTo>
                  <a:lnTo>
                    <a:pt x="5718568" y="9512"/>
                  </a:lnTo>
                  <a:lnTo>
                    <a:pt x="5721934" y="8128"/>
                  </a:lnTo>
                  <a:lnTo>
                    <a:pt x="5723331" y="4749"/>
                  </a:lnTo>
                  <a:close/>
                </a:path>
                <a:path w="8172450" h="9525">
                  <a:moveTo>
                    <a:pt x="6539585" y="4749"/>
                  </a:moveTo>
                  <a:lnTo>
                    <a:pt x="6538188" y="1384"/>
                  </a:lnTo>
                  <a:lnTo>
                    <a:pt x="6534823" y="0"/>
                  </a:lnTo>
                  <a:lnTo>
                    <a:pt x="6531457" y="1384"/>
                  </a:lnTo>
                  <a:lnTo>
                    <a:pt x="6530060" y="4749"/>
                  </a:lnTo>
                  <a:lnTo>
                    <a:pt x="6531457" y="8128"/>
                  </a:lnTo>
                  <a:lnTo>
                    <a:pt x="6534823" y="9512"/>
                  </a:lnTo>
                  <a:lnTo>
                    <a:pt x="6538188" y="8128"/>
                  </a:lnTo>
                  <a:lnTo>
                    <a:pt x="6539585" y="4749"/>
                  </a:lnTo>
                  <a:close/>
                </a:path>
                <a:path w="8172450" h="9525">
                  <a:moveTo>
                    <a:pt x="7355840" y="4749"/>
                  </a:moveTo>
                  <a:lnTo>
                    <a:pt x="7354443" y="1384"/>
                  </a:lnTo>
                  <a:lnTo>
                    <a:pt x="7351077" y="0"/>
                  </a:lnTo>
                  <a:lnTo>
                    <a:pt x="7347712" y="1384"/>
                  </a:lnTo>
                  <a:lnTo>
                    <a:pt x="7346315" y="4749"/>
                  </a:lnTo>
                  <a:lnTo>
                    <a:pt x="7347712" y="8128"/>
                  </a:lnTo>
                  <a:lnTo>
                    <a:pt x="7351077" y="9512"/>
                  </a:lnTo>
                  <a:lnTo>
                    <a:pt x="7354443" y="8128"/>
                  </a:lnTo>
                  <a:lnTo>
                    <a:pt x="7355840" y="4749"/>
                  </a:lnTo>
                  <a:close/>
                </a:path>
                <a:path w="8172450" h="9525">
                  <a:moveTo>
                    <a:pt x="8172107" y="4749"/>
                  </a:moveTo>
                  <a:lnTo>
                    <a:pt x="8170710" y="1384"/>
                  </a:lnTo>
                  <a:lnTo>
                    <a:pt x="8167344" y="0"/>
                  </a:lnTo>
                  <a:lnTo>
                    <a:pt x="8163979" y="1384"/>
                  </a:lnTo>
                  <a:lnTo>
                    <a:pt x="8162582" y="4749"/>
                  </a:lnTo>
                  <a:lnTo>
                    <a:pt x="8163979" y="8128"/>
                  </a:lnTo>
                  <a:lnTo>
                    <a:pt x="8167344" y="9512"/>
                  </a:lnTo>
                  <a:lnTo>
                    <a:pt x="8170710" y="8128"/>
                  </a:lnTo>
                  <a:lnTo>
                    <a:pt x="8172107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074593" y="6965200"/>
            <a:ext cx="4559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31%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58014" y="6301435"/>
            <a:ext cx="480695" cy="1372235"/>
          </a:xfrm>
          <a:prstGeom prst="rect">
            <a:avLst/>
          </a:prstGeom>
          <a:solidFill>
            <a:srgbClr val="94B3D6"/>
          </a:solidFill>
        </p:spPr>
        <p:txBody>
          <a:bodyPr wrap="square" lIns="0" tIns="2298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10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40%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74268" y="5933084"/>
            <a:ext cx="480695" cy="1740535"/>
          </a:xfrm>
          <a:prstGeom prst="rect">
            <a:avLst/>
          </a:prstGeom>
          <a:solidFill>
            <a:srgbClr val="94B3D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50%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0535" y="4989182"/>
            <a:ext cx="480695" cy="2684145"/>
          </a:xfrm>
          <a:prstGeom prst="rect">
            <a:avLst/>
          </a:prstGeom>
          <a:solidFill>
            <a:srgbClr val="94B3D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78%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90535" y="3565499"/>
            <a:ext cx="480695" cy="1424305"/>
          </a:xfrm>
          <a:prstGeom prst="rect">
            <a:avLst/>
          </a:prstGeom>
          <a:solidFill>
            <a:srgbClr val="16375E"/>
          </a:solidFill>
        </p:spPr>
        <p:txBody>
          <a:bodyPr wrap="square" lIns="0" tIns="250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41%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74268" y="5243982"/>
            <a:ext cx="480695" cy="690880"/>
          </a:xfrm>
          <a:prstGeom prst="rect">
            <a:avLst/>
          </a:prstGeom>
          <a:solidFill>
            <a:srgbClr val="16375E"/>
          </a:solidFill>
        </p:spPr>
        <p:txBody>
          <a:bodyPr wrap="square" lIns="0" tIns="17589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385"/>
              </a:spcBef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20%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58014" y="5686196"/>
            <a:ext cx="480695" cy="604520"/>
          </a:xfrm>
          <a:prstGeom prst="rect">
            <a:avLst/>
          </a:prstGeom>
          <a:solidFill>
            <a:srgbClr val="16375E"/>
          </a:solidFill>
        </p:spPr>
        <p:txBody>
          <a:bodyPr wrap="square" lIns="0" tIns="13462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060"/>
              </a:spcBef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18%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41759" y="6290595"/>
            <a:ext cx="480695" cy="309880"/>
          </a:xfrm>
          <a:prstGeom prst="rect">
            <a:avLst/>
          </a:prstGeom>
          <a:solidFill>
            <a:srgbClr val="16375E"/>
          </a:solidFill>
        </p:spPr>
        <p:txBody>
          <a:bodyPr wrap="square" lIns="0" tIns="0" rIns="0" bIns="0" rtlCol="0" vert="horz">
            <a:spAutoFit/>
          </a:bodyPr>
          <a:lstStyle/>
          <a:p>
            <a:pPr marL="34290">
              <a:lnSpc>
                <a:spcPts val="2290"/>
              </a:lnSpc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10%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6790" y="5587987"/>
            <a:ext cx="480695" cy="2085339"/>
          </a:xfrm>
          <a:prstGeom prst="rect">
            <a:avLst/>
          </a:prstGeom>
          <a:solidFill>
            <a:srgbClr val="94B3D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60%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06790" y="4235970"/>
            <a:ext cx="480695" cy="1352550"/>
          </a:xfrm>
          <a:prstGeom prst="rect">
            <a:avLst/>
          </a:prstGeom>
          <a:solidFill>
            <a:srgbClr val="16375E"/>
          </a:solidFill>
        </p:spPr>
        <p:txBody>
          <a:bodyPr wrap="square" lIns="0" tIns="2152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95"/>
              </a:spcBef>
            </a:pPr>
            <a:endParaRPr sz="20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39%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3152" y="5499480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60%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23044" y="6070726"/>
            <a:ext cx="480695" cy="1602740"/>
          </a:xfrm>
          <a:prstGeom prst="rect">
            <a:avLst/>
          </a:prstGeom>
          <a:solidFill>
            <a:srgbClr val="94B3D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46%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23044" y="4901615"/>
            <a:ext cx="480695" cy="1169670"/>
          </a:xfrm>
          <a:prstGeom prst="rect">
            <a:avLst/>
          </a:prstGeom>
          <a:solidFill>
            <a:srgbClr val="16375E"/>
          </a:solidFill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20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34%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3152" y="6194272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40%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39298" y="6384289"/>
            <a:ext cx="480695" cy="1289050"/>
          </a:xfrm>
          <a:prstGeom prst="rect">
            <a:avLst/>
          </a:prstGeom>
          <a:solidFill>
            <a:srgbClr val="94B3D6"/>
          </a:solidFill>
        </p:spPr>
        <p:txBody>
          <a:bodyPr wrap="square" lIns="0" tIns="1879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37%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39298" y="5371896"/>
            <a:ext cx="480695" cy="1012825"/>
          </a:xfrm>
          <a:prstGeom prst="rect">
            <a:avLst/>
          </a:prstGeom>
          <a:solidFill>
            <a:srgbClr val="16375E"/>
          </a:solidFill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29%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755566" y="5686196"/>
            <a:ext cx="480695" cy="913765"/>
          </a:xfrm>
          <a:prstGeom prst="rect">
            <a:avLst/>
          </a:prstGeom>
          <a:solidFill>
            <a:srgbClr val="16375E"/>
          </a:solidFill>
        </p:spPr>
        <p:txBody>
          <a:bodyPr wrap="square" lIns="0" tIns="28702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2260"/>
              </a:spcBef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26%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88399" y="6954710"/>
            <a:ext cx="4559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31%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84601" y="7369416"/>
            <a:ext cx="388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666" sz="3000" spc="-1530" b="1">
                <a:solidFill>
                  <a:srgbClr val="16375E"/>
                </a:solidFill>
                <a:latin typeface="Calibri"/>
                <a:cs typeface="Calibri"/>
              </a:rPr>
              <a:t>3</a:t>
            </a:r>
            <a:r>
              <a:rPr dirty="0" sz="2000" spc="-35">
                <a:solidFill>
                  <a:srgbClr val="F1F1F1"/>
                </a:solidFill>
                <a:latin typeface="Calibri"/>
                <a:cs typeface="Calibri"/>
              </a:rPr>
              <a:t>1</a:t>
            </a:r>
            <a:r>
              <a:rPr dirty="0" baseline="-16666" sz="3000" spc="-2220" b="1">
                <a:solidFill>
                  <a:srgbClr val="16375E"/>
                </a:solidFill>
                <a:latin typeface="Calibri"/>
                <a:cs typeface="Calibri"/>
              </a:rPr>
              <a:t>%</a:t>
            </a:r>
            <a:r>
              <a:rPr dirty="0" sz="2000" spc="-20">
                <a:solidFill>
                  <a:srgbClr val="F1F1F1"/>
                </a:solidFill>
                <a:latin typeface="Calibri"/>
                <a:cs typeface="Calibri"/>
              </a:rPr>
              <a:t>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71820" y="6736384"/>
            <a:ext cx="480695" cy="937260"/>
          </a:xfrm>
          <a:prstGeom prst="rect">
            <a:avLst/>
          </a:prstGeom>
          <a:solidFill>
            <a:srgbClr val="94B3D6"/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</a:pPr>
            <a:r>
              <a:rPr dirty="0" sz="2000" spc="-25" b="1">
                <a:solidFill>
                  <a:srgbClr val="16375E"/>
                </a:solidFill>
                <a:latin typeface="Calibri"/>
                <a:cs typeface="Calibri"/>
              </a:rPr>
              <a:t>27%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71820" y="5934544"/>
            <a:ext cx="480695" cy="802005"/>
          </a:xfrm>
          <a:prstGeom prst="rect">
            <a:avLst/>
          </a:prstGeom>
          <a:solidFill>
            <a:srgbClr val="16375E"/>
          </a:solidFill>
        </p:spPr>
        <p:txBody>
          <a:bodyPr wrap="square" lIns="0" tIns="23304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835"/>
              </a:spcBef>
            </a:pPr>
            <a:r>
              <a:rPr dirty="0" sz="2000" spc="-25">
                <a:solidFill>
                  <a:srgbClr val="F1F1F1"/>
                </a:solidFill>
                <a:latin typeface="Calibri"/>
                <a:cs typeface="Calibri"/>
              </a:rPr>
              <a:t>23%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3152" y="6889064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20%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9907499" y="3099384"/>
            <a:ext cx="7026909" cy="4588510"/>
            <a:chOff x="9907499" y="3099384"/>
            <a:chExt cx="7026909" cy="4588510"/>
          </a:xfrm>
        </p:grpSpPr>
        <p:sp>
          <p:nvSpPr>
            <p:cNvPr id="67" name="object 67"/>
            <p:cNvSpPr/>
            <p:nvPr/>
          </p:nvSpPr>
          <p:spPr>
            <a:xfrm>
              <a:off x="10263099" y="3099383"/>
              <a:ext cx="6315710" cy="4573905"/>
            </a:xfrm>
            <a:custGeom>
              <a:avLst/>
              <a:gdLst/>
              <a:ahLst/>
              <a:cxnLst/>
              <a:rect l="l" t="t" r="r" b="b"/>
              <a:pathLst>
                <a:path w="6315709" h="4573905">
                  <a:moveTo>
                    <a:pt x="467779" y="1442262"/>
                  </a:moveTo>
                  <a:lnTo>
                    <a:pt x="0" y="1442262"/>
                  </a:lnTo>
                  <a:lnTo>
                    <a:pt x="0" y="4573778"/>
                  </a:lnTo>
                  <a:lnTo>
                    <a:pt x="467779" y="4573778"/>
                  </a:lnTo>
                  <a:lnTo>
                    <a:pt x="467779" y="1442262"/>
                  </a:lnTo>
                  <a:close/>
                </a:path>
                <a:path w="6315709" h="4573905">
                  <a:moveTo>
                    <a:pt x="1637258" y="1179512"/>
                  </a:moveTo>
                  <a:lnTo>
                    <a:pt x="1169466" y="1179512"/>
                  </a:lnTo>
                  <a:lnTo>
                    <a:pt x="1169466" y="4573778"/>
                  </a:lnTo>
                  <a:lnTo>
                    <a:pt x="1637258" y="4573778"/>
                  </a:lnTo>
                  <a:lnTo>
                    <a:pt x="1637258" y="1179512"/>
                  </a:lnTo>
                  <a:close/>
                </a:path>
                <a:path w="6315709" h="4573905">
                  <a:moveTo>
                    <a:pt x="2806738" y="799147"/>
                  </a:moveTo>
                  <a:lnTo>
                    <a:pt x="2338946" y="799147"/>
                  </a:lnTo>
                  <a:lnTo>
                    <a:pt x="2338946" y="4573778"/>
                  </a:lnTo>
                  <a:lnTo>
                    <a:pt x="2806738" y="4573778"/>
                  </a:lnTo>
                  <a:lnTo>
                    <a:pt x="2806738" y="799147"/>
                  </a:lnTo>
                  <a:close/>
                </a:path>
                <a:path w="6315709" h="4573905">
                  <a:moveTo>
                    <a:pt x="3976217" y="528358"/>
                  </a:moveTo>
                  <a:lnTo>
                    <a:pt x="3508425" y="528358"/>
                  </a:lnTo>
                  <a:lnTo>
                    <a:pt x="3508425" y="4573778"/>
                  </a:lnTo>
                  <a:lnTo>
                    <a:pt x="3976217" y="4573778"/>
                  </a:lnTo>
                  <a:lnTo>
                    <a:pt x="3976217" y="528358"/>
                  </a:lnTo>
                  <a:close/>
                </a:path>
                <a:path w="6315709" h="4573905">
                  <a:moveTo>
                    <a:pt x="5145684" y="258572"/>
                  </a:moveTo>
                  <a:lnTo>
                    <a:pt x="4677905" y="258572"/>
                  </a:lnTo>
                  <a:lnTo>
                    <a:pt x="4677905" y="4573778"/>
                  </a:lnTo>
                  <a:lnTo>
                    <a:pt x="5145684" y="4573778"/>
                  </a:lnTo>
                  <a:lnTo>
                    <a:pt x="5145684" y="258572"/>
                  </a:lnTo>
                  <a:close/>
                </a:path>
                <a:path w="6315709" h="4573905">
                  <a:moveTo>
                    <a:pt x="6315164" y="0"/>
                  </a:moveTo>
                  <a:lnTo>
                    <a:pt x="5847372" y="0"/>
                  </a:lnTo>
                  <a:lnTo>
                    <a:pt x="5847372" y="4573778"/>
                  </a:lnTo>
                  <a:lnTo>
                    <a:pt x="6315164" y="4573778"/>
                  </a:lnTo>
                  <a:lnTo>
                    <a:pt x="6315164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912262" y="7682687"/>
              <a:ext cx="7017384" cy="0"/>
            </a:xfrm>
            <a:custGeom>
              <a:avLst/>
              <a:gdLst/>
              <a:ahLst/>
              <a:cxnLst/>
              <a:rect l="l" t="t" r="r" b="b"/>
              <a:pathLst>
                <a:path w="7017384" h="0">
                  <a:moveTo>
                    <a:pt x="0" y="0"/>
                  </a:moveTo>
                  <a:lnTo>
                    <a:pt x="7016863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907499" y="7677937"/>
              <a:ext cx="7026909" cy="9525"/>
            </a:xfrm>
            <a:custGeom>
              <a:avLst/>
              <a:gdLst/>
              <a:ahLst/>
              <a:cxnLst/>
              <a:rect l="l" t="t" r="r" b="b"/>
              <a:pathLst>
                <a:path w="7026909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84" y="1384"/>
                  </a:lnTo>
                  <a:lnTo>
                    <a:pt x="0" y="4749"/>
                  </a:lnTo>
                  <a:lnTo>
                    <a:pt x="1384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7026909" h="9525">
                  <a:moveTo>
                    <a:pt x="1178991" y="4749"/>
                  </a:moveTo>
                  <a:lnTo>
                    <a:pt x="1177607" y="1384"/>
                  </a:lnTo>
                  <a:lnTo>
                    <a:pt x="1174242" y="0"/>
                  </a:lnTo>
                  <a:lnTo>
                    <a:pt x="1170863" y="1384"/>
                  </a:lnTo>
                  <a:lnTo>
                    <a:pt x="1169479" y="4749"/>
                  </a:lnTo>
                  <a:lnTo>
                    <a:pt x="1170863" y="8128"/>
                  </a:lnTo>
                  <a:lnTo>
                    <a:pt x="1174242" y="9512"/>
                  </a:lnTo>
                  <a:lnTo>
                    <a:pt x="1177607" y="8128"/>
                  </a:lnTo>
                  <a:lnTo>
                    <a:pt x="1178991" y="4749"/>
                  </a:lnTo>
                  <a:close/>
                </a:path>
                <a:path w="7026909" h="9525">
                  <a:moveTo>
                    <a:pt x="2348471" y="4749"/>
                  </a:moveTo>
                  <a:lnTo>
                    <a:pt x="2347087" y="1384"/>
                  </a:lnTo>
                  <a:lnTo>
                    <a:pt x="2343721" y="0"/>
                  </a:lnTo>
                  <a:lnTo>
                    <a:pt x="2340343" y="1384"/>
                  </a:lnTo>
                  <a:lnTo>
                    <a:pt x="2338959" y="4749"/>
                  </a:lnTo>
                  <a:lnTo>
                    <a:pt x="2340343" y="8128"/>
                  </a:lnTo>
                  <a:lnTo>
                    <a:pt x="2343721" y="9512"/>
                  </a:lnTo>
                  <a:lnTo>
                    <a:pt x="2347087" y="8128"/>
                  </a:lnTo>
                  <a:lnTo>
                    <a:pt x="2348471" y="4749"/>
                  </a:lnTo>
                  <a:close/>
                </a:path>
                <a:path w="7026909" h="9525">
                  <a:moveTo>
                    <a:pt x="3517938" y="4749"/>
                  </a:moveTo>
                  <a:lnTo>
                    <a:pt x="3516553" y="1384"/>
                  </a:lnTo>
                  <a:lnTo>
                    <a:pt x="3513188" y="0"/>
                  </a:lnTo>
                  <a:lnTo>
                    <a:pt x="3509810" y="1384"/>
                  </a:lnTo>
                  <a:lnTo>
                    <a:pt x="3508425" y="4749"/>
                  </a:lnTo>
                  <a:lnTo>
                    <a:pt x="3509810" y="8128"/>
                  </a:lnTo>
                  <a:lnTo>
                    <a:pt x="3513188" y="9512"/>
                  </a:lnTo>
                  <a:lnTo>
                    <a:pt x="3516553" y="8128"/>
                  </a:lnTo>
                  <a:lnTo>
                    <a:pt x="3517938" y="4749"/>
                  </a:lnTo>
                  <a:close/>
                </a:path>
                <a:path w="7026909" h="9525">
                  <a:moveTo>
                    <a:pt x="4687417" y="4749"/>
                  </a:moveTo>
                  <a:lnTo>
                    <a:pt x="4686033" y="1384"/>
                  </a:lnTo>
                  <a:lnTo>
                    <a:pt x="4682668" y="0"/>
                  </a:lnTo>
                  <a:lnTo>
                    <a:pt x="4679289" y="1384"/>
                  </a:lnTo>
                  <a:lnTo>
                    <a:pt x="4677905" y="4749"/>
                  </a:lnTo>
                  <a:lnTo>
                    <a:pt x="4679289" y="8128"/>
                  </a:lnTo>
                  <a:lnTo>
                    <a:pt x="4682668" y="9512"/>
                  </a:lnTo>
                  <a:lnTo>
                    <a:pt x="4686033" y="8128"/>
                  </a:lnTo>
                  <a:lnTo>
                    <a:pt x="4687417" y="4749"/>
                  </a:lnTo>
                  <a:close/>
                </a:path>
                <a:path w="7026909" h="9525">
                  <a:moveTo>
                    <a:pt x="5856897" y="4749"/>
                  </a:moveTo>
                  <a:lnTo>
                    <a:pt x="5855513" y="1384"/>
                  </a:lnTo>
                  <a:lnTo>
                    <a:pt x="5852147" y="0"/>
                  </a:lnTo>
                  <a:lnTo>
                    <a:pt x="5848769" y="1384"/>
                  </a:lnTo>
                  <a:lnTo>
                    <a:pt x="5847385" y="4749"/>
                  </a:lnTo>
                  <a:lnTo>
                    <a:pt x="5848769" y="8128"/>
                  </a:lnTo>
                  <a:lnTo>
                    <a:pt x="5852147" y="9512"/>
                  </a:lnTo>
                  <a:lnTo>
                    <a:pt x="5855513" y="8128"/>
                  </a:lnTo>
                  <a:lnTo>
                    <a:pt x="5856897" y="4749"/>
                  </a:lnTo>
                  <a:close/>
                </a:path>
                <a:path w="7026909" h="9525">
                  <a:moveTo>
                    <a:pt x="7026376" y="4749"/>
                  </a:moveTo>
                  <a:lnTo>
                    <a:pt x="7024992" y="1384"/>
                  </a:lnTo>
                  <a:lnTo>
                    <a:pt x="7021627" y="0"/>
                  </a:lnTo>
                  <a:lnTo>
                    <a:pt x="7018248" y="1384"/>
                  </a:lnTo>
                  <a:lnTo>
                    <a:pt x="7016864" y="4749"/>
                  </a:lnTo>
                  <a:lnTo>
                    <a:pt x="7018248" y="8128"/>
                  </a:lnTo>
                  <a:lnTo>
                    <a:pt x="7021627" y="9512"/>
                  </a:lnTo>
                  <a:lnTo>
                    <a:pt x="7024992" y="8128"/>
                  </a:lnTo>
                  <a:lnTo>
                    <a:pt x="7026376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0497000" y="7019709"/>
              <a:ext cx="5847715" cy="193040"/>
            </a:xfrm>
            <a:custGeom>
              <a:avLst/>
              <a:gdLst/>
              <a:ahLst/>
              <a:cxnLst/>
              <a:rect l="l" t="t" r="r" b="b"/>
              <a:pathLst>
                <a:path w="5847715" h="193040">
                  <a:moveTo>
                    <a:pt x="0" y="5905"/>
                  </a:moveTo>
                  <a:lnTo>
                    <a:pt x="116946" y="5346"/>
                  </a:lnTo>
                  <a:lnTo>
                    <a:pt x="233889" y="4457"/>
                  </a:lnTo>
                  <a:lnTo>
                    <a:pt x="350843" y="3365"/>
                  </a:lnTo>
                  <a:lnTo>
                    <a:pt x="467785" y="2235"/>
                  </a:lnTo>
                  <a:lnTo>
                    <a:pt x="584739" y="1193"/>
                  </a:lnTo>
                  <a:lnTo>
                    <a:pt x="701681" y="406"/>
                  </a:lnTo>
                  <a:lnTo>
                    <a:pt x="818635" y="0"/>
                  </a:lnTo>
                  <a:lnTo>
                    <a:pt x="935577" y="127"/>
                  </a:lnTo>
                  <a:lnTo>
                    <a:pt x="1052531" y="952"/>
                  </a:lnTo>
                  <a:lnTo>
                    <a:pt x="1169473" y="2590"/>
                  </a:lnTo>
                </a:path>
                <a:path w="5847715" h="193040">
                  <a:moveTo>
                    <a:pt x="1169473" y="2590"/>
                  </a:moveTo>
                  <a:lnTo>
                    <a:pt x="1286427" y="5029"/>
                  </a:lnTo>
                  <a:lnTo>
                    <a:pt x="1403369" y="8064"/>
                  </a:lnTo>
                  <a:lnTo>
                    <a:pt x="1520323" y="11671"/>
                  </a:lnTo>
                  <a:lnTo>
                    <a:pt x="1637264" y="15773"/>
                  </a:lnTo>
                  <a:lnTo>
                    <a:pt x="1754219" y="20332"/>
                  </a:lnTo>
                  <a:lnTo>
                    <a:pt x="1871160" y="25285"/>
                  </a:lnTo>
                  <a:lnTo>
                    <a:pt x="1988115" y="30594"/>
                  </a:lnTo>
                  <a:lnTo>
                    <a:pt x="2105056" y="36207"/>
                  </a:lnTo>
                  <a:lnTo>
                    <a:pt x="2221998" y="42049"/>
                  </a:lnTo>
                  <a:lnTo>
                    <a:pt x="2338952" y="48082"/>
                  </a:lnTo>
                </a:path>
                <a:path w="5847715" h="193040">
                  <a:moveTo>
                    <a:pt x="2338952" y="48082"/>
                  </a:moveTo>
                  <a:lnTo>
                    <a:pt x="2455894" y="54635"/>
                  </a:lnTo>
                  <a:lnTo>
                    <a:pt x="2572848" y="61899"/>
                  </a:lnTo>
                  <a:lnTo>
                    <a:pt x="2689790" y="69735"/>
                  </a:lnTo>
                  <a:lnTo>
                    <a:pt x="2806744" y="77927"/>
                  </a:lnTo>
                  <a:lnTo>
                    <a:pt x="2923686" y="86334"/>
                  </a:lnTo>
                  <a:lnTo>
                    <a:pt x="3040640" y="94742"/>
                  </a:lnTo>
                  <a:lnTo>
                    <a:pt x="3157581" y="102984"/>
                  </a:lnTo>
                  <a:lnTo>
                    <a:pt x="3274536" y="110883"/>
                  </a:lnTo>
                  <a:lnTo>
                    <a:pt x="3391477" y="118249"/>
                  </a:lnTo>
                  <a:lnTo>
                    <a:pt x="3508432" y="124929"/>
                  </a:lnTo>
                </a:path>
                <a:path w="5847715" h="193040">
                  <a:moveTo>
                    <a:pt x="3508432" y="124929"/>
                  </a:moveTo>
                  <a:lnTo>
                    <a:pt x="3625373" y="131038"/>
                  </a:lnTo>
                  <a:lnTo>
                    <a:pt x="3742328" y="136880"/>
                  </a:lnTo>
                  <a:lnTo>
                    <a:pt x="3859269" y="142430"/>
                  </a:lnTo>
                  <a:lnTo>
                    <a:pt x="3976223" y="147688"/>
                  </a:lnTo>
                  <a:lnTo>
                    <a:pt x="4093165" y="152666"/>
                  </a:lnTo>
                  <a:lnTo>
                    <a:pt x="4210119" y="157365"/>
                  </a:lnTo>
                  <a:lnTo>
                    <a:pt x="4327061" y="161772"/>
                  </a:lnTo>
                  <a:lnTo>
                    <a:pt x="4444015" y="165887"/>
                  </a:lnTo>
                  <a:lnTo>
                    <a:pt x="4560957" y="169722"/>
                  </a:lnTo>
                  <a:lnTo>
                    <a:pt x="4677898" y="173266"/>
                  </a:lnTo>
                </a:path>
                <a:path w="5847715" h="193040">
                  <a:moveTo>
                    <a:pt x="4677898" y="173266"/>
                  </a:moveTo>
                  <a:lnTo>
                    <a:pt x="4794853" y="176390"/>
                  </a:lnTo>
                  <a:lnTo>
                    <a:pt x="4911794" y="179031"/>
                  </a:lnTo>
                  <a:lnTo>
                    <a:pt x="5028749" y="181267"/>
                  </a:lnTo>
                  <a:lnTo>
                    <a:pt x="5145690" y="183184"/>
                  </a:lnTo>
                  <a:lnTo>
                    <a:pt x="5262645" y="184873"/>
                  </a:lnTo>
                  <a:lnTo>
                    <a:pt x="5379586" y="186410"/>
                  </a:lnTo>
                  <a:lnTo>
                    <a:pt x="5496540" y="187896"/>
                  </a:lnTo>
                  <a:lnTo>
                    <a:pt x="5613482" y="189420"/>
                  </a:lnTo>
                  <a:lnTo>
                    <a:pt x="5730436" y="191046"/>
                  </a:lnTo>
                  <a:lnTo>
                    <a:pt x="5847378" y="192874"/>
                  </a:lnTo>
                </a:path>
              </a:pathLst>
            </a:custGeom>
            <a:ln w="76199">
              <a:solidFill>
                <a:srgbClr val="94B3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12697129" y="3958696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140%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866545" y="3687906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150%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035961" y="3418120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160%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205505" y="3159548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170%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03600" y="3801093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140%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503600" y="4341495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120%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503600" y="4881879"/>
            <a:ext cx="311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585858"/>
                </a:solidFill>
                <a:latin typeface="Calibri"/>
                <a:cs typeface="Calibri"/>
              </a:rPr>
              <a:t>100%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358119" y="4601811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116%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527587" y="4339048"/>
            <a:ext cx="330200" cy="706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80"/>
              </a:lnSpc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126%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567967" y="5422277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80%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567967" y="5962675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60%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567967" y="6503072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40%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263104" y="6625945"/>
            <a:ext cx="469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24%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432578" y="6622631"/>
            <a:ext cx="469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24%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2602057" y="6668122"/>
            <a:ext cx="469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23%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3771537" y="6744969"/>
            <a:ext cx="469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20%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941016" y="6793306"/>
            <a:ext cx="469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18%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124445" y="6812915"/>
            <a:ext cx="4686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1F1F1"/>
                </a:solidFill>
                <a:latin typeface="Calibri"/>
                <a:cs typeface="Calibri"/>
              </a:rPr>
              <a:t>17%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567967" y="7043470"/>
            <a:ext cx="2470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20%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7519" y="7583868"/>
            <a:ext cx="1828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632333" y="7583868"/>
            <a:ext cx="1828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585858"/>
                </a:solidFill>
                <a:latin typeface="Calibri"/>
                <a:cs typeface="Calibri"/>
              </a:rPr>
              <a:t>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77303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2021A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093556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2022A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09823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2023A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26078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2024A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542332" y="7706220"/>
            <a:ext cx="436245" cy="4692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105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  <a:spcBef>
                <a:spcPts val="49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ROE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74854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2027A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91108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2028A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07362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2029A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23617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2030A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611363" y="80535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5600" y="0"/>
                </a:moveTo>
                <a:lnTo>
                  <a:pt x="0" y="0"/>
                </a:lnTo>
                <a:lnTo>
                  <a:pt x="0" y="75603"/>
                </a:lnTo>
                <a:lnTo>
                  <a:pt x="75600" y="75603"/>
                </a:lnTo>
                <a:lnTo>
                  <a:pt x="75600" y="0"/>
                </a:lnTo>
                <a:close/>
              </a:path>
            </a:pathLst>
          </a:custGeom>
          <a:solidFill>
            <a:srgbClr val="94B3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018614" y="80535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5600" y="0"/>
                </a:moveTo>
                <a:lnTo>
                  <a:pt x="0" y="0"/>
                </a:lnTo>
                <a:lnTo>
                  <a:pt x="0" y="75603"/>
                </a:lnTo>
                <a:lnTo>
                  <a:pt x="75600" y="75603"/>
                </a:lnTo>
                <a:lnTo>
                  <a:pt x="75600" y="0"/>
                </a:lnTo>
                <a:close/>
              </a:path>
            </a:pathLst>
          </a:custGeom>
          <a:solidFill>
            <a:srgbClr val="1637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134425" y="7706220"/>
            <a:ext cx="600075" cy="4692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585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2026A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050" spc="-25">
                <a:solidFill>
                  <a:srgbClr val="585858"/>
                </a:solidFill>
                <a:latin typeface="Calibri"/>
                <a:cs typeface="Calibri"/>
              </a:rPr>
              <a:t>ROA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308728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2025A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478206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2026A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2647686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2027A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4986632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2029A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6156111" y="7768132"/>
            <a:ext cx="3759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2030A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2656769" y="8046313"/>
            <a:ext cx="277495" cy="90170"/>
          </a:xfrm>
          <a:custGeom>
            <a:avLst/>
            <a:gdLst/>
            <a:ahLst/>
            <a:cxnLst/>
            <a:rect l="l" t="t" r="r" b="b"/>
            <a:pathLst>
              <a:path w="277495" h="90170">
                <a:moveTo>
                  <a:pt x="277200" y="0"/>
                </a:moveTo>
                <a:lnTo>
                  <a:pt x="0" y="0"/>
                </a:lnTo>
                <a:lnTo>
                  <a:pt x="0" y="90004"/>
                </a:lnTo>
                <a:lnTo>
                  <a:pt x="277200" y="90004"/>
                </a:lnTo>
                <a:lnTo>
                  <a:pt x="277200" y="0"/>
                </a:lnTo>
                <a:close/>
              </a:path>
            </a:pathLst>
          </a:custGeom>
          <a:solidFill>
            <a:srgbClr val="1637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12939280" y="7990065"/>
            <a:ext cx="2908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solidFill>
                  <a:srgbClr val="585858"/>
                </a:solidFill>
                <a:latin typeface="Calibri"/>
                <a:cs typeface="Calibri"/>
              </a:rPr>
              <a:t>ROIC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3517867" y="7706220"/>
            <a:ext cx="675640" cy="4692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585"/>
              </a:spcBef>
            </a:pPr>
            <a:r>
              <a:rPr dirty="0" sz="1050" spc="-10" b="1">
                <a:solidFill>
                  <a:srgbClr val="585858"/>
                </a:solidFill>
                <a:latin typeface="Calibri"/>
                <a:cs typeface="Calibri"/>
              </a:rPr>
              <a:t>2028A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050" spc="-20">
                <a:solidFill>
                  <a:srgbClr val="585858"/>
                </a:solidFill>
                <a:latin typeface="Calibri"/>
                <a:cs typeface="Calibri"/>
              </a:rPr>
              <a:t>WACC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3235368" y="807120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4" h="0">
                <a:moveTo>
                  <a:pt x="0" y="0"/>
                </a:moveTo>
                <a:lnTo>
                  <a:pt x="277200" y="0"/>
                </a:lnTo>
              </a:path>
            </a:pathLst>
          </a:custGeom>
          <a:ln w="76199">
            <a:solidFill>
              <a:srgbClr val="94B3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664352" y="8227479"/>
            <a:ext cx="847979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takeaway: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Profitability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normalizes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peak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while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remaining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above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pre-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levels.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326118" y="8258619"/>
            <a:ext cx="873506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takeaway: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ROIC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rises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116%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170%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WACC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declines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24%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17%,</a:t>
            </a:r>
            <a:r>
              <a:rPr dirty="0" sz="20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widening</a:t>
            </a:r>
            <a:r>
              <a:rPr dirty="0" sz="20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return</a:t>
            </a:r>
            <a:r>
              <a:rPr dirty="0" sz="20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spread</a:t>
            </a:r>
            <a:r>
              <a:rPr dirty="0" sz="20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through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2030F.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12140" y="9097454"/>
            <a:ext cx="665099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Statements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Consolidated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(2021-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2025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A),</a:t>
            </a:r>
            <a:r>
              <a:rPr dirty="0" sz="14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4255135" cy="937894"/>
            </a:xfrm>
            <a:custGeom>
              <a:avLst/>
              <a:gdLst/>
              <a:ahLst/>
              <a:cxnLst/>
              <a:rect l="l" t="t" r="r" b="b"/>
              <a:pathLst>
                <a:path w="4255135" h="937895">
                  <a:moveTo>
                    <a:pt x="2565870" y="481596"/>
                  </a:moveTo>
                  <a:lnTo>
                    <a:pt x="210761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2131885" y="937691"/>
                  </a:lnTo>
                  <a:lnTo>
                    <a:pt x="2565870" y="481596"/>
                  </a:lnTo>
                  <a:close/>
                </a:path>
                <a:path w="4255135" h="937895">
                  <a:moveTo>
                    <a:pt x="4254589" y="481596"/>
                  </a:moveTo>
                  <a:lnTo>
                    <a:pt x="3796334" y="0"/>
                  </a:lnTo>
                  <a:lnTo>
                    <a:pt x="2231745" y="0"/>
                  </a:lnTo>
                  <a:lnTo>
                    <a:pt x="2689999" y="481596"/>
                  </a:lnTo>
                  <a:lnTo>
                    <a:pt x="2256015" y="937691"/>
                  </a:lnTo>
                  <a:lnTo>
                    <a:pt x="3820604" y="937691"/>
                  </a:lnTo>
                  <a:lnTo>
                    <a:pt x="4254589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24198" y="9349307"/>
              <a:ext cx="3705860" cy="937894"/>
            </a:xfrm>
            <a:custGeom>
              <a:avLst/>
              <a:gdLst/>
              <a:ahLst/>
              <a:cxnLst/>
              <a:rect l="l" t="t" r="r" b="b"/>
              <a:pathLst>
                <a:path w="3705860" h="937895">
                  <a:moveTo>
                    <a:pt x="3247351" y="0"/>
                  </a:moveTo>
                  <a:lnTo>
                    <a:pt x="0" y="0"/>
                  </a:lnTo>
                  <a:lnTo>
                    <a:pt x="458255" y="481596"/>
                  </a:lnTo>
                  <a:lnTo>
                    <a:pt x="24277" y="937691"/>
                  </a:lnTo>
                  <a:lnTo>
                    <a:pt x="3271628" y="937691"/>
                  </a:lnTo>
                  <a:lnTo>
                    <a:pt x="3705605" y="481596"/>
                  </a:lnTo>
                  <a:lnTo>
                    <a:pt x="324735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00163" y="9349307"/>
              <a:ext cx="6319520" cy="937894"/>
            </a:xfrm>
            <a:custGeom>
              <a:avLst/>
              <a:gdLst/>
              <a:ahLst/>
              <a:cxnLst/>
              <a:rect l="l" t="t" r="r" b="b"/>
              <a:pathLst>
                <a:path w="6319520" h="937895">
                  <a:moveTo>
                    <a:pt x="2326068" y="481596"/>
                  </a:moveTo>
                  <a:lnTo>
                    <a:pt x="1867814" y="0"/>
                  </a:lnTo>
                  <a:lnTo>
                    <a:pt x="0" y="0"/>
                  </a:lnTo>
                  <a:lnTo>
                    <a:pt x="458254" y="481596"/>
                  </a:lnTo>
                  <a:lnTo>
                    <a:pt x="24269" y="937691"/>
                  </a:lnTo>
                  <a:lnTo>
                    <a:pt x="1892084" y="937691"/>
                  </a:lnTo>
                  <a:lnTo>
                    <a:pt x="2326068" y="481596"/>
                  </a:lnTo>
                  <a:close/>
                </a:path>
                <a:path w="6319520" h="937895">
                  <a:moveTo>
                    <a:pt x="4322483" y="481596"/>
                  </a:moveTo>
                  <a:lnTo>
                    <a:pt x="3864229" y="0"/>
                  </a:lnTo>
                  <a:lnTo>
                    <a:pt x="1996414" y="0"/>
                  </a:lnTo>
                  <a:lnTo>
                    <a:pt x="2454681" y="481596"/>
                  </a:lnTo>
                  <a:lnTo>
                    <a:pt x="2020697" y="937691"/>
                  </a:lnTo>
                  <a:lnTo>
                    <a:pt x="3888511" y="937691"/>
                  </a:lnTo>
                  <a:lnTo>
                    <a:pt x="4322483" y="481596"/>
                  </a:lnTo>
                  <a:close/>
                </a:path>
                <a:path w="6319520" h="937895">
                  <a:moveTo>
                    <a:pt x="6318923" y="481596"/>
                  </a:moveTo>
                  <a:lnTo>
                    <a:pt x="5860669" y="0"/>
                  </a:lnTo>
                  <a:lnTo>
                    <a:pt x="3992854" y="0"/>
                  </a:lnTo>
                  <a:lnTo>
                    <a:pt x="4451121" y="481596"/>
                  </a:lnTo>
                  <a:lnTo>
                    <a:pt x="4017137" y="937691"/>
                  </a:lnTo>
                  <a:lnTo>
                    <a:pt x="5884951" y="937691"/>
                  </a:lnTo>
                  <a:lnTo>
                    <a:pt x="6318923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098" y="9516528"/>
              <a:ext cx="816563" cy="6287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8724" y="9496310"/>
              <a:ext cx="588890" cy="6691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176" y="9471265"/>
              <a:ext cx="719289" cy="7192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15384" y="9462820"/>
              <a:ext cx="742773" cy="724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18957" y="9446602"/>
              <a:ext cx="684049" cy="7685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19711" y="9446602"/>
              <a:ext cx="564879" cy="724204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5626100" y="9524396"/>
            <a:ext cx="1125855" cy="5556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5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Financial Analysis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70856"/>
            <a:ext cx="18288000" cy="10016490"/>
            <a:chOff x="0" y="270856"/>
            <a:chExt cx="18288000" cy="1001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579" y="1769414"/>
              <a:ext cx="9795421" cy="8517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666" y="1769414"/>
              <a:ext cx="16712565" cy="7337425"/>
            </a:xfrm>
            <a:custGeom>
              <a:avLst/>
              <a:gdLst/>
              <a:ahLst/>
              <a:cxnLst/>
              <a:rect l="l" t="t" r="r" b="b"/>
              <a:pathLst>
                <a:path w="16712565" h="7337425">
                  <a:moveTo>
                    <a:pt x="15988157" y="0"/>
                  </a:moveTo>
                  <a:lnTo>
                    <a:pt x="724263" y="0"/>
                  </a:lnTo>
                  <a:lnTo>
                    <a:pt x="676939" y="1552"/>
                  </a:lnTo>
                  <a:lnTo>
                    <a:pt x="630389" y="6146"/>
                  </a:lnTo>
                  <a:lnTo>
                    <a:pt x="584711" y="13680"/>
                  </a:lnTo>
                  <a:lnTo>
                    <a:pt x="540005" y="24058"/>
                  </a:lnTo>
                  <a:lnTo>
                    <a:pt x="496369" y="37181"/>
                  </a:lnTo>
                  <a:lnTo>
                    <a:pt x="453900" y="52949"/>
                  </a:lnTo>
                  <a:lnTo>
                    <a:pt x="412699" y="71265"/>
                  </a:lnTo>
                  <a:lnTo>
                    <a:pt x="372863" y="92031"/>
                  </a:lnTo>
                  <a:lnTo>
                    <a:pt x="334490" y="115146"/>
                  </a:lnTo>
                  <a:lnTo>
                    <a:pt x="297680" y="140514"/>
                  </a:lnTo>
                  <a:lnTo>
                    <a:pt x="262531" y="168035"/>
                  </a:lnTo>
                  <a:lnTo>
                    <a:pt x="229141" y="197611"/>
                  </a:lnTo>
                  <a:lnTo>
                    <a:pt x="197609" y="229143"/>
                  </a:lnTo>
                  <a:lnTo>
                    <a:pt x="168033" y="262534"/>
                  </a:lnTo>
                  <a:lnTo>
                    <a:pt x="140512" y="297683"/>
                  </a:lnTo>
                  <a:lnTo>
                    <a:pt x="115145" y="334494"/>
                  </a:lnTo>
                  <a:lnTo>
                    <a:pt x="92029" y="372867"/>
                  </a:lnTo>
                  <a:lnTo>
                    <a:pt x="71264" y="412703"/>
                  </a:lnTo>
                  <a:lnTo>
                    <a:pt x="52949" y="453905"/>
                  </a:lnTo>
                  <a:lnTo>
                    <a:pt x="37180" y="496373"/>
                  </a:lnTo>
                  <a:lnTo>
                    <a:pt x="24058" y="540010"/>
                  </a:lnTo>
                  <a:lnTo>
                    <a:pt x="13680" y="584716"/>
                  </a:lnTo>
                  <a:lnTo>
                    <a:pt x="6145" y="630394"/>
                  </a:lnTo>
                  <a:lnTo>
                    <a:pt x="1552" y="676944"/>
                  </a:lnTo>
                  <a:lnTo>
                    <a:pt x="0" y="724268"/>
                  </a:lnTo>
                  <a:lnTo>
                    <a:pt x="0" y="6613017"/>
                  </a:lnTo>
                  <a:lnTo>
                    <a:pt x="1552" y="6660341"/>
                  </a:lnTo>
                  <a:lnTo>
                    <a:pt x="6145" y="6706891"/>
                  </a:lnTo>
                  <a:lnTo>
                    <a:pt x="13680" y="6752568"/>
                  </a:lnTo>
                  <a:lnTo>
                    <a:pt x="24058" y="6797274"/>
                  </a:lnTo>
                  <a:lnTo>
                    <a:pt x="37180" y="6840911"/>
                  </a:lnTo>
                  <a:lnTo>
                    <a:pt x="52949" y="6883380"/>
                  </a:lnTo>
                  <a:lnTo>
                    <a:pt x="71264" y="6924581"/>
                  </a:lnTo>
                  <a:lnTo>
                    <a:pt x="92029" y="6964418"/>
                  </a:lnTo>
                  <a:lnTo>
                    <a:pt x="115145" y="7002791"/>
                  </a:lnTo>
                  <a:lnTo>
                    <a:pt x="140512" y="7039601"/>
                  </a:lnTo>
                  <a:lnTo>
                    <a:pt x="168033" y="7074751"/>
                  </a:lnTo>
                  <a:lnTo>
                    <a:pt x="197609" y="7108141"/>
                  </a:lnTo>
                  <a:lnTo>
                    <a:pt x="229141" y="7139673"/>
                  </a:lnTo>
                  <a:lnTo>
                    <a:pt x="262531" y="7169249"/>
                  </a:lnTo>
                  <a:lnTo>
                    <a:pt x="297680" y="7196770"/>
                  </a:lnTo>
                  <a:lnTo>
                    <a:pt x="334490" y="7222138"/>
                  </a:lnTo>
                  <a:lnTo>
                    <a:pt x="372863" y="7245254"/>
                  </a:lnTo>
                  <a:lnTo>
                    <a:pt x="412699" y="7266019"/>
                  </a:lnTo>
                  <a:lnTo>
                    <a:pt x="453900" y="7284335"/>
                  </a:lnTo>
                  <a:lnTo>
                    <a:pt x="496369" y="7300104"/>
                  </a:lnTo>
                  <a:lnTo>
                    <a:pt x="540005" y="7313226"/>
                  </a:lnTo>
                  <a:lnTo>
                    <a:pt x="584711" y="7323604"/>
                  </a:lnTo>
                  <a:lnTo>
                    <a:pt x="630389" y="7331139"/>
                  </a:lnTo>
                  <a:lnTo>
                    <a:pt x="676939" y="7335732"/>
                  </a:lnTo>
                  <a:lnTo>
                    <a:pt x="724263" y="7337285"/>
                  </a:lnTo>
                  <a:lnTo>
                    <a:pt x="15988157" y="7337285"/>
                  </a:lnTo>
                  <a:lnTo>
                    <a:pt x="16035488" y="7335732"/>
                  </a:lnTo>
                  <a:lnTo>
                    <a:pt x="16082044" y="7331139"/>
                  </a:lnTo>
                  <a:lnTo>
                    <a:pt x="16127726" y="7323604"/>
                  </a:lnTo>
                  <a:lnTo>
                    <a:pt x="16172437" y="7313226"/>
                  </a:lnTo>
                  <a:lnTo>
                    <a:pt x="16216077" y="7300104"/>
                  </a:lnTo>
                  <a:lnTo>
                    <a:pt x="16258548" y="7284335"/>
                  </a:lnTo>
                  <a:lnTo>
                    <a:pt x="16299751" y="7266019"/>
                  </a:lnTo>
                  <a:lnTo>
                    <a:pt x="16339589" y="7245254"/>
                  </a:lnTo>
                  <a:lnTo>
                    <a:pt x="16377962" y="7222138"/>
                  </a:lnTo>
                  <a:lnTo>
                    <a:pt x="16414773" y="7196770"/>
                  </a:lnTo>
                  <a:lnTo>
                    <a:pt x="16449922" y="7169249"/>
                  </a:lnTo>
                  <a:lnTo>
                    <a:pt x="16483312" y="7139673"/>
                  </a:lnTo>
                  <a:lnTo>
                    <a:pt x="16514843" y="7108141"/>
                  </a:lnTo>
                  <a:lnTo>
                    <a:pt x="16544417" y="7074751"/>
                  </a:lnTo>
                  <a:lnTo>
                    <a:pt x="16571937" y="7039601"/>
                  </a:lnTo>
                  <a:lnTo>
                    <a:pt x="16597303" y="7002791"/>
                  </a:lnTo>
                  <a:lnTo>
                    <a:pt x="16620417" y="6964418"/>
                  </a:lnTo>
                  <a:lnTo>
                    <a:pt x="16641180" y="6924581"/>
                  </a:lnTo>
                  <a:lnTo>
                    <a:pt x="16659494" y="6883380"/>
                  </a:lnTo>
                  <a:lnTo>
                    <a:pt x="16675261" y="6840911"/>
                  </a:lnTo>
                  <a:lnTo>
                    <a:pt x="16688382" y="6797274"/>
                  </a:lnTo>
                  <a:lnTo>
                    <a:pt x="16698759" y="6752568"/>
                  </a:lnTo>
                  <a:lnTo>
                    <a:pt x="16706292" y="6706891"/>
                  </a:lnTo>
                  <a:lnTo>
                    <a:pt x="16710885" y="6660341"/>
                  </a:lnTo>
                  <a:lnTo>
                    <a:pt x="16712438" y="6613017"/>
                  </a:lnTo>
                  <a:lnTo>
                    <a:pt x="16712438" y="724268"/>
                  </a:lnTo>
                  <a:lnTo>
                    <a:pt x="16710885" y="676944"/>
                  </a:lnTo>
                  <a:lnTo>
                    <a:pt x="16706292" y="630394"/>
                  </a:lnTo>
                  <a:lnTo>
                    <a:pt x="16698759" y="584716"/>
                  </a:lnTo>
                  <a:lnTo>
                    <a:pt x="16688382" y="540010"/>
                  </a:lnTo>
                  <a:lnTo>
                    <a:pt x="16675261" y="496373"/>
                  </a:lnTo>
                  <a:lnTo>
                    <a:pt x="16659494" y="453905"/>
                  </a:lnTo>
                  <a:lnTo>
                    <a:pt x="16641180" y="412703"/>
                  </a:lnTo>
                  <a:lnTo>
                    <a:pt x="16620417" y="372867"/>
                  </a:lnTo>
                  <a:lnTo>
                    <a:pt x="16597303" y="334494"/>
                  </a:lnTo>
                  <a:lnTo>
                    <a:pt x="16571937" y="297683"/>
                  </a:lnTo>
                  <a:lnTo>
                    <a:pt x="16544417" y="262534"/>
                  </a:lnTo>
                  <a:lnTo>
                    <a:pt x="16514843" y="229143"/>
                  </a:lnTo>
                  <a:lnTo>
                    <a:pt x="16483312" y="197611"/>
                  </a:lnTo>
                  <a:lnTo>
                    <a:pt x="16449922" y="168035"/>
                  </a:lnTo>
                  <a:lnTo>
                    <a:pt x="16414773" y="140514"/>
                  </a:lnTo>
                  <a:lnTo>
                    <a:pt x="16377962" y="115146"/>
                  </a:lnTo>
                  <a:lnTo>
                    <a:pt x="16339589" y="92031"/>
                  </a:lnTo>
                  <a:lnTo>
                    <a:pt x="16299751" y="71265"/>
                  </a:lnTo>
                  <a:lnTo>
                    <a:pt x="16258548" y="52949"/>
                  </a:lnTo>
                  <a:lnTo>
                    <a:pt x="16216077" y="37181"/>
                  </a:lnTo>
                  <a:lnTo>
                    <a:pt x="16172437" y="24058"/>
                  </a:lnTo>
                  <a:lnTo>
                    <a:pt x="16127726" y="13680"/>
                  </a:lnTo>
                  <a:lnTo>
                    <a:pt x="16082044" y="6146"/>
                  </a:lnTo>
                  <a:lnTo>
                    <a:pt x="16035488" y="1552"/>
                  </a:lnTo>
                  <a:lnTo>
                    <a:pt x="15988157" y="0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349307"/>
              <a:ext cx="5550535" cy="937894"/>
            </a:xfrm>
            <a:custGeom>
              <a:avLst/>
              <a:gdLst/>
              <a:ahLst/>
              <a:cxnLst/>
              <a:rect l="l" t="t" r="r" b="b"/>
              <a:pathLst>
                <a:path w="5550535" h="937895">
                  <a:moveTo>
                    <a:pt x="2155875" y="481596"/>
                  </a:moveTo>
                  <a:lnTo>
                    <a:pt x="1700936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725028" y="937691"/>
                  </a:lnTo>
                  <a:lnTo>
                    <a:pt x="2155875" y="481596"/>
                  </a:lnTo>
                  <a:close/>
                </a:path>
                <a:path w="5550535" h="937895">
                  <a:moveTo>
                    <a:pt x="3832402" y="481596"/>
                  </a:moveTo>
                  <a:lnTo>
                    <a:pt x="3377450" y="0"/>
                  </a:lnTo>
                  <a:lnTo>
                    <a:pt x="1824164" y="0"/>
                  </a:lnTo>
                  <a:lnTo>
                    <a:pt x="2279104" y="481596"/>
                  </a:lnTo>
                  <a:lnTo>
                    <a:pt x="1848256" y="937691"/>
                  </a:lnTo>
                  <a:lnTo>
                    <a:pt x="3401542" y="937691"/>
                  </a:lnTo>
                  <a:lnTo>
                    <a:pt x="3832402" y="481596"/>
                  </a:lnTo>
                  <a:close/>
                </a:path>
                <a:path w="5550535" h="937895">
                  <a:moveTo>
                    <a:pt x="5550078" y="481596"/>
                  </a:moveTo>
                  <a:lnTo>
                    <a:pt x="5095125" y="0"/>
                  </a:lnTo>
                  <a:lnTo>
                    <a:pt x="3504374" y="0"/>
                  </a:lnTo>
                  <a:lnTo>
                    <a:pt x="3959326" y="481596"/>
                  </a:lnTo>
                  <a:lnTo>
                    <a:pt x="3528479" y="937691"/>
                  </a:lnTo>
                  <a:lnTo>
                    <a:pt x="5119230" y="937691"/>
                  </a:lnTo>
                  <a:lnTo>
                    <a:pt x="5550078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68074" y="9349307"/>
              <a:ext cx="3897629" cy="937894"/>
            </a:xfrm>
            <a:custGeom>
              <a:avLst/>
              <a:gdLst/>
              <a:ahLst/>
              <a:cxnLst/>
              <a:rect l="l" t="t" r="r" b="b"/>
              <a:pathLst>
                <a:path w="3897629" h="937895">
                  <a:moveTo>
                    <a:pt x="3442208" y="0"/>
                  </a:moveTo>
                  <a:lnTo>
                    <a:pt x="0" y="0"/>
                  </a:lnTo>
                  <a:lnTo>
                    <a:pt x="454944" y="481596"/>
                  </a:lnTo>
                  <a:lnTo>
                    <a:pt x="24101" y="937691"/>
                  </a:lnTo>
                  <a:lnTo>
                    <a:pt x="3466309" y="937691"/>
                  </a:lnTo>
                  <a:lnTo>
                    <a:pt x="3897147" y="481596"/>
                  </a:lnTo>
                  <a:lnTo>
                    <a:pt x="344220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837955" y="9349307"/>
              <a:ext cx="4291330" cy="937894"/>
            </a:xfrm>
            <a:custGeom>
              <a:avLst/>
              <a:gdLst/>
              <a:ahLst/>
              <a:cxnLst/>
              <a:rect l="l" t="t" r="r" b="b"/>
              <a:pathLst>
                <a:path w="4291330" h="937895">
                  <a:moveTo>
                    <a:pt x="2309266" y="481596"/>
                  </a:moveTo>
                  <a:lnTo>
                    <a:pt x="1854327" y="0"/>
                  </a:lnTo>
                  <a:lnTo>
                    <a:pt x="0" y="0"/>
                  </a:lnTo>
                  <a:lnTo>
                    <a:pt x="454952" y="481596"/>
                  </a:lnTo>
                  <a:lnTo>
                    <a:pt x="24104" y="937691"/>
                  </a:lnTo>
                  <a:lnTo>
                    <a:pt x="1878431" y="937691"/>
                  </a:lnTo>
                  <a:lnTo>
                    <a:pt x="2309266" y="481596"/>
                  </a:lnTo>
                  <a:close/>
                </a:path>
                <a:path w="4291330" h="937895">
                  <a:moveTo>
                    <a:pt x="4291292" y="481596"/>
                  </a:moveTo>
                  <a:lnTo>
                    <a:pt x="3836352" y="0"/>
                  </a:lnTo>
                  <a:lnTo>
                    <a:pt x="1982025" y="0"/>
                  </a:lnTo>
                  <a:lnTo>
                    <a:pt x="2436965" y="481596"/>
                  </a:lnTo>
                  <a:lnTo>
                    <a:pt x="2006117" y="937691"/>
                  </a:lnTo>
                  <a:lnTo>
                    <a:pt x="3860444" y="937691"/>
                  </a:lnTo>
                  <a:lnTo>
                    <a:pt x="4291292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436" y="9522116"/>
              <a:ext cx="810662" cy="624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5961" y="9502038"/>
              <a:ext cx="584635" cy="6643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70197" y="9477171"/>
              <a:ext cx="714093" cy="7140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4189" y="9430664"/>
              <a:ext cx="679108" cy="7630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50856" y="9468789"/>
              <a:ext cx="737407" cy="7189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40693" y="9452698"/>
              <a:ext cx="560798" cy="7189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5796" y="929948"/>
              <a:ext cx="123825" cy="723265"/>
            </a:xfrm>
            <a:custGeom>
              <a:avLst/>
              <a:gdLst/>
              <a:ahLst/>
              <a:cxnLst/>
              <a:rect l="l" t="t" r="r" b="b"/>
              <a:pathLst>
                <a:path w="123825" h="723264">
                  <a:moveTo>
                    <a:pt x="123826" y="723214"/>
                  </a:moveTo>
                  <a:lnTo>
                    <a:pt x="0" y="723214"/>
                  </a:lnTo>
                  <a:lnTo>
                    <a:pt x="0" y="0"/>
                  </a:lnTo>
                  <a:lnTo>
                    <a:pt x="123826" y="0"/>
                  </a:lnTo>
                  <a:lnTo>
                    <a:pt x="123826" y="723214"/>
                  </a:lnTo>
                  <a:close/>
                </a:path>
              </a:pathLst>
            </a:custGeom>
            <a:solidFill>
              <a:srgbClr val="1643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7386" y="2068156"/>
              <a:ext cx="1357261" cy="3958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261521" y="2097239"/>
              <a:ext cx="1357261" cy="39587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4251" y="7664767"/>
              <a:ext cx="1277696" cy="3726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96675" y="7634706"/>
              <a:ext cx="1322108" cy="3856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3531" y="1828876"/>
              <a:ext cx="6001385" cy="3229610"/>
            </a:xfrm>
            <a:custGeom>
              <a:avLst/>
              <a:gdLst/>
              <a:ahLst/>
              <a:cxnLst/>
              <a:rect l="l" t="t" r="r" b="b"/>
              <a:pathLst>
                <a:path w="6001385" h="3229610">
                  <a:moveTo>
                    <a:pt x="6001004" y="0"/>
                  </a:moveTo>
                  <a:lnTo>
                    <a:pt x="0" y="0"/>
                  </a:lnTo>
                  <a:lnTo>
                    <a:pt x="0" y="3229216"/>
                  </a:lnTo>
                  <a:lnTo>
                    <a:pt x="6001004" y="3229216"/>
                  </a:lnTo>
                  <a:lnTo>
                    <a:pt x="6001004" y="0"/>
                  </a:lnTo>
                  <a:close/>
                </a:path>
              </a:pathLst>
            </a:custGeom>
            <a:solidFill>
              <a:srgbClr val="20B95C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3531" y="5058079"/>
              <a:ext cx="6001385" cy="3220085"/>
            </a:xfrm>
            <a:custGeom>
              <a:avLst/>
              <a:gdLst/>
              <a:ahLst/>
              <a:cxnLst/>
              <a:rect l="l" t="t" r="r" b="b"/>
              <a:pathLst>
                <a:path w="6001385" h="3220084">
                  <a:moveTo>
                    <a:pt x="6001004" y="0"/>
                  </a:moveTo>
                  <a:lnTo>
                    <a:pt x="0" y="0"/>
                  </a:lnTo>
                  <a:lnTo>
                    <a:pt x="0" y="3219754"/>
                  </a:lnTo>
                  <a:lnTo>
                    <a:pt x="6001004" y="3219754"/>
                  </a:lnTo>
                  <a:lnTo>
                    <a:pt x="6001004" y="0"/>
                  </a:lnTo>
                  <a:close/>
                </a:path>
              </a:pathLst>
            </a:custGeom>
            <a:solidFill>
              <a:srgbClr val="4F81BC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04532" y="1838248"/>
              <a:ext cx="6001385" cy="3220085"/>
            </a:xfrm>
            <a:custGeom>
              <a:avLst/>
              <a:gdLst/>
              <a:ahLst/>
              <a:cxnLst/>
              <a:rect l="l" t="t" r="r" b="b"/>
              <a:pathLst>
                <a:path w="6001385" h="3220085">
                  <a:moveTo>
                    <a:pt x="6001004" y="0"/>
                  </a:moveTo>
                  <a:lnTo>
                    <a:pt x="0" y="0"/>
                  </a:lnTo>
                  <a:lnTo>
                    <a:pt x="0" y="3219830"/>
                  </a:lnTo>
                  <a:lnTo>
                    <a:pt x="6001004" y="3219830"/>
                  </a:lnTo>
                  <a:lnTo>
                    <a:pt x="6001004" y="0"/>
                  </a:lnTo>
                  <a:close/>
                </a:path>
              </a:pathLst>
            </a:custGeom>
            <a:solidFill>
              <a:srgbClr val="FF0000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04532" y="5048630"/>
              <a:ext cx="6001385" cy="3220085"/>
            </a:xfrm>
            <a:custGeom>
              <a:avLst/>
              <a:gdLst/>
              <a:ahLst/>
              <a:cxnLst/>
              <a:rect l="l" t="t" r="r" b="b"/>
              <a:pathLst>
                <a:path w="6001385" h="3220084">
                  <a:moveTo>
                    <a:pt x="6001004" y="0"/>
                  </a:moveTo>
                  <a:lnTo>
                    <a:pt x="0" y="0"/>
                  </a:lnTo>
                  <a:lnTo>
                    <a:pt x="0" y="3219830"/>
                  </a:lnTo>
                  <a:lnTo>
                    <a:pt x="6001004" y="3219830"/>
                  </a:lnTo>
                  <a:lnTo>
                    <a:pt x="6001004" y="0"/>
                  </a:lnTo>
                  <a:close/>
                </a:path>
              </a:pathLst>
            </a:custGeom>
            <a:solidFill>
              <a:srgbClr val="FFC000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08994" y="367172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2"/>
                  </a:lnTo>
                  <a:lnTo>
                    <a:pt x="9844" y="57065"/>
                  </a:lnTo>
                  <a:lnTo>
                    <a:pt x="20482" y="64268"/>
                  </a:lnTo>
                  <a:lnTo>
                    <a:pt x="33451" y="66916"/>
                  </a:lnTo>
                  <a:lnTo>
                    <a:pt x="46420" y="64268"/>
                  </a:lnTo>
                  <a:lnTo>
                    <a:pt x="57059" y="57065"/>
                  </a:lnTo>
                  <a:lnTo>
                    <a:pt x="64257" y="46422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908994" y="367172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66903" y="33451"/>
                  </a:moveTo>
                  <a:lnTo>
                    <a:pt x="64257" y="46422"/>
                  </a:lnTo>
                  <a:lnTo>
                    <a:pt x="57059" y="57065"/>
                  </a:lnTo>
                  <a:lnTo>
                    <a:pt x="46420" y="64268"/>
                  </a:lnTo>
                  <a:lnTo>
                    <a:pt x="33451" y="66916"/>
                  </a:lnTo>
                  <a:lnTo>
                    <a:pt x="20482" y="64268"/>
                  </a:lnTo>
                  <a:lnTo>
                    <a:pt x="9844" y="57065"/>
                  </a:lnTo>
                  <a:lnTo>
                    <a:pt x="2646" y="46422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11111" y="3145459"/>
              <a:ext cx="127228" cy="12724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44972" y="4998669"/>
              <a:ext cx="127228" cy="12724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09532" y="2237879"/>
              <a:ext cx="127228" cy="12724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08994" y="367172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2"/>
                  </a:lnTo>
                  <a:lnTo>
                    <a:pt x="9844" y="57065"/>
                  </a:lnTo>
                  <a:lnTo>
                    <a:pt x="20482" y="64268"/>
                  </a:lnTo>
                  <a:lnTo>
                    <a:pt x="33451" y="66916"/>
                  </a:lnTo>
                  <a:lnTo>
                    <a:pt x="46420" y="64268"/>
                  </a:lnTo>
                  <a:lnTo>
                    <a:pt x="57059" y="57065"/>
                  </a:lnTo>
                  <a:lnTo>
                    <a:pt x="64257" y="46422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908994" y="367172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66903" y="33451"/>
                  </a:moveTo>
                  <a:lnTo>
                    <a:pt x="64257" y="46422"/>
                  </a:lnTo>
                  <a:lnTo>
                    <a:pt x="57059" y="57065"/>
                  </a:lnTo>
                  <a:lnTo>
                    <a:pt x="46420" y="64268"/>
                  </a:lnTo>
                  <a:lnTo>
                    <a:pt x="33451" y="66916"/>
                  </a:lnTo>
                  <a:lnTo>
                    <a:pt x="20482" y="64268"/>
                  </a:lnTo>
                  <a:lnTo>
                    <a:pt x="9844" y="57065"/>
                  </a:lnTo>
                  <a:lnTo>
                    <a:pt x="2646" y="46422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611111" y="4022953"/>
              <a:ext cx="127228" cy="12722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80411" y="7646632"/>
              <a:ext cx="127228" cy="1272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44972" y="2994507"/>
              <a:ext cx="127228" cy="12724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12691" y="4469752"/>
              <a:ext cx="127228" cy="12724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14271" y="5825781"/>
              <a:ext cx="127228" cy="12724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33451" y="0"/>
                  </a:moveTo>
                  <a:lnTo>
                    <a:pt x="20482" y="2646"/>
                  </a:lnTo>
                  <a:lnTo>
                    <a:pt x="9844" y="9845"/>
                  </a:lnTo>
                  <a:lnTo>
                    <a:pt x="2646" y="20488"/>
                  </a:lnTo>
                  <a:lnTo>
                    <a:pt x="0" y="33464"/>
                  </a:lnTo>
                  <a:lnTo>
                    <a:pt x="2646" y="46433"/>
                  </a:lnTo>
                  <a:lnTo>
                    <a:pt x="9844" y="57072"/>
                  </a:lnTo>
                  <a:lnTo>
                    <a:pt x="20482" y="64270"/>
                  </a:lnTo>
                  <a:lnTo>
                    <a:pt x="33451" y="66916"/>
                  </a:lnTo>
                  <a:lnTo>
                    <a:pt x="46420" y="64270"/>
                  </a:lnTo>
                  <a:lnTo>
                    <a:pt x="57059" y="57072"/>
                  </a:lnTo>
                  <a:lnTo>
                    <a:pt x="64257" y="46433"/>
                  </a:lnTo>
                  <a:lnTo>
                    <a:pt x="66903" y="33464"/>
                  </a:lnTo>
                  <a:lnTo>
                    <a:pt x="64257" y="20488"/>
                  </a:lnTo>
                  <a:lnTo>
                    <a:pt x="57059" y="9845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903" y="33464"/>
                  </a:moveTo>
                  <a:lnTo>
                    <a:pt x="64257" y="46433"/>
                  </a:lnTo>
                  <a:lnTo>
                    <a:pt x="57059" y="57072"/>
                  </a:lnTo>
                  <a:lnTo>
                    <a:pt x="46420" y="64270"/>
                  </a:lnTo>
                  <a:lnTo>
                    <a:pt x="33451" y="66916"/>
                  </a:lnTo>
                  <a:lnTo>
                    <a:pt x="20482" y="64270"/>
                  </a:lnTo>
                  <a:lnTo>
                    <a:pt x="9844" y="57072"/>
                  </a:lnTo>
                  <a:lnTo>
                    <a:pt x="2646" y="46433"/>
                  </a:lnTo>
                  <a:lnTo>
                    <a:pt x="0" y="33464"/>
                  </a:lnTo>
                  <a:lnTo>
                    <a:pt x="2646" y="20488"/>
                  </a:lnTo>
                  <a:lnTo>
                    <a:pt x="9844" y="9845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5"/>
                  </a:lnTo>
                  <a:lnTo>
                    <a:pt x="64257" y="20488"/>
                  </a:lnTo>
                  <a:lnTo>
                    <a:pt x="66903" y="33464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12691" y="3763175"/>
              <a:ext cx="127228" cy="1272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80411" y="5895873"/>
              <a:ext cx="127228" cy="12724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48131" y="7417358"/>
              <a:ext cx="127228" cy="12724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80411" y="6632790"/>
              <a:ext cx="127228" cy="12724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14271" y="6989838"/>
              <a:ext cx="127228" cy="12724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176714" y="4558207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2"/>
                  </a:lnTo>
                  <a:lnTo>
                    <a:pt x="9844" y="57065"/>
                  </a:lnTo>
                  <a:lnTo>
                    <a:pt x="20482" y="64268"/>
                  </a:lnTo>
                  <a:lnTo>
                    <a:pt x="33451" y="66916"/>
                  </a:lnTo>
                  <a:lnTo>
                    <a:pt x="46420" y="64268"/>
                  </a:lnTo>
                  <a:lnTo>
                    <a:pt x="57059" y="57065"/>
                  </a:lnTo>
                  <a:lnTo>
                    <a:pt x="64257" y="46422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176714" y="4558207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66903" y="33451"/>
                  </a:moveTo>
                  <a:lnTo>
                    <a:pt x="64257" y="46422"/>
                  </a:lnTo>
                  <a:lnTo>
                    <a:pt x="57059" y="57065"/>
                  </a:lnTo>
                  <a:lnTo>
                    <a:pt x="46420" y="64268"/>
                  </a:lnTo>
                  <a:lnTo>
                    <a:pt x="33451" y="66916"/>
                  </a:lnTo>
                  <a:lnTo>
                    <a:pt x="20482" y="64268"/>
                  </a:lnTo>
                  <a:lnTo>
                    <a:pt x="9844" y="57065"/>
                  </a:lnTo>
                  <a:lnTo>
                    <a:pt x="2646" y="46422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8"/>
                  </a:lnTo>
                  <a:lnTo>
                    <a:pt x="9844" y="57070"/>
                  </a:lnTo>
                  <a:lnTo>
                    <a:pt x="20482" y="64269"/>
                  </a:lnTo>
                  <a:lnTo>
                    <a:pt x="33451" y="66916"/>
                  </a:lnTo>
                  <a:lnTo>
                    <a:pt x="46420" y="64269"/>
                  </a:lnTo>
                  <a:lnTo>
                    <a:pt x="57059" y="57070"/>
                  </a:lnTo>
                  <a:lnTo>
                    <a:pt x="64257" y="46428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66903" y="33451"/>
                  </a:moveTo>
                  <a:lnTo>
                    <a:pt x="64257" y="46428"/>
                  </a:lnTo>
                  <a:lnTo>
                    <a:pt x="57059" y="57070"/>
                  </a:lnTo>
                  <a:lnTo>
                    <a:pt x="46420" y="64269"/>
                  </a:lnTo>
                  <a:lnTo>
                    <a:pt x="33451" y="66916"/>
                  </a:lnTo>
                  <a:lnTo>
                    <a:pt x="20482" y="64269"/>
                  </a:lnTo>
                  <a:lnTo>
                    <a:pt x="9844" y="57070"/>
                  </a:lnTo>
                  <a:lnTo>
                    <a:pt x="2646" y="46428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33451" y="0"/>
                  </a:moveTo>
                  <a:lnTo>
                    <a:pt x="20482" y="2646"/>
                  </a:lnTo>
                  <a:lnTo>
                    <a:pt x="9844" y="9845"/>
                  </a:lnTo>
                  <a:lnTo>
                    <a:pt x="2646" y="20488"/>
                  </a:lnTo>
                  <a:lnTo>
                    <a:pt x="0" y="33464"/>
                  </a:lnTo>
                  <a:lnTo>
                    <a:pt x="2646" y="46433"/>
                  </a:lnTo>
                  <a:lnTo>
                    <a:pt x="9844" y="57072"/>
                  </a:lnTo>
                  <a:lnTo>
                    <a:pt x="20482" y="64270"/>
                  </a:lnTo>
                  <a:lnTo>
                    <a:pt x="33451" y="66916"/>
                  </a:lnTo>
                  <a:lnTo>
                    <a:pt x="46420" y="64270"/>
                  </a:lnTo>
                  <a:lnTo>
                    <a:pt x="57059" y="57072"/>
                  </a:lnTo>
                  <a:lnTo>
                    <a:pt x="64257" y="46433"/>
                  </a:lnTo>
                  <a:lnTo>
                    <a:pt x="66903" y="33464"/>
                  </a:lnTo>
                  <a:lnTo>
                    <a:pt x="64257" y="20488"/>
                  </a:lnTo>
                  <a:lnTo>
                    <a:pt x="57059" y="9845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903" y="33464"/>
                  </a:moveTo>
                  <a:lnTo>
                    <a:pt x="64257" y="46433"/>
                  </a:lnTo>
                  <a:lnTo>
                    <a:pt x="57059" y="57072"/>
                  </a:lnTo>
                  <a:lnTo>
                    <a:pt x="46420" y="64270"/>
                  </a:lnTo>
                  <a:lnTo>
                    <a:pt x="33451" y="66916"/>
                  </a:lnTo>
                  <a:lnTo>
                    <a:pt x="20482" y="64270"/>
                  </a:lnTo>
                  <a:lnTo>
                    <a:pt x="9844" y="57072"/>
                  </a:lnTo>
                  <a:lnTo>
                    <a:pt x="2646" y="46433"/>
                  </a:lnTo>
                  <a:lnTo>
                    <a:pt x="0" y="33464"/>
                  </a:lnTo>
                  <a:lnTo>
                    <a:pt x="2646" y="20488"/>
                  </a:lnTo>
                  <a:lnTo>
                    <a:pt x="9844" y="9845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5"/>
                  </a:lnTo>
                  <a:lnTo>
                    <a:pt x="64257" y="20488"/>
                  </a:lnTo>
                  <a:lnTo>
                    <a:pt x="66903" y="33464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8"/>
                  </a:lnTo>
                  <a:lnTo>
                    <a:pt x="9844" y="57070"/>
                  </a:lnTo>
                  <a:lnTo>
                    <a:pt x="20482" y="64269"/>
                  </a:lnTo>
                  <a:lnTo>
                    <a:pt x="33451" y="66916"/>
                  </a:lnTo>
                  <a:lnTo>
                    <a:pt x="46420" y="64269"/>
                  </a:lnTo>
                  <a:lnTo>
                    <a:pt x="57059" y="57070"/>
                  </a:lnTo>
                  <a:lnTo>
                    <a:pt x="64257" y="46428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66903" y="33451"/>
                  </a:moveTo>
                  <a:lnTo>
                    <a:pt x="64257" y="46428"/>
                  </a:lnTo>
                  <a:lnTo>
                    <a:pt x="57059" y="57070"/>
                  </a:lnTo>
                  <a:lnTo>
                    <a:pt x="46420" y="64269"/>
                  </a:lnTo>
                  <a:lnTo>
                    <a:pt x="33451" y="66916"/>
                  </a:lnTo>
                  <a:lnTo>
                    <a:pt x="20482" y="64269"/>
                  </a:lnTo>
                  <a:lnTo>
                    <a:pt x="9844" y="57070"/>
                  </a:lnTo>
                  <a:lnTo>
                    <a:pt x="2646" y="46428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33451" y="0"/>
                  </a:moveTo>
                  <a:lnTo>
                    <a:pt x="20482" y="2646"/>
                  </a:lnTo>
                  <a:lnTo>
                    <a:pt x="9844" y="9845"/>
                  </a:lnTo>
                  <a:lnTo>
                    <a:pt x="2646" y="20488"/>
                  </a:lnTo>
                  <a:lnTo>
                    <a:pt x="0" y="33464"/>
                  </a:lnTo>
                  <a:lnTo>
                    <a:pt x="2646" y="46433"/>
                  </a:lnTo>
                  <a:lnTo>
                    <a:pt x="9844" y="57072"/>
                  </a:lnTo>
                  <a:lnTo>
                    <a:pt x="20482" y="64270"/>
                  </a:lnTo>
                  <a:lnTo>
                    <a:pt x="33451" y="66916"/>
                  </a:lnTo>
                  <a:lnTo>
                    <a:pt x="46420" y="64270"/>
                  </a:lnTo>
                  <a:lnTo>
                    <a:pt x="57059" y="57072"/>
                  </a:lnTo>
                  <a:lnTo>
                    <a:pt x="64257" y="46433"/>
                  </a:lnTo>
                  <a:lnTo>
                    <a:pt x="66903" y="33464"/>
                  </a:lnTo>
                  <a:lnTo>
                    <a:pt x="64257" y="20488"/>
                  </a:lnTo>
                  <a:lnTo>
                    <a:pt x="57059" y="9845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903" y="33464"/>
                  </a:moveTo>
                  <a:lnTo>
                    <a:pt x="64257" y="46433"/>
                  </a:lnTo>
                  <a:lnTo>
                    <a:pt x="57059" y="57072"/>
                  </a:lnTo>
                  <a:lnTo>
                    <a:pt x="46420" y="64270"/>
                  </a:lnTo>
                  <a:lnTo>
                    <a:pt x="33451" y="66916"/>
                  </a:lnTo>
                  <a:lnTo>
                    <a:pt x="20482" y="64270"/>
                  </a:lnTo>
                  <a:lnTo>
                    <a:pt x="9844" y="57072"/>
                  </a:lnTo>
                  <a:lnTo>
                    <a:pt x="2646" y="46433"/>
                  </a:lnTo>
                  <a:lnTo>
                    <a:pt x="0" y="33464"/>
                  </a:lnTo>
                  <a:lnTo>
                    <a:pt x="2646" y="20488"/>
                  </a:lnTo>
                  <a:lnTo>
                    <a:pt x="9844" y="9845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5"/>
                  </a:lnTo>
                  <a:lnTo>
                    <a:pt x="64257" y="20488"/>
                  </a:lnTo>
                  <a:lnTo>
                    <a:pt x="66903" y="33464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80411" y="5299760"/>
              <a:ext cx="127228" cy="12724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33451" y="0"/>
                  </a:moveTo>
                  <a:lnTo>
                    <a:pt x="20482" y="2646"/>
                  </a:lnTo>
                  <a:lnTo>
                    <a:pt x="9844" y="9845"/>
                  </a:lnTo>
                  <a:lnTo>
                    <a:pt x="2646" y="20488"/>
                  </a:lnTo>
                  <a:lnTo>
                    <a:pt x="0" y="33464"/>
                  </a:lnTo>
                  <a:lnTo>
                    <a:pt x="2646" y="46433"/>
                  </a:lnTo>
                  <a:lnTo>
                    <a:pt x="9844" y="57072"/>
                  </a:lnTo>
                  <a:lnTo>
                    <a:pt x="20482" y="64270"/>
                  </a:lnTo>
                  <a:lnTo>
                    <a:pt x="33451" y="66916"/>
                  </a:lnTo>
                  <a:lnTo>
                    <a:pt x="46420" y="64270"/>
                  </a:lnTo>
                  <a:lnTo>
                    <a:pt x="57059" y="57072"/>
                  </a:lnTo>
                  <a:lnTo>
                    <a:pt x="64257" y="46433"/>
                  </a:lnTo>
                  <a:lnTo>
                    <a:pt x="66903" y="33464"/>
                  </a:lnTo>
                  <a:lnTo>
                    <a:pt x="64257" y="20488"/>
                  </a:lnTo>
                  <a:lnTo>
                    <a:pt x="57059" y="9845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903" y="33464"/>
                  </a:moveTo>
                  <a:lnTo>
                    <a:pt x="64257" y="46433"/>
                  </a:lnTo>
                  <a:lnTo>
                    <a:pt x="57059" y="57072"/>
                  </a:lnTo>
                  <a:lnTo>
                    <a:pt x="46420" y="64270"/>
                  </a:lnTo>
                  <a:lnTo>
                    <a:pt x="33451" y="66916"/>
                  </a:lnTo>
                  <a:lnTo>
                    <a:pt x="20482" y="64270"/>
                  </a:lnTo>
                  <a:lnTo>
                    <a:pt x="9844" y="57072"/>
                  </a:lnTo>
                  <a:lnTo>
                    <a:pt x="2646" y="46433"/>
                  </a:lnTo>
                  <a:lnTo>
                    <a:pt x="0" y="33464"/>
                  </a:lnTo>
                  <a:lnTo>
                    <a:pt x="2646" y="20488"/>
                  </a:lnTo>
                  <a:lnTo>
                    <a:pt x="9844" y="9845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5"/>
                  </a:lnTo>
                  <a:lnTo>
                    <a:pt x="64257" y="20488"/>
                  </a:lnTo>
                  <a:lnTo>
                    <a:pt x="66903" y="33464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8"/>
                  </a:lnTo>
                  <a:lnTo>
                    <a:pt x="9844" y="57070"/>
                  </a:lnTo>
                  <a:lnTo>
                    <a:pt x="20482" y="64269"/>
                  </a:lnTo>
                  <a:lnTo>
                    <a:pt x="33451" y="66916"/>
                  </a:lnTo>
                  <a:lnTo>
                    <a:pt x="46420" y="64269"/>
                  </a:lnTo>
                  <a:lnTo>
                    <a:pt x="57059" y="57070"/>
                  </a:lnTo>
                  <a:lnTo>
                    <a:pt x="64257" y="46428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444434" y="6386588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66903" y="33451"/>
                  </a:moveTo>
                  <a:lnTo>
                    <a:pt x="64257" y="46428"/>
                  </a:lnTo>
                  <a:lnTo>
                    <a:pt x="57059" y="57070"/>
                  </a:lnTo>
                  <a:lnTo>
                    <a:pt x="46420" y="64269"/>
                  </a:lnTo>
                  <a:lnTo>
                    <a:pt x="33451" y="66916"/>
                  </a:lnTo>
                  <a:lnTo>
                    <a:pt x="20482" y="64269"/>
                  </a:lnTo>
                  <a:lnTo>
                    <a:pt x="9844" y="57070"/>
                  </a:lnTo>
                  <a:lnTo>
                    <a:pt x="2646" y="46428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78832" y="3422726"/>
              <a:ext cx="127228" cy="12722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176714" y="4558207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33451" y="0"/>
                  </a:moveTo>
                  <a:lnTo>
                    <a:pt x="20482" y="2646"/>
                  </a:lnTo>
                  <a:lnTo>
                    <a:pt x="9844" y="9844"/>
                  </a:lnTo>
                  <a:lnTo>
                    <a:pt x="2646" y="20482"/>
                  </a:lnTo>
                  <a:lnTo>
                    <a:pt x="0" y="33451"/>
                  </a:lnTo>
                  <a:lnTo>
                    <a:pt x="2646" y="46422"/>
                  </a:lnTo>
                  <a:lnTo>
                    <a:pt x="9844" y="57065"/>
                  </a:lnTo>
                  <a:lnTo>
                    <a:pt x="20482" y="64268"/>
                  </a:lnTo>
                  <a:lnTo>
                    <a:pt x="33451" y="66916"/>
                  </a:lnTo>
                  <a:lnTo>
                    <a:pt x="46420" y="64268"/>
                  </a:lnTo>
                  <a:lnTo>
                    <a:pt x="57059" y="57065"/>
                  </a:lnTo>
                  <a:lnTo>
                    <a:pt x="64257" y="46422"/>
                  </a:lnTo>
                  <a:lnTo>
                    <a:pt x="66903" y="33451"/>
                  </a:lnTo>
                  <a:lnTo>
                    <a:pt x="64257" y="20482"/>
                  </a:lnTo>
                  <a:lnTo>
                    <a:pt x="57059" y="9844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176714" y="4558207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10">
                  <a:moveTo>
                    <a:pt x="66903" y="33451"/>
                  </a:moveTo>
                  <a:lnTo>
                    <a:pt x="64257" y="46422"/>
                  </a:lnTo>
                  <a:lnTo>
                    <a:pt x="57059" y="57065"/>
                  </a:lnTo>
                  <a:lnTo>
                    <a:pt x="46420" y="64268"/>
                  </a:lnTo>
                  <a:lnTo>
                    <a:pt x="33451" y="66916"/>
                  </a:lnTo>
                  <a:lnTo>
                    <a:pt x="20482" y="64268"/>
                  </a:lnTo>
                  <a:lnTo>
                    <a:pt x="9844" y="57065"/>
                  </a:lnTo>
                  <a:lnTo>
                    <a:pt x="2646" y="46422"/>
                  </a:lnTo>
                  <a:lnTo>
                    <a:pt x="0" y="33451"/>
                  </a:lnTo>
                  <a:lnTo>
                    <a:pt x="2646" y="20482"/>
                  </a:lnTo>
                  <a:lnTo>
                    <a:pt x="9844" y="9844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4"/>
                  </a:lnTo>
                  <a:lnTo>
                    <a:pt x="64257" y="20482"/>
                  </a:lnTo>
                  <a:lnTo>
                    <a:pt x="66903" y="33451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33451" y="0"/>
                  </a:moveTo>
                  <a:lnTo>
                    <a:pt x="20482" y="2646"/>
                  </a:lnTo>
                  <a:lnTo>
                    <a:pt x="9844" y="9845"/>
                  </a:lnTo>
                  <a:lnTo>
                    <a:pt x="2646" y="20488"/>
                  </a:lnTo>
                  <a:lnTo>
                    <a:pt x="0" y="33464"/>
                  </a:lnTo>
                  <a:lnTo>
                    <a:pt x="2646" y="46433"/>
                  </a:lnTo>
                  <a:lnTo>
                    <a:pt x="9844" y="57072"/>
                  </a:lnTo>
                  <a:lnTo>
                    <a:pt x="20482" y="64270"/>
                  </a:lnTo>
                  <a:lnTo>
                    <a:pt x="33451" y="66916"/>
                  </a:lnTo>
                  <a:lnTo>
                    <a:pt x="46420" y="64270"/>
                  </a:lnTo>
                  <a:lnTo>
                    <a:pt x="57059" y="57072"/>
                  </a:lnTo>
                  <a:lnTo>
                    <a:pt x="64257" y="46433"/>
                  </a:lnTo>
                  <a:lnTo>
                    <a:pt x="66903" y="33464"/>
                  </a:lnTo>
                  <a:lnTo>
                    <a:pt x="64257" y="20488"/>
                  </a:lnTo>
                  <a:lnTo>
                    <a:pt x="57059" y="9845"/>
                  </a:lnTo>
                  <a:lnTo>
                    <a:pt x="46420" y="2646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578294" y="804659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10" h="67309">
                  <a:moveTo>
                    <a:pt x="66903" y="33464"/>
                  </a:moveTo>
                  <a:lnTo>
                    <a:pt x="64257" y="46433"/>
                  </a:lnTo>
                  <a:lnTo>
                    <a:pt x="57059" y="57072"/>
                  </a:lnTo>
                  <a:lnTo>
                    <a:pt x="46420" y="64270"/>
                  </a:lnTo>
                  <a:lnTo>
                    <a:pt x="33451" y="66916"/>
                  </a:lnTo>
                  <a:lnTo>
                    <a:pt x="20482" y="64270"/>
                  </a:lnTo>
                  <a:lnTo>
                    <a:pt x="9844" y="57072"/>
                  </a:lnTo>
                  <a:lnTo>
                    <a:pt x="2646" y="46433"/>
                  </a:lnTo>
                  <a:lnTo>
                    <a:pt x="0" y="33464"/>
                  </a:lnTo>
                  <a:lnTo>
                    <a:pt x="2646" y="20488"/>
                  </a:lnTo>
                  <a:lnTo>
                    <a:pt x="9844" y="9845"/>
                  </a:lnTo>
                  <a:lnTo>
                    <a:pt x="20482" y="2646"/>
                  </a:lnTo>
                  <a:lnTo>
                    <a:pt x="33451" y="0"/>
                  </a:lnTo>
                  <a:lnTo>
                    <a:pt x="46420" y="2646"/>
                  </a:lnTo>
                  <a:lnTo>
                    <a:pt x="57059" y="9845"/>
                  </a:lnTo>
                  <a:lnTo>
                    <a:pt x="64257" y="20488"/>
                  </a:lnTo>
                  <a:lnTo>
                    <a:pt x="66903" y="33464"/>
                  </a:lnTo>
                </a:path>
              </a:pathLst>
            </a:custGeom>
            <a:ln w="60324">
              <a:solidFill>
                <a:srgbClr val="1F37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567707" y="808778"/>
            <a:ext cx="15989935" cy="33020"/>
            <a:chOff x="567707" y="808778"/>
            <a:chExt cx="15989935" cy="33020"/>
          </a:xfrm>
        </p:grpSpPr>
        <p:sp>
          <p:nvSpPr>
            <p:cNvPr id="92" name="object 92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615983" y="498886"/>
            <a:ext cx="4512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Materiality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Matrix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4" name="object 64" descr="$PPTXTitle"/>
          <p:cNvSpPr txBox="1">
            <a:spLocks noGrp="1"/>
          </p:cNvSpPr>
          <p:nvPr>
            <p:ph type="title"/>
          </p:nvPr>
        </p:nvSpPr>
        <p:spPr>
          <a:xfrm>
            <a:off x="763922" y="916323"/>
            <a:ext cx="8714105" cy="802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020"/>
              </a:lnSpc>
              <a:spcBef>
                <a:spcPts val="100"/>
              </a:spcBef>
            </a:pPr>
            <a:r>
              <a:rPr dirty="0"/>
              <a:t>Environmental,</a:t>
            </a:r>
            <a:r>
              <a:rPr dirty="0" spc="-40"/>
              <a:t> </a:t>
            </a:r>
            <a:r>
              <a:rPr dirty="0"/>
              <a:t>Social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Governance</a:t>
            </a:r>
          </a:p>
          <a:p>
            <a:pPr marL="66675">
              <a:lnSpc>
                <a:spcPts val="2100"/>
              </a:lnSpc>
            </a:pPr>
            <a:r>
              <a:rPr dirty="0" sz="2000"/>
              <a:t>Energy</a:t>
            </a:r>
            <a:r>
              <a:rPr dirty="0" sz="2000" spc="-30"/>
              <a:t> </a:t>
            </a:r>
            <a:r>
              <a:rPr dirty="0" sz="2000"/>
              <a:t>&amp;</a:t>
            </a:r>
            <a:r>
              <a:rPr dirty="0" sz="2000" spc="-25"/>
              <a:t> </a:t>
            </a:r>
            <a:r>
              <a:rPr dirty="0" sz="2000" spc="-10"/>
              <a:t>decarbonization</a:t>
            </a:r>
            <a:r>
              <a:rPr dirty="0" sz="2000" spc="-25"/>
              <a:t> </a:t>
            </a:r>
            <a:r>
              <a:rPr dirty="0" sz="2000"/>
              <a:t>are</a:t>
            </a:r>
            <a:r>
              <a:rPr dirty="0" sz="2000" spc="-25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most</a:t>
            </a:r>
            <a:r>
              <a:rPr dirty="0" sz="2000" spc="-25"/>
              <a:t> </a:t>
            </a:r>
            <a:r>
              <a:rPr dirty="0" sz="2000"/>
              <a:t>financially</a:t>
            </a:r>
            <a:r>
              <a:rPr dirty="0" sz="2000" spc="-25"/>
              <a:t> </a:t>
            </a:r>
            <a:r>
              <a:rPr dirty="0" sz="2000"/>
              <a:t>material</a:t>
            </a:r>
            <a:r>
              <a:rPr dirty="0" sz="2000" spc="-25"/>
              <a:t> </a:t>
            </a:r>
            <a:r>
              <a:rPr dirty="0" sz="2000"/>
              <a:t>ESG</a:t>
            </a:r>
            <a:r>
              <a:rPr dirty="0" sz="2000" spc="-30"/>
              <a:t> </a:t>
            </a:r>
            <a:r>
              <a:rPr dirty="0" sz="2000" spc="-10"/>
              <a:t>themes</a:t>
            </a:r>
            <a:endParaRPr sz="2000"/>
          </a:p>
        </p:txBody>
      </p:sp>
      <p:sp>
        <p:nvSpPr>
          <p:cNvPr id="67" name="object 67"/>
          <p:cNvSpPr txBox="1"/>
          <p:nvPr/>
        </p:nvSpPr>
        <p:spPr>
          <a:xfrm>
            <a:off x="11167668" y="2442502"/>
            <a:ext cx="149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CO</a:t>
            </a:r>
            <a:r>
              <a:rPr dirty="0" sz="1600" b="1">
                <a:latin typeface="Trebuchet MS"/>
                <a:cs typeface="Trebuchet MS"/>
              </a:rPr>
              <a:t>₂</a:t>
            </a:r>
            <a:r>
              <a:rPr dirty="0" sz="1600" spc="2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Arial"/>
                <a:cs typeface="Arial"/>
              </a:rPr>
              <a:t>Emissions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844383" y="2669285"/>
            <a:ext cx="29254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Low-</a:t>
            </a:r>
            <a:r>
              <a:rPr dirty="0" sz="1600" b="1">
                <a:latin typeface="Arial"/>
                <a:cs typeface="Arial"/>
              </a:rPr>
              <a:t>Carbon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Product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Portfolio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167668" y="2686342"/>
            <a:ext cx="18770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(Scope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</a:t>
            </a:r>
            <a:r>
              <a:rPr dirty="0" sz="1600" spc="-10">
                <a:latin typeface="Arial"/>
                <a:cs typeface="Arial"/>
              </a:rPr>
              <a:t> Reduction)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8742" y="3211442"/>
            <a:ext cx="279400" cy="40392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2000">
                <a:solidFill>
                  <a:srgbClr val="585858"/>
                </a:solidFill>
                <a:latin typeface="Calibri"/>
                <a:cs typeface="Calibri"/>
              </a:rPr>
              <a:t>Importance</a:t>
            </a:r>
            <a:r>
              <a:rPr dirty="0" sz="20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20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85858"/>
                </a:solidFill>
                <a:latin typeface="Calibri"/>
                <a:cs typeface="Calibri"/>
              </a:rPr>
              <a:t>Stakeholders</a:t>
            </a:r>
            <a:r>
              <a:rPr dirty="0" sz="20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85858"/>
                </a:solidFill>
                <a:latin typeface="Calibri"/>
                <a:cs typeface="Calibri"/>
              </a:rPr>
              <a:t>&amp;</a:t>
            </a:r>
            <a:r>
              <a:rPr dirty="0" sz="20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85858"/>
                </a:solidFill>
                <a:latin typeface="Calibri"/>
                <a:cs typeface="Calibri"/>
              </a:rPr>
              <a:t>Strategy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712848" y="3011538"/>
            <a:ext cx="16617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Alternative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Fuels (TSR)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091529" y="3699573"/>
            <a:ext cx="14820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Lagging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91529" y="3943413"/>
            <a:ext cx="21697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Performance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(LTIFR</a:t>
            </a:r>
            <a:r>
              <a:rPr dirty="0" sz="1600" spc="-50" b="1">
                <a:latin typeface="Arial"/>
                <a:cs typeface="Arial"/>
              </a:rPr>
              <a:t> &amp;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091529" y="4187253"/>
            <a:ext cx="9734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Fatalities)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849766" y="3881183"/>
            <a:ext cx="7143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Clinker Factor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714127" y="4328172"/>
            <a:ext cx="15151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Whistleblowing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820202" y="4746713"/>
            <a:ext cx="25984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Dust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Filtration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Technology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3002894" y="1526806"/>
            <a:ext cx="4396105" cy="6994525"/>
          </a:xfrm>
          <a:custGeom>
            <a:avLst/>
            <a:gdLst/>
            <a:ahLst/>
            <a:cxnLst/>
            <a:rect l="l" t="t" r="r" b="b"/>
            <a:pathLst>
              <a:path w="4396105" h="6994525">
                <a:moveTo>
                  <a:pt x="4138117" y="0"/>
                </a:moveTo>
                <a:lnTo>
                  <a:pt x="257448" y="0"/>
                </a:lnTo>
                <a:lnTo>
                  <a:pt x="211422" y="4179"/>
                </a:lnTo>
                <a:lnTo>
                  <a:pt x="168000" y="16216"/>
                </a:lnTo>
                <a:lnTo>
                  <a:pt x="127932" y="35361"/>
                </a:lnTo>
                <a:lnTo>
                  <a:pt x="91969" y="60862"/>
                </a:lnTo>
                <a:lnTo>
                  <a:pt x="60862" y="91969"/>
                </a:lnTo>
                <a:lnTo>
                  <a:pt x="35360" y="127931"/>
                </a:lnTo>
                <a:lnTo>
                  <a:pt x="16216" y="167997"/>
                </a:lnTo>
                <a:lnTo>
                  <a:pt x="4179" y="211418"/>
                </a:lnTo>
                <a:lnTo>
                  <a:pt x="0" y="257441"/>
                </a:lnTo>
                <a:lnTo>
                  <a:pt x="0" y="6736829"/>
                </a:lnTo>
                <a:lnTo>
                  <a:pt x="4179" y="6782856"/>
                </a:lnTo>
                <a:lnTo>
                  <a:pt x="16216" y="6826278"/>
                </a:lnTo>
                <a:lnTo>
                  <a:pt x="35360" y="6866345"/>
                </a:lnTo>
                <a:lnTo>
                  <a:pt x="60862" y="6902307"/>
                </a:lnTo>
                <a:lnTo>
                  <a:pt x="91969" y="6933413"/>
                </a:lnTo>
                <a:lnTo>
                  <a:pt x="127932" y="6958912"/>
                </a:lnTo>
                <a:lnTo>
                  <a:pt x="168000" y="6978055"/>
                </a:lnTo>
                <a:lnTo>
                  <a:pt x="211422" y="6990092"/>
                </a:lnTo>
                <a:lnTo>
                  <a:pt x="257448" y="6994271"/>
                </a:lnTo>
                <a:lnTo>
                  <a:pt x="4138117" y="6994271"/>
                </a:lnTo>
                <a:lnTo>
                  <a:pt x="4184140" y="6990092"/>
                </a:lnTo>
                <a:lnTo>
                  <a:pt x="4227560" y="6978055"/>
                </a:lnTo>
                <a:lnTo>
                  <a:pt x="4267627" y="6958912"/>
                </a:lnTo>
                <a:lnTo>
                  <a:pt x="4303589" y="6933413"/>
                </a:lnTo>
                <a:lnTo>
                  <a:pt x="4334696" y="6902307"/>
                </a:lnTo>
                <a:lnTo>
                  <a:pt x="4360197" y="6866345"/>
                </a:lnTo>
                <a:lnTo>
                  <a:pt x="4379342" y="6826278"/>
                </a:lnTo>
                <a:lnTo>
                  <a:pt x="4391379" y="6782856"/>
                </a:lnTo>
                <a:lnTo>
                  <a:pt x="4395558" y="6736829"/>
                </a:lnTo>
                <a:lnTo>
                  <a:pt x="4395558" y="257441"/>
                </a:lnTo>
                <a:lnTo>
                  <a:pt x="4391379" y="211418"/>
                </a:lnTo>
                <a:lnTo>
                  <a:pt x="4379342" y="167997"/>
                </a:lnTo>
                <a:lnTo>
                  <a:pt x="4360197" y="127931"/>
                </a:lnTo>
                <a:lnTo>
                  <a:pt x="4334696" y="91969"/>
                </a:lnTo>
                <a:lnTo>
                  <a:pt x="4303589" y="60862"/>
                </a:lnTo>
                <a:lnTo>
                  <a:pt x="4267627" y="35361"/>
                </a:lnTo>
                <a:lnTo>
                  <a:pt x="4227560" y="16216"/>
                </a:lnTo>
                <a:lnTo>
                  <a:pt x="4184140" y="4179"/>
                </a:lnTo>
                <a:lnTo>
                  <a:pt x="4138117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13683477" y="2114333"/>
            <a:ext cx="303403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600" spc="-5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600" spc="-5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endParaRPr sz="2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5144038" y="4859451"/>
            <a:ext cx="114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\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3178028" y="2595156"/>
            <a:ext cx="3999229" cy="5685155"/>
            <a:chOff x="13178028" y="2595156"/>
            <a:chExt cx="3999229" cy="5685155"/>
          </a:xfrm>
        </p:grpSpPr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204444" y="2595156"/>
              <a:ext cx="914400" cy="9144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184124" y="3672662"/>
              <a:ext cx="914400" cy="9144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213588" y="4816475"/>
              <a:ext cx="914400" cy="9144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178028" y="5801969"/>
              <a:ext cx="914400" cy="91440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3240893" y="6972300"/>
              <a:ext cx="3931920" cy="0"/>
            </a:xfrm>
            <a:custGeom>
              <a:avLst/>
              <a:gdLst/>
              <a:ahLst/>
              <a:cxnLst/>
              <a:rect l="l" t="t" r="r" b="b"/>
              <a:pathLst>
                <a:path w="3931919" h="0">
                  <a:moveTo>
                    <a:pt x="0" y="0"/>
                  </a:moveTo>
                  <a:lnTo>
                    <a:pt x="3931361" y="0"/>
                  </a:lnTo>
                </a:path>
              </a:pathLst>
            </a:custGeom>
            <a:ln w="9524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3204444" y="7097559"/>
              <a:ext cx="3968115" cy="1183005"/>
            </a:xfrm>
            <a:custGeom>
              <a:avLst/>
              <a:gdLst/>
              <a:ahLst/>
              <a:cxnLst/>
              <a:rect l="l" t="t" r="r" b="b"/>
              <a:pathLst>
                <a:path w="3968115" h="1183004">
                  <a:moveTo>
                    <a:pt x="3746195" y="0"/>
                  </a:moveTo>
                  <a:lnTo>
                    <a:pt x="221603" y="0"/>
                  </a:lnTo>
                  <a:lnTo>
                    <a:pt x="177178" y="4535"/>
                  </a:lnTo>
                  <a:lnTo>
                    <a:pt x="135691" y="17530"/>
                  </a:lnTo>
                  <a:lnTo>
                    <a:pt x="98063" y="38063"/>
                  </a:lnTo>
                  <a:lnTo>
                    <a:pt x="65213" y="65214"/>
                  </a:lnTo>
                  <a:lnTo>
                    <a:pt x="38062" y="98064"/>
                  </a:lnTo>
                  <a:lnTo>
                    <a:pt x="17529" y="135691"/>
                  </a:lnTo>
                  <a:lnTo>
                    <a:pt x="4535" y="177178"/>
                  </a:lnTo>
                  <a:lnTo>
                    <a:pt x="0" y="221602"/>
                  </a:lnTo>
                  <a:lnTo>
                    <a:pt x="0" y="961034"/>
                  </a:lnTo>
                  <a:lnTo>
                    <a:pt x="4535" y="1005462"/>
                  </a:lnTo>
                  <a:lnTo>
                    <a:pt x="17529" y="1046950"/>
                  </a:lnTo>
                  <a:lnTo>
                    <a:pt x="38062" y="1084578"/>
                  </a:lnTo>
                  <a:lnTo>
                    <a:pt x="65213" y="1117426"/>
                  </a:lnTo>
                  <a:lnTo>
                    <a:pt x="98063" y="1144576"/>
                  </a:lnTo>
                  <a:lnTo>
                    <a:pt x="135691" y="1165108"/>
                  </a:lnTo>
                  <a:lnTo>
                    <a:pt x="177178" y="1178101"/>
                  </a:lnTo>
                  <a:lnTo>
                    <a:pt x="221603" y="1182636"/>
                  </a:lnTo>
                  <a:lnTo>
                    <a:pt x="3746195" y="1182636"/>
                  </a:lnTo>
                  <a:lnTo>
                    <a:pt x="3790619" y="1178101"/>
                  </a:lnTo>
                  <a:lnTo>
                    <a:pt x="3832105" y="1165108"/>
                  </a:lnTo>
                  <a:lnTo>
                    <a:pt x="3869733" y="1144576"/>
                  </a:lnTo>
                  <a:lnTo>
                    <a:pt x="3902582" y="1117426"/>
                  </a:lnTo>
                  <a:lnTo>
                    <a:pt x="3929734" y="1084578"/>
                  </a:lnTo>
                  <a:lnTo>
                    <a:pt x="3950267" y="1046950"/>
                  </a:lnTo>
                  <a:lnTo>
                    <a:pt x="3963261" y="1005462"/>
                  </a:lnTo>
                  <a:lnTo>
                    <a:pt x="3967797" y="961034"/>
                  </a:lnTo>
                  <a:lnTo>
                    <a:pt x="3967797" y="221602"/>
                  </a:lnTo>
                  <a:lnTo>
                    <a:pt x="3963261" y="177178"/>
                  </a:lnTo>
                  <a:lnTo>
                    <a:pt x="3950267" y="135691"/>
                  </a:lnTo>
                  <a:lnTo>
                    <a:pt x="3929734" y="98064"/>
                  </a:lnTo>
                  <a:lnTo>
                    <a:pt x="3902583" y="65214"/>
                  </a:lnTo>
                  <a:lnTo>
                    <a:pt x="3869733" y="38063"/>
                  </a:lnTo>
                  <a:lnTo>
                    <a:pt x="3832105" y="17530"/>
                  </a:lnTo>
                  <a:lnTo>
                    <a:pt x="3790619" y="4535"/>
                  </a:lnTo>
                  <a:lnTo>
                    <a:pt x="3746195" y="0"/>
                  </a:lnTo>
                  <a:close/>
                </a:path>
              </a:pathLst>
            </a:custGeom>
            <a:solidFill>
              <a:srgbClr val="E4E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14203298" y="2639859"/>
            <a:ext cx="29044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Energy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Energy Efficiency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4203298" y="3802456"/>
            <a:ext cx="28632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Carbon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Carbon</a:t>
            </a:r>
            <a:r>
              <a:rPr dirty="0" sz="2000" spc="-7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Emissions</a:t>
            </a:r>
            <a:r>
              <a:rPr dirty="0" sz="20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6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Low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Carbon</a:t>
            </a:r>
            <a:r>
              <a:rPr dirty="0" sz="2000" spc="-9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Products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09394" y="4843678"/>
            <a:ext cx="788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Safety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030192" y="5148478"/>
            <a:ext cx="4313555" cy="297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1895" marR="58864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Occupational</a:t>
            </a:r>
            <a:r>
              <a:rPr dirty="0" sz="20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Health</a:t>
            </a:r>
            <a:r>
              <a:rPr dirty="0" sz="2000" spc="-8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&amp;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Community</a:t>
            </a:r>
            <a:r>
              <a:rPr dirty="0" sz="20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Wellbeing</a:t>
            </a:r>
            <a:endParaRPr sz="2000">
              <a:latin typeface="Arial"/>
              <a:cs typeface="Arial"/>
            </a:endParaRPr>
          </a:p>
          <a:p>
            <a:pPr marL="1212215">
              <a:lnSpc>
                <a:spcPct val="100000"/>
              </a:lnSpc>
              <a:spcBef>
                <a:spcPts val="645"/>
              </a:spcBef>
            </a:pP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Governance</a:t>
            </a:r>
            <a:endParaRPr sz="2000">
              <a:latin typeface="Arial"/>
              <a:cs typeface="Arial"/>
            </a:endParaRPr>
          </a:p>
          <a:p>
            <a:pPr marL="1212215" marR="468630">
              <a:lnSpc>
                <a:spcPct val="100000"/>
              </a:lnSpc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Ethics,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Transparency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44060"/>
                </a:solidFill>
                <a:latin typeface="Arial"/>
                <a:cs typeface="Arial"/>
              </a:rPr>
              <a:t>&amp; </a:t>
            </a: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Risk</a:t>
            </a:r>
            <a:r>
              <a:rPr dirty="0" sz="20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Management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000">
              <a:latin typeface="Arial"/>
              <a:cs typeface="Arial"/>
            </a:endParaRPr>
          </a:p>
          <a:p>
            <a:pPr algn="ctr" marL="12065" marR="5080" indent="635">
              <a:lnSpc>
                <a:spcPct val="100000"/>
              </a:lnSpc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materiality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reflects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both </a:t>
            </a:r>
            <a:r>
              <a:rPr dirty="0" baseline="1388" sz="3000" b="1">
                <a:solidFill>
                  <a:srgbClr val="244060"/>
                </a:solidFill>
                <a:latin typeface="Arial"/>
                <a:cs typeface="Arial"/>
              </a:rPr>
              <a:t>stakeholder</a:t>
            </a:r>
            <a:r>
              <a:rPr dirty="0" baseline="1388" sz="3000" spc="-97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baseline="1388" sz="3000" spc="-22" b="1">
                <a:solidFill>
                  <a:srgbClr val="244060"/>
                </a:solidFill>
                <a:latin typeface="Arial"/>
                <a:cs typeface="Arial"/>
              </a:rPr>
              <a:t>re</a:t>
            </a:r>
            <a:r>
              <a:rPr dirty="0" baseline="1388" sz="3000" spc="-15" b="1">
                <a:solidFill>
                  <a:srgbClr val="244060"/>
                </a:solidFill>
                <a:latin typeface="Arial"/>
                <a:cs typeface="Arial"/>
              </a:rPr>
              <a:t>l</a:t>
            </a:r>
            <a:r>
              <a:rPr dirty="0" baseline="1388" sz="3000" spc="-30" b="1">
                <a:solidFill>
                  <a:srgbClr val="244060"/>
                </a:solidFill>
                <a:latin typeface="Arial"/>
                <a:cs typeface="Arial"/>
              </a:rPr>
              <a:t>ev</a:t>
            </a:r>
            <a:r>
              <a:rPr dirty="0" baseline="1388" sz="3000" spc="-1545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\</a:t>
            </a:r>
            <a:r>
              <a:rPr dirty="0" sz="18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388" sz="3000" b="1">
                <a:solidFill>
                  <a:srgbClr val="244060"/>
                </a:solidFill>
                <a:latin typeface="Arial"/>
                <a:cs typeface="Arial"/>
              </a:rPr>
              <a:t>nce</a:t>
            </a:r>
            <a:r>
              <a:rPr dirty="0" baseline="1388" sz="3000" spc="-52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baseline="1388" sz="3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baseline="1388" sz="3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baseline="1388" sz="3000" spc="-15" b="1">
                <a:solidFill>
                  <a:srgbClr val="244060"/>
                </a:solidFill>
                <a:latin typeface="Arial"/>
                <a:cs typeface="Arial"/>
              </a:rPr>
              <a:t>financial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r>
              <a:rPr dirty="0" sz="20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on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45348" y="8522360"/>
            <a:ext cx="28219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Business/</a:t>
            </a:r>
            <a:r>
              <a:rPr dirty="0" sz="2000" spc="-6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Financial</a:t>
            </a:r>
            <a:r>
              <a:rPr dirty="0" sz="2000" spc="-6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Impact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821208" y="9445241"/>
            <a:ext cx="2438400" cy="53975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84"/>
              </a:spcBef>
            </a:pP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Environmental,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Social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70856"/>
            <a:ext cx="18288000" cy="10016490"/>
            <a:chOff x="0" y="270856"/>
            <a:chExt cx="18288000" cy="1001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579" y="1769414"/>
              <a:ext cx="9795421" cy="8517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666" y="1769414"/>
              <a:ext cx="16712565" cy="7337425"/>
            </a:xfrm>
            <a:custGeom>
              <a:avLst/>
              <a:gdLst/>
              <a:ahLst/>
              <a:cxnLst/>
              <a:rect l="l" t="t" r="r" b="b"/>
              <a:pathLst>
                <a:path w="16712565" h="7337425">
                  <a:moveTo>
                    <a:pt x="15988157" y="0"/>
                  </a:moveTo>
                  <a:lnTo>
                    <a:pt x="724263" y="0"/>
                  </a:lnTo>
                  <a:lnTo>
                    <a:pt x="676939" y="1552"/>
                  </a:lnTo>
                  <a:lnTo>
                    <a:pt x="630389" y="6146"/>
                  </a:lnTo>
                  <a:lnTo>
                    <a:pt x="584711" y="13680"/>
                  </a:lnTo>
                  <a:lnTo>
                    <a:pt x="540005" y="24058"/>
                  </a:lnTo>
                  <a:lnTo>
                    <a:pt x="496369" y="37181"/>
                  </a:lnTo>
                  <a:lnTo>
                    <a:pt x="453900" y="52949"/>
                  </a:lnTo>
                  <a:lnTo>
                    <a:pt x="412699" y="71265"/>
                  </a:lnTo>
                  <a:lnTo>
                    <a:pt x="372863" y="92031"/>
                  </a:lnTo>
                  <a:lnTo>
                    <a:pt x="334490" y="115146"/>
                  </a:lnTo>
                  <a:lnTo>
                    <a:pt x="297680" y="140514"/>
                  </a:lnTo>
                  <a:lnTo>
                    <a:pt x="262531" y="168035"/>
                  </a:lnTo>
                  <a:lnTo>
                    <a:pt x="229141" y="197611"/>
                  </a:lnTo>
                  <a:lnTo>
                    <a:pt x="197609" y="229143"/>
                  </a:lnTo>
                  <a:lnTo>
                    <a:pt x="168033" y="262534"/>
                  </a:lnTo>
                  <a:lnTo>
                    <a:pt x="140512" y="297683"/>
                  </a:lnTo>
                  <a:lnTo>
                    <a:pt x="115145" y="334494"/>
                  </a:lnTo>
                  <a:lnTo>
                    <a:pt x="92029" y="372867"/>
                  </a:lnTo>
                  <a:lnTo>
                    <a:pt x="71264" y="412703"/>
                  </a:lnTo>
                  <a:lnTo>
                    <a:pt x="52949" y="453905"/>
                  </a:lnTo>
                  <a:lnTo>
                    <a:pt x="37180" y="496373"/>
                  </a:lnTo>
                  <a:lnTo>
                    <a:pt x="24058" y="540010"/>
                  </a:lnTo>
                  <a:lnTo>
                    <a:pt x="13680" y="584716"/>
                  </a:lnTo>
                  <a:lnTo>
                    <a:pt x="6145" y="630394"/>
                  </a:lnTo>
                  <a:lnTo>
                    <a:pt x="1552" y="676944"/>
                  </a:lnTo>
                  <a:lnTo>
                    <a:pt x="0" y="724268"/>
                  </a:lnTo>
                  <a:lnTo>
                    <a:pt x="0" y="6613017"/>
                  </a:lnTo>
                  <a:lnTo>
                    <a:pt x="1552" y="6660341"/>
                  </a:lnTo>
                  <a:lnTo>
                    <a:pt x="6145" y="6706891"/>
                  </a:lnTo>
                  <a:lnTo>
                    <a:pt x="13680" y="6752568"/>
                  </a:lnTo>
                  <a:lnTo>
                    <a:pt x="24058" y="6797274"/>
                  </a:lnTo>
                  <a:lnTo>
                    <a:pt x="37180" y="6840911"/>
                  </a:lnTo>
                  <a:lnTo>
                    <a:pt x="52949" y="6883380"/>
                  </a:lnTo>
                  <a:lnTo>
                    <a:pt x="71264" y="6924581"/>
                  </a:lnTo>
                  <a:lnTo>
                    <a:pt x="92029" y="6964418"/>
                  </a:lnTo>
                  <a:lnTo>
                    <a:pt x="115145" y="7002791"/>
                  </a:lnTo>
                  <a:lnTo>
                    <a:pt x="140512" y="7039601"/>
                  </a:lnTo>
                  <a:lnTo>
                    <a:pt x="168033" y="7074751"/>
                  </a:lnTo>
                  <a:lnTo>
                    <a:pt x="197609" y="7108141"/>
                  </a:lnTo>
                  <a:lnTo>
                    <a:pt x="229141" y="7139673"/>
                  </a:lnTo>
                  <a:lnTo>
                    <a:pt x="262531" y="7169249"/>
                  </a:lnTo>
                  <a:lnTo>
                    <a:pt x="297680" y="7196770"/>
                  </a:lnTo>
                  <a:lnTo>
                    <a:pt x="334490" y="7222138"/>
                  </a:lnTo>
                  <a:lnTo>
                    <a:pt x="372863" y="7245254"/>
                  </a:lnTo>
                  <a:lnTo>
                    <a:pt x="412699" y="7266019"/>
                  </a:lnTo>
                  <a:lnTo>
                    <a:pt x="453900" y="7284335"/>
                  </a:lnTo>
                  <a:lnTo>
                    <a:pt x="496369" y="7300104"/>
                  </a:lnTo>
                  <a:lnTo>
                    <a:pt x="540005" y="7313226"/>
                  </a:lnTo>
                  <a:lnTo>
                    <a:pt x="584711" y="7323604"/>
                  </a:lnTo>
                  <a:lnTo>
                    <a:pt x="630389" y="7331139"/>
                  </a:lnTo>
                  <a:lnTo>
                    <a:pt x="676939" y="7335732"/>
                  </a:lnTo>
                  <a:lnTo>
                    <a:pt x="724263" y="7337285"/>
                  </a:lnTo>
                  <a:lnTo>
                    <a:pt x="15988157" y="7337285"/>
                  </a:lnTo>
                  <a:lnTo>
                    <a:pt x="16035488" y="7335732"/>
                  </a:lnTo>
                  <a:lnTo>
                    <a:pt x="16082044" y="7331139"/>
                  </a:lnTo>
                  <a:lnTo>
                    <a:pt x="16127726" y="7323604"/>
                  </a:lnTo>
                  <a:lnTo>
                    <a:pt x="16172437" y="7313226"/>
                  </a:lnTo>
                  <a:lnTo>
                    <a:pt x="16216077" y="7300104"/>
                  </a:lnTo>
                  <a:lnTo>
                    <a:pt x="16258548" y="7284335"/>
                  </a:lnTo>
                  <a:lnTo>
                    <a:pt x="16299751" y="7266019"/>
                  </a:lnTo>
                  <a:lnTo>
                    <a:pt x="16339589" y="7245254"/>
                  </a:lnTo>
                  <a:lnTo>
                    <a:pt x="16377962" y="7222138"/>
                  </a:lnTo>
                  <a:lnTo>
                    <a:pt x="16414773" y="7196770"/>
                  </a:lnTo>
                  <a:lnTo>
                    <a:pt x="16449922" y="7169249"/>
                  </a:lnTo>
                  <a:lnTo>
                    <a:pt x="16483312" y="7139673"/>
                  </a:lnTo>
                  <a:lnTo>
                    <a:pt x="16514843" y="7108141"/>
                  </a:lnTo>
                  <a:lnTo>
                    <a:pt x="16544417" y="7074751"/>
                  </a:lnTo>
                  <a:lnTo>
                    <a:pt x="16571937" y="7039601"/>
                  </a:lnTo>
                  <a:lnTo>
                    <a:pt x="16597303" y="7002791"/>
                  </a:lnTo>
                  <a:lnTo>
                    <a:pt x="16620417" y="6964418"/>
                  </a:lnTo>
                  <a:lnTo>
                    <a:pt x="16641180" y="6924581"/>
                  </a:lnTo>
                  <a:lnTo>
                    <a:pt x="16659494" y="6883380"/>
                  </a:lnTo>
                  <a:lnTo>
                    <a:pt x="16675261" y="6840911"/>
                  </a:lnTo>
                  <a:lnTo>
                    <a:pt x="16688382" y="6797274"/>
                  </a:lnTo>
                  <a:lnTo>
                    <a:pt x="16698759" y="6752568"/>
                  </a:lnTo>
                  <a:lnTo>
                    <a:pt x="16706292" y="6706891"/>
                  </a:lnTo>
                  <a:lnTo>
                    <a:pt x="16710885" y="6660341"/>
                  </a:lnTo>
                  <a:lnTo>
                    <a:pt x="16712438" y="6613017"/>
                  </a:lnTo>
                  <a:lnTo>
                    <a:pt x="16712438" y="724268"/>
                  </a:lnTo>
                  <a:lnTo>
                    <a:pt x="16710885" y="676944"/>
                  </a:lnTo>
                  <a:lnTo>
                    <a:pt x="16706292" y="630394"/>
                  </a:lnTo>
                  <a:lnTo>
                    <a:pt x="16698759" y="584716"/>
                  </a:lnTo>
                  <a:lnTo>
                    <a:pt x="16688382" y="540010"/>
                  </a:lnTo>
                  <a:lnTo>
                    <a:pt x="16675261" y="496373"/>
                  </a:lnTo>
                  <a:lnTo>
                    <a:pt x="16659494" y="453905"/>
                  </a:lnTo>
                  <a:lnTo>
                    <a:pt x="16641180" y="412703"/>
                  </a:lnTo>
                  <a:lnTo>
                    <a:pt x="16620417" y="372867"/>
                  </a:lnTo>
                  <a:lnTo>
                    <a:pt x="16597303" y="334494"/>
                  </a:lnTo>
                  <a:lnTo>
                    <a:pt x="16571937" y="297683"/>
                  </a:lnTo>
                  <a:lnTo>
                    <a:pt x="16544417" y="262534"/>
                  </a:lnTo>
                  <a:lnTo>
                    <a:pt x="16514843" y="229143"/>
                  </a:lnTo>
                  <a:lnTo>
                    <a:pt x="16483312" y="197611"/>
                  </a:lnTo>
                  <a:lnTo>
                    <a:pt x="16449922" y="168035"/>
                  </a:lnTo>
                  <a:lnTo>
                    <a:pt x="16414773" y="140514"/>
                  </a:lnTo>
                  <a:lnTo>
                    <a:pt x="16377962" y="115146"/>
                  </a:lnTo>
                  <a:lnTo>
                    <a:pt x="16339589" y="92031"/>
                  </a:lnTo>
                  <a:lnTo>
                    <a:pt x="16299751" y="71265"/>
                  </a:lnTo>
                  <a:lnTo>
                    <a:pt x="16258548" y="52949"/>
                  </a:lnTo>
                  <a:lnTo>
                    <a:pt x="16216077" y="37181"/>
                  </a:lnTo>
                  <a:lnTo>
                    <a:pt x="16172437" y="24058"/>
                  </a:lnTo>
                  <a:lnTo>
                    <a:pt x="16127726" y="13680"/>
                  </a:lnTo>
                  <a:lnTo>
                    <a:pt x="16082044" y="6146"/>
                  </a:lnTo>
                  <a:lnTo>
                    <a:pt x="16035488" y="1552"/>
                  </a:lnTo>
                  <a:lnTo>
                    <a:pt x="15988157" y="0"/>
                  </a:lnTo>
                  <a:close/>
                </a:path>
              </a:pathLst>
            </a:custGeom>
            <a:solidFill>
              <a:srgbClr val="FFFFFF">
                <a:alpha val="7764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1269" y="7203135"/>
              <a:ext cx="15901035" cy="1793875"/>
            </a:xfrm>
            <a:custGeom>
              <a:avLst/>
              <a:gdLst/>
              <a:ahLst/>
              <a:cxnLst/>
              <a:rect l="l" t="t" r="r" b="b"/>
              <a:pathLst>
                <a:path w="15901035" h="1793875">
                  <a:moveTo>
                    <a:pt x="15601950" y="0"/>
                  </a:moveTo>
                  <a:lnTo>
                    <a:pt x="298926" y="0"/>
                  </a:lnTo>
                  <a:lnTo>
                    <a:pt x="250707" y="3942"/>
                  </a:lnTo>
                  <a:lnTo>
                    <a:pt x="204867" y="15345"/>
                  </a:lnTo>
                  <a:lnTo>
                    <a:pt x="162040" y="33574"/>
                  </a:lnTo>
                  <a:lnTo>
                    <a:pt x="122862" y="57993"/>
                  </a:lnTo>
                  <a:lnTo>
                    <a:pt x="87968" y="87968"/>
                  </a:lnTo>
                  <a:lnTo>
                    <a:pt x="57994" y="122862"/>
                  </a:lnTo>
                  <a:lnTo>
                    <a:pt x="33574" y="162041"/>
                  </a:lnTo>
                  <a:lnTo>
                    <a:pt x="15345" y="204869"/>
                  </a:lnTo>
                  <a:lnTo>
                    <a:pt x="3942" y="250711"/>
                  </a:lnTo>
                  <a:lnTo>
                    <a:pt x="0" y="298932"/>
                  </a:lnTo>
                  <a:lnTo>
                    <a:pt x="0" y="1494599"/>
                  </a:lnTo>
                  <a:lnTo>
                    <a:pt x="3942" y="1542816"/>
                  </a:lnTo>
                  <a:lnTo>
                    <a:pt x="15345" y="1588656"/>
                  </a:lnTo>
                  <a:lnTo>
                    <a:pt x="33574" y="1631482"/>
                  </a:lnTo>
                  <a:lnTo>
                    <a:pt x="57994" y="1670659"/>
                  </a:lnTo>
                  <a:lnTo>
                    <a:pt x="87968" y="1705552"/>
                  </a:lnTo>
                  <a:lnTo>
                    <a:pt x="122862" y="1735526"/>
                  </a:lnTo>
                  <a:lnTo>
                    <a:pt x="162040" y="1759945"/>
                  </a:lnTo>
                  <a:lnTo>
                    <a:pt x="204867" y="1778174"/>
                  </a:lnTo>
                  <a:lnTo>
                    <a:pt x="250707" y="1789577"/>
                  </a:lnTo>
                  <a:lnTo>
                    <a:pt x="298926" y="1793519"/>
                  </a:lnTo>
                  <a:lnTo>
                    <a:pt x="15601950" y="1793519"/>
                  </a:lnTo>
                  <a:lnTo>
                    <a:pt x="15650162" y="1789577"/>
                  </a:lnTo>
                  <a:lnTo>
                    <a:pt x="15696001" y="1778174"/>
                  </a:lnTo>
                  <a:lnTo>
                    <a:pt x="15738829" y="1759945"/>
                  </a:lnTo>
                  <a:lnTo>
                    <a:pt x="15778012" y="1735526"/>
                  </a:lnTo>
                  <a:lnTo>
                    <a:pt x="15812912" y="1705552"/>
                  </a:lnTo>
                  <a:lnTo>
                    <a:pt x="15842894" y="1670659"/>
                  </a:lnTo>
                  <a:lnTo>
                    <a:pt x="15867320" y="1631482"/>
                  </a:lnTo>
                  <a:lnTo>
                    <a:pt x="15885556" y="1588656"/>
                  </a:lnTo>
                  <a:lnTo>
                    <a:pt x="15896964" y="1542816"/>
                  </a:lnTo>
                  <a:lnTo>
                    <a:pt x="15900908" y="1494599"/>
                  </a:lnTo>
                  <a:lnTo>
                    <a:pt x="15900908" y="298932"/>
                  </a:lnTo>
                  <a:lnTo>
                    <a:pt x="15896964" y="250711"/>
                  </a:lnTo>
                  <a:lnTo>
                    <a:pt x="15885556" y="204869"/>
                  </a:lnTo>
                  <a:lnTo>
                    <a:pt x="15867320" y="162041"/>
                  </a:lnTo>
                  <a:lnTo>
                    <a:pt x="15842894" y="122862"/>
                  </a:lnTo>
                  <a:lnTo>
                    <a:pt x="15812912" y="87968"/>
                  </a:lnTo>
                  <a:lnTo>
                    <a:pt x="15778012" y="57993"/>
                  </a:lnTo>
                  <a:lnTo>
                    <a:pt x="15738829" y="33574"/>
                  </a:lnTo>
                  <a:lnTo>
                    <a:pt x="15696001" y="15345"/>
                  </a:lnTo>
                  <a:lnTo>
                    <a:pt x="15650162" y="3942"/>
                  </a:lnTo>
                  <a:lnTo>
                    <a:pt x="15601950" y="0"/>
                  </a:lnTo>
                  <a:close/>
                </a:path>
              </a:pathLst>
            </a:custGeom>
            <a:solidFill>
              <a:srgbClr val="89DAAD">
                <a:alpha val="11764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9349307"/>
              <a:ext cx="5550535" cy="937894"/>
            </a:xfrm>
            <a:custGeom>
              <a:avLst/>
              <a:gdLst/>
              <a:ahLst/>
              <a:cxnLst/>
              <a:rect l="l" t="t" r="r" b="b"/>
              <a:pathLst>
                <a:path w="5550535" h="937895">
                  <a:moveTo>
                    <a:pt x="2155875" y="481596"/>
                  </a:moveTo>
                  <a:lnTo>
                    <a:pt x="1700936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725028" y="937691"/>
                  </a:lnTo>
                  <a:lnTo>
                    <a:pt x="2155875" y="481596"/>
                  </a:lnTo>
                  <a:close/>
                </a:path>
                <a:path w="5550535" h="937895">
                  <a:moveTo>
                    <a:pt x="3832402" y="481596"/>
                  </a:moveTo>
                  <a:lnTo>
                    <a:pt x="3377450" y="0"/>
                  </a:lnTo>
                  <a:lnTo>
                    <a:pt x="1824164" y="0"/>
                  </a:lnTo>
                  <a:lnTo>
                    <a:pt x="2279104" y="481596"/>
                  </a:lnTo>
                  <a:lnTo>
                    <a:pt x="1848256" y="937691"/>
                  </a:lnTo>
                  <a:lnTo>
                    <a:pt x="3401542" y="937691"/>
                  </a:lnTo>
                  <a:lnTo>
                    <a:pt x="3832402" y="481596"/>
                  </a:lnTo>
                  <a:close/>
                </a:path>
                <a:path w="5550535" h="937895">
                  <a:moveTo>
                    <a:pt x="5550078" y="481596"/>
                  </a:moveTo>
                  <a:lnTo>
                    <a:pt x="5095125" y="0"/>
                  </a:lnTo>
                  <a:lnTo>
                    <a:pt x="3504374" y="0"/>
                  </a:lnTo>
                  <a:lnTo>
                    <a:pt x="3959326" y="481596"/>
                  </a:lnTo>
                  <a:lnTo>
                    <a:pt x="3528479" y="937691"/>
                  </a:lnTo>
                  <a:lnTo>
                    <a:pt x="5119230" y="937691"/>
                  </a:lnTo>
                  <a:lnTo>
                    <a:pt x="5550078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68074" y="9349307"/>
              <a:ext cx="3897629" cy="937894"/>
            </a:xfrm>
            <a:custGeom>
              <a:avLst/>
              <a:gdLst/>
              <a:ahLst/>
              <a:cxnLst/>
              <a:rect l="l" t="t" r="r" b="b"/>
              <a:pathLst>
                <a:path w="3897629" h="937895">
                  <a:moveTo>
                    <a:pt x="3442208" y="0"/>
                  </a:moveTo>
                  <a:lnTo>
                    <a:pt x="0" y="0"/>
                  </a:lnTo>
                  <a:lnTo>
                    <a:pt x="454944" y="481596"/>
                  </a:lnTo>
                  <a:lnTo>
                    <a:pt x="24101" y="937691"/>
                  </a:lnTo>
                  <a:lnTo>
                    <a:pt x="3466309" y="937691"/>
                  </a:lnTo>
                  <a:lnTo>
                    <a:pt x="3897147" y="481596"/>
                  </a:lnTo>
                  <a:lnTo>
                    <a:pt x="344220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837955" y="9349307"/>
              <a:ext cx="4291330" cy="937894"/>
            </a:xfrm>
            <a:custGeom>
              <a:avLst/>
              <a:gdLst/>
              <a:ahLst/>
              <a:cxnLst/>
              <a:rect l="l" t="t" r="r" b="b"/>
              <a:pathLst>
                <a:path w="4291330" h="937895">
                  <a:moveTo>
                    <a:pt x="2309266" y="481596"/>
                  </a:moveTo>
                  <a:lnTo>
                    <a:pt x="1854327" y="0"/>
                  </a:lnTo>
                  <a:lnTo>
                    <a:pt x="0" y="0"/>
                  </a:lnTo>
                  <a:lnTo>
                    <a:pt x="454952" y="481596"/>
                  </a:lnTo>
                  <a:lnTo>
                    <a:pt x="24104" y="937691"/>
                  </a:lnTo>
                  <a:lnTo>
                    <a:pt x="1878431" y="937691"/>
                  </a:lnTo>
                  <a:lnTo>
                    <a:pt x="2309266" y="481596"/>
                  </a:lnTo>
                  <a:close/>
                </a:path>
                <a:path w="4291330" h="937895">
                  <a:moveTo>
                    <a:pt x="4291292" y="481596"/>
                  </a:moveTo>
                  <a:lnTo>
                    <a:pt x="3836352" y="0"/>
                  </a:lnTo>
                  <a:lnTo>
                    <a:pt x="1982025" y="0"/>
                  </a:lnTo>
                  <a:lnTo>
                    <a:pt x="2436965" y="481596"/>
                  </a:lnTo>
                  <a:lnTo>
                    <a:pt x="2006117" y="937691"/>
                  </a:lnTo>
                  <a:lnTo>
                    <a:pt x="3860444" y="937691"/>
                  </a:lnTo>
                  <a:lnTo>
                    <a:pt x="4291292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436" y="9522116"/>
              <a:ext cx="810662" cy="6242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0197" y="9477171"/>
              <a:ext cx="714093" cy="7140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5961" y="9502038"/>
              <a:ext cx="584635" cy="6643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4189" y="9430664"/>
              <a:ext cx="679108" cy="7630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50856" y="9468789"/>
              <a:ext cx="737407" cy="7189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40693" y="9452698"/>
              <a:ext cx="560798" cy="7189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611599" y="6965261"/>
              <a:ext cx="2486223" cy="242972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605657" y="930523"/>
            <a:ext cx="123825" cy="810260"/>
          </a:xfrm>
          <a:custGeom>
            <a:avLst/>
            <a:gdLst/>
            <a:ahLst/>
            <a:cxnLst/>
            <a:rect l="l" t="t" r="r" b="b"/>
            <a:pathLst>
              <a:path w="123825" h="810260">
                <a:moveTo>
                  <a:pt x="123824" y="809967"/>
                </a:moveTo>
                <a:lnTo>
                  <a:pt x="0" y="809967"/>
                </a:lnTo>
                <a:lnTo>
                  <a:pt x="0" y="0"/>
                </a:lnTo>
                <a:lnTo>
                  <a:pt x="123824" y="0"/>
                </a:lnTo>
                <a:lnTo>
                  <a:pt x="123824" y="809967"/>
                </a:lnTo>
                <a:close/>
              </a:path>
            </a:pathLst>
          </a:custGeom>
          <a:solidFill>
            <a:srgbClr val="1643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904816" y="874935"/>
            <a:ext cx="122135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Environmental,</a:t>
            </a:r>
            <a:r>
              <a:rPr dirty="0" spc="-35"/>
              <a:t> </a:t>
            </a:r>
            <a:r>
              <a:rPr dirty="0"/>
              <a:t>Social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Governance</a:t>
            </a:r>
            <a:r>
              <a:rPr dirty="0" spc="-35"/>
              <a:t> </a:t>
            </a:r>
            <a:r>
              <a:rPr dirty="0"/>
              <a:t>Scorecard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25"/>
              <a:t>IAS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99417" y="1407887"/>
            <a:ext cx="10407650" cy="76517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Strong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governance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profile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with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environmental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exposure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remaining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watchpoint</a:t>
            </a:r>
            <a:endParaRPr sz="20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29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PEER</a:t>
            </a:r>
            <a:r>
              <a:rPr dirty="0" sz="24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COMPARISON</a:t>
            </a:r>
            <a:r>
              <a:rPr dirty="0" sz="24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(IAS)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45371" y="2308326"/>
            <a:ext cx="11349990" cy="4657090"/>
            <a:chOff x="2945371" y="2308326"/>
            <a:chExt cx="11349990" cy="4657090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45371" y="2308326"/>
              <a:ext cx="4657077" cy="465707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38152" y="5468454"/>
              <a:ext cx="7517765" cy="347345"/>
            </a:xfrm>
            <a:custGeom>
              <a:avLst/>
              <a:gdLst/>
              <a:ahLst/>
              <a:cxnLst/>
              <a:rect l="l" t="t" r="r" b="b"/>
              <a:pathLst>
                <a:path w="7517765" h="347345">
                  <a:moveTo>
                    <a:pt x="7517460" y="0"/>
                  </a:moveTo>
                  <a:lnTo>
                    <a:pt x="0" y="0"/>
                  </a:lnTo>
                  <a:lnTo>
                    <a:pt x="0" y="347103"/>
                  </a:lnTo>
                  <a:lnTo>
                    <a:pt x="7517460" y="347103"/>
                  </a:lnTo>
                  <a:lnTo>
                    <a:pt x="7517460" y="0"/>
                  </a:lnTo>
                  <a:close/>
                </a:path>
              </a:pathLst>
            </a:custGeom>
            <a:solidFill>
              <a:srgbClr val="89DA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38152" y="5843320"/>
              <a:ext cx="7155180" cy="347345"/>
            </a:xfrm>
            <a:custGeom>
              <a:avLst/>
              <a:gdLst/>
              <a:ahLst/>
              <a:cxnLst/>
              <a:rect l="l" t="t" r="r" b="b"/>
              <a:pathLst>
                <a:path w="7155180" h="347345">
                  <a:moveTo>
                    <a:pt x="7155180" y="0"/>
                  </a:moveTo>
                  <a:lnTo>
                    <a:pt x="0" y="0"/>
                  </a:lnTo>
                  <a:lnTo>
                    <a:pt x="0" y="347103"/>
                  </a:lnTo>
                  <a:lnTo>
                    <a:pt x="7155180" y="347103"/>
                  </a:lnTo>
                  <a:lnTo>
                    <a:pt x="7155180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238152" y="6218186"/>
              <a:ext cx="1811655" cy="347345"/>
            </a:xfrm>
            <a:custGeom>
              <a:avLst/>
              <a:gdLst/>
              <a:ahLst/>
              <a:cxnLst/>
              <a:rect l="l" t="t" r="r" b="b"/>
              <a:pathLst>
                <a:path w="1811654" h="347345">
                  <a:moveTo>
                    <a:pt x="1811439" y="0"/>
                  </a:moveTo>
                  <a:lnTo>
                    <a:pt x="0" y="0"/>
                  </a:lnTo>
                  <a:lnTo>
                    <a:pt x="0" y="347103"/>
                  </a:lnTo>
                  <a:lnTo>
                    <a:pt x="1811439" y="347103"/>
                  </a:lnTo>
                  <a:lnTo>
                    <a:pt x="1811439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238152" y="6593065"/>
              <a:ext cx="9057640" cy="347345"/>
            </a:xfrm>
            <a:custGeom>
              <a:avLst/>
              <a:gdLst/>
              <a:ahLst/>
              <a:cxnLst/>
              <a:rect l="l" t="t" r="r" b="b"/>
              <a:pathLst>
                <a:path w="9057640" h="347345">
                  <a:moveTo>
                    <a:pt x="9057182" y="0"/>
                  </a:moveTo>
                  <a:lnTo>
                    <a:pt x="0" y="0"/>
                  </a:lnTo>
                  <a:lnTo>
                    <a:pt x="0" y="347091"/>
                  </a:lnTo>
                  <a:lnTo>
                    <a:pt x="9057182" y="347091"/>
                  </a:lnTo>
                  <a:lnTo>
                    <a:pt x="9057182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482412" y="2279129"/>
            <a:ext cx="2801620" cy="121412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Suez</a:t>
            </a:r>
            <a:r>
              <a:rPr dirty="0" sz="24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4299"/>
              </a:lnSpc>
              <a:spcBef>
                <a:spcPts val="175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Misr</a:t>
            </a:r>
            <a:r>
              <a:rPr dirty="0" sz="2400" spc="-7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400" spc="-7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2400" spc="-20" b="1">
                <a:solidFill>
                  <a:srgbClr val="244060"/>
                </a:solidFill>
                <a:latin typeface="Arial"/>
                <a:cs typeface="Arial"/>
              </a:rPr>
              <a:t>Qena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Sinai</a:t>
            </a:r>
            <a:r>
              <a:rPr dirty="0" sz="2400" spc="-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494890" y="2448128"/>
            <a:ext cx="2380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Methodology</a:t>
            </a:r>
            <a:r>
              <a:rPr dirty="0" sz="2000" spc="-8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Used: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89282" y="3478263"/>
            <a:ext cx="35293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Arabian</a:t>
            </a:r>
            <a:r>
              <a:rPr dirty="0" sz="2400" spc="-9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Cement</a:t>
            </a:r>
            <a:r>
              <a:rPr dirty="0" sz="2400" spc="-9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(ARCC)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35209" y="5393189"/>
            <a:ext cx="842644" cy="82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ts val="3155"/>
              </a:lnSpc>
              <a:spcBef>
                <a:spcPts val="100"/>
              </a:spcBef>
            </a:pPr>
            <a:r>
              <a:rPr dirty="0" sz="2800" spc="-25" b="1">
                <a:solidFill>
                  <a:srgbClr val="244060"/>
                </a:solidFill>
                <a:latin typeface="Calibri"/>
                <a:cs typeface="Calibri"/>
              </a:rPr>
              <a:t>8.3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55"/>
              </a:lnSpc>
            </a:pPr>
            <a:r>
              <a:rPr dirty="0" sz="2800" spc="-25" b="1">
                <a:solidFill>
                  <a:srgbClr val="244060"/>
                </a:solidFill>
                <a:latin typeface="Calibri"/>
                <a:cs typeface="Calibri"/>
              </a:rPr>
              <a:t>7.9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91467" y="6142925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244060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337211" y="6517793"/>
            <a:ext cx="3860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 b="1">
                <a:solidFill>
                  <a:srgbClr val="244060"/>
                </a:solidFill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6225" y="7494554"/>
            <a:ext cx="3305810" cy="820419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ARCC</a:t>
            </a:r>
            <a:r>
              <a:rPr dirty="0" sz="28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Pillar</a:t>
            </a:r>
            <a:r>
              <a:rPr dirty="0" sz="28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Scores</a:t>
            </a:r>
            <a:endParaRPr sz="2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204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(0-</a:t>
            </a:r>
            <a:r>
              <a:rPr dirty="0" sz="2000" spc="-25">
                <a:solidFill>
                  <a:srgbClr val="244060"/>
                </a:solidFill>
                <a:latin typeface="Arial"/>
                <a:cs typeface="Arial"/>
              </a:rPr>
              <a:t>10)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300000">
            <a:off x="16664342" y="7925608"/>
            <a:ext cx="404747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25" b="1">
                <a:solidFill>
                  <a:srgbClr val="022536"/>
                </a:solidFill>
                <a:latin typeface="Arial"/>
                <a:cs typeface="Arial"/>
              </a:rPr>
              <a:t>AA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300000">
            <a:off x="16379888" y="8244185"/>
            <a:ext cx="908084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baseline="1543" sz="2700" spc="-15" b="1">
                <a:solidFill>
                  <a:srgbClr val="022536"/>
                </a:solidFill>
                <a:latin typeface="Arial"/>
                <a:cs typeface="Arial"/>
              </a:rPr>
              <a:t>RAT</a:t>
            </a:r>
            <a:r>
              <a:rPr dirty="0" sz="1800" spc="-10" b="1">
                <a:solidFill>
                  <a:srgbClr val="022536"/>
                </a:solidFill>
                <a:latin typeface="Arial"/>
                <a:cs typeface="Arial"/>
              </a:rPr>
              <a:t>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55007" y="808777"/>
            <a:ext cx="16015335" cy="7967980"/>
            <a:chOff x="555007" y="808777"/>
            <a:chExt cx="16015335" cy="7967980"/>
          </a:xfrm>
        </p:grpSpPr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7440" y="7576896"/>
              <a:ext cx="914400" cy="9144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50820" y="7634516"/>
              <a:ext cx="1141782" cy="11417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88685" y="7663141"/>
              <a:ext cx="1014695" cy="101469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15983" y="498886"/>
            <a:ext cx="5937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Scorecard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Adjusted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Score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(IAS)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507590" y="2774442"/>
            <a:ext cx="1938134" cy="517093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056225" y="8549754"/>
            <a:ext cx="20408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Pillar</a:t>
            </a:r>
            <a:r>
              <a:rPr dirty="0" sz="24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Weights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70244" y="7566659"/>
            <a:ext cx="2141220" cy="143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Environmental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5535"/>
              </a:lnSpc>
            </a:pPr>
            <a:r>
              <a:rPr dirty="0" sz="4800" spc="-25" b="1">
                <a:solidFill>
                  <a:srgbClr val="244060"/>
                </a:solidFill>
                <a:latin typeface="Arial"/>
                <a:cs typeface="Arial"/>
              </a:rPr>
              <a:t>7.2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2705"/>
              </a:lnSpc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36.6%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161879" y="7592403"/>
            <a:ext cx="941705" cy="140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>
              <a:lnSpc>
                <a:spcPts val="283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Social</a:t>
            </a:r>
            <a:endParaRPr sz="2400">
              <a:latin typeface="Arial"/>
              <a:cs typeface="Arial"/>
            </a:endParaRPr>
          </a:p>
          <a:p>
            <a:pPr marL="31750">
              <a:lnSpc>
                <a:spcPts val="5435"/>
              </a:lnSpc>
            </a:pPr>
            <a:r>
              <a:rPr dirty="0" sz="4800" spc="-25" b="1">
                <a:solidFill>
                  <a:srgbClr val="244060"/>
                </a:solidFill>
                <a:latin typeface="Arial"/>
                <a:cs typeface="Arial"/>
              </a:rPr>
              <a:t>7.0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2605"/>
              </a:lnSpc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26.8%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358113" y="7592403"/>
            <a:ext cx="1819910" cy="140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355">
              <a:lnSpc>
                <a:spcPts val="283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Governance</a:t>
            </a:r>
            <a:endParaRPr sz="2400">
              <a:latin typeface="Arial"/>
              <a:cs typeface="Arial"/>
            </a:endParaRPr>
          </a:p>
          <a:p>
            <a:pPr marL="46355">
              <a:lnSpc>
                <a:spcPts val="5435"/>
              </a:lnSpc>
            </a:pPr>
            <a:r>
              <a:rPr dirty="0" sz="4800" spc="-25" b="1">
                <a:solidFill>
                  <a:srgbClr val="244060"/>
                </a:solidFill>
                <a:latin typeface="Arial"/>
                <a:cs typeface="Arial"/>
              </a:rPr>
              <a:t>7.4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2605"/>
              </a:lnSpc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36.6%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21208" y="9445241"/>
            <a:ext cx="2438400" cy="53975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84"/>
              </a:spcBef>
            </a:pP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Environmental,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Social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70856"/>
            <a:ext cx="18288000" cy="10016490"/>
            <a:chOff x="0" y="270856"/>
            <a:chExt cx="18288000" cy="1001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579" y="1769414"/>
              <a:ext cx="9795421" cy="8517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666" y="1769414"/>
              <a:ext cx="16712565" cy="7337425"/>
            </a:xfrm>
            <a:custGeom>
              <a:avLst/>
              <a:gdLst/>
              <a:ahLst/>
              <a:cxnLst/>
              <a:rect l="l" t="t" r="r" b="b"/>
              <a:pathLst>
                <a:path w="16712565" h="7337425">
                  <a:moveTo>
                    <a:pt x="15988157" y="0"/>
                  </a:moveTo>
                  <a:lnTo>
                    <a:pt x="724263" y="0"/>
                  </a:lnTo>
                  <a:lnTo>
                    <a:pt x="676939" y="1552"/>
                  </a:lnTo>
                  <a:lnTo>
                    <a:pt x="630389" y="6146"/>
                  </a:lnTo>
                  <a:lnTo>
                    <a:pt x="584711" y="13680"/>
                  </a:lnTo>
                  <a:lnTo>
                    <a:pt x="540005" y="24058"/>
                  </a:lnTo>
                  <a:lnTo>
                    <a:pt x="496369" y="37181"/>
                  </a:lnTo>
                  <a:lnTo>
                    <a:pt x="453900" y="52949"/>
                  </a:lnTo>
                  <a:lnTo>
                    <a:pt x="412699" y="71265"/>
                  </a:lnTo>
                  <a:lnTo>
                    <a:pt x="372863" y="92031"/>
                  </a:lnTo>
                  <a:lnTo>
                    <a:pt x="334490" y="115146"/>
                  </a:lnTo>
                  <a:lnTo>
                    <a:pt x="297680" y="140514"/>
                  </a:lnTo>
                  <a:lnTo>
                    <a:pt x="262531" y="168035"/>
                  </a:lnTo>
                  <a:lnTo>
                    <a:pt x="229141" y="197611"/>
                  </a:lnTo>
                  <a:lnTo>
                    <a:pt x="197609" y="229143"/>
                  </a:lnTo>
                  <a:lnTo>
                    <a:pt x="168033" y="262534"/>
                  </a:lnTo>
                  <a:lnTo>
                    <a:pt x="140512" y="297683"/>
                  </a:lnTo>
                  <a:lnTo>
                    <a:pt x="115145" y="334494"/>
                  </a:lnTo>
                  <a:lnTo>
                    <a:pt x="92029" y="372867"/>
                  </a:lnTo>
                  <a:lnTo>
                    <a:pt x="71264" y="412703"/>
                  </a:lnTo>
                  <a:lnTo>
                    <a:pt x="52949" y="453905"/>
                  </a:lnTo>
                  <a:lnTo>
                    <a:pt x="37180" y="496373"/>
                  </a:lnTo>
                  <a:lnTo>
                    <a:pt x="24058" y="540010"/>
                  </a:lnTo>
                  <a:lnTo>
                    <a:pt x="13680" y="584716"/>
                  </a:lnTo>
                  <a:lnTo>
                    <a:pt x="6145" y="630394"/>
                  </a:lnTo>
                  <a:lnTo>
                    <a:pt x="1552" y="676944"/>
                  </a:lnTo>
                  <a:lnTo>
                    <a:pt x="0" y="724268"/>
                  </a:lnTo>
                  <a:lnTo>
                    <a:pt x="0" y="6613017"/>
                  </a:lnTo>
                  <a:lnTo>
                    <a:pt x="1552" y="6660341"/>
                  </a:lnTo>
                  <a:lnTo>
                    <a:pt x="6145" y="6706891"/>
                  </a:lnTo>
                  <a:lnTo>
                    <a:pt x="13680" y="6752568"/>
                  </a:lnTo>
                  <a:lnTo>
                    <a:pt x="24058" y="6797274"/>
                  </a:lnTo>
                  <a:lnTo>
                    <a:pt x="37180" y="6840911"/>
                  </a:lnTo>
                  <a:lnTo>
                    <a:pt x="52949" y="6883380"/>
                  </a:lnTo>
                  <a:lnTo>
                    <a:pt x="71264" y="6924581"/>
                  </a:lnTo>
                  <a:lnTo>
                    <a:pt x="92029" y="6964418"/>
                  </a:lnTo>
                  <a:lnTo>
                    <a:pt x="115145" y="7002791"/>
                  </a:lnTo>
                  <a:lnTo>
                    <a:pt x="140512" y="7039601"/>
                  </a:lnTo>
                  <a:lnTo>
                    <a:pt x="168033" y="7074751"/>
                  </a:lnTo>
                  <a:lnTo>
                    <a:pt x="197609" y="7108141"/>
                  </a:lnTo>
                  <a:lnTo>
                    <a:pt x="229141" y="7139673"/>
                  </a:lnTo>
                  <a:lnTo>
                    <a:pt x="262531" y="7169249"/>
                  </a:lnTo>
                  <a:lnTo>
                    <a:pt x="297680" y="7196770"/>
                  </a:lnTo>
                  <a:lnTo>
                    <a:pt x="334490" y="7222138"/>
                  </a:lnTo>
                  <a:lnTo>
                    <a:pt x="372863" y="7245254"/>
                  </a:lnTo>
                  <a:lnTo>
                    <a:pt x="412699" y="7266019"/>
                  </a:lnTo>
                  <a:lnTo>
                    <a:pt x="453900" y="7284335"/>
                  </a:lnTo>
                  <a:lnTo>
                    <a:pt x="496369" y="7300104"/>
                  </a:lnTo>
                  <a:lnTo>
                    <a:pt x="540005" y="7313226"/>
                  </a:lnTo>
                  <a:lnTo>
                    <a:pt x="584711" y="7323604"/>
                  </a:lnTo>
                  <a:lnTo>
                    <a:pt x="630389" y="7331139"/>
                  </a:lnTo>
                  <a:lnTo>
                    <a:pt x="676939" y="7335732"/>
                  </a:lnTo>
                  <a:lnTo>
                    <a:pt x="724263" y="7337285"/>
                  </a:lnTo>
                  <a:lnTo>
                    <a:pt x="15988157" y="7337285"/>
                  </a:lnTo>
                  <a:lnTo>
                    <a:pt x="16035488" y="7335732"/>
                  </a:lnTo>
                  <a:lnTo>
                    <a:pt x="16082044" y="7331139"/>
                  </a:lnTo>
                  <a:lnTo>
                    <a:pt x="16127726" y="7323604"/>
                  </a:lnTo>
                  <a:lnTo>
                    <a:pt x="16172437" y="7313226"/>
                  </a:lnTo>
                  <a:lnTo>
                    <a:pt x="16216077" y="7300104"/>
                  </a:lnTo>
                  <a:lnTo>
                    <a:pt x="16258548" y="7284335"/>
                  </a:lnTo>
                  <a:lnTo>
                    <a:pt x="16299751" y="7266019"/>
                  </a:lnTo>
                  <a:lnTo>
                    <a:pt x="16339589" y="7245254"/>
                  </a:lnTo>
                  <a:lnTo>
                    <a:pt x="16377962" y="7222138"/>
                  </a:lnTo>
                  <a:lnTo>
                    <a:pt x="16414773" y="7196770"/>
                  </a:lnTo>
                  <a:lnTo>
                    <a:pt x="16449922" y="7169249"/>
                  </a:lnTo>
                  <a:lnTo>
                    <a:pt x="16483312" y="7139673"/>
                  </a:lnTo>
                  <a:lnTo>
                    <a:pt x="16514843" y="7108141"/>
                  </a:lnTo>
                  <a:lnTo>
                    <a:pt x="16544417" y="7074751"/>
                  </a:lnTo>
                  <a:lnTo>
                    <a:pt x="16571937" y="7039601"/>
                  </a:lnTo>
                  <a:lnTo>
                    <a:pt x="16597303" y="7002791"/>
                  </a:lnTo>
                  <a:lnTo>
                    <a:pt x="16620417" y="6964418"/>
                  </a:lnTo>
                  <a:lnTo>
                    <a:pt x="16641180" y="6924581"/>
                  </a:lnTo>
                  <a:lnTo>
                    <a:pt x="16659494" y="6883380"/>
                  </a:lnTo>
                  <a:lnTo>
                    <a:pt x="16675261" y="6840911"/>
                  </a:lnTo>
                  <a:lnTo>
                    <a:pt x="16688382" y="6797274"/>
                  </a:lnTo>
                  <a:lnTo>
                    <a:pt x="16698759" y="6752568"/>
                  </a:lnTo>
                  <a:lnTo>
                    <a:pt x="16706292" y="6706891"/>
                  </a:lnTo>
                  <a:lnTo>
                    <a:pt x="16710885" y="6660341"/>
                  </a:lnTo>
                  <a:lnTo>
                    <a:pt x="16712438" y="6613017"/>
                  </a:lnTo>
                  <a:lnTo>
                    <a:pt x="16712438" y="724268"/>
                  </a:lnTo>
                  <a:lnTo>
                    <a:pt x="16710885" y="676944"/>
                  </a:lnTo>
                  <a:lnTo>
                    <a:pt x="16706292" y="630394"/>
                  </a:lnTo>
                  <a:lnTo>
                    <a:pt x="16698759" y="584716"/>
                  </a:lnTo>
                  <a:lnTo>
                    <a:pt x="16688382" y="540010"/>
                  </a:lnTo>
                  <a:lnTo>
                    <a:pt x="16675261" y="496373"/>
                  </a:lnTo>
                  <a:lnTo>
                    <a:pt x="16659494" y="453905"/>
                  </a:lnTo>
                  <a:lnTo>
                    <a:pt x="16641180" y="412703"/>
                  </a:lnTo>
                  <a:lnTo>
                    <a:pt x="16620417" y="372867"/>
                  </a:lnTo>
                  <a:lnTo>
                    <a:pt x="16597303" y="334494"/>
                  </a:lnTo>
                  <a:lnTo>
                    <a:pt x="16571937" y="297683"/>
                  </a:lnTo>
                  <a:lnTo>
                    <a:pt x="16544417" y="262534"/>
                  </a:lnTo>
                  <a:lnTo>
                    <a:pt x="16514843" y="229143"/>
                  </a:lnTo>
                  <a:lnTo>
                    <a:pt x="16483312" y="197611"/>
                  </a:lnTo>
                  <a:lnTo>
                    <a:pt x="16449922" y="168035"/>
                  </a:lnTo>
                  <a:lnTo>
                    <a:pt x="16414773" y="140514"/>
                  </a:lnTo>
                  <a:lnTo>
                    <a:pt x="16377962" y="115146"/>
                  </a:lnTo>
                  <a:lnTo>
                    <a:pt x="16339589" y="92031"/>
                  </a:lnTo>
                  <a:lnTo>
                    <a:pt x="16299751" y="71265"/>
                  </a:lnTo>
                  <a:lnTo>
                    <a:pt x="16258548" y="52949"/>
                  </a:lnTo>
                  <a:lnTo>
                    <a:pt x="16216077" y="37181"/>
                  </a:lnTo>
                  <a:lnTo>
                    <a:pt x="16172437" y="24058"/>
                  </a:lnTo>
                  <a:lnTo>
                    <a:pt x="16127726" y="13680"/>
                  </a:lnTo>
                  <a:lnTo>
                    <a:pt x="16082044" y="6146"/>
                  </a:lnTo>
                  <a:lnTo>
                    <a:pt x="16035488" y="1552"/>
                  </a:lnTo>
                  <a:lnTo>
                    <a:pt x="15988157" y="0"/>
                  </a:lnTo>
                  <a:close/>
                </a:path>
              </a:pathLst>
            </a:custGeom>
            <a:solidFill>
              <a:srgbClr val="FFFFFF">
                <a:alpha val="7764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9349307"/>
              <a:ext cx="5550535" cy="937894"/>
            </a:xfrm>
            <a:custGeom>
              <a:avLst/>
              <a:gdLst/>
              <a:ahLst/>
              <a:cxnLst/>
              <a:rect l="l" t="t" r="r" b="b"/>
              <a:pathLst>
                <a:path w="5550535" h="937895">
                  <a:moveTo>
                    <a:pt x="2155875" y="481596"/>
                  </a:moveTo>
                  <a:lnTo>
                    <a:pt x="1700936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725028" y="937691"/>
                  </a:lnTo>
                  <a:lnTo>
                    <a:pt x="2155875" y="481596"/>
                  </a:lnTo>
                  <a:close/>
                </a:path>
                <a:path w="5550535" h="937895">
                  <a:moveTo>
                    <a:pt x="3832402" y="481596"/>
                  </a:moveTo>
                  <a:lnTo>
                    <a:pt x="3377450" y="0"/>
                  </a:lnTo>
                  <a:lnTo>
                    <a:pt x="1824164" y="0"/>
                  </a:lnTo>
                  <a:lnTo>
                    <a:pt x="2279104" y="481596"/>
                  </a:lnTo>
                  <a:lnTo>
                    <a:pt x="1848256" y="937691"/>
                  </a:lnTo>
                  <a:lnTo>
                    <a:pt x="3401542" y="937691"/>
                  </a:lnTo>
                  <a:lnTo>
                    <a:pt x="3832402" y="481596"/>
                  </a:lnTo>
                  <a:close/>
                </a:path>
                <a:path w="5550535" h="937895">
                  <a:moveTo>
                    <a:pt x="5550078" y="481596"/>
                  </a:moveTo>
                  <a:lnTo>
                    <a:pt x="5095125" y="0"/>
                  </a:lnTo>
                  <a:lnTo>
                    <a:pt x="3504374" y="0"/>
                  </a:lnTo>
                  <a:lnTo>
                    <a:pt x="3959326" y="481596"/>
                  </a:lnTo>
                  <a:lnTo>
                    <a:pt x="3528479" y="937691"/>
                  </a:lnTo>
                  <a:lnTo>
                    <a:pt x="5119230" y="937691"/>
                  </a:lnTo>
                  <a:lnTo>
                    <a:pt x="5550078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68074" y="9349307"/>
              <a:ext cx="3897629" cy="937894"/>
            </a:xfrm>
            <a:custGeom>
              <a:avLst/>
              <a:gdLst/>
              <a:ahLst/>
              <a:cxnLst/>
              <a:rect l="l" t="t" r="r" b="b"/>
              <a:pathLst>
                <a:path w="3897629" h="937895">
                  <a:moveTo>
                    <a:pt x="3442208" y="0"/>
                  </a:moveTo>
                  <a:lnTo>
                    <a:pt x="0" y="0"/>
                  </a:lnTo>
                  <a:lnTo>
                    <a:pt x="454944" y="481596"/>
                  </a:lnTo>
                  <a:lnTo>
                    <a:pt x="24101" y="937691"/>
                  </a:lnTo>
                  <a:lnTo>
                    <a:pt x="3466309" y="937691"/>
                  </a:lnTo>
                  <a:lnTo>
                    <a:pt x="3897147" y="481596"/>
                  </a:lnTo>
                  <a:lnTo>
                    <a:pt x="344220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837955" y="9349307"/>
              <a:ext cx="4291330" cy="937894"/>
            </a:xfrm>
            <a:custGeom>
              <a:avLst/>
              <a:gdLst/>
              <a:ahLst/>
              <a:cxnLst/>
              <a:rect l="l" t="t" r="r" b="b"/>
              <a:pathLst>
                <a:path w="4291330" h="937895">
                  <a:moveTo>
                    <a:pt x="2309266" y="481596"/>
                  </a:moveTo>
                  <a:lnTo>
                    <a:pt x="1854327" y="0"/>
                  </a:lnTo>
                  <a:lnTo>
                    <a:pt x="0" y="0"/>
                  </a:lnTo>
                  <a:lnTo>
                    <a:pt x="454952" y="481596"/>
                  </a:lnTo>
                  <a:lnTo>
                    <a:pt x="24104" y="937691"/>
                  </a:lnTo>
                  <a:lnTo>
                    <a:pt x="1878431" y="937691"/>
                  </a:lnTo>
                  <a:lnTo>
                    <a:pt x="2309266" y="481596"/>
                  </a:lnTo>
                  <a:close/>
                </a:path>
                <a:path w="4291330" h="937895">
                  <a:moveTo>
                    <a:pt x="4291292" y="481596"/>
                  </a:moveTo>
                  <a:lnTo>
                    <a:pt x="3836352" y="0"/>
                  </a:lnTo>
                  <a:lnTo>
                    <a:pt x="1982025" y="0"/>
                  </a:lnTo>
                  <a:lnTo>
                    <a:pt x="2436965" y="481596"/>
                  </a:lnTo>
                  <a:lnTo>
                    <a:pt x="2006117" y="937691"/>
                  </a:lnTo>
                  <a:lnTo>
                    <a:pt x="3860444" y="937691"/>
                  </a:lnTo>
                  <a:lnTo>
                    <a:pt x="4291292" y="481596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436" y="9522116"/>
              <a:ext cx="810662" cy="624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5961" y="9502038"/>
              <a:ext cx="584635" cy="6643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70197" y="9477171"/>
              <a:ext cx="714093" cy="7140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4189" y="9430664"/>
              <a:ext cx="679108" cy="7630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50856" y="9468789"/>
              <a:ext cx="737407" cy="7189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40693" y="9452698"/>
              <a:ext cx="560798" cy="7189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6403" y="900855"/>
              <a:ext cx="2540" cy="963294"/>
            </a:xfrm>
            <a:custGeom>
              <a:avLst/>
              <a:gdLst/>
              <a:ahLst/>
              <a:cxnLst/>
              <a:rect l="l" t="t" r="r" b="b"/>
              <a:pathLst>
                <a:path w="2540" h="963294">
                  <a:moveTo>
                    <a:pt x="0" y="0"/>
                  </a:moveTo>
                  <a:lnTo>
                    <a:pt x="2279" y="963206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19" name="object 19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5983" y="498886"/>
            <a:ext cx="81108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Scenario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Integration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ts val="4270"/>
              </a:lnSpc>
              <a:spcBef>
                <a:spcPts val="100"/>
              </a:spcBef>
            </a:pPr>
            <a:r>
              <a:rPr dirty="0"/>
              <a:t>From</a:t>
            </a:r>
            <a:r>
              <a:rPr dirty="0" spc="-30"/>
              <a:t> </a:t>
            </a:r>
            <a:r>
              <a:rPr dirty="0"/>
              <a:t>ESG</a:t>
            </a:r>
            <a:r>
              <a:rPr dirty="0" spc="-25"/>
              <a:t> </a:t>
            </a:r>
            <a:r>
              <a:rPr dirty="0"/>
              <a:t>Scenario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-10"/>
              <a:t>Valuation</a:t>
            </a:r>
          </a:p>
          <a:p>
            <a:pPr marL="27305">
              <a:lnSpc>
                <a:spcPts val="2350"/>
              </a:lnSpc>
            </a:pPr>
            <a:r>
              <a:rPr dirty="0" sz="2000"/>
              <a:t>Incremental</a:t>
            </a:r>
            <a:r>
              <a:rPr dirty="0" sz="2000" spc="-35"/>
              <a:t> </a:t>
            </a:r>
            <a:r>
              <a:rPr dirty="0" sz="2000"/>
              <a:t>ESG</a:t>
            </a:r>
            <a:r>
              <a:rPr dirty="0" sz="2000" spc="-30"/>
              <a:t> </a:t>
            </a:r>
            <a:r>
              <a:rPr dirty="0" sz="2000"/>
              <a:t>cash</a:t>
            </a:r>
            <a:r>
              <a:rPr dirty="0" sz="2000" spc="-30"/>
              <a:t> </a:t>
            </a:r>
            <a:r>
              <a:rPr dirty="0" sz="2000"/>
              <a:t>flows</a:t>
            </a:r>
            <a:r>
              <a:rPr dirty="0" sz="2000" spc="-30"/>
              <a:t> </a:t>
            </a:r>
            <a:r>
              <a:rPr dirty="0" sz="2000"/>
              <a:t>translate</a:t>
            </a:r>
            <a:r>
              <a:rPr dirty="0" sz="2000" spc="-30"/>
              <a:t> </a:t>
            </a:r>
            <a:r>
              <a:rPr dirty="0" sz="2000"/>
              <a:t>into</a:t>
            </a:r>
            <a:r>
              <a:rPr dirty="0" sz="2000" spc="-35"/>
              <a:t> </a:t>
            </a:r>
            <a:r>
              <a:rPr dirty="0" sz="2000"/>
              <a:t>an</a:t>
            </a:r>
            <a:r>
              <a:rPr dirty="0" sz="2000" spc="-30"/>
              <a:t> </a:t>
            </a:r>
            <a:r>
              <a:rPr dirty="0" sz="2000"/>
              <a:t>illustrative</a:t>
            </a:r>
            <a:r>
              <a:rPr dirty="0" sz="2000" spc="-30"/>
              <a:t> </a:t>
            </a:r>
            <a:r>
              <a:rPr dirty="0" sz="2000"/>
              <a:t>uplift</a:t>
            </a:r>
            <a:r>
              <a:rPr dirty="0" sz="2000" spc="-30"/>
              <a:t> </a:t>
            </a:r>
            <a:r>
              <a:rPr dirty="0" sz="2000"/>
              <a:t>in</a:t>
            </a:r>
            <a:r>
              <a:rPr dirty="0" sz="2000" spc="-30"/>
              <a:t> </a:t>
            </a:r>
            <a:r>
              <a:rPr dirty="0" sz="2000"/>
              <a:t>intrinsic</a:t>
            </a:r>
            <a:r>
              <a:rPr dirty="0" sz="2000" spc="-35"/>
              <a:t> </a:t>
            </a:r>
            <a:r>
              <a:rPr dirty="0" sz="2000" spc="-10"/>
              <a:t>value</a:t>
            </a:r>
            <a:endParaRPr sz="2000"/>
          </a:p>
        </p:txBody>
      </p:sp>
      <p:sp>
        <p:nvSpPr>
          <p:cNvPr id="22" name="object 22"/>
          <p:cNvSpPr txBox="1"/>
          <p:nvPr/>
        </p:nvSpPr>
        <p:spPr>
          <a:xfrm>
            <a:off x="2564257" y="2355545"/>
            <a:ext cx="367030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1.</a:t>
            </a:r>
            <a:r>
              <a:rPr dirty="0" sz="2400" spc="125" b="1">
                <a:solidFill>
                  <a:srgbClr val="24406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ESG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Scenario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83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decarbonization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6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1600" spc="-4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29346" y="2355545"/>
            <a:ext cx="298323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  <a:tabLst>
                <a:tab pos="435609" algn="l"/>
              </a:tabLst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2.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	Financial</a:t>
            </a:r>
            <a:r>
              <a:rPr dirty="0" sz="24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830"/>
              </a:lnSpc>
            </a:pP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Incremental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free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flows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304814" y="2380462"/>
            <a:ext cx="3446145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3.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 Outcome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83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Translating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flows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into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9726" y="3207181"/>
            <a:ext cx="1195933" cy="111602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362959" y="3480472"/>
            <a:ext cx="3545204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Increase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TSR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20%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55%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82138" y="4125404"/>
            <a:ext cx="152400" cy="499109"/>
            <a:chOff x="3782138" y="4125404"/>
            <a:chExt cx="152400" cy="499109"/>
          </a:xfrm>
        </p:grpSpPr>
        <p:sp>
          <p:nvSpPr>
            <p:cNvPr id="26" name="object 26"/>
            <p:cNvSpPr/>
            <p:nvPr/>
          </p:nvSpPr>
          <p:spPr>
            <a:xfrm>
              <a:off x="3852557" y="4144454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10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82138" y="4470603"/>
              <a:ext cx="152383" cy="15333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362959" y="4657750"/>
            <a:ext cx="333882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fossil-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consumption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Drives lower energy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costs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06091" y="4309300"/>
            <a:ext cx="1732280" cy="1488440"/>
            <a:chOff x="2206091" y="4309300"/>
            <a:chExt cx="1732280" cy="148844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6091" y="4309300"/>
              <a:ext cx="1270342" cy="120978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56393" y="5317934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10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85973" y="5644083"/>
              <a:ext cx="152383" cy="15333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370643" y="5792635"/>
            <a:ext cx="2655570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emissions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Reduces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CBAM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exposure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32787" y="5524385"/>
            <a:ext cx="1809750" cy="1395095"/>
            <a:chOff x="2132787" y="5524385"/>
            <a:chExt cx="1809750" cy="1395095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2787" y="5524385"/>
              <a:ext cx="1270342" cy="115329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60241" y="6439649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09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89821" y="6765798"/>
              <a:ext cx="152383" cy="15333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370643" y="6898805"/>
            <a:ext cx="241236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Transition</a:t>
            </a:r>
            <a:r>
              <a:rPr dirty="0" sz="2000" spc="-9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CAPEX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Upfront</a:t>
            </a:r>
            <a:r>
              <a:rPr dirty="0" sz="1800" spc="-3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1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1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223096" y="3145650"/>
            <a:ext cx="9831705" cy="4893945"/>
            <a:chOff x="2223096" y="3145650"/>
            <a:chExt cx="9831705" cy="4893945"/>
          </a:xfrm>
        </p:grpSpPr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23096" y="6840715"/>
              <a:ext cx="1160240" cy="119829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1487048" y="4546879"/>
              <a:ext cx="567690" cy="1731010"/>
            </a:xfrm>
            <a:custGeom>
              <a:avLst/>
              <a:gdLst/>
              <a:ahLst/>
              <a:cxnLst/>
              <a:rect l="l" t="t" r="r" b="b"/>
              <a:pathLst>
                <a:path w="567690" h="1731010">
                  <a:moveTo>
                    <a:pt x="283762" y="0"/>
                  </a:moveTo>
                  <a:lnTo>
                    <a:pt x="0" y="0"/>
                  </a:lnTo>
                  <a:lnTo>
                    <a:pt x="283762" y="865289"/>
                  </a:lnTo>
                  <a:lnTo>
                    <a:pt x="0" y="1730565"/>
                  </a:lnTo>
                  <a:lnTo>
                    <a:pt x="283762" y="1730565"/>
                  </a:lnTo>
                  <a:lnTo>
                    <a:pt x="567524" y="865289"/>
                  </a:lnTo>
                  <a:lnTo>
                    <a:pt x="283762" y="0"/>
                  </a:lnTo>
                  <a:close/>
                </a:path>
              </a:pathLst>
            </a:custGeom>
            <a:solidFill>
              <a:srgbClr val="94B3D6">
                <a:alpha val="8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75258" y="3145650"/>
              <a:ext cx="1278301" cy="239981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679903" y="3454742"/>
            <a:ext cx="221678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savings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EGP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1.12bn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Annual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Savings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302553" y="3413150"/>
            <a:ext cx="3009265" cy="72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Core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DCF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Fair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3350"/>
              </a:lnSpc>
            </a:pP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128.5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/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share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74595" y="4503318"/>
            <a:ext cx="253682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CBAM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burden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EGP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0.14bn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38313" y="5602833"/>
            <a:ext cx="4095115" cy="2892425"/>
            <a:chOff x="7438313" y="5602833"/>
            <a:chExt cx="4095115" cy="2892425"/>
          </a:xfrm>
        </p:grpSpPr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65808" y="5602833"/>
              <a:ext cx="1160240" cy="119829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438313" y="6843369"/>
              <a:ext cx="4095115" cy="1651635"/>
            </a:xfrm>
            <a:custGeom>
              <a:avLst/>
              <a:gdLst/>
              <a:ahLst/>
              <a:cxnLst/>
              <a:rect l="l" t="t" r="r" b="b"/>
              <a:pathLst>
                <a:path w="4095115" h="1651634">
                  <a:moveTo>
                    <a:pt x="3819715" y="0"/>
                  </a:moveTo>
                  <a:lnTo>
                    <a:pt x="275268" y="0"/>
                  </a:lnTo>
                  <a:lnTo>
                    <a:pt x="226057" y="4468"/>
                  </a:lnTo>
                  <a:lnTo>
                    <a:pt x="179629" y="17338"/>
                  </a:lnTo>
                  <a:lnTo>
                    <a:pt x="136787" y="37807"/>
                  </a:lnTo>
                  <a:lnTo>
                    <a:pt x="98335" y="65074"/>
                  </a:lnTo>
                  <a:lnTo>
                    <a:pt x="65075" y="98334"/>
                  </a:lnTo>
                  <a:lnTo>
                    <a:pt x="37808" y="136787"/>
                  </a:lnTo>
                  <a:lnTo>
                    <a:pt x="17338" y="179629"/>
                  </a:lnTo>
                  <a:lnTo>
                    <a:pt x="4468" y="226058"/>
                  </a:lnTo>
                  <a:lnTo>
                    <a:pt x="0" y="275272"/>
                  </a:lnTo>
                  <a:lnTo>
                    <a:pt x="0" y="1376311"/>
                  </a:lnTo>
                  <a:lnTo>
                    <a:pt x="4468" y="1425521"/>
                  </a:lnTo>
                  <a:lnTo>
                    <a:pt x="17338" y="1471947"/>
                  </a:lnTo>
                  <a:lnTo>
                    <a:pt x="37808" y="1514787"/>
                  </a:lnTo>
                  <a:lnTo>
                    <a:pt x="65075" y="1553238"/>
                  </a:lnTo>
                  <a:lnTo>
                    <a:pt x="98335" y="1586498"/>
                  </a:lnTo>
                  <a:lnTo>
                    <a:pt x="136787" y="1613764"/>
                  </a:lnTo>
                  <a:lnTo>
                    <a:pt x="179629" y="1634233"/>
                  </a:lnTo>
                  <a:lnTo>
                    <a:pt x="226057" y="1647103"/>
                  </a:lnTo>
                  <a:lnTo>
                    <a:pt x="275268" y="1651571"/>
                  </a:lnTo>
                  <a:lnTo>
                    <a:pt x="3819715" y="1651571"/>
                  </a:lnTo>
                  <a:lnTo>
                    <a:pt x="3868925" y="1647103"/>
                  </a:lnTo>
                  <a:lnTo>
                    <a:pt x="3915351" y="1634233"/>
                  </a:lnTo>
                  <a:lnTo>
                    <a:pt x="3958191" y="1613764"/>
                  </a:lnTo>
                  <a:lnTo>
                    <a:pt x="3996642" y="1586498"/>
                  </a:lnTo>
                  <a:lnTo>
                    <a:pt x="4029902" y="1553238"/>
                  </a:lnTo>
                  <a:lnTo>
                    <a:pt x="4057167" y="1514787"/>
                  </a:lnTo>
                  <a:lnTo>
                    <a:pt x="4077636" y="1471947"/>
                  </a:lnTo>
                  <a:lnTo>
                    <a:pt x="4090506" y="1425521"/>
                  </a:lnTo>
                  <a:lnTo>
                    <a:pt x="4094975" y="1376311"/>
                  </a:lnTo>
                  <a:lnTo>
                    <a:pt x="4094975" y="275272"/>
                  </a:lnTo>
                  <a:lnTo>
                    <a:pt x="4090506" y="226058"/>
                  </a:lnTo>
                  <a:lnTo>
                    <a:pt x="4077636" y="179629"/>
                  </a:lnTo>
                  <a:lnTo>
                    <a:pt x="4057167" y="136787"/>
                  </a:lnTo>
                  <a:lnTo>
                    <a:pt x="4029902" y="98334"/>
                  </a:lnTo>
                  <a:lnTo>
                    <a:pt x="3996642" y="65074"/>
                  </a:lnTo>
                  <a:lnTo>
                    <a:pt x="3958191" y="37807"/>
                  </a:lnTo>
                  <a:lnTo>
                    <a:pt x="3915351" y="17338"/>
                  </a:lnTo>
                  <a:lnTo>
                    <a:pt x="3868925" y="4468"/>
                  </a:lnTo>
                  <a:lnTo>
                    <a:pt x="3819715" y="0"/>
                  </a:lnTo>
                  <a:close/>
                </a:path>
              </a:pathLst>
            </a:custGeom>
            <a:solidFill>
              <a:srgbClr val="C7ED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683841" y="5667463"/>
            <a:ext cx="219773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Transition</a:t>
            </a:r>
            <a:r>
              <a:rPr dirty="0" sz="2000" spc="-9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EGP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0.28bn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In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2026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930605" y="4450588"/>
            <a:ext cx="6224270" cy="2266315"/>
            <a:chOff x="6930605" y="4450588"/>
            <a:chExt cx="6224270" cy="2266315"/>
          </a:xfrm>
        </p:grpSpPr>
        <p:sp>
          <p:nvSpPr>
            <p:cNvPr id="52" name="object 52"/>
            <p:cNvSpPr/>
            <p:nvPr/>
          </p:nvSpPr>
          <p:spPr>
            <a:xfrm>
              <a:off x="6930605" y="4637227"/>
              <a:ext cx="567690" cy="1731010"/>
            </a:xfrm>
            <a:custGeom>
              <a:avLst/>
              <a:gdLst/>
              <a:ahLst/>
              <a:cxnLst/>
              <a:rect l="l" t="t" r="r" b="b"/>
              <a:pathLst>
                <a:path w="567690" h="1731010">
                  <a:moveTo>
                    <a:pt x="283762" y="0"/>
                  </a:moveTo>
                  <a:lnTo>
                    <a:pt x="0" y="0"/>
                  </a:lnTo>
                  <a:lnTo>
                    <a:pt x="283762" y="865289"/>
                  </a:lnTo>
                  <a:lnTo>
                    <a:pt x="0" y="1730565"/>
                  </a:lnTo>
                  <a:lnTo>
                    <a:pt x="283762" y="1730565"/>
                  </a:lnTo>
                  <a:lnTo>
                    <a:pt x="567524" y="865289"/>
                  </a:lnTo>
                  <a:lnTo>
                    <a:pt x="283762" y="0"/>
                  </a:lnTo>
                  <a:close/>
                </a:path>
              </a:pathLst>
            </a:custGeom>
            <a:solidFill>
              <a:srgbClr val="94B3D6">
                <a:alpha val="8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2772657" y="4450587"/>
              <a:ext cx="382270" cy="2266315"/>
            </a:xfrm>
            <a:custGeom>
              <a:avLst/>
              <a:gdLst/>
              <a:ahLst/>
              <a:cxnLst/>
              <a:rect l="l" t="t" r="r" b="b"/>
              <a:pathLst>
                <a:path w="382269" h="2266315">
                  <a:moveTo>
                    <a:pt x="352158" y="2104605"/>
                  </a:moveTo>
                  <a:lnTo>
                    <a:pt x="271475" y="2104605"/>
                  </a:lnTo>
                  <a:lnTo>
                    <a:pt x="271475" y="1771294"/>
                  </a:lnTo>
                  <a:lnTo>
                    <a:pt x="110121" y="1771294"/>
                  </a:lnTo>
                  <a:lnTo>
                    <a:pt x="110121" y="2104605"/>
                  </a:lnTo>
                  <a:lnTo>
                    <a:pt x="29451" y="2104605"/>
                  </a:lnTo>
                  <a:lnTo>
                    <a:pt x="190804" y="2265972"/>
                  </a:lnTo>
                  <a:lnTo>
                    <a:pt x="352158" y="2104605"/>
                  </a:lnTo>
                  <a:close/>
                </a:path>
                <a:path w="382269" h="2266315">
                  <a:moveTo>
                    <a:pt x="381774" y="111760"/>
                  </a:moveTo>
                  <a:lnTo>
                    <a:pt x="243090" y="111760"/>
                  </a:lnTo>
                  <a:lnTo>
                    <a:pt x="243090" y="0"/>
                  </a:lnTo>
                  <a:lnTo>
                    <a:pt x="138696" y="0"/>
                  </a:lnTo>
                  <a:lnTo>
                    <a:pt x="138696" y="111760"/>
                  </a:lnTo>
                  <a:lnTo>
                    <a:pt x="0" y="111760"/>
                  </a:lnTo>
                  <a:lnTo>
                    <a:pt x="0" y="215900"/>
                  </a:lnTo>
                  <a:lnTo>
                    <a:pt x="138696" y="215900"/>
                  </a:lnTo>
                  <a:lnTo>
                    <a:pt x="138696" y="326390"/>
                  </a:lnTo>
                  <a:lnTo>
                    <a:pt x="243090" y="326390"/>
                  </a:lnTo>
                  <a:lnTo>
                    <a:pt x="243090" y="215900"/>
                  </a:lnTo>
                  <a:lnTo>
                    <a:pt x="381774" y="215900"/>
                  </a:lnTo>
                  <a:lnTo>
                    <a:pt x="381774" y="111760"/>
                  </a:lnTo>
                  <a:close/>
                </a:path>
              </a:pathLst>
            </a:custGeom>
            <a:solidFill>
              <a:srgbClr val="55BD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12302553" y="4990249"/>
            <a:ext cx="2361565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Illustrative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Uplift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3350"/>
              </a:lnSpc>
            </a:pP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+11.4%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(EGP</a:t>
            </a:r>
            <a:r>
              <a:rPr dirty="0" sz="18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14.6</a:t>
            </a:r>
            <a:r>
              <a:rPr dirty="0" sz="18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/</a:t>
            </a:r>
            <a:r>
              <a:rPr dirty="0" sz="18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share)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302553" y="6847319"/>
            <a:ext cx="3898900" cy="72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Illustrative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Scenario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Fair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3350"/>
              </a:lnSpc>
            </a:pP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143.0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44060"/>
                </a:solidFill>
                <a:latin typeface="Arial"/>
                <a:cs typeface="Arial"/>
              </a:rPr>
              <a:t>/</a:t>
            </a:r>
            <a:r>
              <a:rPr dirty="0" sz="2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244060"/>
                </a:solidFill>
                <a:latin typeface="Arial"/>
                <a:cs typeface="Arial"/>
              </a:rPr>
              <a:t>share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58315" y="7136917"/>
            <a:ext cx="3333115" cy="1094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90"/>
              </a:lnSpc>
              <a:spcBef>
                <a:spcPts val="100"/>
              </a:spcBef>
            </a:pPr>
            <a:r>
              <a:rPr dirty="0" sz="2400" b="1">
                <a:solidFill>
                  <a:srgbClr val="244060"/>
                </a:solidFill>
                <a:latin typeface="Arial"/>
                <a:cs typeface="Arial"/>
              </a:rPr>
              <a:t>EGP </a:t>
            </a: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5.07bn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820"/>
              </a:lnSpc>
            </a:pP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PV</a:t>
            </a:r>
            <a:r>
              <a:rPr dirty="0" sz="16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incremental</a:t>
            </a:r>
            <a:r>
              <a:rPr dirty="0" sz="1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244060"/>
                </a:solidFill>
                <a:latin typeface="Arial"/>
                <a:cs typeface="Arial"/>
              </a:rPr>
              <a:t>FCF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7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From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savings,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CBAM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effects</a:t>
            </a:r>
            <a:r>
              <a:rPr dirty="0" sz="1600" spc="50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transition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vs.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Core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 Case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96936" y="8823540"/>
            <a:ext cx="7518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**ESG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impact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presented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illustrative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scenario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embedded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Core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Case.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21208" y="9445241"/>
            <a:ext cx="2438400" cy="53975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84"/>
              </a:spcBef>
            </a:pP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Environmental,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Social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42940" y="0"/>
            <a:ext cx="17745075" cy="10287000"/>
            <a:chOff x="542940" y="0"/>
            <a:chExt cx="1774507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692" y="0"/>
              <a:ext cx="12774307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4852" y="923197"/>
              <a:ext cx="8255" cy="863600"/>
            </a:xfrm>
            <a:custGeom>
              <a:avLst/>
              <a:gdLst/>
              <a:ahLst/>
              <a:cxnLst/>
              <a:rect l="l" t="t" r="r" b="b"/>
              <a:pathLst>
                <a:path w="8254" h="863600">
                  <a:moveTo>
                    <a:pt x="0" y="0"/>
                  </a:moveTo>
                  <a:lnTo>
                    <a:pt x="8165" y="863346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15983" y="466091"/>
            <a:ext cx="13420725" cy="130619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Relative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endParaRPr sz="20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465"/>
              </a:spcBef>
            </a:pP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Peer</a:t>
            </a:r>
            <a:r>
              <a:rPr dirty="0" sz="36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Multiples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Provide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Market-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Based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Cross-Check</a:t>
            </a:r>
            <a:endParaRPr sz="36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ARCC’s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implied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fair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remains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above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current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share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across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both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P/E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EV/EBITDA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approaches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79070" y="2091626"/>
          <a:ext cx="9626600" cy="511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75"/>
                <a:gridCol w="2894329"/>
                <a:gridCol w="2894329"/>
              </a:tblGrid>
              <a:tr h="1022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Peers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P/E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EBITDA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MCQE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SCEM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SVCE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34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1022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2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NBSC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dirty="0" sz="2800" spc="-5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55270">
                    <a:lnL w="38100">
                      <a:solidFill>
                        <a:srgbClr val="004A6B"/>
                      </a:solidFill>
                      <a:prstDash val="solid"/>
                    </a:lnL>
                    <a:lnR w="38100">
                      <a:solidFill>
                        <a:srgbClr val="004A6B"/>
                      </a:solidFill>
                      <a:prstDash val="solid"/>
                    </a:lnR>
                    <a:lnT w="38100">
                      <a:solidFill>
                        <a:srgbClr val="004A6B"/>
                      </a:solidFill>
                      <a:prstDash val="solid"/>
                    </a:lnT>
                    <a:lnB w="38100">
                      <a:solidFill>
                        <a:srgbClr val="004A6B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1529283" y="3828719"/>
            <a:ext cx="44856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3015" algn="l"/>
              </a:tabLst>
            </a:pPr>
            <a:r>
              <a:rPr dirty="0" sz="2700" spc="-195" b="1">
                <a:solidFill>
                  <a:srgbClr val="244060"/>
                </a:solidFill>
                <a:latin typeface="Arial"/>
                <a:cs typeface="Arial"/>
              </a:rPr>
              <a:t>TOTAL</a:t>
            </a:r>
            <a:r>
              <a:rPr dirty="0" sz="2700" spc="-39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700" spc="-204" b="1">
                <a:solidFill>
                  <a:srgbClr val="244060"/>
                </a:solidFill>
                <a:latin typeface="Arial"/>
                <a:cs typeface="Arial"/>
              </a:rPr>
              <a:t>TARGET</a:t>
            </a:r>
            <a:r>
              <a:rPr dirty="0" sz="2700" spc="-39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r>
              <a:rPr dirty="0" sz="27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2700" spc="-125" b="1">
                <a:solidFill>
                  <a:srgbClr val="244060"/>
                </a:solidFill>
                <a:latin typeface="Arial"/>
                <a:cs typeface="Arial"/>
              </a:rPr>
              <a:t>BUY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983656" y="4436148"/>
            <a:ext cx="4798060" cy="2122805"/>
            <a:chOff x="11983656" y="4436148"/>
            <a:chExt cx="4798060" cy="2122805"/>
          </a:xfrm>
        </p:grpSpPr>
        <p:sp>
          <p:nvSpPr>
            <p:cNvPr id="14" name="object 14"/>
            <p:cNvSpPr/>
            <p:nvPr/>
          </p:nvSpPr>
          <p:spPr>
            <a:xfrm>
              <a:off x="11983656" y="4436148"/>
              <a:ext cx="2122805" cy="2122805"/>
            </a:xfrm>
            <a:custGeom>
              <a:avLst/>
              <a:gdLst/>
              <a:ahLst/>
              <a:cxnLst/>
              <a:rect l="l" t="t" r="r" b="b"/>
              <a:pathLst>
                <a:path w="2122805" h="2122804">
                  <a:moveTo>
                    <a:pt x="1061394" y="0"/>
                  </a:moveTo>
                  <a:lnTo>
                    <a:pt x="1012810" y="1092"/>
                  </a:lnTo>
                  <a:lnTo>
                    <a:pt x="964786" y="4337"/>
                  </a:lnTo>
                  <a:lnTo>
                    <a:pt x="917369" y="9689"/>
                  </a:lnTo>
                  <a:lnTo>
                    <a:pt x="870607" y="17100"/>
                  </a:lnTo>
                  <a:lnTo>
                    <a:pt x="824546" y="26524"/>
                  </a:lnTo>
                  <a:lnTo>
                    <a:pt x="779233" y="37913"/>
                  </a:lnTo>
                  <a:lnTo>
                    <a:pt x="734715" y="51222"/>
                  </a:lnTo>
                  <a:lnTo>
                    <a:pt x="691039" y="66402"/>
                  </a:lnTo>
                  <a:lnTo>
                    <a:pt x="648251" y="83408"/>
                  </a:lnTo>
                  <a:lnTo>
                    <a:pt x="606399" y="102193"/>
                  </a:lnTo>
                  <a:lnTo>
                    <a:pt x="565528" y="122709"/>
                  </a:lnTo>
                  <a:lnTo>
                    <a:pt x="525687" y="144909"/>
                  </a:lnTo>
                  <a:lnTo>
                    <a:pt x="486922" y="168748"/>
                  </a:lnTo>
                  <a:lnTo>
                    <a:pt x="449280" y="194178"/>
                  </a:lnTo>
                  <a:lnTo>
                    <a:pt x="412807" y="221152"/>
                  </a:lnTo>
                  <a:lnTo>
                    <a:pt x="377550" y="249624"/>
                  </a:lnTo>
                  <a:lnTo>
                    <a:pt x="343557" y="279546"/>
                  </a:lnTo>
                  <a:lnTo>
                    <a:pt x="310874" y="310872"/>
                  </a:lnTo>
                  <a:lnTo>
                    <a:pt x="279548" y="343555"/>
                  </a:lnTo>
                  <a:lnTo>
                    <a:pt x="249626" y="377548"/>
                  </a:lnTo>
                  <a:lnTo>
                    <a:pt x="221154" y="412804"/>
                  </a:lnTo>
                  <a:lnTo>
                    <a:pt x="194180" y="449276"/>
                  </a:lnTo>
                  <a:lnTo>
                    <a:pt x="168750" y="486919"/>
                  </a:lnTo>
                  <a:lnTo>
                    <a:pt x="144911" y="525684"/>
                  </a:lnTo>
                  <a:lnTo>
                    <a:pt x="122710" y="565524"/>
                  </a:lnTo>
                  <a:lnTo>
                    <a:pt x="102193" y="606394"/>
                  </a:lnTo>
                  <a:lnTo>
                    <a:pt x="83409" y="648247"/>
                  </a:lnTo>
                  <a:lnTo>
                    <a:pt x="66403" y="691034"/>
                  </a:lnTo>
                  <a:lnTo>
                    <a:pt x="51222" y="734710"/>
                  </a:lnTo>
                  <a:lnTo>
                    <a:pt x="37913" y="779228"/>
                  </a:lnTo>
                  <a:lnTo>
                    <a:pt x="26524" y="824541"/>
                  </a:lnTo>
                  <a:lnTo>
                    <a:pt x="17100" y="870602"/>
                  </a:lnTo>
                  <a:lnTo>
                    <a:pt x="9689" y="917364"/>
                  </a:lnTo>
                  <a:lnTo>
                    <a:pt x="4337" y="964781"/>
                  </a:lnTo>
                  <a:lnTo>
                    <a:pt x="1092" y="1012805"/>
                  </a:lnTo>
                  <a:lnTo>
                    <a:pt x="0" y="1061389"/>
                  </a:lnTo>
                  <a:lnTo>
                    <a:pt x="1092" y="1109974"/>
                  </a:lnTo>
                  <a:lnTo>
                    <a:pt x="4337" y="1157998"/>
                  </a:lnTo>
                  <a:lnTo>
                    <a:pt x="9689" y="1205415"/>
                  </a:lnTo>
                  <a:lnTo>
                    <a:pt x="17100" y="1252177"/>
                  </a:lnTo>
                  <a:lnTo>
                    <a:pt x="26524" y="1298238"/>
                  </a:lnTo>
                  <a:lnTo>
                    <a:pt x="37913" y="1343551"/>
                  </a:lnTo>
                  <a:lnTo>
                    <a:pt x="51222" y="1388069"/>
                  </a:lnTo>
                  <a:lnTo>
                    <a:pt x="66403" y="1431746"/>
                  </a:lnTo>
                  <a:lnTo>
                    <a:pt x="83409" y="1474534"/>
                  </a:lnTo>
                  <a:lnTo>
                    <a:pt x="102193" y="1516387"/>
                  </a:lnTo>
                  <a:lnTo>
                    <a:pt x="122710" y="1557257"/>
                  </a:lnTo>
                  <a:lnTo>
                    <a:pt x="144911" y="1597098"/>
                  </a:lnTo>
                  <a:lnTo>
                    <a:pt x="168750" y="1635864"/>
                  </a:lnTo>
                  <a:lnTo>
                    <a:pt x="194180" y="1673507"/>
                  </a:lnTo>
                  <a:lnTo>
                    <a:pt x="221154" y="1709980"/>
                  </a:lnTo>
                  <a:lnTo>
                    <a:pt x="249626" y="1745236"/>
                  </a:lnTo>
                  <a:lnTo>
                    <a:pt x="279548" y="1779230"/>
                  </a:lnTo>
                  <a:lnTo>
                    <a:pt x="310874" y="1811913"/>
                  </a:lnTo>
                  <a:lnTo>
                    <a:pt x="343557" y="1843240"/>
                  </a:lnTo>
                  <a:lnTo>
                    <a:pt x="377550" y="1873162"/>
                  </a:lnTo>
                  <a:lnTo>
                    <a:pt x="412807" y="1901634"/>
                  </a:lnTo>
                  <a:lnTo>
                    <a:pt x="449280" y="1928609"/>
                  </a:lnTo>
                  <a:lnTo>
                    <a:pt x="486922" y="1954039"/>
                  </a:lnTo>
                  <a:lnTo>
                    <a:pt x="525687" y="1977879"/>
                  </a:lnTo>
                  <a:lnTo>
                    <a:pt x="565528" y="2000080"/>
                  </a:lnTo>
                  <a:lnTo>
                    <a:pt x="606399" y="2020596"/>
                  </a:lnTo>
                  <a:lnTo>
                    <a:pt x="648251" y="2039381"/>
                  </a:lnTo>
                  <a:lnTo>
                    <a:pt x="691039" y="2056387"/>
                  </a:lnTo>
                  <a:lnTo>
                    <a:pt x="734715" y="2071568"/>
                  </a:lnTo>
                  <a:lnTo>
                    <a:pt x="779233" y="2084877"/>
                  </a:lnTo>
                  <a:lnTo>
                    <a:pt x="824546" y="2096267"/>
                  </a:lnTo>
                  <a:lnTo>
                    <a:pt x="870607" y="2105691"/>
                  </a:lnTo>
                  <a:lnTo>
                    <a:pt x="917369" y="2113102"/>
                  </a:lnTo>
                  <a:lnTo>
                    <a:pt x="964786" y="2118454"/>
                  </a:lnTo>
                  <a:lnTo>
                    <a:pt x="1012810" y="2121700"/>
                  </a:lnTo>
                  <a:lnTo>
                    <a:pt x="1061394" y="2122792"/>
                  </a:lnTo>
                  <a:lnTo>
                    <a:pt x="1109979" y="2121700"/>
                  </a:lnTo>
                  <a:lnTo>
                    <a:pt x="1158002" y="2118454"/>
                  </a:lnTo>
                  <a:lnTo>
                    <a:pt x="1205419" y="2113102"/>
                  </a:lnTo>
                  <a:lnTo>
                    <a:pt x="1252181" y="2105691"/>
                  </a:lnTo>
                  <a:lnTo>
                    <a:pt x="1298241" y="2096267"/>
                  </a:lnTo>
                  <a:lnTo>
                    <a:pt x="1343554" y="2084877"/>
                  </a:lnTo>
                  <a:lnTo>
                    <a:pt x="1388072" y="2071568"/>
                  </a:lnTo>
                  <a:lnTo>
                    <a:pt x="1431748" y="2056387"/>
                  </a:lnTo>
                  <a:lnTo>
                    <a:pt x="1474536" y="2039381"/>
                  </a:lnTo>
                  <a:lnTo>
                    <a:pt x="1516389" y="2020596"/>
                  </a:lnTo>
                  <a:lnTo>
                    <a:pt x="1557259" y="2000080"/>
                  </a:lnTo>
                  <a:lnTo>
                    <a:pt x="1597100" y="1977879"/>
                  </a:lnTo>
                  <a:lnTo>
                    <a:pt x="1635865" y="1954039"/>
                  </a:lnTo>
                  <a:lnTo>
                    <a:pt x="1673508" y="1928609"/>
                  </a:lnTo>
                  <a:lnTo>
                    <a:pt x="1709981" y="1901634"/>
                  </a:lnTo>
                  <a:lnTo>
                    <a:pt x="1745237" y="1873162"/>
                  </a:lnTo>
                  <a:lnTo>
                    <a:pt x="1779231" y="1843240"/>
                  </a:lnTo>
                  <a:lnTo>
                    <a:pt x="1811914" y="1811913"/>
                  </a:lnTo>
                  <a:lnTo>
                    <a:pt x="1843240" y="1779230"/>
                  </a:lnTo>
                  <a:lnTo>
                    <a:pt x="1873163" y="1745236"/>
                  </a:lnTo>
                  <a:lnTo>
                    <a:pt x="1901635" y="1709980"/>
                  </a:lnTo>
                  <a:lnTo>
                    <a:pt x="1928609" y="1673507"/>
                  </a:lnTo>
                  <a:lnTo>
                    <a:pt x="1954040" y="1635864"/>
                  </a:lnTo>
                  <a:lnTo>
                    <a:pt x="1977879" y="1597098"/>
                  </a:lnTo>
                  <a:lnTo>
                    <a:pt x="2000080" y="1557257"/>
                  </a:lnTo>
                  <a:lnTo>
                    <a:pt x="2020596" y="1516387"/>
                  </a:lnTo>
                  <a:lnTo>
                    <a:pt x="2039381" y="1474534"/>
                  </a:lnTo>
                  <a:lnTo>
                    <a:pt x="2056388" y="1431746"/>
                  </a:lnTo>
                  <a:lnTo>
                    <a:pt x="2071569" y="1388069"/>
                  </a:lnTo>
                  <a:lnTo>
                    <a:pt x="2084877" y="1343551"/>
                  </a:lnTo>
                  <a:lnTo>
                    <a:pt x="2096267" y="1298238"/>
                  </a:lnTo>
                  <a:lnTo>
                    <a:pt x="2105691" y="1252177"/>
                  </a:lnTo>
                  <a:lnTo>
                    <a:pt x="2113102" y="1205415"/>
                  </a:lnTo>
                  <a:lnTo>
                    <a:pt x="2118454" y="1157998"/>
                  </a:lnTo>
                  <a:lnTo>
                    <a:pt x="2121700" y="1109974"/>
                  </a:lnTo>
                  <a:lnTo>
                    <a:pt x="2122792" y="1061389"/>
                  </a:lnTo>
                  <a:lnTo>
                    <a:pt x="2121700" y="1012805"/>
                  </a:lnTo>
                  <a:lnTo>
                    <a:pt x="2118454" y="964781"/>
                  </a:lnTo>
                  <a:lnTo>
                    <a:pt x="2113102" y="917364"/>
                  </a:lnTo>
                  <a:lnTo>
                    <a:pt x="2105691" y="870602"/>
                  </a:lnTo>
                  <a:lnTo>
                    <a:pt x="2096267" y="824541"/>
                  </a:lnTo>
                  <a:lnTo>
                    <a:pt x="2084877" y="779228"/>
                  </a:lnTo>
                  <a:lnTo>
                    <a:pt x="2071569" y="734710"/>
                  </a:lnTo>
                  <a:lnTo>
                    <a:pt x="2056388" y="691034"/>
                  </a:lnTo>
                  <a:lnTo>
                    <a:pt x="2039381" y="648247"/>
                  </a:lnTo>
                  <a:lnTo>
                    <a:pt x="2020596" y="606394"/>
                  </a:lnTo>
                  <a:lnTo>
                    <a:pt x="2000080" y="565524"/>
                  </a:lnTo>
                  <a:lnTo>
                    <a:pt x="1977879" y="525684"/>
                  </a:lnTo>
                  <a:lnTo>
                    <a:pt x="1954040" y="486919"/>
                  </a:lnTo>
                  <a:lnTo>
                    <a:pt x="1928609" y="449276"/>
                  </a:lnTo>
                  <a:lnTo>
                    <a:pt x="1901635" y="412804"/>
                  </a:lnTo>
                  <a:lnTo>
                    <a:pt x="1873163" y="377548"/>
                  </a:lnTo>
                  <a:lnTo>
                    <a:pt x="1843240" y="343555"/>
                  </a:lnTo>
                  <a:lnTo>
                    <a:pt x="1811914" y="310872"/>
                  </a:lnTo>
                  <a:lnTo>
                    <a:pt x="1779231" y="279546"/>
                  </a:lnTo>
                  <a:lnTo>
                    <a:pt x="1745237" y="249624"/>
                  </a:lnTo>
                  <a:lnTo>
                    <a:pt x="1709981" y="221152"/>
                  </a:lnTo>
                  <a:lnTo>
                    <a:pt x="1673508" y="194178"/>
                  </a:lnTo>
                  <a:lnTo>
                    <a:pt x="1635865" y="168748"/>
                  </a:lnTo>
                  <a:lnTo>
                    <a:pt x="1597100" y="144909"/>
                  </a:lnTo>
                  <a:lnTo>
                    <a:pt x="1557259" y="122709"/>
                  </a:lnTo>
                  <a:lnTo>
                    <a:pt x="1516389" y="102193"/>
                  </a:lnTo>
                  <a:lnTo>
                    <a:pt x="1474536" y="83408"/>
                  </a:lnTo>
                  <a:lnTo>
                    <a:pt x="1431748" y="66402"/>
                  </a:lnTo>
                  <a:lnTo>
                    <a:pt x="1388072" y="51222"/>
                  </a:lnTo>
                  <a:lnTo>
                    <a:pt x="1343554" y="37913"/>
                  </a:lnTo>
                  <a:lnTo>
                    <a:pt x="1298241" y="26524"/>
                  </a:lnTo>
                  <a:lnTo>
                    <a:pt x="1252181" y="17100"/>
                  </a:lnTo>
                  <a:lnTo>
                    <a:pt x="1205419" y="9689"/>
                  </a:lnTo>
                  <a:lnTo>
                    <a:pt x="1158002" y="4337"/>
                  </a:lnTo>
                  <a:lnTo>
                    <a:pt x="1109979" y="1092"/>
                  </a:lnTo>
                  <a:lnTo>
                    <a:pt x="1061394" y="0"/>
                  </a:lnTo>
                  <a:close/>
                </a:path>
              </a:pathLst>
            </a:custGeom>
            <a:solidFill>
              <a:srgbClr val="D2E3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161722" y="4614214"/>
              <a:ext cx="1767205" cy="1767205"/>
            </a:xfrm>
            <a:custGeom>
              <a:avLst/>
              <a:gdLst/>
              <a:ahLst/>
              <a:cxnLst/>
              <a:rect l="l" t="t" r="r" b="b"/>
              <a:pathLst>
                <a:path w="1767205" h="1767204">
                  <a:moveTo>
                    <a:pt x="883334" y="0"/>
                  </a:moveTo>
                  <a:lnTo>
                    <a:pt x="834868" y="1307"/>
                  </a:lnTo>
                  <a:lnTo>
                    <a:pt x="787085" y="5183"/>
                  </a:lnTo>
                  <a:lnTo>
                    <a:pt x="740052" y="11561"/>
                  </a:lnTo>
                  <a:lnTo>
                    <a:pt x="693838" y="20373"/>
                  </a:lnTo>
                  <a:lnTo>
                    <a:pt x="648509" y="31553"/>
                  </a:lnTo>
                  <a:lnTo>
                    <a:pt x="604132" y="45032"/>
                  </a:lnTo>
                  <a:lnTo>
                    <a:pt x="560775" y="60744"/>
                  </a:lnTo>
                  <a:lnTo>
                    <a:pt x="518506" y="78621"/>
                  </a:lnTo>
                  <a:lnTo>
                    <a:pt x="477391" y="98595"/>
                  </a:lnTo>
                  <a:lnTo>
                    <a:pt x="437498" y="120600"/>
                  </a:lnTo>
                  <a:lnTo>
                    <a:pt x="398895" y="144567"/>
                  </a:lnTo>
                  <a:lnTo>
                    <a:pt x="361648" y="170431"/>
                  </a:lnTo>
                  <a:lnTo>
                    <a:pt x="325825" y="198122"/>
                  </a:lnTo>
                  <a:lnTo>
                    <a:pt x="291494" y="227575"/>
                  </a:lnTo>
                  <a:lnTo>
                    <a:pt x="258722" y="258721"/>
                  </a:lnTo>
                  <a:lnTo>
                    <a:pt x="227576" y="291493"/>
                  </a:lnTo>
                  <a:lnTo>
                    <a:pt x="198123" y="325824"/>
                  </a:lnTo>
                  <a:lnTo>
                    <a:pt x="170432" y="361647"/>
                  </a:lnTo>
                  <a:lnTo>
                    <a:pt x="144568" y="398893"/>
                  </a:lnTo>
                  <a:lnTo>
                    <a:pt x="120600" y="437497"/>
                  </a:lnTo>
                  <a:lnTo>
                    <a:pt x="98596" y="477389"/>
                  </a:lnTo>
                  <a:lnTo>
                    <a:pt x="78621" y="518504"/>
                  </a:lnTo>
                  <a:lnTo>
                    <a:pt x="60744" y="560774"/>
                  </a:lnTo>
                  <a:lnTo>
                    <a:pt x="45032" y="604131"/>
                  </a:lnTo>
                  <a:lnTo>
                    <a:pt x="31553" y="648508"/>
                  </a:lnTo>
                  <a:lnTo>
                    <a:pt x="20373" y="693838"/>
                  </a:lnTo>
                  <a:lnTo>
                    <a:pt x="11561" y="740052"/>
                  </a:lnTo>
                  <a:lnTo>
                    <a:pt x="5183" y="787085"/>
                  </a:lnTo>
                  <a:lnTo>
                    <a:pt x="1307" y="834869"/>
                  </a:lnTo>
                  <a:lnTo>
                    <a:pt x="0" y="883335"/>
                  </a:lnTo>
                  <a:lnTo>
                    <a:pt x="1307" y="931802"/>
                  </a:lnTo>
                  <a:lnTo>
                    <a:pt x="5183" y="979585"/>
                  </a:lnTo>
                  <a:lnTo>
                    <a:pt x="11561" y="1026618"/>
                  </a:lnTo>
                  <a:lnTo>
                    <a:pt x="20373" y="1072833"/>
                  </a:lnTo>
                  <a:lnTo>
                    <a:pt x="31553" y="1118163"/>
                  </a:lnTo>
                  <a:lnTo>
                    <a:pt x="45032" y="1162540"/>
                  </a:lnTo>
                  <a:lnTo>
                    <a:pt x="60744" y="1205897"/>
                  </a:lnTo>
                  <a:lnTo>
                    <a:pt x="78621" y="1248166"/>
                  </a:lnTo>
                  <a:lnTo>
                    <a:pt x="98596" y="1289281"/>
                  </a:lnTo>
                  <a:lnTo>
                    <a:pt x="120600" y="1329174"/>
                  </a:lnTo>
                  <a:lnTo>
                    <a:pt x="144568" y="1367777"/>
                  </a:lnTo>
                  <a:lnTo>
                    <a:pt x="170432" y="1405024"/>
                  </a:lnTo>
                  <a:lnTo>
                    <a:pt x="198123" y="1440847"/>
                  </a:lnTo>
                  <a:lnTo>
                    <a:pt x="227576" y="1475178"/>
                  </a:lnTo>
                  <a:lnTo>
                    <a:pt x="258722" y="1507950"/>
                  </a:lnTo>
                  <a:lnTo>
                    <a:pt x="291494" y="1539096"/>
                  </a:lnTo>
                  <a:lnTo>
                    <a:pt x="325825" y="1568548"/>
                  </a:lnTo>
                  <a:lnTo>
                    <a:pt x="361648" y="1596240"/>
                  </a:lnTo>
                  <a:lnTo>
                    <a:pt x="398895" y="1622103"/>
                  </a:lnTo>
                  <a:lnTo>
                    <a:pt x="437498" y="1646071"/>
                  </a:lnTo>
                  <a:lnTo>
                    <a:pt x="477391" y="1668076"/>
                  </a:lnTo>
                  <a:lnTo>
                    <a:pt x="518506" y="1688050"/>
                  </a:lnTo>
                  <a:lnTo>
                    <a:pt x="560775" y="1705927"/>
                  </a:lnTo>
                  <a:lnTo>
                    <a:pt x="604132" y="1721639"/>
                  </a:lnTo>
                  <a:lnTo>
                    <a:pt x="648509" y="1735118"/>
                  </a:lnTo>
                  <a:lnTo>
                    <a:pt x="693838" y="1746297"/>
                  </a:lnTo>
                  <a:lnTo>
                    <a:pt x="740052" y="1755110"/>
                  </a:lnTo>
                  <a:lnTo>
                    <a:pt x="787085" y="1761488"/>
                  </a:lnTo>
                  <a:lnTo>
                    <a:pt x="834868" y="1765364"/>
                  </a:lnTo>
                  <a:lnTo>
                    <a:pt x="883334" y="1766671"/>
                  </a:lnTo>
                  <a:lnTo>
                    <a:pt x="931801" y="1765364"/>
                  </a:lnTo>
                  <a:lnTo>
                    <a:pt x="979584" y="1761488"/>
                  </a:lnTo>
                  <a:lnTo>
                    <a:pt x="1026617" y="1755110"/>
                  </a:lnTo>
                  <a:lnTo>
                    <a:pt x="1072832" y="1746297"/>
                  </a:lnTo>
                  <a:lnTo>
                    <a:pt x="1118162" y="1735118"/>
                  </a:lnTo>
                  <a:lnTo>
                    <a:pt x="1162539" y="1721639"/>
                  </a:lnTo>
                  <a:lnTo>
                    <a:pt x="1205896" y="1705927"/>
                  </a:lnTo>
                  <a:lnTo>
                    <a:pt x="1248166" y="1688050"/>
                  </a:lnTo>
                  <a:lnTo>
                    <a:pt x="1289281" y="1668076"/>
                  </a:lnTo>
                  <a:lnTo>
                    <a:pt x="1329174" y="1646071"/>
                  </a:lnTo>
                  <a:lnTo>
                    <a:pt x="1367777" y="1622103"/>
                  </a:lnTo>
                  <a:lnTo>
                    <a:pt x="1405024" y="1596240"/>
                  </a:lnTo>
                  <a:lnTo>
                    <a:pt x="1440846" y="1568548"/>
                  </a:lnTo>
                  <a:lnTo>
                    <a:pt x="1475177" y="1539096"/>
                  </a:lnTo>
                  <a:lnTo>
                    <a:pt x="1507950" y="1507950"/>
                  </a:lnTo>
                  <a:lnTo>
                    <a:pt x="1539096" y="1475178"/>
                  </a:lnTo>
                  <a:lnTo>
                    <a:pt x="1568548" y="1440847"/>
                  </a:lnTo>
                  <a:lnTo>
                    <a:pt x="1596240" y="1405024"/>
                  </a:lnTo>
                  <a:lnTo>
                    <a:pt x="1622103" y="1367777"/>
                  </a:lnTo>
                  <a:lnTo>
                    <a:pt x="1646071" y="1329174"/>
                  </a:lnTo>
                  <a:lnTo>
                    <a:pt x="1668076" y="1289281"/>
                  </a:lnTo>
                  <a:lnTo>
                    <a:pt x="1688050" y="1248166"/>
                  </a:lnTo>
                  <a:lnTo>
                    <a:pt x="1705927" y="1205897"/>
                  </a:lnTo>
                  <a:lnTo>
                    <a:pt x="1721639" y="1162540"/>
                  </a:lnTo>
                  <a:lnTo>
                    <a:pt x="1735118" y="1118163"/>
                  </a:lnTo>
                  <a:lnTo>
                    <a:pt x="1746297" y="1072833"/>
                  </a:lnTo>
                  <a:lnTo>
                    <a:pt x="1755110" y="1026618"/>
                  </a:lnTo>
                  <a:lnTo>
                    <a:pt x="1761488" y="979585"/>
                  </a:lnTo>
                  <a:lnTo>
                    <a:pt x="1765364" y="931802"/>
                  </a:lnTo>
                  <a:lnTo>
                    <a:pt x="1766671" y="883335"/>
                  </a:lnTo>
                  <a:lnTo>
                    <a:pt x="1765364" y="834869"/>
                  </a:lnTo>
                  <a:lnTo>
                    <a:pt x="1761488" y="787085"/>
                  </a:lnTo>
                  <a:lnTo>
                    <a:pt x="1755110" y="740052"/>
                  </a:lnTo>
                  <a:lnTo>
                    <a:pt x="1746297" y="693838"/>
                  </a:lnTo>
                  <a:lnTo>
                    <a:pt x="1735118" y="648508"/>
                  </a:lnTo>
                  <a:lnTo>
                    <a:pt x="1721639" y="604131"/>
                  </a:lnTo>
                  <a:lnTo>
                    <a:pt x="1705927" y="560774"/>
                  </a:lnTo>
                  <a:lnTo>
                    <a:pt x="1688050" y="518504"/>
                  </a:lnTo>
                  <a:lnTo>
                    <a:pt x="1668076" y="477389"/>
                  </a:lnTo>
                  <a:lnTo>
                    <a:pt x="1646071" y="437497"/>
                  </a:lnTo>
                  <a:lnTo>
                    <a:pt x="1622103" y="398893"/>
                  </a:lnTo>
                  <a:lnTo>
                    <a:pt x="1596240" y="361647"/>
                  </a:lnTo>
                  <a:lnTo>
                    <a:pt x="1568548" y="325824"/>
                  </a:lnTo>
                  <a:lnTo>
                    <a:pt x="1539096" y="291493"/>
                  </a:lnTo>
                  <a:lnTo>
                    <a:pt x="1507950" y="258721"/>
                  </a:lnTo>
                  <a:lnTo>
                    <a:pt x="1475177" y="227575"/>
                  </a:lnTo>
                  <a:lnTo>
                    <a:pt x="1440846" y="198122"/>
                  </a:lnTo>
                  <a:lnTo>
                    <a:pt x="1405024" y="170431"/>
                  </a:lnTo>
                  <a:lnTo>
                    <a:pt x="1367777" y="144567"/>
                  </a:lnTo>
                  <a:lnTo>
                    <a:pt x="1329174" y="120600"/>
                  </a:lnTo>
                  <a:lnTo>
                    <a:pt x="1289281" y="98595"/>
                  </a:lnTo>
                  <a:lnTo>
                    <a:pt x="1248166" y="78621"/>
                  </a:lnTo>
                  <a:lnTo>
                    <a:pt x="1205896" y="60744"/>
                  </a:lnTo>
                  <a:lnTo>
                    <a:pt x="1162539" y="45032"/>
                  </a:lnTo>
                  <a:lnTo>
                    <a:pt x="1118162" y="31553"/>
                  </a:lnTo>
                  <a:lnTo>
                    <a:pt x="1072832" y="20373"/>
                  </a:lnTo>
                  <a:lnTo>
                    <a:pt x="1026617" y="11561"/>
                  </a:lnTo>
                  <a:lnTo>
                    <a:pt x="979584" y="5183"/>
                  </a:lnTo>
                  <a:lnTo>
                    <a:pt x="931801" y="1307"/>
                  </a:lnTo>
                  <a:lnTo>
                    <a:pt x="88333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658593" y="4436148"/>
              <a:ext cx="2122805" cy="2122805"/>
            </a:xfrm>
            <a:custGeom>
              <a:avLst/>
              <a:gdLst/>
              <a:ahLst/>
              <a:cxnLst/>
              <a:rect l="l" t="t" r="r" b="b"/>
              <a:pathLst>
                <a:path w="2122805" h="2122804">
                  <a:moveTo>
                    <a:pt x="1061394" y="0"/>
                  </a:moveTo>
                  <a:lnTo>
                    <a:pt x="1012810" y="1092"/>
                  </a:lnTo>
                  <a:lnTo>
                    <a:pt x="964786" y="4337"/>
                  </a:lnTo>
                  <a:lnTo>
                    <a:pt x="917369" y="9689"/>
                  </a:lnTo>
                  <a:lnTo>
                    <a:pt x="870607" y="17100"/>
                  </a:lnTo>
                  <a:lnTo>
                    <a:pt x="824546" y="26524"/>
                  </a:lnTo>
                  <a:lnTo>
                    <a:pt x="779233" y="37913"/>
                  </a:lnTo>
                  <a:lnTo>
                    <a:pt x="734715" y="51222"/>
                  </a:lnTo>
                  <a:lnTo>
                    <a:pt x="691039" y="66402"/>
                  </a:lnTo>
                  <a:lnTo>
                    <a:pt x="648251" y="83408"/>
                  </a:lnTo>
                  <a:lnTo>
                    <a:pt x="606399" y="102193"/>
                  </a:lnTo>
                  <a:lnTo>
                    <a:pt x="565528" y="122709"/>
                  </a:lnTo>
                  <a:lnTo>
                    <a:pt x="525687" y="144909"/>
                  </a:lnTo>
                  <a:lnTo>
                    <a:pt x="486922" y="168748"/>
                  </a:lnTo>
                  <a:lnTo>
                    <a:pt x="449280" y="194178"/>
                  </a:lnTo>
                  <a:lnTo>
                    <a:pt x="412807" y="221152"/>
                  </a:lnTo>
                  <a:lnTo>
                    <a:pt x="377550" y="249624"/>
                  </a:lnTo>
                  <a:lnTo>
                    <a:pt x="343557" y="279546"/>
                  </a:lnTo>
                  <a:lnTo>
                    <a:pt x="310874" y="310872"/>
                  </a:lnTo>
                  <a:lnTo>
                    <a:pt x="279548" y="343555"/>
                  </a:lnTo>
                  <a:lnTo>
                    <a:pt x="249626" y="377548"/>
                  </a:lnTo>
                  <a:lnTo>
                    <a:pt x="221154" y="412804"/>
                  </a:lnTo>
                  <a:lnTo>
                    <a:pt x="194180" y="449276"/>
                  </a:lnTo>
                  <a:lnTo>
                    <a:pt x="168750" y="486919"/>
                  </a:lnTo>
                  <a:lnTo>
                    <a:pt x="144911" y="525684"/>
                  </a:lnTo>
                  <a:lnTo>
                    <a:pt x="122710" y="565524"/>
                  </a:lnTo>
                  <a:lnTo>
                    <a:pt x="102193" y="606394"/>
                  </a:lnTo>
                  <a:lnTo>
                    <a:pt x="83409" y="648247"/>
                  </a:lnTo>
                  <a:lnTo>
                    <a:pt x="66403" y="691034"/>
                  </a:lnTo>
                  <a:lnTo>
                    <a:pt x="51222" y="734710"/>
                  </a:lnTo>
                  <a:lnTo>
                    <a:pt x="37913" y="779228"/>
                  </a:lnTo>
                  <a:lnTo>
                    <a:pt x="26524" y="824541"/>
                  </a:lnTo>
                  <a:lnTo>
                    <a:pt x="17100" y="870602"/>
                  </a:lnTo>
                  <a:lnTo>
                    <a:pt x="9689" y="917364"/>
                  </a:lnTo>
                  <a:lnTo>
                    <a:pt x="4337" y="964781"/>
                  </a:lnTo>
                  <a:lnTo>
                    <a:pt x="1092" y="1012805"/>
                  </a:lnTo>
                  <a:lnTo>
                    <a:pt x="0" y="1061389"/>
                  </a:lnTo>
                  <a:lnTo>
                    <a:pt x="1092" y="1109974"/>
                  </a:lnTo>
                  <a:lnTo>
                    <a:pt x="4337" y="1157998"/>
                  </a:lnTo>
                  <a:lnTo>
                    <a:pt x="9689" y="1205415"/>
                  </a:lnTo>
                  <a:lnTo>
                    <a:pt x="17100" y="1252177"/>
                  </a:lnTo>
                  <a:lnTo>
                    <a:pt x="26524" y="1298238"/>
                  </a:lnTo>
                  <a:lnTo>
                    <a:pt x="37913" y="1343551"/>
                  </a:lnTo>
                  <a:lnTo>
                    <a:pt x="51222" y="1388069"/>
                  </a:lnTo>
                  <a:lnTo>
                    <a:pt x="66403" y="1431746"/>
                  </a:lnTo>
                  <a:lnTo>
                    <a:pt x="83409" y="1474534"/>
                  </a:lnTo>
                  <a:lnTo>
                    <a:pt x="102193" y="1516387"/>
                  </a:lnTo>
                  <a:lnTo>
                    <a:pt x="122710" y="1557257"/>
                  </a:lnTo>
                  <a:lnTo>
                    <a:pt x="144911" y="1597098"/>
                  </a:lnTo>
                  <a:lnTo>
                    <a:pt x="168750" y="1635864"/>
                  </a:lnTo>
                  <a:lnTo>
                    <a:pt x="194180" y="1673507"/>
                  </a:lnTo>
                  <a:lnTo>
                    <a:pt x="221154" y="1709980"/>
                  </a:lnTo>
                  <a:lnTo>
                    <a:pt x="249626" y="1745236"/>
                  </a:lnTo>
                  <a:lnTo>
                    <a:pt x="279548" y="1779230"/>
                  </a:lnTo>
                  <a:lnTo>
                    <a:pt x="310874" y="1811913"/>
                  </a:lnTo>
                  <a:lnTo>
                    <a:pt x="343557" y="1843240"/>
                  </a:lnTo>
                  <a:lnTo>
                    <a:pt x="377550" y="1873162"/>
                  </a:lnTo>
                  <a:lnTo>
                    <a:pt x="412807" y="1901634"/>
                  </a:lnTo>
                  <a:lnTo>
                    <a:pt x="449280" y="1928609"/>
                  </a:lnTo>
                  <a:lnTo>
                    <a:pt x="486922" y="1954039"/>
                  </a:lnTo>
                  <a:lnTo>
                    <a:pt x="525687" y="1977879"/>
                  </a:lnTo>
                  <a:lnTo>
                    <a:pt x="565528" y="2000080"/>
                  </a:lnTo>
                  <a:lnTo>
                    <a:pt x="606399" y="2020596"/>
                  </a:lnTo>
                  <a:lnTo>
                    <a:pt x="648251" y="2039381"/>
                  </a:lnTo>
                  <a:lnTo>
                    <a:pt x="691039" y="2056387"/>
                  </a:lnTo>
                  <a:lnTo>
                    <a:pt x="734715" y="2071568"/>
                  </a:lnTo>
                  <a:lnTo>
                    <a:pt x="779233" y="2084877"/>
                  </a:lnTo>
                  <a:lnTo>
                    <a:pt x="824546" y="2096267"/>
                  </a:lnTo>
                  <a:lnTo>
                    <a:pt x="870607" y="2105691"/>
                  </a:lnTo>
                  <a:lnTo>
                    <a:pt x="917369" y="2113102"/>
                  </a:lnTo>
                  <a:lnTo>
                    <a:pt x="964786" y="2118454"/>
                  </a:lnTo>
                  <a:lnTo>
                    <a:pt x="1012810" y="2121700"/>
                  </a:lnTo>
                  <a:lnTo>
                    <a:pt x="1061394" y="2122792"/>
                  </a:lnTo>
                  <a:lnTo>
                    <a:pt x="1109979" y="2121700"/>
                  </a:lnTo>
                  <a:lnTo>
                    <a:pt x="1158002" y="2118454"/>
                  </a:lnTo>
                  <a:lnTo>
                    <a:pt x="1205419" y="2113102"/>
                  </a:lnTo>
                  <a:lnTo>
                    <a:pt x="1252181" y="2105691"/>
                  </a:lnTo>
                  <a:lnTo>
                    <a:pt x="1298241" y="2096267"/>
                  </a:lnTo>
                  <a:lnTo>
                    <a:pt x="1343554" y="2084877"/>
                  </a:lnTo>
                  <a:lnTo>
                    <a:pt x="1388072" y="2071568"/>
                  </a:lnTo>
                  <a:lnTo>
                    <a:pt x="1431748" y="2056387"/>
                  </a:lnTo>
                  <a:lnTo>
                    <a:pt x="1474536" y="2039381"/>
                  </a:lnTo>
                  <a:lnTo>
                    <a:pt x="1516389" y="2020596"/>
                  </a:lnTo>
                  <a:lnTo>
                    <a:pt x="1557259" y="2000080"/>
                  </a:lnTo>
                  <a:lnTo>
                    <a:pt x="1597100" y="1977879"/>
                  </a:lnTo>
                  <a:lnTo>
                    <a:pt x="1635865" y="1954039"/>
                  </a:lnTo>
                  <a:lnTo>
                    <a:pt x="1673508" y="1928609"/>
                  </a:lnTo>
                  <a:lnTo>
                    <a:pt x="1709981" y="1901634"/>
                  </a:lnTo>
                  <a:lnTo>
                    <a:pt x="1745237" y="1873162"/>
                  </a:lnTo>
                  <a:lnTo>
                    <a:pt x="1779231" y="1843240"/>
                  </a:lnTo>
                  <a:lnTo>
                    <a:pt x="1811914" y="1811913"/>
                  </a:lnTo>
                  <a:lnTo>
                    <a:pt x="1843240" y="1779230"/>
                  </a:lnTo>
                  <a:lnTo>
                    <a:pt x="1873163" y="1745236"/>
                  </a:lnTo>
                  <a:lnTo>
                    <a:pt x="1901635" y="1709980"/>
                  </a:lnTo>
                  <a:lnTo>
                    <a:pt x="1928609" y="1673507"/>
                  </a:lnTo>
                  <a:lnTo>
                    <a:pt x="1954040" y="1635864"/>
                  </a:lnTo>
                  <a:lnTo>
                    <a:pt x="1977879" y="1597098"/>
                  </a:lnTo>
                  <a:lnTo>
                    <a:pt x="2000080" y="1557257"/>
                  </a:lnTo>
                  <a:lnTo>
                    <a:pt x="2020596" y="1516387"/>
                  </a:lnTo>
                  <a:lnTo>
                    <a:pt x="2039381" y="1474534"/>
                  </a:lnTo>
                  <a:lnTo>
                    <a:pt x="2056388" y="1431746"/>
                  </a:lnTo>
                  <a:lnTo>
                    <a:pt x="2071569" y="1388069"/>
                  </a:lnTo>
                  <a:lnTo>
                    <a:pt x="2084877" y="1343551"/>
                  </a:lnTo>
                  <a:lnTo>
                    <a:pt x="2096267" y="1298238"/>
                  </a:lnTo>
                  <a:lnTo>
                    <a:pt x="2105691" y="1252177"/>
                  </a:lnTo>
                  <a:lnTo>
                    <a:pt x="2113102" y="1205415"/>
                  </a:lnTo>
                  <a:lnTo>
                    <a:pt x="2118454" y="1157998"/>
                  </a:lnTo>
                  <a:lnTo>
                    <a:pt x="2121700" y="1109974"/>
                  </a:lnTo>
                  <a:lnTo>
                    <a:pt x="2122792" y="1061389"/>
                  </a:lnTo>
                  <a:lnTo>
                    <a:pt x="2121700" y="1012805"/>
                  </a:lnTo>
                  <a:lnTo>
                    <a:pt x="2118454" y="964781"/>
                  </a:lnTo>
                  <a:lnTo>
                    <a:pt x="2113102" y="917364"/>
                  </a:lnTo>
                  <a:lnTo>
                    <a:pt x="2105691" y="870602"/>
                  </a:lnTo>
                  <a:lnTo>
                    <a:pt x="2096267" y="824541"/>
                  </a:lnTo>
                  <a:lnTo>
                    <a:pt x="2084877" y="779228"/>
                  </a:lnTo>
                  <a:lnTo>
                    <a:pt x="2071569" y="734710"/>
                  </a:lnTo>
                  <a:lnTo>
                    <a:pt x="2056388" y="691034"/>
                  </a:lnTo>
                  <a:lnTo>
                    <a:pt x="2039381" y="648247"/>
                  </a:lnTo>
                  <a:lnTo>
                    <a:pt x="2020596" y="606394"/>
                  </a:lnTo>
                  <a:lnTo>
                    <a:pt x="2000080" y="565524"/>
                  </a:lnTo>
                  <a:lnTo>
                    <a:pt x="1977879" y="525684"/>
                  </a:lnTo>
                  <a:lnTo>
                    <a:pt x="1954040" y="486919"/>
                  </a:lnTo>
                  <a:lnTo>
                    <a:pt x="1928609" y="449276"/>
                  </a:lnTo>
                  <a:lnTo>
                    <a:pt x="1901635" y="412804"/>
                  </a:lnTo>
                  <a:lnTo>
                    <a:pt x="1873163" y="377548"/>
                  </a:lnTo>
                  <a:lnTo>
                    <a:pt x="1843240" y="343555"/>
                  </a:lnTo>
                  <a:lnTo>
                    <a:pt x="1811914" y="310872"/>
                  </a:lnTo>
                  <a:lnTo>
                    <a:pt x="1779231" y="279546"/>
                  </a:lnTo>
                  <a:lnTo>
                    <a:pt x="1745237" y="249624"/>
                  </a:lnTo>
                  <a:lnTo>
                    <a:pt x="1709981" y="221152"/>
                  </a:lnTo>
                  <a:lnTo>
                    <a:pt x="1673508" y="194178"/>
                  </a:lnTo>
                  <a:lnTo>
                    <a:pt x="1635865" y="168748"/>
                  </a:lnTo>
                  <a:lnTo>
                    <a:pt x="1597100" y="144909"/>
                  </a:lnTo>
                  <a:lnTo>
                    <a:pt x="1557259" y="122709"/>
                  </a:lnTo>
                  <a:lnTo>
                    <a:pt x="1516389" y="102193"/>
                  </a:lnTo>
                  <a:lnTo>
                    <a:pt x="1474536" y="83408"/>
                  </a:lnTo>
                  <a:lnTo>
                    <a:pt x="1431748" y="66402"/>
                  </a:lnTo>
                  <a:lnTo>
                    <a:pt x="1388072" y="51222"/>
                  </a:lnTo>
                  <a:lnTo>
                    <a:pt x="1343554" y="37913"/>
                  </a:lnTo>
                  <a:lnTo>
                    <a:pt x="1298241" y="26524"/>
                  </a:lnTo>
                  <a:lnTo>
                    <a:pt x="1252181" y="17100"/>
                  </a:lnTo>
                  <a:lnTo>
                    <a:pt x="1205419" y="9689"/>
                  </a:lnTo>
                  <a:lnTo>
                    <a:pt x="1158002" y="4337"/>
                  </a:lnTo>
                  <a:lnTo>
                    <a:pt x="1109979" y="1092"/>
                  </a:lnTo>
                  <a:lnTo>
                    <a:pt x="1061394" y="0"/>
                  </a:lnTo>
                  <a:close/>
                </a:path>
              </a:pathLst>
            </a:custGeom>
            <a:solidFill>
              <a:srgbClr val="D2E3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836647" y="4614214"/>
              <a:ext cx="1767205" cy="1767205"/>
            </a:xfrm>
            <a:custGeom>
              <a:avLst/>
              <a:gdLst/>
              <a:ahLst/>
              <a:cxnLst/>
              <a:rect l="l" t="t" r="r" b="b"/>
              <a:pathLst>
                <a:path w="1767205" h="1767204">
                  <a:moveTo>
                    <a:pt x="883334" y="0"/>
                  </a:moveTo>
                  <a:lnTo>
                    <a:pt x="834868" y="1307"/>
                  </a:lnTo>
                  <a:lnTo>
                    <a:pt x="787085" y="5183"/>
                  </a:lnTo>
                  <a:lnTo>
                    <a:pt x="740052" y="11561"/>
                  </a:lnTo>
                  <a:lnTo>
                    <a:pt x="693838" y="20373"/>
                  </a:lnTo>
                  <a:lnTo>
                    <a:pt x="648509" y="31553"/>
                  </a:lnTo>
                  <a:lnTo>
                    <a:pt x="604132" y="45032"/>
                  </a:lnTo>
                  <a:lnTo>
                    <a:pt x="560775" y="60744"/>
                  </a:lnTo>
                  <a:lnTo>
                    <a:pt x="518506" y="78621"/>
                  </a:lnTo>
                  <a:lnTo>
                    <a:pt x="477391" y="98595"/>
                  </a:lnTo>
                  <a:lnTo>
                    <a:pt x="437498" y="120600"/>
                  </a:lnTo>
                  <a:lnTo>
                    <a:pt x="398895" y="144567"/>
                  </a:lnTo>
                  <a:lnTo>
                    <a:pt x="361648" y="170431"/>
                  </a:lnTo>
                  <a:lnTo>
                    <a:pt x="325825" y="198122"/>
                  </a:lnTo>
                  <a:lnTo>
                    <a:pt x="291494" y="227575"/>
                  </a:lnTo>
                  <a:lnTo>
                    <a:pt x="258722" y="258721"/>
                  </a:lnTo>
                  <a:lnTo>
                    <a:pt x="227576" y="291493"/>
                  </a:lnTo>
                  <a:lnTo>
                    <a:pt x="198123" y="325824"/>
                  </a:lnTo>
                  <a:lnTo>
                    <a:pt x="170432" y="361647"/>
                  </a:lnTo>
                  <a:lnTo>
                    <a:pt x="144568" y="398893"/>
                  </a:lnTo>
                  <a:lnTo>
                    <a:pt x="120600" y="437497"/>
                  </a:lnTo>
                  <a:lnTo>
                    <a:pt x="98596" y="477389"/>
                  </a:lnTo>
                  <a:lnTo>
                    <a:pt x="78621" y="518504"/>
                  </a:lnTo>
                  <a:lnTo>
                    <a:pt x="60744" y="560774"/>
                  </a:lnTo>
                  <a:lnTo>
                    <a:pt x="45032" y="604131"/>
                  </a:lnTo>
                  <a:lnTo>
                    <a:pt x="31553" y="648508"/>
                  </a:lnTo>
                  <a:lnTo>
                    <a:pt x="20373" y="693838"/>
                  </a:lnTo>
                  <a:lnTo>
                    <a:pt x="11561" y="740052"/>
                  </a:lnTo>
                  <a:lnTo>
                    <a:pt x="5183" y="787085"/>
                  </a:lnTo>
                  <a:lnTo>
                    <a:pt x="1307" y="834869"/>
                  </a:lnTo>
                  <a:lnTo>
                    <a:pt x="0" y="883335"/>
                  </a:lnTo>
                  <a:lnTo>
                    <a:pt x="1307" y="931802"/>
                  </a:lnTo>
                  <a:lnTo>
                    <a:pt x="5183" y="979585"/>
                  </a:lnTo>
                  <a:lnTo>
                    <a:pt x="11561" y="1026618"/>
                  </a:lnTo>
                  <a:lnTo>
                    <a:pt x="20373" y="1072833"/>
                  </a:lnTo>
                  <a:lnTo>
                    <a:pt x="31553" y="1118163"/>
                  </a:lnTo>
                  <a:lnTo>
                    <a:pt x="45032" y="1162540"/>
                  </a:lnTo>
                  <a:lnTo>
                    <a:pt x="60744" y="1205897"/>
                  </a:lnTo>
                  <a:lnTo>
                    <a:pt x="78621" y="1248166"/>
                  </a:lnTo>
                  <a:lnTo>
                    <a:pt x="98596" y="1289281"/>
                  </a:lnTo>
                  <a:lnTo>
                    <a:pt x="120600" y="1329174"/>
                  </a:lnTo>
                  <a:lnTo>
                    <a:pt x="144568" y="1367777"/>
                  </a:lnTo>
                  <a:lnTo>
                    <a:pt x="170432" y="1405024"/>
                  </a:lnTo>
                  <a:lnTo>
                    <a:pt x="198123" y="1440847"/>
                  </a:lnTo>
                  <a:lnTo>
                    <a:pt x="227576" y="1475178"/>
                  </a:lnTo>
                  <a:lnTo>
                    <a:pt x="258722" y="1507950"/>
                  </a:lnTo>
                  <a:lnTo>
                    <a:pt x="291494" y="1539096"/>
                  </a:lnTo>
                  <a:lnTo>
                    <a:pt x="325825" y="1568548"/>
                  </a:lnTo>
                  <a:lnTo>
                    <a:pt x="361648" y="1596240"/>
                  </a:lnTo>
                  <a:lnTo>
                    <a:pt x="398895" y="1622103"/>
                  </a:lnTo>
                  <a:lnTo>
                    <a:pt x="437498" y="1646071"/>
                  </a:lnTo>
                  <a:lnTo>
                    <a:pt x="477391" y="1668076"/>
                  </a:lnTo>
                  <a:lnTo>
                    <a:pt x="518506" y="1688050"/>
                  </a:lnTo>
                  <a:lnTo>
                    <a:pt x="560775" y="1705927"/>
                  </a:lnTo>
                  <a:lnTo>
                    <a:pt x="604132" y="1721639"/>
                  </a:lnTo>
                  <a:lnTo>
                    <a:pt x="648509" y="1735118"/>
                  </a:lnTo>
                  <a:lnTo>
                    <a:pt x="693838" y="1746297"/>
                  </a:lnTo>
                  <a:lnTo>
                    <a:pt x="740052" y="1755110"/>
                  </a:lnTo>
                  <a:lnTo>
                    <a:pt x="787085" y="1761488"/>
                  </a:lnTo>
                  <a:lnTo>
                    <a:pt x="834868" y="1765364"/>
                  </a:lnTo>
                  <a:lnTo>
                    <a:pt x="883334" y="1766671"/>
                  </a:lnTo>
                  <a:lnTo>
                    <a:pt x="931801" y="1765364"/>
                  </a:lnTo>
                  <a:lnTo>
                    <a:pt x="979584" y="1761488"/>
                  </a:lnTo>
                  <a:lnTo>
                    <a:pt x="1026617" y="1755110"/>
                  </a:lnTo>
                  <a:lnTo>
                    <a:pt x="1072832" y="1746297"/>
                  </a:lnTo>
                  <a:lnTo>
                    <a:pt x="1118162" y="1735118"/>
                  </a:lnTo>
                  <a:lnTo>
                    <a:pt x="1162539" y="1721639"/>
                  </a:lnTo>
                  <a:lnTo>
                    <a:pt x="1205896" y="1705927"/>
                  </a:lnTo>
                  <a:lnTo>
                    <a:pt x="1248166" y="1688050"/>
                  </a:lnTo>
                  <a:lnTo>
                    <a:pt x="1289281" y="1668076"/>
                  </a:lnTo>
                  <a:lnTo>
                    <a:pt x="1329174" y="1646071"/>
                  </a:lnTo>
                  <a:lnTo>
                    <a:pt x="1367777" y="1622103"/>
                  </a:lnTo>
                  <a:lnTo>
                    <a:pt x="1405024" y="1596240"/>
                  </a:lnTo>
                  <a:lnTo>
                    <a:pt x="1440846" y="1568548"/>
                  </a:lnTo>
                  <a:lnTo>
                    <a:pt x="1475177" y="1539096"/>
                  </a:lnTo>
                  <a:lnTo>
                    <a:pt x="1507950" y="1507950"/>
                  </a:lnTo>
                  <a:lnTo>
                    <a:pt x="1539096" y="1475178"/>
                  </a:lnTo>
                  <a:lnTo>
                    <a:pt x="1568548" y="1440847"/>
                  </a:lnTo>
                  <a:lnTo>
                    <a:pt x="1596240" y="1405024"/>
                  </a:lnTo>
                  <a:lnTo>
                    <a:pt x="1622103" y="1367777"/>
                  </a:lnTo>
                  <a:lnTo>
                    <a:pt x="1646071" y="1329174"/>
                  </a:lnTo>
                  <a:lnTo>
                    <a:pt x="1668076" y="1289281"/>
                  </a:lnTo>
                  <a:lnTo>
                    <a:pt x="1688050" y="1248166"/>
                  </a:lnTo>
                  <a:lnTo>
                    <a:pt x="1705927" y="1205897"/>
                  </a:lnTo>
                  <a:lnTo>
                    <a:pt x="1721639" y="1162540"/>
                  </a:lnTo>
                  <a:lnTo>
                    <a:pt x="1735118" y="1118163"/>
                  </a:lnTo>
                  <a:lnTo>
                    <a:pt x="1746297" y="1072833"/>
                  </a:lnTo>
                  <a:lnTo>
                    <a:pt x="1755110" y="1026618"/>
                  </a:lnTo>
                  <a:lnTo>
                    <a:pt x="1761488" y="979585"/>
                  </a:lnTo>
                  <a:lnTo>
                    <a:pt x="1765364" y="931802"/>
                  </a:lnTo>
                  <a:lnTo>
                    <a:pt x="1766671" y="883335"/>
                  </a:lnTo>
                  <a:lnTo>
                    <a:pt x="1765364" y="834869"/>
                  </a:lnTo>
                  <a:lnTo>
                    <a:pt x="1761488" y="787085"/>
                  </a:lnTo>
                  <a:lnTo>
                    <a:pt x="1755110" y="740052"/>
                  </a:lnTo>
                  <a:lnTo>
                    <a:pt x="1746297" y="693838"/>
                  </a:lnTo>
                  <a:lnTo>
                    <a:pt x="1735118" y="648508"/>
                  </a:lnTo>
                  <a:lnTo>
                    <a:pt x="1721639" y="604131"/>
                  </a:lnTo>
                  <a:lnTo>
                    <a:pt x="1705927" y="560774"/>
                  </a:lnTo>
                  <a:lnTo>
                    <a:pt x="1688050" y="518504"/>
                  </a:lnTo>
                  <a:lnTo>
                    <a:pt x="1668076" y="477389"/>
                  </a:lnTo>
                  <a:lnTo>
                    <a:pt x="1646071" y="437497"/>
                  </a:lnTo>
                  <a:lnTo>
                    <a:pt x="1622103" y="398893"/>
                  </a:lnTo>
                  <a:lnTo>
                    <a:pt x="1596240" y="361647"/>
                  </a:lnTo>
                  <a:lnTo>
                    <a:pt x="1568548" y="325824"/>
                  </a:lnTo>
                  <a:lnTo>
                    <a:pt x="1539096" y="291493"/>
                  </a:lnTo>
                  <a:lnTo>
                    <a:pt x="1507950" y="258721"/>
                  </a:lnTo>
                  <a:lnTo>
                    <a:pt x="1475177" y="227575"/>
                  </a:lnTo>
                  <a:lnTo>
                    <a:pt x="1440846" y="198122"/>
                  </a:lnTo>
                  <a:lnTo>
                    <a:pt x="1405024" y="170431"/>
                  </a:lnTo>
                  <a:lnTo>
                    <a:pt x="1367777" y="144567"/>
                  </a:lnTo>
                  <a:lnTo>
                    <a:pt x="1329174" y="120600"/>
                  </a:lnTo>
                  <a:lnTo>
                    <a:pt x="1289281" y="98595"/>
                  </a:lnTo>
                  <a:lnTo>
                    <a:pt x="1248166" y="78621"/>
                  </a:lnTo>
                  <a:lnTo>
                    <a:pt x="1205896" y="60744"/>
                  </a:lnTo>
                  <a:lnTo>
                    <a:pt x="1162539" y="45032"/>
                  </a:lnTo>
                  <a:lnTo>
                    <a:pt x="1118162" y="31553"/>
                  </a:lnTo>
                  <a:lnTo>
                    <a:pt x="1072832" y="20373"/>
                  </a:lnTo>
                  <a:lnTo>
                    <a:pt x="1026617" y="11561"/>
                  </a:lnTo>
                  <a:lnTo>
                    <a:pt x="979584" y="5183"/>
                  </a:lnTo>
                  <a:lnTo>
                    <a:pt x="931801" y="1307"/>
                  </a:lnTo>
                  <a:lnTo>
                    <a:pt x="88333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624160" y="5120132"/>
            <a:ext cx="88836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25" b="1">
                <a:solidFill>
                  <a:srgbClr val="EEF5F9"/>
                </a:solidFill>
                <a:latin typeface="Arial"/>
                <a:cs typeface="Arial"/>
              </a:rPr>
              <a:t>124</a:t>
            </a:r>
            <a:endParaRPr sz="4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51369" y="5109641"/>
            <a:ext cx="1165225" cy="73533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 marR="5080" indent="254000">
              <a:lnSpc>
                <a:spcPct val="72500"/>
              </a:lnSpc>
              <a:spcBef>
                <a:spcPts val="990"/>
              </a:spcBef>
            </a:pPr>
            <a:r>
              <a:rPr dirty="0" sz="2700" spc="-25" b="1">
                <a:solidFill>
                  <a:srgbClr val="EEF5F9"/>
                </a:solidFill>
                <a:latin typeface="Arial"/>
                <a:cs typeface="Arial"/>
              </a:rPr>
              <a:t>69% </a:t>
            </a:r>
            <a:r>
              <a:rPr dirty="0" sz="2700" spc="-195" b="1">
                <a:solidFill>
                  <a:srgbClr val="EEF5F9"/>
                </a:solidFill>
                <a:latin typeface="Arial"/>
                <a:cs typeface="Arial"/>
              </a:rPr>
              <a:t>UPSIDE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8850" y="7626134"/>
            <a:ext cx="19627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235" b="1">
                <a:solidFill>
                  <a:srgbClr val="244060"/>
                </a:solidFill>
                <a:latin typeface="Arial"/>
                <a:cs typeface="Arial"/>
              </a:rPr>
              <a:t>P/E</a:t>
            </a:r>
            <a:r>
              <a:rPr dirty="0" sz="4200" spc="-6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4200" spc="-210" b="1">
                <a:solidFill>
                  <a:srgbClr val="244060"/>
                </a:solidFill>
                <a:latin typeface="Arial"/>
                <a:cs typeface="Arial"/>
              </a:rPr>
              <a:t>MED</a:t>
            </a:r>
            <a:endParaRPr sz="4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8850" y="8090192"/>
            <a:ext cx="369252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70" b="1">
                <a:solidFill>
                  <a:srgbClr val="244060"/>
                </a:solidFill>
                <a:latin typeface="Arial"/>
                <a:cs typeface="Arial"/>
              </a:rPr>
              <a:t>EV</a:t>
            </a:r>
            <a:r>
              <a:rPr dirty="0" sz="4200" spc="-67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4200" spc="-300" b="1">
                <a:solidFill>
                  <a:srgbClr val="244060"/>
                </a:solidFill>
                <a:latin typeface="Arial"/>
                <a:cs typeface="Arial"/>
              </a:rPr>
              <a:t>EBITDA</a:t>
            </a:r>
            <a:r>
              <a:rPr dirty="0" sz="4200" spc="-67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4200" spc="-170" b="1">
                <a:solidFill>
                  <a:srgbClr val="244060"/>
                </a:solidFill>
                <a:latin typeface="Arial"/>
                <a:cs typeface="Arial"/>
              </a:rPr>
              <a:t>MED</a:t>
            </a:r>
            <a:endParaRPr sz="4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2819" y="7638668"/>
            <a:ext cx="322580" cy="112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45"/>
              </a:lnSpc>
              <a:spcBef>
                <a:spcPts val="100"/>
              </a:spcBef>
            </a:pPr>
            <a:r>
              <a:rPr dirty="0" sz="4200" spc="-50" b="1">
                <a:solidFill>
                  <a:srgbClr val="244060"/>
                </a:solidFill>
                <a:latin typeface="Arial"/>
                <a:cs typeface="Arial"/>
              </a:rPr>
              <a:t>8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ts val="4345"/>
              </a:lnSpc>
            </a:pPr>
            <a:r>
              <a:rPr dirty="0" sz="4200" spc="-50" b="1">
                <a:solidFill>
                  <a:srgbClr val="244060"/>
                </a:solidFill>
                <a:latin typeface="Arial"/>
                <a:cs typeface="Arial"/>
              </a:rPr>
              <a:t>7</a:t>
            </a:r>
            <a:endParaRPr sz="4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9349307"/>
              <a:ext cx="6885305" cy="937894"/>
            </a:xfrm>
            <a:custGeom>
              <a:avLst/>
              <a:gdLst/>
              <a:ahLst/>
              <a:cxnLst/>
              <a:rect l="l" t="t" r="r" b="b"/>
              <a:pathLst>
                <a:path w="6885305" h="937895">
                  <a:moveTo>
                    <a:pt x="1831949" y="488848"/>
                  </a:moveTo>
                  <a:lnTo>
                    <a:pt x="1379181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16227" y="937691"/>
                  </a:lnTo>
                  <a:lnTo>
                    <a:pt x="1831949" y="488848"/>
                  </a:lnTo>
                  <a:close/>
                </a:path>
                <a:path w="6885305" h="937895">
                  <a:moveTo>
                    <a:pt x="3500412" y="488848"/>
                  </a:moveTo>
                  <a:lnTo>
                    <a:pt x="3047657" y="0"/>
                  </a:lnTo>
                  <a:lnTo>
                    <a:pt x="1501825" y="0"/>
                  </a:lnTo>
                  <a:lnTo>
                    <a:pt x="1954580" y="488848"/>
                  </a:lnTo>
                  <a:lnTo>
                    <a:pt x="1538871" y="937691"/>
                  </a:lnTo>
                  <a:lnTo>
                    <a:pt x="3084703" y="937691"/>
                  </a:lnTo>
                  <a:lnTo>
                    <a:pt x="3500412" y="488848"/>
                  </a:lnTo>
                  <a:close/>
                </a:path>
                <a:path w="6885305" h="937895">
                  <a:moveTo>
                    <a:pt x="5209857" y="488848"/>
                  </a:moveTo>
                  <a:lnTo>
                    <a:pt x="4757102" y="0"/>
                  </a:lnTo>
                  <a:lnTo>
                    <a:pt x="3173984" y="0"/>
                  </a:lnTo>
                  <a:lnTo>
                    <a:pt x="3626739" y="488848"/>
                  </a:lnTo>
                  <a:lnTo>
                    <a:pt x="3211030" y="937691"/>
                  </a:lnTo>
                  <a:lnTo>
                    <a:pt x="4794148" y="937691"/>
                  </a:lnTo>
                  <a:lnTo>
                    <a:pt x="5209857" y="488848"/>
                  </a:lnTo>
                  <a:close/>
                </a:path>
                <a:path w="6885305" h="937895">
                  <a:moveTo>
                    <a:pt x="6885025" y="488848"/>
                  </a:moveTo>
                  <a:lnTo>
                    <a:pt x="6432258" y="0"/>
                  </a:lnTo>
                  <a:lnTo>
                    <a:pt x="4882426" y="0"/>
                  </a:lnTo>
                  <a:lnTo>
                    <a:pt x="5335194" y="488848"/>
                  </a:lnTo>
                  <a:lnTo>
                    <a:pt x="4919484" y="937691"/>
                  </a:lnTo>
                  <a:lnTo>
                    <a:pt x="6469316" y="937691"/>
                  </a:lnTo>
                  <a:lnTo>
                    <a:pt x="6885025" y="488848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52691" y="9349307"/>
              <a:ext cx="4227830" cy="937894"/>
            </a:xfrm>
            <a:custGeom>
              <a:avLst/>
              <a:gdLst/>
              <a:ahLst/>
              <a:cxnLst/>
              <a:rect l="l" t="t" r="r" b="b"/>
              <a:pathLst>
                <a:path w="4227830" h="937895">
                  <a:moveTo>
                    <a:pt x="3774681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3811732" y="937691"/>
                  </a:lnTo>
                  <a:lnTo>
                    <a:pt x="4227436" y="488848"/>
                  </a:lnTo>
                  <a:lnTo>
                    <a:pt x="377468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454449" y="9349307"/>
              <a:ext cx="2298700" cy="937894"/>
            </a:xfrm>
            <a:custGeom>
              <a:avLst/>
              <a:gdLst/>
              <a:ahLst/>
              <a:cxnLst/>
              <a:rect l="l" t="t" r="r" b="b"/>
              <a:pathLst>
                <a:path w="2298700" h="937895">
                  <a:moveTo>
                    <a:pt x="1845424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1882475" y="937691"/>
                  </a:lnTo>
                  <a:lnTo>
                    <a:pt x="2298179" y="488848"/>
                  </a:lnTo>
                  <a:lnTo>
                    <a:pt x="1845424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66" y="9524199"/>
              <a:ext cx="806770" cy="6212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0206" y="9504222"/>
              <a:ext cx="581827" cy="6611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6580" y="9479470"/>
              <a:ext cx="710664" cy="71066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1809" y="9430765"/>
              <a:ext cx="675847" cy="75938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37031" y="9452685"/>
              <a:ext cx="733866" cy="7155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71212" y="9455124"/>
              <a:ext cx="558105" cy="71551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876438" y="9549619"/>
            <a:ext cx="2113280" cy="5524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3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2940" y="808778"/>
            <a:ext cx="16014700" cy="1040130"/>
            <a:chOff x="542940" y="808778"/>
            <a:chExt cx="16014700" cy="1040130"/>
          </a:xfrm>
        </p:grpSpPr>
        <p:sp>
          <p:nvSpPr>
            <p:cNvPr id="16" name="object 16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4852" y="923197"/>
              <a:ext cx="8255" cy="863600"/>
            </a:xfrm>
            <a:custGeom>
              <a:avLst/>
              <a:gdLst/>
              <a:ahLst/>
              <a:cxnLst/>
              <a:rect l="l" t="t" r="r" b="b"/>
              <a:pathLst>
                <a:path w="8254" h="863600">
                  <a:moveTo>
                    <a:pt x="0" y="0"/>
                  </a:moveTo>
                  <a:lnTo>
                    <a:pt x="8165" y="863346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5983" y="466091"/>
            <a:ext cx="14625319" cy="130619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DCF</a:t>
            </a:r>
            <a:endParaRPr sz="20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465"/>
              </a:spcBef>
            </a:pP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DCF</a:t>
            </a:r>
            <a:r>
              <a:rPr dirty="0" sz="3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Captures</a:t>
            </a:r>
            <a:r>
              <a:rPr dirty="0" sz="3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ARCC’s</a:t>
            </a:r>
            <a:r>
              <a:rPr dirty="0" sz="3600" spc="-30" b="1">
                <a:solidFill>
                  <a:srgbClr val="244060"/>
                </a:solidFill>
                <a:latin typeface="Arial"/>
                <a:cs typeface="Arial"/>
              </a:rPr>
              <a:t> Long-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Term</a:t>
            </a:r>
            <a:r>
              <a:rPr dirty="0" sz="3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3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3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36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Flow</a:t>
            </a:r>
            <a:r>
              <a:rPr dirty="0" sz="36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244060"/>
                </a:solidFill>
                <a:latin typeface="Arial"/>
                <a:cs typeface="Arial"/>
              </a:rPr>
              <a:t>Potential</a:t>
            </a:r>
            <a:endParaRPr sz="36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free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flow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generation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supports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fair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value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128.5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per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share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04682" y="2706687"/>
            <a:ext cx="5273040" cy="1464310"/>
          </a:xfrm>
          <a:custGeom>
            <a:avLst/>
            <a:gdLst/>
            <a:ahLst/>
            <a:cxnLst/>
            <a:rect l="l" t="t" r="r" b="b"/>
            <a:pathLst>
              <a:path w="5273040" h="1464310">
                <a:moveTo>
                  <a:pt x="5272633" y="0"/>
                </a:moveTo>
                <a:lnTo>
                  <a:pt x="0" y="0"/>
                </a:lnTo>
                <a:lnTo>
                  <a:pt x="0" y="1463827"/>
                </a:lnTo>
                <a:lnTo>
                  <a:pt x="5272633" y="1463827"/>
                </a:lnTo>
                <a:lnTo>
                  <a:pt x="5272633" y="0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22093" y="2825839"/>
            <a:ext cx="2752725" cy="1129665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R="5080">
              <a:lnSpc>
                <a:spcPct val="72500"/>
              </a:lnSpc>
              <a:spcBef>
                <a:spcPts val="1485"/>
              </a:spcBef>
            </a:pPr>
            <a:r>
              <a:rPr dirty="0" sz="4200" spc="-265" b="1">
                <a:solidFill>
                  <a:srgbClr val="023952"/>
                </a:solidFill>
                <a:latin typeface="Arial"/>
                <a:cs typeface="Arial"/>
              </a:rPr>
              <a:t>FCFF</a:t>
            </a:r>
            <a:r>
              <a:rPr dirty="0" sz="4200" spc="-670" b="1">
                <a:solidFill>
                  <a:srgbClr val="023952"/>
                </a:solidFill>
                <a:latin typeface="Arial"/>
                <a:cs typeface="Arial"/>
              </a:rPr>
              <a:t> </a:t>
            </a:r>
            <a:r>
              <a:rPr dirty="0" sz="4200" spc="-300" b="1">
                <a:solidFill>
                  <a:srgbClr val="023952"/>
                </a:solidFill>
                <a:latin typeface="Arial"/>
                <a:cs typeface="Arial"/>
              </a:rPr>
              <a:t>CAGR </a:t>
            </a:r>
            <a:r>
              <a:rPr dirty="0" sz="4200" spc="-360" b="1">
                <a:solidFill>
                  <a:srgbClr val="023952"/>
                </a:solidFill>
                <a:latin typeface="Arial"/>
                <a:cs typeface="Arial"/>
              </a:rPr>
              <a:t>‘26-</a:t>
            </a:r>
            <a:r>
              <a:rPr dirty="0" sz="4200" spc="-25" b="1">
                <a:solidFill>
                  <a:srgbClr val="023952"/>
                </a:solidFill>
                <a:latin typeface="Arial"/>
                <a:cs typeface="Arial"/>
              </a:rPr>
              <a:t>’30</a:t>
            </a:r>
            <a:endParaRPr sz="4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2080" y="3017024"/>
            <a:ext cx="108902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600" spc="-290" b="1">
                <a:solidFill>
                  <a:srgbClr val="023952"/>
                </a:solidFill>
                <a:latin typeface="Arial"/>
                <a:cs typeface="Arial"/>
              </a:rPr>
              <a:t>10%</a:t>
            </a:r>
            <a:endParaRPr sz="4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04682" y="4449216"/>
            <a:ext cx="5273040" cy="928369"/>
          </a:xfrm>
          <a:custGeom>
            <a:avLst/>
            <a:gdLst/>
            <a:ahLst/>
            <a:cxnLst/>
            <a:rect l="l" t="t" r="r" b="b"/>
            <a:pathLst>
              <a:path w="5273040" h="928370">
                <a:moveTo>
                  <a:pt x="5272633" y="0"/>
                </a:moveTo>
                <a:lnTo>
                  <a:pt x="0" y="0"/>
                </a:lnTo>
                <a:lnTo>
                  <a:pt x="0" y="928319"/>
                </a:lnTo>
                <a:lnTo>
                  <a:pt x="5272633" y="928319"/>
                </a:lnTo>
                <a:lnTo>
                  <a:pt x="5272633" y="0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898981" y="4501121"/>
            <a:ext cx="108902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600" spc="-290" b="1">
                <a:solidFill>
                  <a:srgbClr val="023952"/>
                </a:solidFill>
                <a:latin typeface="Arial"/>
                <a:cs typeface="Arial"/>
              </a:rPr>
              <a:t>17%</a:t>
            </a:r>
            <a:endParaRPr sz="4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50781" y="4415929"/>
            <a:ext cx="2220595" cy="91948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R="5080" indent="967740">
              <a:lnSpc>
                <a:spcPct val="72500"/>
              </a:lnSpc>
              <a:spcBef>
                <a:spcPts val="1220"/>
              </a:spcBef>
            </a:pPr>
            <a:r>
              <a:rPr dirty="0" sz="3400" spc="-215" b="1">
                <a:solidFill>
                  <a:srgbClr val="023952"/>
                </a:solidFill>
                <a:latin typeface="Arial"/>
                <a:cs typeface="Arial"/>
              </a:rPr>
              <a:t>WACC </a:t>
            </a:r>
            <a:r>
              <a:rPr dirty="0" sz="3400" spc="-265" b="1">
                <a:solidFill>
                  <a:srgbClr val="023952"/>
                </a:solidFill>
                <a:latin typeface="Arial"/>
                <a:cs typeface="Arial"/>
              </a:rPr>
              <a:t>(TERMINAL)</a:t>
            </a:r>
            <a:endParaRPr sz="3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95262" y="5656294"/>
            <a:ext cx="1189355" cy="596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640"/>
              </a:lnSpc>
            </a:pPr>
            <a:r>
              <a:rPr dirty="0" sz="4200" spc="-245" b="1">
                <a:solidFill>
                  <a:srgbClr val="023952"/>
                </a:solidFill>
                <a:latin typeface="Arial"/>
                <a:cs typeface="Arial"/>
              </a:rPr>
              <a:t>WOE</a:t>
            </a:r>
            <a:endParaRPr sz="4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4682" y="6725551"/>
            <a:ext cx="5273040" cy="1154430"/>
          </a:xfrm>
          <a:prstGeom prst="rect">
            <a:avLst/>
          </a:prstGeom>
          <a:solidFill>
            <a:srgbClr val="B8CDE4"/>
          </a:solidFill>
        </p:spPr>
        <p:txBody>
          <a:bodyPr wrap="square" lIns="0" tIns="119380" rIns="0" bIns="0" rtlCol="0" vert="horz">
            <a:spAutoFit/>
          </a:bodyPr>
          <a:lstStyle/>
          <a:p>
            <a:pPr marL="573405">
              <a:lnSpc>
                <a:spcPct val="100000"/>
              </a:lnSpc>
              <a:spcBef>
                <a:spcPts val="940"/>
              </a:spcBef>
              <a:tabLst>
                <a:tab pos="3977640" algn="l"/>
              </a:tabLst>
            </a:pPr>
            <a:r>
              <a:rPr dirty="0" sz="5600" spc="-350" b="1">
                <a:solidFill>
                  <a:srgbClr val="023952"/>
                </a:solidFill>
                <a:latin typeface="Arial"/>
                <a:cs typeface="Arial"/>
              </a:rPr>
              <a:t>TGR</a:t>
            </a:r>
            <a:r>
              <a:rPr dirty="0" sz="5600" b="1">
                <a:solidFill>
                  <a:srgbClr val="023952"/>
                </a:solidFill>
                <a:latin typeface="Arial"/>
                <a:cs typeface="Arial"/>
              </a:rPr>
              <a:t>	</a:t>
            </a:r>
            <a:r>
              <a:rPr dirty="0" baseline="1736" sz="7200" spc="-37" b="1">
                <a:solidFill>
                  <a:srgbClr val="023952"/>
                </a:solidFill>
                <a:latin typeface="Arial"/>
                <a:cs typeface="Arial"/>
              </a:rPr>
              <a:t>5%</a:t>
            </a:r>
            <a:endParaRPr baseline="1736" sz="7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831712" y="2706687"/>
            <a:ext cx="2365375" cy="5173345"/>
          </a:xfrm>
          <a:custGeom>
            <a:avLst/>
            <a:gdLst/>
            <a:ahLst/>
            <a:cxnLst/>
            <a:rect l="l" t="t" r="r" b="b"/>
            <a:pathLst>
              <a:path w="2365375" h="5173345">
                <a:moveTo>
                  <a:pt x="2364828" y="2586469"/>
                </a:moveTo>
                <a:lnTo>
                  <a:pt x="0" y="0"/>
                </a:lnTo>
                <a:lnTo>
                  <a:pt x="0" y="5172938"/>
                </a:lnTo>
                <a:lnTo>
                  <a:pt x="2364828" y="2586469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101413" y="4395901"/>
            <a:ext cx="5273040" cy="1412240"/>
          </a:xfrm>
          <a:prstGeom prst="rect">
            <a:avLst/>
          </a:prstGeom>
          <a:solidFill>
            <a:srgbClr val="DCE6F1"/>
          </a:solidFill>
        </p:spPr>
        <p:txBody>
          <a:bodyPr wrap="square" lIns="0" tIns="396240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3120"/>
              </a:spcBef>
              <a:tabLst>
                <a:tab pos="4277360" algn="l"/>
              </a:tabLst>
            </a:pPr>
            <a:r>
              <a:rPr dirty="0" sz="4200" spc="-275" b="1">
                <a:solidFill>
                  <a:srgbClr val="023952"/>
                </a:solidFill>
                <a:latin typeface="Arial"/>
                <a:cs typeface="Arial"/>
              </a:rPr>
              <a:t>FAIR</a:t>
            </a:r>
            <a:r>
              <a:rPr dirty="0" sz="4200" spc="-660" b="1">
                <a:solidFill>
                  <a:srgbClr val="023952"/>
                </a:solidFill>
                <a:latin typeface="Arial"/>
                <a:cs typeface="Arial"/>
              </a:rPr>
              <a:t> </a:t>
            </a:r>
            <a:r>
              <a:rPr dirty="0" sz="4200" spc="-295" b="1">
                <a:solidFill>
                  <a:srgbClr val="023952"/>
                </a:solidFill>
                <a:latin typeface="Arial"/>
                <a:cs typeface="Arial"/>
              </a:rPr>
              <a:t>VALUE</a:t>
            </a:r>
            <a:r>
              <a:rPr dirty="0" sz="4200" b="1">
                <a:solidFill>
                  <a:srgbClr val="023952"/>
                </a:solidFill>
                <a:latin typeface="Arial"/>
                <a:cs typeface="Arial"/>
              </a:rPr>
              <a:t>	</a:t>
            </a:r>
            <a:r>
              <a:rPr dirty="0" baseline="-1207" sz="6900" spc="-450" b="1">
                <a:solidFill>
                  <a:srgbClr val="023952"/>
                </a:solidFill>
                <a:latin typeface="Arial"/>
                <a:cs typeface="Arial"/>
              </a:rPr>
              <a:t>128</a:t>
            </a:r>
            <a:endParaRPr baseline="-1207" sz="6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04682" y="5529935"/>
            <a:ext cx="2636520" cy="894715"/>
          </a:xfrm>
          <a:prstGeom prst="rect">
            <a:avLst/>
          </a:prstGeom>
          <a:solidFill>
            <a:srgbClr val="B8CDE4"/>
          </a:solidFill>
        </p:spPr>
        <p:txBody>
          <a:bodyPr wrap="square" lIns="0" tIns="7366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580"/>
              </a:spcBef>
            </a:pPr>
            <a:r>
              <a:rPr dirty="0" sz="3800" spc="-145" b="1">
                <a:solidFill>
                  <a:srgbClr val="023952"/>
                </a:solidFill>
                <a:latin typeface="Arial"/>
                <a:cs typeface="Arial"/>
              </a:rPr>
              <a:t>96</a:t>
            </a:r>
            <a:r>
              <a:rPr dirty="0" sz="3800" spc="409" b="1">
                <a:solidFill>
                  <a:srgbClr val="023952"/>
                </a:solidFill>
                <a:latin typeface="Arial"/>
                <a:cs typeface="Arial"/>
              </a:rPr>
              <a:t>%</a:t>
            </a:r>
            <a:r>
              <a:rPr dirty="0" baseline="-2777" sz="6000" spc="-270" b="1">
                <a:solidFill>
                  <a:srgbClr val="023952"/>
                </a:solidFill>
                <a:latin typeface="Arial"/>
                <a:cs typeface="Arial"/>
              </a:rPr>
              <a:t>W</a:t>
            </a:r>
            <a:r>
              <a:rPr dirty="0" baseline="-2777" sz="6000" spc="-277" b="1">
                <a:solidFill>
                  <a:srgbClr val="023952"/>
                </a:solidFill>
                <a:latin typeface="Arial"/>
                <a:cs typeface="Arial"/>
              </a:rPr>
              <a:t>O</a:t>
            </a:r>
            <a:r>
              <a:rPr dirty="0" baseline="-2777" sz="6000" spc="240" b="1">
                <a:solidFill>
                  <a:srgbClr val="023952"/>
                </a:solidFill>
                <a:latin typeface="Arial"/>
                <a:cs typeface="Arial"/>
              </a:rPr>
              <a:t>E</a:t>
            </a:r>
            <a:endParaRPr baseline="-2777" sz="6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87786" y="5529935"/>
            <a:ext cx="2489835" cy="894715"/>
          </a:xfrm>
          <a:prstGeom prst="rect">
            <a:avLst/>
          </a:prstGeom>
          <a:solidFill>
            <a:srgbClr val="B8CDE4"/>
          </a:solidFill>
        </p:spPr>
        <p:txBody>
          <a:bodyPr wrap="square" lIns="0" tIns="100965" rIns="0" bIns="0" rtlCol="0" vert="horz">
            <a:spAutoFit/>
          </a:bodyPr>
          <a:lstStyle/>
          <a:p>
            <a:pPr marL="491490">
              <a:lnSpc>
                <a:spcPct val="100000"/>
              </a:lnSpc>
              <a:spcBef>
                <a:spcPts val="795"/>
              </a:spcBef>
            </a:pPr>
            <a:r>
              <a:rPr dirty="0" baseline="3654" sz="5700" spc="-442" b="1">
                <a:solidFill>
                  <a:srgbClr val="023952"/>
                </a:solidFill>
                <a:latin typeface="Arial"/>
                <a:cs typeface="Arial"/>
              </a:rPr>
              <a:t>4%</a:t>
            </a:r>
            <a:r>
              <a:rPr dirty="0" sz="4000" spc="-295" b="1">
                <a:solidFill>
                  <a:srgbClr val="023952"/>
                </a:solidFill>
                <a:latin typeface="Arial"/>
                <a:cs typeface="Arial"/>
              </a:rPr>
              <a:t>WOD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349307"/>
              <a:ext cx="6885305" cy="937894"/>
            </a:xfrm>
            <a:custGeom>
              <a:avLst/>
              <a:gdLst/>
              <a:ahLst/>
              <a:cxnLst/>
              <a:rect l="l" t="t" r="r" b="b"/>
              <a:pathLst>
                <a:path w="6885305" h="937895">
                  <a:moveTo>
                    <a:pt x="1831949" y="488848"/>
                  </a:moveTo>
                  <a:lnTo>
                    <a:pt x="1379181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16227" y="937691"/>
                  </a:lnTo>
                  <a:lnTo>
                    <a:pt x="1831949" y="488848"/>
                  </a:lnTo>
                  <a:close/>
                </a:path>
                <a:path w="6885305" h="937895">
                  <a:moveTo>
                    <a:pt x="3500412" y="488848"/>
                  </a:moveTo>
                  <a:lnTo>
                    <a:pt x="3047657" y="0"/>
                  </a:lnTo>
                  <a:lnTo>
                    <a:pt x="1501825" y="0"/>
                  </a:lnTo>
                  <a:lnTo>
                    <a:pt x="1954580" y="488848"/>
                  </a:lnTo>
                  <a:lnTo>
                    <a:pt x="1538871" y="937691"/>
                  </a:lnTo>
                  <a:lnTo>
                    <a:pt x="3084703" y="937691"/>
                  </a:lnTo>
                  <a:lnTo>
                    <a:pt x="3500412" y="488848"/>
                  </a:lnTo>
                  <a:close/>
                </a:path>
                <a:path w="6885305" h="937895">
                  <a:moveTo>
                    <a:pt x="5209857" y="488848"/>
                  </a:moveTo>
                  <a:lnTo>
                    <a:pt x="4757102" y="0"/>
                  </a:lnTo>
                  <a:lnTo>
                    <a:pt x="3173984" y="0"/>
                  </a:lnTo>
                  <a:lnTo>
                    <a:pt x="3626739" y="488848"/>
                  </a:lnTo>
                  <a:lnTo>
                    <a:pt x="3211030" y="937691"/>
                  </a:lnTo>
                  <a:lnTo>
                    <a:pt x="4794148" y="937691"/>
                  </a:lnTo>
                  <a:lnTo>
                    <a:pt x="5209857" y="488848"/>
                  </a:lnTo>
                  <a:close/>
                </a:path>
                <a:path w="6885305" h="937895">
                  <a:moveTo>
                    <a:pt x="6885025" y="488848"/>
                  </a:moveTo>
                  <a:lnTo>
                    <a:pt x="6432258" y="0"/>
                  </a:lnTo>
                  <a:lnTo>
                    <a:pt x="4882426" y="0"/>
                  </a:lnTo>
                  <a:lnTo>
                    <a:pt x="5335194" y="488848"/>
                  </a:lnTo>
                  <a:lnTo>
                    <a:pt x="4919484" y="937691"/>
                  </a:lnTo>
                  <a:lnTo>
                    <a:pt x="6469316" y="937691"/>
                  </a:lnTo>
                  <a:lnTo>
                    <a:pt x="6885025" y="488848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52691" y="9349307"/>
              <a:ext cx="4227830" cy="937894"/>
            </a:xfrm>
            <a:custGeom>
              <a:avLst/>
              <a:gdLst/>
              <a:ahLst/>
              <a:cxnLst/>
              <a:rect l="l" t="t" r="r" b="b"/>
              <a:pathLst>
                <a:path w="4227830" h="937895">
                  <a:moveTo>
                    <a:pt x="3774681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3811732" y="937691"/>
                  </a:lnTo>
                  <a:lnTo>
                    <a:pt x="4227436" y="488848"/>
                  </a:lnTo>
                  <a:lnTo>
                    <a:pt x="377468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454449" y="9349307"/>
              <a:ext cx="2298700" cy="937894"/>
            </a:xfrm>
            <a:custGeom>
              <a:avLst/>
              <a:gdLst/>
              <a:ahLst/>
              <a:cxnLst/>
              <a:rect l="l" t="t" r="r" b="b"/>
              <a:pathLst>
                <a:path w="2298700" h="937895">
                  <a:moveTo>
                    <a:pt x="1845424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1882475" y="937691"/>
                  </a:lnTo>
                  <a:lnTo>
                    <a:pt x="2298179" y="488848"/>
                  </a:lnTo>
                  <a:lnTo>
                    <a:pt x="1845424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66" y="9524199"/>
              <a:ext cx="806770" cy="6212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0206" y="9504222"/>
              <a:ext cx="581827" cy="6611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6580" y="9479470"/>
              <a:ext cx="710664" cy="71066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1809" y="9430765"/>
              <a:ext cx="675847" cy="7593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37031" y="9452685"/>
              <a:ext cx="733866" cy="7155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71212" y="9455124"/>
              <a:ext cx="558105" cy="71551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876438" y="9549619"/>
            <a:ext cx="2113280" cy="5524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3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270856"/>
            <a:ext cx="17462500" cy="1515745"/>
            <a:chOff x="555007" y="270856"/>
            <a:chExt cx="17462500" cy="151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5983" y="498886"/>
            <a:ext cx="376427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Sensitivity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4852" y="923197"/>
            <a:ext cx="8255" cy="863600"/>
          </a:xfrm>
          <a:custGeom>
            <a:avLst/>
            <a:gdLst/>
            <a:ahLst/>
            <a:cxnLst/>
            <a:rect l="l" t="t" r="r" b="b"/>
            <a:pathLst>
              <a:path w="8254" h="863600">
                <a:moveTo>
                  <a:pt x="0" y="0"/>
                </a:moveTo>
                <a:lnTo>
                  <a:pt x="8165" y="863346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20282" y="808184"/>
            <a:ext cx="15075535" cy="963930"/>
          </a:xfrm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Valuation</a:t>
            </a:r>
            <a:r>
              <a:rPr dirty="0" spc="-50"/>
              <a:t> </a:t>
            </a:r>
            <a:r>
              <a:rPr dirty="0"/>
              <a:t>Remains</a:t>
            </a:r>
            <a:r>
              <a:rPr dirty="0" spc="-50"/>
              <a:t> </a:t>
            </a:r>
            <a:r>
              <a:rPr dirty="0"/>
              <a:t>Sensitive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Terminal</a:t>
            </a:r>
            <a:r>
              <a:rPr dirty="0" spc="-50"/>
              <a:t> </a:t>
            </a:r>
            <a:r>
              <a:rPr dirty="0"/>
              <a:t>Growth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WACC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 spc="-20"/>
              <a:t>DCF-</a:t>
            </a:r>
            <a:r>
              <a:rPr dirty="0" sz="2000"/>
              <a:t>implied</a:t>
            </a:r>
            <a:r>
              <a:rPr dirty="0" sz="2000" spc="-40"/>
              <a:t> </a:t>
            </a:r>
            <a:r>
              <a:rPr dirty="0" sz="2000"/>
              <a:t>value</a:t>
            </a:r>
            <a:r>
              <a:rPr dirty="0" sz="2000" spc="-35"/>
              <a:t> </a:t>
            </a:r>
            <a:r>
              <a:rPr dirty="0" sz="2000"/>
              <a:t>varies</a:t>
            </a:r>
            <a:r>
              <a:rPr dirty="0" sz="2000" spc="-35"/>
              <a:t> </a:t>
            </a:r>
            <a:r>
              <a:rPr dirty="0" sz="2000"/>
              <a:t>across</a:t>
            </a:r>
            <a:r>
              <a:rPr dirty="0" sz="2000" spc="-35"/>
              <a:t> </a:t>
            </a:r>
            <a:r>
              <a:rPr dirty="0" sz="2000" spc="-10"/>
              <a:t>discount-</a:t>
            </a:r>
            <a:r>
              <a:rPr dirty="0" sz="2000"/>
              <a:t>rate</a:t>
            </a:r>
            <a:r>
              <a:rPr dirty="0" sz="2000" spc="-35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 spc="-10"/>
              <a:t>terminal-</a:t>
            </a:r>
            <a:r>
              <a:rPr dirty="0" sz="2000"/>
              <a:t>growth</a:t>
            </a:r>
            <a:r>
              <a:rPr dirty="0" sz="2000" spc="-35"/>
              <a:t> </a:t>
            </a:r>
            <a:r>
              <a:rPr dirty="0" sz="2000"/>
              <a:t>assumptions,</a:t>
            </a:r>
            <a:r>
              <a:rPr dirty="0" sz="2000" spc="-35"/>
              <a:t> </a:t>
            </a:r>
            <a:r>
              <a:rPr dirty="0" sz="2000"/>
              <a:t>highlighting</a:t>
            </a:r>
            <a:r>
              <a:rPr dirty="0" sz="2000" spc="-35"/>
              <a:t> </a:t>
            </a:r>
            <a:r>
              <a:rPr dirty="0" sz="2000"/>
              <a:t>the</a:t>
            </a:r>
            <a:r>
              <a:rPr dirty="0" sz="2000" spc="-35"/>
              <a:t> </a:t>
            </a:r>
            <a:r>
              <a:rPr dirty="0" sz="2000"/>
              <a:t>key</a:t>
            </a:r>
            <a:r>
              <a:rPr dirty="0" sz="2000" spc="-35"/>
              <a:t> </a:t>
            </a:r>
            <a:r>
              <a:rPr dirty="0" sz="2000"/>
              <a:t>valuation</a:t>
            </a:r>
            <a:r>
              <a:rPr dirty="0" sz="2000" spc="-35"/>
              <a:t> </a:t>
            </a:r>
            <a:r>
              <a:rPr dirty="0" sz="2000" spc="-10"/>
              <a:t>sensitivities.</a:t>
            </a:r>
            <a:endParaRPr sz="20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95463" y="2576538"/>
          <a:ext cx="15144750" cy="6125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/>
                <a:gridCol w="648335"/>
                <a:gridCol w="1920239"/>
                <a:gridCol w="2439670"/>
                <a:gridCol w="2179954"/>
                <a:gridCol w="2179954"/>
                <a:gridCol w="2179954"/>
                <a:gridCol w="2157094"/>
              </a:tblGrid>
              <a:tr h="6934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3810"/>
                        </a:lnSpc>
                        <a:spcBef>
                          <a:spcPts val="1550"/>
                        </a:spcBef>
                      </a:pP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Table</a:t>
                      </a:r>
                      <a:r>
                        <a:rPr dirty="0" sz="3200" spc="-4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1:WACC</a:t>
                      </a:r>
                      <a:r>
                        <a:rPr dirty="0" sz="3200" spc="-4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3200" spc="-4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Terminal</a:t>
                      </a:r>
                      <a:r>
                        <a:rPr dirty="0" sz="3200" spc="-35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Growth</a:t>
                      </a:r>
                      <a:r>
                        <a:rPr dirty="0" sz="3200" spc="-4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Rate</a:t>
                      </a:r>
                      <a:r>
                        <a:rPr dirty="0" sz="3200" spc="-4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spc="-25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SA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96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3420">
                <a:tc gridSpan="8">
                  <a:txBody>
                    <a:bodyPr/>
                    <a:lstStyle/>
                    <a:p>
                      <a:pPr algn="ctr">
                        <a:lnSpc>
                          <a:spcPts val="3320"/>
                        </a:lnSpc>
                        <a:spcBef>
                          <a:spcPts val="2039"/>
                        </a:spcBef>
                      </a:pPr>
                      <a:r>
                        <a:rPr dirty="0" sz="2800" spc="-20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WACC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590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3420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10"/>
                        </a:spcBef>
                      </a:pPr>
                      <a:r>
                        <a:rPr dirty="0" sz="3200" spc="-25" b="1">
                          <a:solidFill>
                            <a:srgbClr val="244060"/>
                          </a:solidFill>
                          <a:latin typeface="Arial"/>
                          <a:cs typeface="Arial"/>
                        </a:rPr>
                        <a:t>TGR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86130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10" b="1">
                          <a:latin typeface="Calibri"/>
                          <a:cs typeface="Calibri"/>
                        </a:rPr>
                        <a:t>128.46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15%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16%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17%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18%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19%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</a:tr>
              <a:tr h="808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3%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68.22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72.65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77.08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7B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81.51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85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85.94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8F71"/>
                    </a:solidFill>
                  </a:tcPr>
                </a:tc>
              </a:tr>
              <a:tr h="808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90.96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9A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96.86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A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102.77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B3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108.68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C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114.59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CD7D"/>
                    </a:solidFill>
                  </a:tcPr>
                </a:tc>
              </a:tr>
              <a:tr h="808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5%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113.70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CA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121.08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DB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128.46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135.85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7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143.23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E183"/>
                    </a:solidFill>
                  </a:tcPr>
                </a:tc>
              </a:tr>
              <a:tr h="808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6%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136.44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7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145.30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154.16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163.02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5D5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171.88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1D07E"/>
                    </a:solidFill>
                  </a:tcPr>
                </a:tc>
              </a:tr>
              <a:tr h="8089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037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25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7%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159.18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7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169.51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D2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179.85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190.19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9C5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800" spc="-10" b="1">
                          <a:solidFill>
                            <a:srgbClr val="244060"/>
                          </a:solidFill>
                          <a:latin typeface="Calibri"/>
                          <a:cs typeface="Calibri"/>
                        </a:rPr>
                        <a:t>200.52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59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2BD7A"/>
                    </a:solidFill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9349307"/>
              <a:ext cx="6885305" cy="937894"/>
            </a:xfrm>
            <a:custGeom>
              <a:avLst/>
              <a:gdLst/>
              <a:ahLst/>
              <a:cxnLst/>
              <a:rect l="l" t="t" r="r" b="b"/>
              <a:pathLst>
                <a:path w="6885305" h="937895">
                  <a:moveTo>
                    <a:pt x="1831949" y="488848"/>
                  </a:moveTo>
                  <a:lnTo>
                    <a:pt x="1379181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16227" y="937691"/>
                  </a:lnTo>
                  <a:lnTo>
                    <a:pt x="1831949" y="488848"/>
                  </a:lnTo>
                  <a:close/>
                </a:path>
                <a:path w="6885305" h="937895">
                  <a:moveTo>
                    <a:pt x="3500412" y="488848"/>
                  </a:moveTo>
                  <a:lnTo>
                    <a:pt x="3047657" y="0"/>
                  </a:lnTo>
                  <a:lnTo>
                    <a:pt x="1501825" y="0"/>
                  </a:lnTo>
                  <a:lnTo>
                    <a:pt x="1954580" y="488848"/>
                  </a:lnTo>
                  <a:lnTo>
                    <a:pt x="1538871" y="937691"/>
                  </a:lnTo>
                  <a:lnTo>
                    <a:pt x="3084703" y="937691"/>
                  </a:lnTo>
                  <a:lnTo>
                    <a:pt x="3500412" y="488848"/>
                  </a:lnTo>
                  <a:close/>
                </a:path>
                <a:path w="6885305" h="937895">
                  <a:moveTo>
                    <a:pt x="5209857" y="488848"/>
                  </a:moveTo>
                  <a:lnTo>
                    <a:pt x="4757102" y="0"/>
                  </a:lnTo>
                  <a:lnTo>
                    <a:pt x="3173984" y="0"/>
                  </a:lnTo>
                  <a:lnTo>
                    <a:pt x="3626739" y="488848"/>
                  </a:lnTo>
                  <a:lnTo>
                    <a:pt x="3211030" y="937691"/>
                  </a:lnTo>
                  <a:lnTo>
                    <a:pt x="4794148" y="937691"/>
                  </a:lnTo>
                  <a:lnTo>
                    <a:pt x="5209857" y="488848"/>
                  </a:lnTo>
                  <a:close/>
                </a:path>
                <a:path w="6885305" h="937895">
                  <a:moveTo>
                    <a:pt x="6885025" y="488848"/>
                  </a:moveTo>
                  <a:lnTo>
                    <a:pt x="6432258" y="0"/>
                  </a:lnTo>
                  <a:lnTo>
                    <a:pt x="4882426" y="0"/>
                  </a:lnTo>
                  <a:lnTo>
                    <a:pt x="5335194" y="488848"/>
                  </a:lnTo>
                  <a:lnTo>
                    <a:pt x="4919484" y="937691"/>
                  </a:lnTo>
                  <a:lnTo>
                    <a:pt x="6469316" y="937691"/>
                  </a:lnTo>
                  <a:lnTo>
                    <a:pt x="6885025" y="488848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52691" y="9349307"/>
              <a:ext cx="4227830" cy="937894"/>
            </a:xfrm>
            <a:custGeom>
              <a:avLst/>
              <a:gdLst/>
              <a:ahLst/>
              <a:cxnLst/>
              <a:rect l="l" t="t" r="r" b="b"/>
              <a:pathLst>
                <a:path w="4227830" h="937895">
                  <a:moveTo>
                    <a:pt x="3774681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3811732" y="937691"/>
                  </a:lnTo>
                  <a:lnTo>
                    <a:pt x="4227436" y="488848"/>
                  </a:lnTo>
                  <a:lnTo>
                    <a:pt x="377468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454449" y="9349307"/>
              <a:ext cx="2298700" cy="937894"/>
            </a:xfrm>
            <a:custGeom>
              <a:avLst/>
              <a:gdLst/>
              <a:ahLst/>
              <a:cxnLst/>
              <a:rect l="l" t="t" r="r" b="b"/>
              <a:pathLst>
                <a:path w="2298700" h="937895">
                  <a:moveTo>
                    <a:pt x="1845424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1882475" y="937691"/>
                  </a:lnTo>
                  <a:lnTo>
                    <a:pt x="2298179" y="488848"/>
                  </a:lnTo>
                  <a:lnTo>
                    <a:pt x="1845424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66" y="9524199"/>
              <a:ext cx="806770" cy="6212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0206" y="9504222"/>
              <a:ext cx="581827" cy="6611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6580" y="9479470"/>
              <a:ext cx="710664" cy="71066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1809" y="9430765"/>
              <a:ext cx="675847" cy="75938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37031" y="9452685"/>
              <a:ext cx="733866" cy="7155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71212" y="9455124"/>
              <a:ext cx="558105" cy="71551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876438" y="9549619"/>
            <a:ext cx="2113280" cy="5524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3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0"/>
            <a:ext cx="17733010" cy="10287000"/>
            <a:chOff x="555007" y="0"/>
            <a:chExt cx="1773301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692" y="0"/>
              <a:ext cx="12774307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5983" y="498886"/>
            <a:ext cx="3538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Risk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Risk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Matrix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2940" y="861284"/>
            <a:ext cx="15280005" cy="8317865"/>
            <a:chOff x="542940" y="861284"/>
            <a:chExt cx="15280005" cy="83178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2386" y="2144763"/>
              <a:ext cx="12399048" cy="65309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4852" y="923197"/>
              <a:ext cx="8255" cy="863600"/>
            </a:xfrm>
            <a:custGeom>
              <a:avLst/>
              <a:gdLst/>
              <a:ahLst/>
              <a:cxnLst/>
              <a:rect l="l" t="t" r="r" b="b"/>
              <a:pathLst>
                <a:path w="8254" h="863600">
                  <a:moveTo>
                    <a:pt x="0" y="0"/>
                  </a:moveTo>
                  <a:lnTo>
                    <a:pt x="8165" y="863346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96032" y="1932495"/>
              <a:ext cx="5715" cy="7117715"/>
            </a:xfrm>
            <a:custGeom>
              <a:avLst/>
              <a:gdLst/>
              <a:ahLst/>
              <a:cxnLst/>
              <a:rect l="l" t="t" r="r" b="b"/>
              <a:pathLst>
                <a:path w="5714" h="7117715">
                  <a:moveTo>
                    <a:pt x="0" y="7117156"/>
                  </a:moveTo>
                  <a:lnTo>
                    <a:pt x="5089" y="0"/>
                  </a:lnTo>
                </a:path>
              </a:pathLst>
            </a:custGeom>
            <a:ln w="76199">
              <a:solidFill>
                <a:srgbClr val="2740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86658" y="1932495"/>
              <a:ext cx="228600" cy="229235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228599" y="228676"/>
                  </a:moveTo>
                  <a:lnTo>
                    <a:pt x="0" y="228523"/>
                  </a:lnTo>
                  <a:lnTo>
                    <a:pt x="114463" y="0"/>
                  </a:lnTo>
                  <a:lnTo>
                    <a:pt x="228599" y="228676"/>
                  </a:lnTo>
                  <a:close/>
                </a:path>
              </a:pathLst>
            </a:custGeom>
            <a:solidFill>
              <a:srgbClr val="27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86658" y="1932495"/>
              <a:ext cx="228600" cy="229235"/>
            </a:xfrm>
            <a:custGeom>
              <a:avLst/>
              <a:gdLst/>
              <a:ahLst/>
              <a:cxnLst/>
              <a:rect l="l" t="t" r="r" b="b"/>
              <a:pathLst>
                <a:path w="228600" h="229235">
                  <a:moveTo>
                    <a:pt x="228599" y="228676"/>
                  </a:moveTo>
                  <a:lnTo>
                    <a:pt x="114463" y="0"/>
                  </a:lnTo>
                  <a:lnTo>
                    <a:pt x="0" y="228523"/>
                  </a:lnTo>
                  <a:lnTo>
                    <a:pt x="228599" y="228676"/>
                  </a:lnTo>
                  <a:close/>
                </a:path>
              </a:pathLst>
            </a:custGeom>
            <a:ln w="76199">
              <a:solidFill>
                <a:srgbClr val="2740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9029" y="9026055"/>
              <a:ext cx="13286105" cy="24130"/>
            </a:xfrm>
            <a:custGeom>
              <a:avLst/>
              <a:gdLst/>
              <a:ahLst/>
              <a:cxnLst/>
              <a:rect l="l" t="t" r="r" b="b"/>
              <a:pathLst>
                <a:path w="13286105" h="24129">
                  <a:moveTo>
                    <a:pt x="0" y="23596"/>
                  </a:moveTo>
                  <a:lnTo>
                    <a:pt x="13285723" y="0"/>
                  </a:lnTo>
                </a:path>
              </a:pathLst>
            </a:custGeom>
            <a:ln w="76199">
              <a:solidFill>
                <a:srgbClr val="2740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556026" y="8912161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4" h="228600">
                  <a:moveTo>
                    <a:pt x="380" y="228600"/>
                  </a:moveTo>
                  <a:lnTo>
                    <a:pt x="0" y="0"/>
                  </a:lnTo>
                  <a:lnTo>
                    <a:pt x="228726" y="113893"/>
                  </a:lnTo>
                  <a:lnTo>
                    <a:pt x="380" y="228600"/>
                  </a:lnTo>
                  <a:close/>
                </a:path>
              </a:pathLst>
            </a:custGeom>
            <a:solidFill>
              <a:srgbClr val="27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556026" y="8912161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4" h="228600">
                  <a:moveTo>
                    <a:pt x="380" y="228600"/>
                  </a:moveTo>
                  <a:lnTo>
                    <a:pt x="228726" y="113893"/>
                  </a:lnTo>
                  <a:lnTo>
                    <a:pt x="0" y="0"/>
                  </a:lnTo>
                  <a:lnTo>
                    <a:pt x="380" y="228600"/>
                  </a:lnTo>
                  <a:close/>
                </a:path>
              </a:pathLst>
            </a:custGeom>
            <a:ln w="76199">
              <a:solidFill>
                <a:srgbClr val="2740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820282" y="808184"/>
            <a:ext cx="13355955" cy="963930"/>
          </a:xfrm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What</a:t>
            </a:r>
            <a:r>
              <a:rPr dirty="0" spc="-50"/>
              <a:t> </a:t>
            </a:r>
            <a:r>
              <a:rPr dirty="0"/>
              <a:t>could</a:t>
            </a:r>
            <a:r>
              <a:rPr dirty="0" spc="-45"/>
              <a:t> </a:t>
            </a:r>
            <a:r>
              <a:rPr dirty="0"/>
              <a:t>break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thesis?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/>
              <a:t>Our</a:t>
            </a:r>
            <a:r>
              <a:rPr dirty="0" sz="2000" spc="-40"/>
              <a:t> </a:t>
            </a:r>
            <a:r>
              <a:rPr dirty="0" sz="2000"/>
              <a:t>investment</a:t>
            </a:r>
            <a:r>
              <a:rPr dirty="0" sz="2000" spc="-40"/>
              <a:t> </a:t>
            </a:r>
            <a:r>
              <a:rPr dirty="0" sz="2000"/>
              <a:t>case</a:t>
            </a:r>
            <a:r>
              <a:rPr dirty="0" sz="2000" spc="-35"/>
              <a:t> </a:t>
            </a:r>
            <a:r>
              <a:rPr dirty="0" sz="2000"/>
              <a:t>is</a:t>
            </a:r>
            <a:r>
              <a:rPr dirty="0" sz="2000" spc="-40"/>
              <a:t> </a:t>
            </a:r>
            <a:r>
              <a:rPr dirty="0" sz="2000"/>
              <a:t>most</a:t>
            </a:r>
            <a:r>
              <a:rPr dirty="0" sz="2000" spc="-35"/>
              <a:t> </a:t>
            </a:r>
            <a:r>
              <a:rPr dirty="0" sz="2000"/>
              <a:t>exposed</a:t>
            </a:r>
            <a:r>
              <a:rPr dirty="0" sz="2000" spc="-40"/>
              <a:t> </a:t>
            </a:r>
            <a:r>
              <a:rPr dirty="0" sz="2000"/>
              <a:t>to</a:t>
            </a:r>
            <a:r>
              <a:rPr dirty="0" sz="2000" spc="-35"/>
              <a:t> </a:t>
            </a:r>
            <a:r>
              <a:rPr dirty="0" sz="2000"/>
              <a:t>cement</a:t>
            </a:r>
            <a:r>
              <a:rPr dirty="0" sz="2000" spc="-40"/>
              <a:t> </a:t>
            </a:r>
            <a:r>
              <a:rPr dirty="0" sz="2000"/>
              <a:t>pricing,</a:t>
            </a:r>
            <a:r>
              <a:rPr dirty="0" sz="2000" spc="-35"/>
              <a:t> </a:t>
            </a:r>
            <a:r>
              <a:rPr dirty="0" sz="2000"/>
              <a:t>energy</a:t>
            </a:r>
            <a:r>
              <a:rPr dirty="0" sz="2000" spc="-40"/>
              <a:t> </a:t>
            </a:r>
            <a:r>
              <a:rPr dirty="0" sz="2000"/>
              <a:t>costs,</a:t>
            </a:r>
            <a:r>
              <a:rPr dirty="0" sz="2000" spc="-40"/>
              <a:t> </a:t>
            </a:r>
            <a:r>
              <a:rPr dirty="0" sz="2000"/>
              <a:t>FX</a:t>
            </a:r>
            <a:r>
              <a:rPr dirty="0" sz="2000" spc="-35"/>
              <a:t> </a:t>
            </a:r>
            <a:r>
              <a:rPr dirty="0" sz="2000"/>
              <a:t>movements</a:t>
            </a:r>
            <a:r>
              <a:rPr dirty="0" sz="2000" spc="-40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/>
              <a:t>capacity</a:t>
            </a:r>
            <a:r>
              <a:rPr dirty="0" sz="2000" spc="-40"/>
              <a:t> </a:t>
            </a:r>
            <a:r>
              <a:rPr dirty="0" sz="2000" spc="-10"/>
              <a:t>utilization.</a:t>
            </a:r>
            <a:endParaRPr sz="2000"/>
          </a:p>
        </p:txBody>
      </p:sp>
      <p:sp>
        <p:nvSpPr>
          <p:cNvPr id="27" name="object 27"/>
          <p:cNvSpPr txBox="1"/>
          <p:nvPr/>
        </p:nvSpPr>
        <p:spPr>
          <a:xfrm>
            <a:off x="1898553" y="2202117"/>
            <a:ext cx="366395" cy="16002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Probability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2012" y="2826178"/>
            <a:ext cx="366395" cy="7023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20" b="1">
                <a:solidFill>
                  <a:srgbClr val="244060"/>
                </a:solidFill>
                <a:latin typeface="Arial"/>
                <a:cs typeface="Arial"/>
              </a:rPr>
              <a:t>High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68252" y="2599550"/>
            <a:ext cx="2679700" cy="1168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MR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Energy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Risk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FR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FR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Inflation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3762" y="4720406"/>
            <a:ext cx="366395" cy="13798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Moderate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37094" y="4776952"/>
            <a:ext cx="3590290" cy="139763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788670" algn="l"/>
              </a:tabLst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FR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2: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Interest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Rate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OR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2: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Supply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Chain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Disruptions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740"/>
              </a:lnSpc>
              <a:spcBef>
                <a:spcPts val="2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RR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2: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Environmental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Regulation 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468252" y="4759223"/>
            <a:ext cx="2905760" cy="11690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Utilization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3040"/>
              </a:lnSpc>
              <a:spcBef>
                <a:spcPts val="2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RR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Industry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Regulation</a:t>
            </a:r>
            <a:r>
              <a:rPr dirty="0" sz="18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2012" y="7216226"/>
            <a:ext cx="366395" cy="635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Low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17878" y="8677935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244060"/>
                </a:solidFill>
                <a:latin typeface="Arial"/>
                <a:cs typeface="Arial"/>
              </a:rPr>
              <a:t>Low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75948" y="8653144"/>
            <a:ext cx="1379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Moderate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23786" y="8675840"/>
            <a:ext cx="702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244060"/>
                </a:solidFill>
                <a:latin typeface="Arial"/>
                <a:cs typeface="Arial"/>
              </a:rPr>
              <a:t>High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063031" y="8849080"/>
            <a:ext cx="10077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0" y="9349307"/>
              <a:ext cx="6885305" cy="937894"/>
            </a:xfrm>
            <a:custGeom>
              <a:avLst/>
              <a:gdLst/>
              <a:ahLst/>
              <a:cxnLst/>
              <a:rect l="l" t="t" r="r" b="b"/>
              <a:pathLst>
                <a:path w="6885305" h="937895">
                  <a:moveTo>
                    <a:pt x="1831949" y="488848"/>
                  </a:moveTo>
                  <a:lnTo>
                    <a:pt x="1379181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16227" y="937691"/>
                  </a:lnTo>
                  <a:lnTo>
                    <a:pt x="1831949" y="488848"/>
                  </a:lnTo>
                  <a:close/>
                </a:path>
                <a:path w="6885305" h="937895">
                  <a:moveTo>
                    <a:pt x="3500412" y="488848"/>
                  </a:moveTo>
                  <a:lnTo>
                    <a:pt x="3047657" y="0"/>
                  </a:lnTo>
                  <a:lnTo>
                    <a:pt x="1501825" y="0"/>
                  </a:lnTo>
                  <a:lnTo>
                    <a:pt x="1954580" y="488848"/>
                  </a:lnTo>
                  <a:lnTo>
                    <a:pt x="1538871" y="937691"/>
                  </a:lnTo>
                  <a:lnTo>
                    <a:pt x="3084703" y="937691"/>
                  </a:lnTo>
                  <a:lnTo>
                    <a:pt x="3500412" y="488848"/>
                  </a:lnTo>
                  <a:close/>
                </a:path>
                <a:path w="6885305" h="937895">
                  <a:moveTo>
                    <a:pt x="5209857" y="488848"/>
                  </a:moveTo>
                  <a:lnTo>
                    <a:pt x="4757102" y="0"/>
                  </a:lnTo>
                  <a:lnTo>
                    <a:pt x="3173984" y="0"/>
                  </a:lnTo>
                  <a:lnTo>
                    <a:pt x="3626739" y="488848"/>
                  </a:lnTo>
                  <a:lnTo>
                    <a:pt x="3211030" y="937691"/>
                  </a:lnTo>
                  <a:lnTo>
                    <a:pt x="4794148" y="937691"/>
                  </a:lnTo>
                  <a:lnTo>
                    <a:pt x="5209857" y="488848"/>
                  </a:lnTo>
                  <a:close/>
                </a:path>
                <a:path w="6885305" h="937895">
                  <a:moveTo>
                    <a:pt x="6885025" y="488848"/>
                  </a:moveTo>
                  <a:lnTo>
                    <a:pt x="6432258" y="0"/>
                  </a:lnTo>
                  <a:lnTo>
                    <a:pt x="4882426" y="0"/>
                  </a:lnTo>
                  <a:lnTo>
                    <a:pt x="5335194" y="488848"/>
                  </a:lnTo>
                  <a:lnTo>
                    <a:pt x="4919484" y="937691"/>
                  </a:lnTo>
                  <a:lnTo>
                    <a:pt x="6469316" y="937691"/>
                  </a:lnTo>
                  <a:lnTo>
                    <a:pt x="6885025" y="488848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552691" y="9349307"/>
              <a:ext cx="4227830" cy="937894"/>
            </a:xfrm>
            <a:custGeom>
              <a:avLst/>
              <a:gdLst/>
              <a:ahLst/>
              <a:cxnLst/>
              <a:rect l="l" t="t" r="r" b="b"/>
              <a:pathLst>
                <a:path w="4227830" h="937895">
                  <a:moveTo>
                    <a:pt x="3774681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3811732" y="937691"/>
                  </a:lnTo>
                  <a:lnTo>
                    <a:pt x="4227436" y="488848"/>
                  </a:lnTo>
                  <a:lnTo>
                    <a:pt x="377468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454449" y="9349307"/>
              <a:ext cx="2298700" cy="937894"/>
            </a:xfrm>
            <a:custGeom>
              <a:avLst/>
              <a:gdLst/>
              <a:ahLst/>
              <a:cxnLst/>
              <a:rect l="l" t="t" r="r" b="b"/>
              <a:pathLst>
                <a:path w="2298700" h="937895">
                  <a:moveTo>
                    <a:pt x="1845424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1882475" y="937691"/>
                  </a:lnTo>
                  <a:lnTo>
                    <a:pt x="2298179" y="488848"/>
                  </a:lnTo>
                  <a:lnTo>
                    <a:pt x="1845424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666" y="9524199"/>
              <a:ext cx="806770" cy="62120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0206" y="9504222"/>
              <a:ext cx="581827" cy="6611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1809" y="9430765"/>
              <a:ext cx="675847" cy="75938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6580" y="9479470"/>
              <a:ext cx="710664" cy="71066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7031" y="9452685"/>
              <a:ext cx="733866" cy="71551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71212" y="9455124"/>
              <a:ext cx="558105" cy="71551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876438" y="9549619"/>
            <a:ext cx="2113280" cy="5524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3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BFB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55007" y="0"/>
            <a:ext cx="17733010" cy="10287000"/>
            <a:chOff x="555007" y="0"/>
            <a:chExt cx="1773301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692" y="0"/>
              <a:ext cx="12774307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15983" y="498886"/>
            <a:ext cx="34956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Conclusion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Investment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Call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0284" y="862717"/>
            <a:ext cx="3250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Our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244060"/>
                </a:solidFill>
                <a:latin typeface="Arial"/>
                <a:cs typeface="Arial"/>
              </a:rPr>
              <a:t>View:</a:t>
            </a:r>
            <a:r>
              <a:rPr dirty="0" sz="36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3600" spc="-25" b="1">
                <a:solidFill>
                  <a:srgbClr val="244060"/>
                </a:solidFill>
                <a:latin typeface="Arial"/>
                <a:cs typeface="Arial"/>
              </a:rPr>
              <a:t>BUY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940" y="861284"/>
            <a:ext cx="15827375" cy="4375785"/>
            <a:chOff x="542940" y="861284"/>
            <a:chExt cx="15827375" cy="4375785"/>
          </a:xfrm>
        </p:grpSpPr>
        <p:sp>
          <p:nvSpPr>
            <p:cNvPr id="10" name="object 10"/>
            <p:cNvSpPr/>
            <p:nvPr/>
          </p:nvSpPr>
          <p:spPr>
            <a:xfrm>
              <a:off x="604852" y="923197"/>
              <a:ext cx="24130" cy="1193165"/>
            </a:xfrm>
            <a:custGeom>
              <a:avLst/>
              <a:gdLst/>
              <a:ahLst/>
              <a:cxnLst/>
              <a:rect l="l" t="t" r="r" b="b"/>
              <a:pathLst>
                <a:path w="24129" h="1193164">
                  <a:moveTo>
                    <a:pt x="0" y="0"/>
                  </a:moveTo>
                  <a:lnTo>
                    <a:pt x="23829" y="1192923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99018" y="2426728"/>
              <a:ext cx="14771369" cy="2810510"/>
            </a:xfrm>
            <a:custGeom>
              <a:avLst/>
              <a:gdLst/>
              <a:ahLst/>
              <a:cxnLst/>
              <a:rect l="l" t="t" r="r" b="b"/>
              <a:pathLst>
                <a:path w="14771369" h="2810510">
                  <a:moveTo>
                    <a:pt x="14302613" y="0"/>
                  </a:moveTo>
                  <a:lnTo>
                    <a:pt x="468369" y="0"/>
                  </a:lnTo>
                  <a:lnTo>
                    <a:pt x="420767" y="2437"/>
                  </a:lnTo>
                  <a:lnTo>
                    <a:pt x="374474" y="9586"/>
                  </a:lnTo>
                  <a:lnTo>
                    <a:pt x="329734" y="21205"/>
                  </a:lnTo>
                  <a:lnTo>
                    <a:pt x="286790" y="37050"/>
                  </a:lnTo>
                  <a:lnTo>
                    <a:pt x="245884" y="56878"/>
                  </a:lnTo>
                  <a:lnTo>
                    <a:pt x="207261" y="80446"/>
                  </a:lnTo>
                  <a:lnTo>
                    <a:pt x="171162" y="107512"/>
                  </a:lnTo>
                  <a:lnTo>
                    <a:pt x="137832" y="137831"/>
                  </a:lnTo>
                  <a:lnTo>
                    <a:pt x="107512" y="171161"/>
                  </a:lnTo>
                  <a:lnTo>
                    <a:pt x="80447" y="207259"/>
                  </a:lnTo>
                  <a:lnTo>
                    <a:pt x="56878" y="245882"/>
                  </a:lnTo>
                  <a:lnTo>
                    <a:pt x="37050" y="286787"/>
                  </a:lnTo>
                  <a:lnTo>
                    <a:pt x="21205" y="329731"/>
                  </a:lnTo>
                  <a:lnTo>
                    <a:pt x="9586" y="374470"/>
                  </a:lnTo>
                  <a:lnTo>
                    <a:pt x="2437" y="420761"/>
                  </a:lnTo>
                  <a:lnTo>
                    <a:pt x="0" y="468363"/>
                  </a:lnTo>
                  <a:lnTo>
                    <a:pt x="0" y="2341791"/>
                  </a:lnTo>
                  <a:lnTo>
                    <a:pt x="2437" y="2389392"/>
                  </a:lnTo>
                  <a:lnTo>
                    <a:pt x="9586" y="2435684"/>
                  </a:lnTo>
                  <a:lnTo>
                    <a:pt x="21205" y="2480423"/>
                  </a:lnTo>
                  <a:lnTo>
                    <a:pt x="37050" y="2523366"/>
                  </a:lnTo>
                  <a:lnTo>
                    <a:pt x="56878" y="2564271"/>
                  </a:lnTo>
                  <a:lnTo>
                    <a:pt x="80447" y="2602894"/>
                  </a:lnTo>
                  <a:lnTo>
                    <a:pt x="107512" y="2638992"/>
                  </a:lnTo>
                  <a:lnTo>
                    <a:pt x="137832" y="2672322"/>
                  </a:lnTo>
                  <a:lnTo>
                    <a:pt x="171162" y="2702642"/>
                  </a:lnTo>
                  <a:lnTo>
                    <a:pt x="207261" y="2729707"/>
                  </a:lnTo>
                  <a:lnTo>
                    <a:pt x="245884" y="2753275"/>
                  </a:lnTo>
                  <a:lnTo>
                    <a:pt x="286790" y="2773103"/>
                  </a:lnTo>
                  <a:lnTo>
                    <a:pt x="329734" y="2788948"/>
                  </a:lnTo>
                  <a:lnTo>
                    <a:pt x="374474" y="2800567"/>
                  </a:lnTo>
                  <a:lnTo>
                    <a:pt x="420767" y="2807717"/>
                  </a:lnTo>
                  <a:lnTo>
                    <a:pt x="468369" y="2810154"/>
                  </a:lnTo>
                  <a:lnTo>
                    <a:pt x="14302613" y="2810154"/>
                  </a:lnTo>
                  <a:lnTo>
                    <a:pt x="14350212" y="2807717"/>
                  </a:lnTo>
                  <a:lnTo>
                    <a:pt x="14396502" y="2800567"/>
                  </a:lnTo>
                  <a:lnTo>
                    <a:pt x="14441241" y="2788948"/>
                  </a:lnTo>
                  <a:lnTo>
                    <a:pt x="14484185" y="2773103"/>
                  </a:lnTo>
                  <a:lnTo>
                    <a:pt x="14525090" y="2753275"/>
                  </a:lnTo>
                  <a:lnTo>
                    <a:pt x="14563714" y="2729707"/>
                  </a:lnTo>
                  <a:lnTo>
                    <a:pt x="14599814" y="2702642"/>
                  </a:lnTo>
                  <a:lnTo>
                    <a:pt x="14633146" y="2672322"/>
                  </a:lnTo>
                  <a:lnTo>
                    <a:pt x="14663467" y="2638992"/>
                  </a:lnTo>
                  <a:lnTo>
                    <a:pt x="14690534" y="2602894"/>
                  </a:lnTo>
                  <a:lnTo>
                    <a:pt x="14714104" y="2564271"/>
                  </a:lnTo>
                  <a:lnTo>
                    <a:pt x="14733934" y="2523366"/>
                  </a:lnTo>
                  <a:lnTo>
                    <a:pt x="14749781" y="2480423"/>
                  </a:lnTo>
                  <a:lnTo>
                    <a:pt x="14761401" y="2435684"/>
                  </a:lnTo>
                  <a:lnTo>
                    <a:pt x="14768551" y="2389392"/>
                  </a:lnTo>
                  <a:lnTo>
                    <a:pt x="14770989" y="2341791"/>
                  </a:lnTo>
                  <a:lnTo>
                    <a:pt x="14770989" y="468363"/>
                  </a:lnTo>
                  <a:lnTo>
                    <a:pt x="14768551" y="420761"/>
                  </a:lnTo>
                  <a:lnTo>
                    <a:pt x="14761401" y="374470"/>
                  </a:lnTo>
                  <a:lnTo>
                    <a:pt x="14749781" y="329731"/>
                  </a:lnTo>
                  <a:lnTo>
                    <a:pt x="14733934" y="286787"/>
                  </a:lnTo>
                  <a:lnTo>
                    <a:pt x="14714104" y="245882"/>
                  </a:lnTo>
                  <a:lnTo>
                    <a:pt x="14690534" y="207259"/>
                  </a:lnTo>
                  <a:lnTo>
                    <a:pt x="14663467" y="171161"/>
                  </a:lnTo>
                  <a:lnTo>
                    <a:pt x="14633146" y="137831"/>
                  </a:lnTo>
                  <a:lnTo>
                    <a:pt x="14599814" y="107512"/>
                  </a:lnTo>
                  <a:lnTo>
                    <a:pt x="14563714" y="80446"/>
                  </a:lnTo>
                  <a:lnTo>
                    <a:pt x="14525090" y="56878"/>
                  </a:lnTo>
                  <a:lnTo>
                    <a:pt x="14484185" y="37050"/>
                  </a:lnTo>
                  <a:lnTo>
                    <a:pt x="14441241" y="21205"/>
                  </a:lnTo>
                  <a:lnTo>
                    <a:pt x="14396502" y="9586"/>
                  </a:lnTo>
                  <a:lnTo>
                    <a:pt x="14350212" y="2437"/>
                  </a:lnTo>
                  <a:lnTo>
                    <a:pt x="14302613" y="0"/>
                  </a:lnTo>
                  <a:close/>
                </a:path>
              </a:pathLst>
            </a:custGeom>
            <a:solidFill>
              <a:srgbClr val="B8CDE4">
                <a:alpha val="5568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20282" y="1403553"/>
            <a:ext cx="1461516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ARCC's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earnings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recovery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supported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improving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utilization,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and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export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flexibility,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while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our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valuation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remains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supported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across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methodologies.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9561" y="2885973"/>
            <a:ext cx="299910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</a:tabLst>
            </a:pPr>
            <a:r>
              <a:rPr dirty="0" sz="5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5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5400" spc="-25" b="1">
                <a:solidFill>
                  <a:srgbClr val="244060"/>
                </a:solidFill>
                <a:latin typeface="Arial"/>
                <a:cs typeface="Arial"/>
              </a:rPr>
              <a:t>124</a:t>
            </a:r>
            <a:endParaRPr sz="5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9561" y="3663213"/>
            <a:ext cx="1960880" cy="79502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74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12-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month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Target</a:t>
            </a:r>
            <a:r>
              <a:rPr dirty="0" sz="2800" spc="-10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2982" y="2754858"/>
            <a:ext cx="16956405" cy="5504180"/>
            <a:chOff x="832982" y="2754858"/>
            <a:chExt cx="16956405" cy="5504180"/>
          </a:xfrm>
        </p:grpSpPr>
        <p:sp>
          <p:nvSpPr>
            <p:cNvPr id="16" name="object 16"/>
            <p:cNvSpPr/>
            <p:nvPr/>
          </p:nvSpPr>
          <p:spPr>
            <a:xfrm>
              <a:off x="6322745" y="2761208"/>
              <a:ext cx="0" cy="1981200"/>
            </a:xfrm>
            <a:custGeom>
              <a:avLst/>
              <a:gdLst/>
              <a:ahLst/>
              <a:cxnLst/>
              <a:rect l="l" t="t" r="r" b="b"/>
              <a:pathLst>
                <a:path w="0" h="1981200">
                  <a:moveTo>
                    <a:pt x="0" y="0"/>
                  </a:moveTo>
                  <a:lnTo>
                    <a:pt x="0" y="1981200"/>
                  </a:lnTo>
                </a:path>
              </a:pathLst>
            </a:custGeom>
            <a:ln w="126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824487" y="2761208"/>
              <a:ext cx="0" cy="1981200"/>
            </a:xfrm>
            <a:custGeom>
              <a:avLst/>
              <a:gdLst/>
              <a:ahLst/>
              <a:cxnLst/>
              <a:rect l="l" t="t" r="r" b="b"/>
              <a:pathLst>
                <a:path w="0" h="1981200">
                  <a:moveTo>
                    <a:pt x="0" y="0"/>
                  </a:moveTo>
                  <a:lnTo>
                    <a:pt x="0" y="1981200"/>
                  </a:lnTo>
                </a:path>
              </a:pathLst>
            </a:custGeom>
            <a:ln w="126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60837" y="5831497"/>
              <a:ext cx="13716000" cy="8890"/>
            </a:xfrm>
            <a:custGeom>
              <a:avLst/>
              <a:gdLst/>
              <a:ahLst/>
              <a:cxnLst/>
              <a:rect l="l" t="t" r="r" b="b"/>
              <a:pathLst>
                <a:path w="13716000" h="8889">
                  <a:moveTo>
                    <a:pt x="0" y="0"/>
                  </a:moveTo>
                  <a:lnTo>
                    <a:pt x="13715492" y="8877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0837" y="5811494"/>
              <a:ext cx="13716000" cy="8890"/>
            </a:xfrm>
            <a:custGeom>
              <a:avLst/>
              <a:gdLst/>
              <a:ahLst/>
              <a:cxnLst/>
              <a:rect l="l" t="t" r="r" b="b"/>
              <a:pathLst>
                <a:path w="13716000" h="8889">
                  <a:moveTo>
                    <a:pt x="0" y="0"/>
                  </a:moveTo>
                  <a:lnTo>
                    <a:pt x="13715492" y="8877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32982" y="6194666"/>
              <a:ext cx="16722725" cy="2064385"/>
            </a:xfrm>
            <a:custGeom>
              <a:avLst/>
              <a:gdLst/>
              <a:ahLst/>
              <a:cxnLst/>
              <a:rect l="l" t="t" r="r" b="b"/>
              <a:pathLst>
                <a:path w="16722725" h="2064384">
                  <a:moveTo>
                    <a:pt x="16378682" y="0"/>
                  </a:moveTo>
                  <a:lnTo>
                    <a:pt x="343982" y="0"/>
                  </a:lnTo>
                  <a:lnTo>
                    <a:pt x="297573" y="3164"/>
                  </a:lnTo>
                  <a:lnTo>
                    <a:pt x="252980" y="12376"/>
                  </a:lnTo>
                  <a:lnTo>
                    <a:pt x="210625" y="27211"/>
                  </a:lnTo>
                  <a:lnTo>
                    <a:pt x="170933" y="47247"/>
                  </a:lnTo>
                  <a:lnTo>
                    <a:pt x="134326" y="72060"/>
                  </a:lnTo>
                  <a:lnTo>
                    <a:pt x="101227" y="101228"/>
                  </a:lnTo>
                  <a:lnTo>
                    <a:pt x="72059" y="134327"/>
                  </a:lnTo>
                  <a:lnTo>
                    <a:pt x="47246" y="170934"/>
                  </a:lnTo>
                  <a:lnTo>
                    <a:pt x="27210" y="210626"/>
                  </a:lnTo>
                  <a:lnTo>
                    <a:pt x="12375" y="252979"/>
                  </a:lnTo>
                  <a:lnTo>
                    <a:pt x="3164" y="297571"/>
                  </a:lnTo>
                  <a:lnTo>
                    <a:pt x="0" y="343979"/>
                  </a:lnTo>
                  <a:lnTo>
                    <a:pt x="0" y="1719872"/>
                  </a:lnTo>
                  <a:lnTo>
                    <a:pt x="3164" y="1766279"/>
                  </a:lnTo>
                  <a:lnTo>
                    <a:pt x="12375" y="1810871"/>
                  </a:lnTo>
                  <a:lnTo>
                    <a:pt x="27210" y="1853225"/>
                  </a:lnTo>
                  <a:lnTo>
                    <a:pt x="47246" y="1892917"/>
                  </a:lnTo>
                  <a:lnTo>
                    <a:pt x="72059" y="1929524"/>
                  </a:lnTo>
                  <a:lnTo>
                    <a:pt x="101227" y="1962623"/>
                  </a:lnTo>
                  <a:lnTo>
                    <a:pt x="134326" y="1991790"/>
                  </a:lnTo>
                  <a:lnTo>
                    <a:pt x="170933" y="2016604"/>
                  </a:lnTo>
                  <a:lnTo>
                    <a:pt x="210625" y="2036640"/>
                  </a:lnTo>
                  <a:lnTo>
                    <a:pt x="252980" y="2051475"/>
                  </a:lnTo>
                  <a:lnTo>
                    <a:pt x="297573" y="2060687"/>
                  </a:lnTo>
                  <a:lnTo>
                    <a:pt x="343982" y="2063851"/>
                  </a:lnTo>
                  <a:lnTo>
                    <a:pt x="16378682" y="2063851"/>
                  </a:lnTo>
                  <a:lnTo>
                    <a:pt x="16425093" y="2060687"/>
                  </a:lnTo>
                  <a:lnTo>
                    <a:pt x="16469685" y="2051475"/>
                  </a:lnTo>
                  <a:lnTo>
                    <a:pt x="16512035" y="2036640"/>
                  </a:lnTo>
                  <a:lnTo>
                    <a:pt x="16551721" y="2016604"/>
                  </a:lnTo>
                  <a:lnTo>
                    <a:pt x="16588320" y="1991790"/>
                  </a:lnTo>
                  <a:lnTo>
                    <a:pt x="16621410" y="1962623"/>
                  </a:lnTo>
                  <a:lnTo>
                    <a:pt x="16650568" y="1929524"/>
                  </a:lnTo>
                  <a:lnTo>
                    <a:pt x="16675372" y="1892917"/>
                  </a:lnTo>
                  <a:lnTo>
                    <a:pt x="16695400" y="1853225"/>
                  </a:lnTo>
                  <a:lnTo>
                    <a:pt x="16710228" y="1810871"/>
                  </a:lnTo>
                  <a:lnTo>
                    <a:pt x="16719435" y="1766279"/>
                  </a:lnTo>
                  <a:lnTo>
                    <a:pt x="16722598" y="1719872"/>
                  </a:lnTo>
                  <a:lnTo>
                    <a:pt x="16722598" y="343979"/>
                  </a:lnTo>
                  <a:lnTo>
                    <a:pt x="16719435" y="297571"/>
                  </a:lnTo>
                  <a:lnTo>
                    <a:pt x="16710228" y="252979"/>
                  </a:lnTo>
                  <a:lnTo>
                    <a:pt x="16695400" y="210626"/>
                  </a:lnTo>
                  <a:lnTo>
                    <a:pt x="16675372" y="170934"/>
                  </a:lnTo>
                  <a:lnTo>
                    <a:pt x="16650568" y="134327"/>
                  </a:lnTo>
                  <a:lnTo>
                    <a:pt x="16621410" y="101228"/>
                  </a:lnTo>
                  <a:lnTo>
                    <a:pt x="16588320" y="72060"/>
                  </a:lnTo>
                  <a:lnTo>
                    <a:pt x="16551721" y="47247"/>
                  </a:lnTo>
                  <a:lnTo>
                    <a:pt x="16512035" y="27211"/>
                  </a:lnTo>
                  <a:lnTo>
                    <a:pt x="16469685" y="12376"/>
                  </a:lnTo>
                  <a:lnTo>
                    <a:pt x="16425093" y="3164"/>
                  </a:lnTo>
                  <a:lnTo>
                    <a:pt x="16378682" y="0"/>
                  </a:lnTo>
                  <a:close/>
                </a:path>
              </a:pathLst>
            </a:custGeom>
            <a:solidFill>
              <a:srgbClr val="79C57C">
                <a:alpha val="2470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69624" y="6535369"/>
              <a:ext cx="635" cy="1490345"/>
            </a:xfrm>
            <a:custGeom>
              <a:avLst/>
              <a:gdLst/>
              <a:ahLst/>
              <a:cxnLst/>
              <a:rect l="l" t="t" r="r" b="b"/>
              <a:pathLst>
                <a:path w="635" h="1490345">
                  <a:moveTo>
                    <a:pt x="0" y="0"/>
                  </a:moveTo>
                  <a:lnTo>
                    <a:pt x="568" y="1490345"/>
                  </a:lnTo>
                </a:path>
              </a:pathLst>
            </a:custGeom>
            <a:ln w="126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171410" y="2876283"/>
            <a:ext cx="3569970" cy="1572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00"/>
              </a:lnSpc>
              <a:spcBef>
                <a:spcPts val="100"/>
              </a:spcBef>
              <a:tabLst>
                <a:tab pos="1841500" algn="l"/>
              </a:tabLst>
            </a:pPr>
            <a:r>
              <a:rPr dirty="0" sz="5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5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5400" spc="-10" b="1">
                <a:solidFill>
                  <a:srgbClr val="244060"/>
                </a:solidFill>
                <a:latin typeface="Arial"/>
                <a:cs typeface="Arial"/>
              </a:rPr>
              <a:t>73.45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Current</a:t>
            </a:r>
            <a:r>
              <a:rPr dirty="0" sz="2800" spc="-1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030"/>
              </a:lnSpc>
            </a:pP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As</a:t>
            </a: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26</a:t>
            </a:r>
            <a:r>
              <a:rPr dirty="0" sz="28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Sept</a:t>
            </a: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244060"/>
                </a:solidFill>
                <a:latin typeface="Arial"/>
                <a:cs typeface="Arial"/>
              </a:rPr>
              <a:t>2026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20447" y="2902534"/>
            <a:ext cx="2613660" cy="122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300"/>
              </a:lnSpc>
              <a:spcBef>
                <a:spcPts val="100"/>
              </a:spcBef>
            </a:pPr>
            <a:r>
              <a:rPr dirty="0" sz="5400" spc="-20" b="1">
                <a:solidFill>
                  <a:srgbClr val="244060"/>
                </a:solidFill>
                <a:latin typeface="Arial"/>
                <a:cs typeface="Arial"/>
              </a:rPr>
              <a:t>+69%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ts val="3180"/>
              </a:lnSpc>
            </a:pP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Upside</a:t>
            </a:r>
            <a:r>
              <a:rPr dirty="0" sz="2800" spc="-114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Potential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6950" y="5643524"/>
            <a:ext cx="2846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Triangulation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01241" y="6465125"/>
            <a:ext cx="2448560" cy="1457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3335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DCF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5255"/>
              </a:lnSpc>
              <a:tabLst>
                <a:tab pos="1503045" algn="l"/>
              </a:tabLst>
            </a:pP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4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128</a:t>
            </a:r>
            <a:endParaRPr sz="44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9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(70%</a:t>
            </a:r>
            <a:r>
              <a:rPr dirty="0" sz="20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Weight)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7764" y="6423659"/>
            <a:ext cx="2448560" cy="1457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3335"/>
              </a:lnSpc>
              <a:spcBef>
                <a:spcPts val="100"/>
              </a:spcBef>
            </a:pPr>
            <a:r>
              <a:rPr dirty="0" sz="2800" spc="-25">
                <a:solidFill>
                  <a:srgbClr val="244060"/>
                </a:solidFill>
                <a:latin typeface="Arial"/>
                <a:cs typeface="Arial"/>
              </a:rPr>
              <a:t>P/E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5255"/>
              </a:lnSpc>
              <a:tabLst>
                <a:tab pos="1503045" algn="l"/>
              </a:tabLst>
            </a:pP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4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113</a:t>
            </a:r>
            <a:endParaRPr sz="44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9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(15%</a:t>
            </a:r>
            <a:r>
              <a:rPr dirty="0" sz="20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Weight)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6502413"/>
            <a:ext cx="18288000" cy="3784600"/>
            <a:chOff x="0" y="6502413"/>
            <a:chExt cx="18288000" cy="3784600"/>
          </a:xfrm>
        </p:grpSpPr>
        <p:sp>
          <p:nvSpPr>
            <p:cNvPr id="28" name="object 28"/>
            <p:cNvSpPr/>
            <p:nvPr/>
          </p:nvSpPr>
          <p:spPr>
            <a:xfrm>
              <a:off x="8424329" y="6548082"/>
              <a:ext cx="635" cy="1490345"/>
            </a:xfrm>
            <a:custGeom>
              <a:avLst/>
              <a:gdLst/>
              <a:ahLst/>
              <a:cxnLst/>
              <a:rect l="l" t="t" r="r" b="b"/>
              <a:pathLst>
                <a:path w="634" h="1490345">
                  <a:moveTo>
                    <a:pt x="0" y="0"/>
                  </a:moveTo>
                  <a:lnTo>
                    <a:pt x="568" y="1490345"/>
                  </a:lnTo>
                </a:path>
              </a:pathLst>
            </a:custGeom>
            <a:ln w="126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727942" y="6508763"/>
              <a:ext cx="635" cy="1490345"/>
            </a:xfrm>
            <a:custGeom>
              <a:avLst/>
              <a:gdLst/>
              <a:ahLst/>
              <a:cxnLst/>
              <a:rect l="l" t="t" r="r" b="b"/>
              <a:pathLst>
                <a:path w="634" h="1490345">
                  <a:moveTo>
                    <a:pt x="0" y="0"/>
                  </a:moveTo>
                  <a:lnTo>
                    <a:pt x="568" y="1490345"/>
                  </a:lnTo>
                </a:path>
              </a:pathLst>
            </a:custGeom>
            <a:ln w="126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140" y="8342427"/>
              <a:ext cx="914400" cy="9144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349308"/>
              <a:ext cx="18288000" cy="93769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0" y="9349308"/>
              <a:ext cx="6885305" cy="937894"/>
            </a:xfrm>
            <a:custGeom>
              <a:avLst/>
              <a:gdLst/>
              <a:ahLst/>
              <a:cxnLst/>
              <a:rect l="l" t="t" r="r" b="b"/>
              <a:pathLst>
                <a:path w="6885305" h="937895">
                  <a:moveTo>
                    <a:pt x="1831949" y="488848"/>
                  </a:moveTo>
                  <a:lnTo>
                    <a:pt x="1379181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16227" y="937691"/>
                  </a:lnTo>
                  <a:lnTo>
                    <a:pt x="1831949" y="488848"/>
                  </a:lnTo>
                  <a:close/>
                </a:path>
                <a:path w="6885305" h="937895">
                  <a:moveTo>
                    <a:pt x="3500412" y="488848"/>
                  </a:moveTo>
                  <a:lnTo>
                    <a:pt x="3047657" y="0"/>
                  </a:lnTo>
                  <a:lnTo>
                    <a:pt x="1501825" y="0"/>
                  </a:lnTo>
                  <a:lnTo>
                    <a:pt x="1954580" y="488848"/>
                  </a:lnTo>
                  <a:lnTo>
                    <a:pt x="1538871" y="937691"/>
                  </a:lnTo>
                  <a:lnTo>
                    <a:pt x="3084703" y="937691"/>
                  </a:lnTo>
                  <a:lnTo>
                    <a:pt x="3500412" y="488848"/>
                  </a:lnTo>
                  <a:close/>
                </a:path>
                <a:path w="6885305" h="937895">
                  <a:moveTo>
                    <a:pt x="5209857" y="488848"/>
                  </a:moveTo>
                  <a:lnTo>
                    <a:pt x="4757102" y="0"/>
                  </a:lnTo>
                  <a:lnTo>
                    <a:pt x="3173984" y="0"/>
                  </a:lnTo>
                  <a:lnTo>
                    <a:pt x="3626739" y="488848"/>
                  </a:lnTo>
                  <a:lnTo>
                    <a:pt x="3211030" y="937691"/>
                  </a:lnTo>
                  <a:lnTo>
                    <a:pt x="4794148" y="937691"/>
                  </a:lnTo>
                  <a:lnTo>
                    <a:pt x="5209857" y="488848"/>
                  </a:lnTo>
                  <a:close/>
                </a:path>
                <a:path w="6885305" h="937895">
                  <a:moveTo>
                    <a:pt x="6885025" y="488848"/>
                  </a:moveTo>
                  <a:lnTo>
                    <a:pt x="6432258" y="0"/>
                  </a:lnTo>
                  <a:lnTo>
                    <a:pt x="4882426" y="0"/>
                  </a:lnTo>
                  <a:lnTo>
                    <a:pt x="5335194" y="488848"/>
                  </a:lnTo>
                  <a:lnTo>
                    <a:pt x="4919484" y="937691"/>
                  </a:lnTo>
                  <a:lnTo>
                    <a:pt x="6469316" y="937691"/>
                  </a:lnTo>
                  <a:lnTo>
                    <a:pt x="6885025" y="488848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552691" y="9349308"/>
              <a:ext cx="4227830" cy="937894"/>
            </a:xfrm>
            <a:custGeom>
              <a:avLst/>
              <a:gdLst/>
              <a:ahLst/>
              <a:cxnLst/>
              <a:rect l="l" t="t" r="r" b="b"/>
              <a:pathLst>
                <a:path w="4227830" h="937895">
                  <a:moveTo>
                    <a:pt x="3774681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3811732" y="937691"/>
                  </a:lnTo>
                  <a:lnTo>
                    <a:pt x="4227436" y="488848"/>
                  </a:lnTo>
                  <a:lnTo>
                    <a:pt x="3774681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454449" y="9349308"/>
              <a:ext cx="2298700" cy="937894"/>
            </a:xfrm>
            <a:custGeom>
              <a:avLst/>
              <a:gdLst/>
              <a:ahLst/>
              <a:cxnLst/>
              <a:rect l="l" t="t" r="r" b="b"/>
              <a:pathLst>
                <a:path w="2298700" h="937895">
                  <a:moveTo>
                    <a:pt x="1845424" y="0"/>
                  </a:moveTo>
                  <a:lnTo>
                    <a:pt x="0" y="0"/>
                  </a:lnTo>
                  <a:lnTo>
                    <a:pt x="452760" y="488848"/>
                  </a:lnTo>
                  <a:lnTo>
                    <a:pt x="37051" y="937691"/>
                  </a:lnTo>
                  <a:lnTo>
                    <a:pt x="1882475" y="937691"/>
                  </a:lnTo>
                  <a:lnTo>
                    <a:pt x="2298179" y="488848"/>
                  </a:lnTo>
                  <a:lnTo>
                    <a:pt x="1845424" y="0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0206" y="9504223"/>
              <a:ext cx="581827" cy="66117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666" y="9524200"/>
              <a:ext cx="806770" cy="6212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6580" y="9479470"/>
              <a:ext cx="710664" cy="71066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37031" y="9452686"/>
              <a:ext cx="733866" cy="71551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1809" y="9430766"/>
              <a:ext cx="675847" cy="75938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71212" y="9455125"/>
              <a:ext cx="558105" cy="71551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8784297" y="6434785"/>
            <a:ext cx="2448560" cy="1457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3335"/>
              </a:lnSpc>
              <a:spcBef>
                <a:spcPts val="100"/>
              </a:spcBef>
            </a:pP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EV/EBITDA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5255"/>
              </a:lnSpc>
              <a:tabLst>
                <a:tab pos="1503045" algn="l"/>
              </a:tabLst>
            </a:pP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4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114</a:t>
            </a:r>
            <a:endParaRPr sz="44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9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(15%</a:t>
            </a:r>
            <a:r>
              <a:rPr dirty="0" sz="20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44060"/>
                </a:solidFill>
                <a:latin typeface="Arial"/>
                <a:cs typeface="Arial"/>
              </a:rPr>
              <a:t>Weight)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110415" y="6542519"/>
            <a:ext cx="3972560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3335"/>
              </a:lnSpc>
              <a:spcBef>
                <a:spcPts val="100"/>
              </a:spcBef>
            </a:pP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Weighted</a:t>
            </a:r>
            <a:r>
              <a:rPr dirty="0" sz="2800" spc="-1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44060"/>
                </a:solidFill>
                <a:latin typeface="Arial"/>
                <a:cs typeface="Arial"/>
              </a:rPr>
              <a:t>Targeted</a:t>
            </a:r>
            <a:r>
              <a:rPr dirty="0" sz="2800" spc="-1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44060"/>
                </a:solidFill>
                <a:latin typeface="Arial"/>
                <a:cs typeface="Arial"/>
              </a:rPr>
              <a:t>Price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5255"/>
              </a:lnSpc>
              <a:tabLst>
                <a:tab pos="1503045" algn="l"/>
              </a:tabLst>
            </a:pP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4400" b="1">
                <a:solidFill>
                  <a:srgbClr val="244060"/>
                </a:solidFill>
                <a:latin typeface="Arial"/>
                <a:cs typeface="Arial"/>
              </a:rPr>
              <a:t>	</a:t>
            </a:r>
            <a:r>
              <a:rPr dirty="0" sz="4400" spc="-25" b="1">
                <a:solidFill>
                  <a:srgbClr val="244060"/>
                </a:solidFill>
                <a:latin typeface="Arial"/>
                <a:cs typeface="Arial"/>
              </a:rPr>
              <a:t>124</a:t>
            </a:r>
            <a:endParaRPr sz="4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3016" y="8521166"/>
            <a:ext cx="646938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44060"/>
                </a:solidFill>
                <a:latin typeface="Arial"/>
                <a:cs typeface="Arial"/>
              </a:rPr>
              <a:t>Core</a:t>
            </a:r>
            <a:r>
              <a:rPr dirty="0" sz="2000" spc="-6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44060"/>
                </a:solidFill>
                <a:latin typeface="Arial"/>
                <a:cs typeface="Arial"/>
              </a:rPr>
              <a:t>Case</a:t>
            </a:r>
            <a:endParaRPr sz="20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upside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143/share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remains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outside</a:t>
            </a:r>
            <a:r>
              <a:rPr dirty="0" sz="18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our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44060"/>
                </a:solidFill>
                <a:latin typeface="Arial"/>
                <a:cs typeface="Arial"/>
              </a:rPr>
              <a:t>target</a:t>
            </a:r>
            <a:r>
              <a:rPr dirty="0" sz="1800" spc="-10">
                <a:solidFill>
                  <a:srgbClr val="244060"/>
                </a:solidFill>
                <a:latin typeface="Arial"/>
                <a:cs typeface="Arial"/>
              </a:rPr>
              <a:t> price.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76438" y="9549619"/>
            <a:ext cx="2113280" cy="5524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39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Valuation</a:t>
            </a:r>
            <a:r>
              <a:rPr dirty="0" sz="20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Risks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787400"/>
            <a:ext cx="15959455" cy="33020"/>
            <a:chOff x="555007" y="787400"/>
            <a:chExt cx="15959455" cy="33020"/>
          </a:xfrm>
        </p:grpSpPr>
        <p:sp>
          <p:nvSpPr>
            <p:cNvPr id="3" name="object 3"/>
            <p:cNvSpPr/>
            <p:nvPr/>
          </p:nvSpPr>
          <p:spPr>
            <a:xfrm>
              <a:off x="567707" y="820099"/>
              <a:ext cx="15934055" cy="0"/>
            </a:xfrm>
            <a:custGeom>
              <a:avLst/>
              <a:gdLst/>
              <a:ahLst/>
              <a:cxnLst/>
              <a:rect l="l" t="t" r="r" b="b"/>
              <a:pathLst>
                <a:path w="15934055" h="0">
                  <a:moveTo>
                    <a:pt x="15933801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7707" y="800100"/>
              <a:ext cx="15934055" cy="0"/>
            </a:xfrm>
            <a:custGeom>
              <a:avLst/>
              <a:gdLst/>
              <a:ahLst/>
              <a:cxnLst/>
              <a:rect l="l" t="t" r="r" b="b"/>
              <a:pathLst>
                <a:path w="15934055" h="0">
                  <a:moveTo>
                    <a:pt x="0" y="0"/>
                  </a:moveTo>
                  <a:lnTo>
                    <a:pt x="15933801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5983" y="498886"/>
            <a:ext cx="2140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Presentation</a:t>
            </a:r>
            <a:r>
              <a:rPr dirty="0" sz="2000" spc="-1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Map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447" y="943752"/>
            <a:ext cx="27825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Investment</a:t>
            </a:r>
            <a:r>
              <a:rPr dirty="0" u="sng" sz="1800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Summary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Investment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Recommendation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Investment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Thesis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1706" y="923372"/>
            <a:ext cx="26492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Valuation</a:t>
            </a:r>
            <a:r>
              <a:rPr dirty="0" u="sng" sz="180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8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Investment</a:t>
            </a:r>
            <a:r>
              <a:rPr dirty="0" u="sng" sz="18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Risk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 action="ppaction://hlinksldjump"/>
              </a:rPr>
              <a:t>Valuation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8" action="ppaction://hlinksldjump"/>
              </a:rPr>
              <a:t>DCF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9" action="ppaction://hlinksldjump"/>
              </a:rPr>
              <a:t>Relative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9" action="ppaction://hlinksldjump"/>
              </a:rPr>
              <a:t>Valuation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43216" y="902811"/>
            <a:ext cx="18611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ESG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6" action="ppaction://hlinksldjump"/>
              </a:rPr>
              <a:t>Materiality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6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6" action="ppaction://hlinksldjump"/>
              </a:rPr>
              <a:t>Weights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7" action="ppaction://hlinksldjump"/>
              </a:rPr>
              <a:t>Scorecard</a:t>
            </a:r>
            <a:r>
              <a:rPr dirty="0" u="sng" sz="18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7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7" action="ppaction://hlinksldjump"/>
              </a:rPr>
              <a:t>(ARCC)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151706" y="1746332"/>
            <a:ext cx="17703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0" action="ppaction://hlinksldjump"/>
              </a:rPr>
              <a:t>Sensitivity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0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0" action="ppaction://hlinksldjump"/>
              </a:rPr>
              <a:t>Analysis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Risk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43216" y="1725771"/>
            <a:ext cx="1513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8" action="ppaction://hlinksldjump"/>
              </a:rPr>
              <a:t>Peers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8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8" action="ppaction://hlinksldjump"/>
              </a:rPr>
              <a:t>Scorecard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447" y="2041032"/>
            <a:ext cx="313563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Business</a:t>
            </a:r>
            <a:r>
              <a:rPr dirty="0" u="sng" sz="1800" spc="-4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</a:t>
            </a:r>
            <a:r>
              <a:rPr dirty="0" u="sng" sz="180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800" spc="-4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Equity</a:t>
            </a:r>
            <a:r>
              <a:rPr dirty="0" u="sng" sz="180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Overview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Value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Chain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Growth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&amp;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Export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Platform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1706" y="2569292"/>
            <a:ext cx="14662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Investment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 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Call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447" y="3412632"/>
            <a:ext cx="22390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Industry</a:t>
            </a:r>
            <a:r>
              <a:rPr dirty="0" u="sng" sz="1800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Market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Structure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Pricing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Dynamics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Demand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Outlook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Competitive</a:t>
            </a:r>
            <a:r>
              <a:rPr dirty="0" u="sng" sz="1800" spc="-9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 action="ppaction://hlinksldjump"/>
              </a:rPr>
              <a:t>Positioning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50029" y="3077426"/>
            <a:ext cx="1760220" cy="139827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3970" marR="5080" indent="-1905">
              <a:lnSpc>
                <a:spcPct val="97300"/>
              </a:lnSpc>
              <a:spcBef>
                <a:spcPts val="16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9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Map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Business</a:t>
            </a:r>
            <a:r>
              <a:rPr dirty="0" u="sng" sz="1800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3" action="ppaction://hlinksldjump"/>
              </a:rPr>
              <a:t>SWOT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3" action="ppaction://hlinksldjump"/>
              </a:rPr>
              <a:t> Analysis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4" action="ppaction://hlinksldjump"/>
              </a:rPr>
              <a:t>PESTLE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4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4" action="ppaction://hlinksldjump"/>
              </a:rPr>
              <a:t>Analysis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5" action="ppaction://hlinksldjump"/>
              </a:rPr>
              <a:t>Porter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5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5" action="ppaction://hlinksldjump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43216" y="2000091"/>
            <a:ext cx="3034665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8105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MSCI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&amp;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IAS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Table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Summary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Pillars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Peers</a:t>
            </a:r>
            <a:r>
              <a:rPr dirty="0" u="sng" sz="18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Comparison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0" action="ppaction://hlinksldjump"/>
              </a:rPr>
              <a:t>Charts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ESG</a:t>
            </a:r>
            <a:r>
              <a:rPr dirty="0" u="sng" sz="1800" spc="-3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Scenario</a:t>
            </a:r>
            <a:r>
              <a:rPr dirty="0" u="sng" sz="1800" spc="-3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Integration</a:t>
            </a:r>
            <a:r>
              <a:rPr dirty="0" sz="1800" spc="500" i="1"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1" action="ppaction://hlinksldjump"/>
              </a:rPr>
              <a:t>Inputs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1" action="ppaction://hlinksldjump"/>
              </a:rPr>
              <a:t>&amp;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1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1" action="ppaction://hlinksldjump"/>
              </a:rPr>
              <a:t>Assumption</a:t>
            </a:r>
            <a:endParaRPr sz="1800">
              <a:latin typeface="Calibri"/>
              <a:cs typeface="Calibri"/>
            </a:endParaRPr>
          </a:p>
          <a:p>
            <a:pPr marL="12700" marR="1475105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2" action="ppaction://hlinksldjump"/>
              </a:rPr>
              <a:t>Financial</a:t>
            </a:r>
            <a:r>
              <a:rPr dirty="0" u="sng" sz="1800" spc="-8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2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2" action="ppaction://hlinksldjump"/>
              </a:rPr>
              <a:t>Bridge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3" action="ppaction://hlinksldjump"/>
              </a:rPr>
              <a:t>Valuation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3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3" action="ppaction://hlinksldjump"/>
              </a:rPr>
              <a:t>Bridge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ESG</a:t>
            </a:r>
            <a:r>
              <a:rPr dirty="0" u="sng" sz="1800" spc="-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Integration</a:t>
            </a:r>
            <a:r>
              <a:rPr dirty="0" u="sng" sz="18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Financial</a:t>
            </a:r>
            <a:r>
              <a:rPr dirty="0" u="sng" sz="1800" spc="-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4" action="ppaction://hlinksldjump"/>
              </a:rPr>
              <a:t>Impact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ESG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CAPEX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1" action="ppaction://hlinksldjump"/>
              </a:rPr>
              <a:t>SDGs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43216" y="4468971"/>
            <a:ext cx="10693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9" action="ppaction://hlinksldjump"/>
              </a:rPr>
              <a:t>References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5" action="ppaction://hlinksldjump"/>
              </a:rPr>
              <a:t>Disclosures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447" y="5058552"/>
            <a:ext cx="1648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Key</a:t>
            </a:r>
            <a:r>
              <a:rPr dirty="0" u="sng" sz="18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Value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Drivers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51388" y="4724184"/>
            <a:ext cx="25800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Industry</a:t>
            </a:r>
            <a:r>
              <a:rPr dirty="0" u="sng" sz="1800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6" action="ppaction://hlinksldjump"/>
              </a:rPr>
              <a:t>Elasticity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6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6" action="ppaction://hlinksldjump"/>
              </a:rPr>
              <a:t>Analysis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6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6" action="ppaction://hlinksldjump"/>
              </a:rPr>
              <a:t>Summary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447" y="5607192"/>
            <a:ext cx="33274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Financials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Revenue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&amp;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GP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Margin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1" action="ppaction://hlinksldjump"/>
              </a:rPr>
              <a:t>Performance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Earning</a:t>
            </a:r>
            <a:r>
              <a:rPr dirty="0" u="sng" sz="1800" spc="-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 action="ppaction://hlinksldjump"/>
              </a:rPr>
              <a:t>Outlook</a:t>
            </a:r>
            <a:endParaRPr sz="1800">
              <a:latin typeface="Calibri"/>
              <a:cs typeface="Calibri"/>
            </a:endParaRPr>
          </a:p>
          <a:p>
            <a:pPr marL="12700" marR="26035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Balance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Sheet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&amp;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Working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3" action="ppaction://hlinksldjump"/>
              </a:rPr>
              <a:t>Capital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Profitability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&amp;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Capital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4" action="ppaction://hlinksldjump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447" y="7253112"/>
            <a:ext cx="232029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ESG</a:t>
            </a:r>
            <a:endParaRPr sz="1800">
              <a:latin typeface="Calibri"/>
              <a:cs typeface="Calibri"/>
            </a:endParaRPr>
          </a:p>
          <a:p>
            <a:pPr marL="12700" marR="381635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 action="ppaction://hlinksldjump"/>
              </a:rPr>
              <a:t>Materiality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5" action="ppaction://hlinksldjump"/>
              </a:rPr>
              <a:t>drivers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6" action="ppaction://hlinksldjump"/>
              </a:rPr>
              <a:t>IAS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6" action="ppaction://hlinksldjump"/>
              </a:rPr>
              <a:t>Scores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 action="ppaction://hlinksldjump"/>
              </a:rPr>
              <a:t>ESG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 action="ppaction://hlinksldjump"/>
              </a:rPr>
              <a:t>Integration</a:t>
            </a:r>
            <a:r>
              <a:rPr dirty="0" u="sng" sz="18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7" action="ppaction://hlinksldjump"/>
              </a:rPr>
              <a:t>Scenario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1388" y="5547143"/>
            <a:ext cx="300164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Financials</a:t>
            </a:r>
            <a:endParaRPr sz="1800">
              <a:latin typeface="Calibri"/>
              <a:cs typeface="Calibri"/>
            </a:endParaRPr>
          </a:p>
          <a:p>
            <a:pPr marL="12700" marR="520065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7" action="ppaction://hlinksldjump"/>
              </a:rPr>
              <a:t>Income</a:t>
            </a:r>
            <a:r>
              <a:rPr dirty="0" u="sng" sz="1800" spc="-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7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7" action="ppaction://hlinksldjump"/>
              </a:rPr>
              <a:t>Statement</a:t>
            </a:r>
            <a:r>
              <a:rPr dirty="0" sz="1800" spc="5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8" action="ppaction://hlinksldjump"/>
              </a:rPr>
              <a:t>Balance</a:t>
            </a:r>
            <a:r>
              <a:rPr dirty="0" u="sng" sz="1800" spc="-6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8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8" action="ppaction://hlinksldjump"/>
              </a:rPr>
              <a:t>Sheet</a:t>
            </a:r>
            <a:r>
              <a:rPr dirty="0" u="sng" sz="1800" spc="-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8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8" action="ppaction://hlinksldjump"/>
              </a:rPr>
              <a:t>Statement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9" action="ppaction://hlinksldjump"/>
              </a:rPr>
              <a:t>Cash</a:t>
            </a:r>
            <a:r>
              <a:rPr dirty="0" u="sng" sz="18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9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9" action="ppaction://hlinksldjump"/>
              </a:rPr>
              <a:t>Flow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9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9" action="ppaction://hlinksldjump"/>
              </a:rPr>
              <a:t>Statement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Efficiency</a:t>
            </a:r>
            <a:r>
              <a:rPr dirty="0" u="sng" sz="18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Ratios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&amp;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Z-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0" action="ppaction://hlinksldjump"/>
              </a:rPr>
              <a:t>Score</a:t>
            </a:r>
            <a:r>
              <a:rPr dirty="0" sz="1800" spc="-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COGS</a:t>
            </a:r>
            <a:r>
              <a:rPr dirty="0" u="sng" sz="18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Bridge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1" action="ppaction://hlinksldjump"/>
              </a:rPr>
              <a:t>COGS</a:t>
            </a:r>
            <a:r>
              <a:rPr dirty="0" u="sng" sz="18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1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1" action="ppaction://hlinksldjump"/>
              </a:rPr>
              <a:t>Breakdown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COGS</a:t>
            </a:r>
            <a:r>
              <a:rPr dirty="0" u="sng" sz="18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Effects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&amp;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Waterfall</a:t>
            </a:r>
            <a:r>
              <a:rPr dirty="0" u="sng" sz="180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2" action="ppaction://hlinksldjump"/>
              </a:rPr>
              <a:t>Bridge</a:t>
            </a:r>
            <a:r>
              <a:rPr dirty="0" sz="1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RM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Cost</a:t>
            </a:r>
            <a:r>
              <a:rPr dirty="0" u="sng" sz="1800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 </a:t>
            </a: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Driver</a:t>
            </a:r>
            <a:r>
              <a:rPr dirty="0" u="sng" sz="18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3" action="ppaction://hlinksldjump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309763" y="1948129"/>
            <a:ext cx="10978235" cy="675232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151388" y="8290344"/>
            <a:ext cx="17849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74394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Valuation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u="sng" sz="18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4" action="ppaction://hlinksldjump"/>
              </a:rPr>
              <a:t>DCF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5" action="ppaction://hlinksldjump"/>
              </a:rPr>
              <a:t>Multiples</a:t>
            </a:r>
            <a:r>
              <a:rPr dirty="0" u="sng" sz="1800" spc="-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5" action="ppaction://hlinksldjump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5" action="ppaction://hlinksldjump"/>
              </a:rPr>
              <a:t>Methods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983" y="498886"/>
            <a:ext cx="58108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Business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SWOT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46988" y="1387462"/>
            <a:ext cx="19050" cy="1163320"/>
          </a:xfrm>
          <a:custGeom>
            <a:avLst/>
            <a:gdLst/>
            <a:ahLst/>
            <a:cxnLst/>
            <a:rect l="l" t="t" r="r" b="b"/>
            <a:pathLst>
              <a:path w="19050" h="1163320">
                <a:moveTo>
                  <a:pt x="19049" y="0"/>
                </a:moveTo>
                <a:lnTo>
                  <a:pt x="0" y="1163015"/>
                </a:lnTo>
              </a:path>
            </a:pathLst>
          </a:custGeom>
          <a:ln w="123824">
            <a:solidFill>
              <a:srgbClr val="164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1275422" y="1244524"/>
            <a:ext cx="3429000" cy="1477010"/>
          </a:xfrm>
          <a:prstGeom prst="rect"/>
        </p:spPr>
        <p:txBody>
          <a:bodyPr wrap="square" lIns="0" tIns="221615" rIns="0" bIns="0" rtlCol="0" vert="horz">
            <a:spAutoFit/>
          </a:bodyPr>
          <a:lstStyle/>
          <a:p>
            <a:pPr marL="12700" marR="5080">
              <a:lnSpc>
                <a:spcPct val="74800"/>
              </a:lnSpc>
              <a:spcBef>
                <a:spcPts val="1745"/>
              </a:spcBef>
            </a:pPr>
            <a:r>
              <a:rPr dirty="0" sz="5450" spc="-20">
                <a:solidFill>
                  <a:srgbClr val="16435F"/>
                </a:solidFill>
              </a:rPr>
              <a:t>SWOT </a:t>
            </a:r>
            <a:r>
              <a:rPr dirty="0" sz="5450" spc="-110">
                <a:solidFill>
                  <a:srgbClr val="16435F"/>
                </a:solidFill>
              </a:rPr>
              <a:t>ANALYSIS</a:t>
            </a:r>
            <a:endParaRPr sz="5450"/>
          </a:p>
        </p:txBody>
      </p:sp>
      <p:grpSp>
        <p:nvGrpSpPr>
          <p:cNvPr id="13" name="object 13"/>
          <p:cNvGrpSpPr/>
          <p:nvPr/>
        </p:nvGrpSpPr>
        <p:grpSpPr>
          <a:xfrm>
            <a:off x="5842965" y="270856"/>
            <a:ext cx="12174220" cy="8861425"/>
            <a:chOff x="5842965" y="270856"/>
            <a:chExt cx="12174220" cy="886142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01491" y="270856"/>
              <a:ext cx="1515681" cy="15156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42965" y="1109558"/>
              <a:ext cx="6602069" cy="80221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81784" y="6944791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solidFill>
              <a:srgbClr val="164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181784" y="6944791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ln w="857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66708" y="226694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solidFill>
              <a:srgbClr val="6BDE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866708" y="226694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ln w="857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77502" y="2570162"/>
              <a:ext cx="469987" cy="48515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596752" y="473977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solidFill>
              <a:srgbClr val="1A9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596752" y="473977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ln w="857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82757" y="5043004"/>
              <a:ext cx="519570" cy="4851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090206" y="473977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solidFill>
              <a:srgbClr val="A2D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090206" y="4739779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5792" y="0"/>
                  </a:moveTo>
                  <a:lnTo>
                    <a:pt x="498699" y="2003"/>
                  </a:lnTo>
                  <a:lnTo>
                    <a:pt x="452718" y="7904"/>
                  </a:lnTo>
                  <a:lnTo>
                    <a:pt x="408014" y="17539"/>
                  </a:lnTo>
                  <a:lnTo>
                    <a:pt x="364750" y="30743"/>
                  </a:lnTo>
                  <a:lnTo>
                    <a:pt x="323089" y="47354"/>
                  </a:lnTo>
                  <a:lnTo>
                    <a:pt x="283196" y="67207"/>
                  </a:lnTo>
                  <a:lnTo>
                    <a:pt x="245235" y="90138"/>
                  </a:lnTo>
                  <a:lnTo>
                    <a:pt x="209370" y="115984"/>
                  </a:lnTo>
                  <a:lnTo>
                    <a:pt x="175763" y="144581"/>
                  </a:lnTo>
                  <a:lnTo>
                    <a:pt x="144580" y="175764"/>
                  </a:lnTo>
                  <a:lnTo>
                    <a:pt x="115983" y="209371"/>
                  </a:lnTo>
                  <a:lnTo>
                    <a:pt x="90138" y="245237"/>
                  </a:lnTo>
                  <a:lnTo>
                    <a:pt x="67206" y="283198"/>
                  </a:lnTo>
                  <a:lnTo>
                    <a:pt x="47354" y="323091"/>
                  </a:lnTo>
                  <a:lnTo>
                    <a:pt x="30743" y="364751"/>
                  </a:lnTo>
                  <a:lnTo>
                    <a:pt x="17538" y="408016"/>
                  </a:lnTo>
                  <a:lnTo>
                    <a:pt x="7904" y="452720"/>
                  </a:lnTo>
                  <a:lnTo>
                    <a:pt x="2003" y="498701"/>
                  </a:lnTo>
                  <a:lnTo>
                    <a:pt x="0" y="545795"/>
                  </a:lnTo>
                  <a:lnTo>
                    <a:pt x="2003" y="592888"/>
                  </a:lnTo>
                  <a:lnTo>
                    <a:pt x="7904" y="638869"/>
                  </a:lnTo>
                  <a:lnTo>
                    <a:pt x="17538" y="683574"/>
                  </a:lnTo>
                  <a:lnTo>
                    <a:pt x="30743" y="726838"/>
                  </a:lnTo>
                  <a:lnTo>
                    <a:pt x="47354" y="768499"/>
                  </a:lnTo>
                  <a:lnTo>
                    <a:pt x="67206" y="808392"/>
                  </a:lnTo>
                  <a:lnTo>
                    <a:pt x="90138" y="846353"/>
                  </a:lnTo>
                  <a:lnTo>
                    <a:pt x="115983" y="882219"/>
                  </a:lnTo>
                  <a:lnTo>
                    <a:pt x="144580" y="915825"/>
                  </a:lnTo>
                  <a:lnTo>
                    <a:pt x="175763" y="947009"/>
                  </a:lnTo>
                  <a:lnTo>
                    <a:pt x="209370" y="975606"/>
                  </a:lnTo>
                  <a:lnTo>
                    <a:pt x="245235" y="1001451"/>
                  </a:lnTo>
                  <a:lnTo>
                    <a:pt x="283196" y="1024383"/>
                  </a:lnTo>
                  <a:lnTo>
                    <a:pt x="323089" y="1044236"/>
                  </a:lnTo>
                  <a:lnTo>
                    <a:pt x="364750" y="1060846"/>
                  </a:lnTo>
                  <a:lnTo>
                    <a:pt x="408014" y="1074051"/>
                  </a:lnTo>
                  <a:lnTo>
                    <a:pt x="452718" y="1083686"/>
                  </a:lnTo>
                  <a:lnTo>
                    <a:pt x="498699" y="1089587"/>
                  </a:lnTo>
                  <a:lnTo>
                    <a:pt x="545792" y="1091590"/>
                  </a:lnTo>
                  <a:lnTo>
                    <a:pt x="592885" y="1089587"/>
                  </a:lnTo>
                  <a:lnTo>
                    <a:pt x="638866" y="1083686"/>
                  </a:lnTo>
                  <a:lnTo>
                    <a:pt x="683571" y="1074051"/>
                  </a:lnTo>
                  <a:lnTo>
                    <a:pt x="726835" y="1060846"/>
                  </a:lnTo>
                  <a:lnTo>
                    <a:pt x="768496" y="1044236"/>
                  </a:lnTo>
                  <a:lnTo>
                    <a:pt x="808388" y="1024383"/>
                  </a:lnTo>
                  <a:lnTo>
                    <a:pt x="846350" y="1001451"/>
                  </a:lnTo>
                  <a:lnTo>
                    <a:pt x="882215" y="975606"/>
                  </a:lnTo>
                  <a:lnTo>
                    <a:pt x="915822" y="947009"/>
                  </a:lnTo>
                  <a:lnTo>
                    <a:pt x="947005" y="915825"/>
                  </a:lnTo>
                  <a:lnTo>
                    <a:pt x="975601" y="882219"/>
                  </a:lnTo>
                  <a:lnTo>
                    <a:pt x="1001447" y="846353"/>
                  </a:lnTo>
                  <a:lnTo>
                    <a:pt x="1024378" y="808392"/>
                  </a:lnTo>
                  <a:lnTo>
                    <a:pt x="1044231" y="768499"/>
                  </a:lnTo>
                  <a:lnTo>
                    <a:pt x="1060841" y="726838"/>
                  </a:lnTo>
                  <a:lnTo>
                    <a:pt x="1074046" y="683574"/>
                  </a:lnTo>
                  <a:lnTo>
                    <a:pt x="1083681" y="638869"/>
                  </a:lnTo>
                  <a:lnTo>
                    <a:pt x="1089581" y="592888"/>
                  </a:lnTo>
                  <a:lnTo>
                    <a:pt x="1091585" y="545795"/>
                  </a:lnTo>
                  <a:lnTo>
                    <a:pt x="1089581" y="498701"/>
                  </a:lnTo>
                  <a:lnTo>
                    <a:pt x="1083681" y="452720"/>
                  </a:lnTo>
                  <a:lnTo>
                    <a:pt x="1074046" y="408016"/>
                  </a:lnTo>
                  <a:lnTo>
                    <a:pt x="1060841" y="364751"/>
                  </a:lnTo>
                  <a:lnTo>
                    <a:pt x="1044231" y="323091"/>
                  </a:lnTo>
                  <a:lnTo>
                    <a:pt x="1024378" y="283198"/>
                  </a:lnTo>
                  <a:lnTo>
                    <a:pt x="1001447" y="245237"/>
                  </a:lnTo>
                  <a:lnTo>
                    <a:pt x="975601" y="209371"/>
                  </a:lnTo>
                  <a:lnTo>
                    <a:pt x="947005" y="175764"/>
                  </a:lnTo>
                  <a:lnTo>
                    <a:pt x="915822" y="144581"/>
                  </a:lnTo>
                  <a:lnTo>
                    <a:pt x="882215" y="115984"/>
                  </a:lnTo>
                  <a:lnTo>
                    <a:pt x="846350" y="90138"/>
                  </a:lnTo>
                  <a:lnTo>
                    <a:pt x="808388" y="67207"/>
                  </a:lnTo>
                  <a:lnTo>
                    <a:pt x="768496" y="47354"/>
                  </a:lnTo>
                  <a:lnTo>
                    <a:pt x="726835" y="30743"/>
                  </a:lnTo>
                  <a:lnTo>
                    <a:pt x="683571" y="17539"/>
                  </a:lnTo>
                  <a:lnTo>
                    <a:pt x="638866" y="7904"/>
                  </a:lnTo>
                  <a:lnTo>
                    <a:pt x="592885" y="2003"/>
                  </a:lnTo>
                  <a:lnTo>
                    <a:pt x="545792" y="0"/>
                  </a:lnTo>
                  <a:close/>
                </a:path>
              </a:pathLst>
            </a:custGeom>
            <a:ln w="857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0188" y="5043004"/>
              <a:ext cx="571605" cy="4851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77186" y="7248004"/>
              <a:ext cx="500799" cy="48515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1416893" y="1608099"/>
            <a:ext cx="190500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16435F"/>
                </a:solidFill>
                <a:latin typeface="Arial"/>
                <a:cs typeface="Arial"/>
              </a:rPr>
              <a:t>Strengths</a:t>
            </a:r>
            <a:r>
              <a:rPr dirty="0" sz="2050" spc="-8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16435F"/>
                </a:solidFill>
                <a:latin typeface="Arial"/>
                <a:cs typeface="Arial"/>
              </a:rPr>
              <a:t>Core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11355" y="1938349"/>
            <a:ext cx="4304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Strategic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Suez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location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supporting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exports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11355" y="2232609"/>
            <a:ext cx="4164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Integrated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clinker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11355" y="2526868"/>
            <a:ext cx="421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Established</a:t>
            </a:r>
            <a:r>
              <a:rPr dirty="0" sz="18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international</a:t>
            </a:r>
            <a:r>
              <a:rPr dirty="0" sz="18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presence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11355" y="2821127"/>
            <a:ext cx="3604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Diversified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product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portfolio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1341" y="4011968"/>
            <a:ext cx="5770880" cy="414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494155">
              <a:lnSpc>
                <a:spcPts val="2435"/>
              </a:lnSpc>
              <a:spcBef>
                <a:spcPts val="100"/>
              </a:spcBef>
            </a:pPr>
            <a:r>
              <a:rPr dirty="0" sz="2050" b="1">
                <a:solidFill>
                  <a:srgbClr val="16435F"/>
                </a:solidFill>
                <a:latin typeface="Arial"/>
                <a:cs typeface="Arial"/>
              </a:rPr>
              <a:t>Threat</a:t>
            </a:r>
            <a:r>
              <a:rPr dirty="0" sz="2050" spc="-40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16435F"/>
                </a:solidFill>
                <a:latin typeface="Arial"/>
                <a:cs typeface="Arial"/>
              </a:rPr>
              <a:t>Risks</a:t>
            </a:r>
            <a:endParaRPr sz="2050">
              <a:latin typeface="Arial"/>
              <a:cs typeface="Arial"/>
            </a:endParaRPr>
          </a:p>
          <a:p>
            <a:pPr algn="r" marR="1482090">
              <a:lnSpc>
                <a:spcPts val="2135"/>
              </a:lnSpc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Potential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industry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oversupply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stronger</a:t>
            </a:r>
            <a:endParaRPr sz="1800">
              <a:latin typeface="Arial"/>
              <a:cs typeface="Arial"/>
            </a:endParaRPr>
          </a:p>
          <a:p>
            <a:pPr algn="r" marL="356235" marR="1481455" indent="2756535">
              <a:lnSpc>
                <a:spcPct val="107300"/>
              </a:lnSpc>
            </a:pP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competition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Energy</a:t>
            </a:r>
            <a:r>
              <a:rPr dirty="0" sz="180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raw-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material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price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volatility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Domestic</a:t>
            </a:r>
            <a:r>
              <a:rPr dirty="0" sz="180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construction</a:t>
            </a:r>
            <a:r>
              <a:rPr dirty="0" sz="18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slowdowns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Increasing</a:t>
            </a:r>
            <a:r>
              <a:rPr dirty="0" sz="1800" spc="-5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environmental</a:t>
            </a:r>
            <a:r>
              <a:rPr dirty="0" sz="180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decarbonization</a:t>
            </a:r>
            <a:r>
              <a:rPr dirty="0" sz="1800" spc="-6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requirements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Arial"/>
              <a:cs typeface="Arial"/>
            </a:endParaRPr>
          </a:p>
          <a:p>
            <a:pPr algn="just" marL="1374775" marR="5080" indent="2112645">
              <a:lnSpc>
                <a:spcPct val="98800"/>
              </a:lnSpc>
            </a:pPr>
            <a:r>
              <a:rPr dirty="0" sz="2050" b="1">
                <a:solidFill>
                  <a:srgbClr val="16435F"/>
                </a:solidFill>
                <a:latin typeface="Arial"/>
                <a:cs typeface="Arial"/>
              </a:rPr>
              <a:t>Opportunity</a:t>
            </a:r>
            <a:r>
              <a:rPr dirty="0" sz="2050" spc="-8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6435F"/>
                </a:solidFill>
                <a:latin typeface="Arial"/>
                <a:cs typeface="Arial"/>
              </a:rPr>
              <a:t>Paths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Recovery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construction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infrastructure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Expansion</a:t>
            </a:r>
            <a:r>
              <a:rPr dirty="0" sz="180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into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international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export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markets</a:t>
            </a:r>
            <a:endParaRPr sz="1800">
              <a:latin typeface="Arial"/>
              <a:cs typeface="Arial"/>
            </a:endParaRPr>
          </a:p>
          <a:p>
            <a:pPr algn="just" marL="993775" marR="8255" indent="-292100">
              <a:lnSpc>
                <a:spcPct val="107300"/>
              </a:lnSpc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Growing</a:t>
            </a:r>
            <a:r>
              <a:rPr dirty="0" sz="180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infrastructure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reconstruction</a:t>
            </a:r>
            <a:r>
              <a:rPr dirty="0" sz="180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projects Energy-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efficiency</a:t>
            </a:r>
            <a:r>
              <a:rPr dirty="0" sz="1800" spc="1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1800" spc="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alternative-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fuel</a:t>
            </a:r>
            <a:r>
              <a:rPr dirty="0" sz="1800" spc="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initiatives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146442" y="4218470"/>
            <a:ext cx="3709035" cy="178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ts val="2435"/>
              </a:lnSpc>
              <a:spcBef>
                <a:spcPts val="100"/>
              </a:spcBef>
            </a:pPr>
            <a:r>
              <a:rPr dirty="0" sz="2050" b="1">
                <a:solidFill>
                  <a:srgbClr val="16435F"/>
                </a:solidFill>
                <a:latin typeface="Arial"/>
                <a:cs typeface="Arial"/>
              </a:rPr>
              <a:t>Weakness</a:t>
            </a:r>
            <a:r>
              <a:rPr dirty="0" sz="2050" spc="-45" b="1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16435F"/>
                </a:solidFill>
                <a:latin typeface="Arial"/>
                <a:cs typeface="Arial"/>
              </a:rPr>
              <a:t>Gaps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High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 energy-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intensive</a:t>
            </a:r>
            <a:r>
              <a:rPr dirty="0" sz="1800" spc="-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</a:pP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Limited</a:t>
            </a:r>
            <a:r>
              <a:rPr dirty="0" sz="180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product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differentiation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Dependence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on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imported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inputs</a:t>
            </a:r>
            <a:r>
              <a:rPr dirty="0" sz="1800" spc="-25">
                <a:solidFill>
                  <a:srgbClr val="16435F"/>
                </a:solidFill>
                <a:latin typeface="Arial"/>
                <a:cs typeface="Arial"/>
              </a:rPr>
              <a:t> and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equipment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Capital-</a:t>
            </a:r>
            <a:r>
              <a:rPr dirty="0" sz="1800">
                <a:solidFill>
                  <a:srgbClr val="16435F"/>
                </a:solidFill>
                <a:latin typeface="Arial"/>
                <a:cs typeface="Arial"/>
              </a:rPr>
              <a:t>intensive</a:t>
            </a:r>
            <a:r>
              <a:rPr dirty="0" sz="1800" spc="1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6435F"/>
                </a:solidFill>
                <a:latin typeface="Arial"/>
                <a:cs typeface="Arial"/>
              </a:rPr>
              <a:t>operations.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349307"/>
              <a:ext cx="8471535" cy="937894"/>
            </a:xfrm>
            <a:custGeom>
              <a:avLst/>
              <a:gdLst/>
              <a:ahLst/>
              <a:cxnLst/>
              <a:rect l="l" t="t" r="r" b="b"/>
              <a:pathLst>
                <a:path w="8471535" h="937895">
                  <a:moveTo>
                    <a:pt x="1851177" y="481609"/>
                  </a:moveTo>
                  <a:lnTo>
                    <a:pt x="139622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20317" y="937691"/>
                  </a:lnTo>
                  <a:lnTo>
                    <a:pt x="1851177" y="481609"/>
                  </a:lnTo>
                  <a:close/>
                </a:path>
                <a:path w="8471535" h="937895">
                  <a:moveTo>
                    <a:pt x="3527742" y="481609"/>
                  </a:moveTo>
                  <a:lnTo>
                    <a:pt x="3072790" y="0"/>
                  </a:lnTo>
                  <a:lnTo>
                    <a:pt x="1519453" y="0"/>
                  </a:lnTo>
                  <a:lnTo>
                    <a:pt x="1974405" y="481609"/>
                  </a:lnTo>
                  <a:lnTo>
                    <a:pt x="1543545" y="937691"/>
                  </a:lnTo>
                  <a:lnTo>
                    <a:pt x="3096882" y="937691"/>
                  </a:lnTo>
                  <a:lnTo>
                    <a:pt x="3527742" y="481609"/>
                  </a:lnTo>
                  <a:close/>
                </a:path>
                <a:path w="8471535" h="937895">
                  <a:moveTo>
                    <a:pt x="5245468" y="481609"/>
                  </a:moveTo>
                  <a:lnTo>
                    <a:pt x="4790503" y="0"/>
                  </a:lnTo>
                  <a:lnTo>
                    <a:pt x="3199714" y="0"/>
                  </a:lnTo>
                  <a:lnTo>
                    <a:pt x="3654679" y="481609"/>
                  </a:lnTo>
                  <a:lnTo>
                    <a:pt x="3223818" y="937691"/>
                  </a:lnTo>
                  <a:lnTo>
                    <a:pt x="4814608" y="937691"/>
                  </a:lnTo>
                  <a:lnTo>
                    <a:pt x="5245468" y="481609"/>
                  </a:lnTo>
                  <a:close/>
                </a:path>
                <a:path w="8471535" h="937895">
                  <a:moveTo>
                    <a:pt x="6928790" y="481609"/>
                  </a:moveTo>
                  <a:lnTo>
                    <a:pt x="6473825" y="0"/>
                  </a:lnTo>
                  <a:lnTo>
                    <a:pt x="4916475" y="0"/>
                  </a:lnTo>
                  <a:lnTo>
                    <a:pt x="5371427" y="481609"/>
                  </a:lnTo>
                  <a:lnTo>
                    <a:pt x="4940566" y="937691"/>
                  </a:lnTo>
                  <a:lnTo>
                    <a:pt x="6497917" y="937691"/>
                  </a:lnTo>
                  <a:lnTo>
                    <a:pt x="6928790" y="481609"/>
                  </a:lnTo>
                  <a:close/>
                </a:path>
                <a:path w="8471535" h="937895">
                  <a:moveTo>
                    <a:pt x="8471154" y="481609"/>
                  </a:moveTo>
                  <a:lnTo>
                    <a:pt x="8016202" y="0"/>
                  </a:lnTo>
                  <a:lnTo>
                    <a:pt x="6594818" y="0"/>
                  </a:lnTo>
                  <a:lnTo>
                    <a:pt x="7049783" y="481609"/>
                  </a:lnTo>
                  <a:lnTo>
                    <a:pt x="6618922" y="937691"/>
                  </a:lnTo>
                  <a:lnTo>
                    <a:pt x="8040306" y="937691"/>
                  </a:lnTo>
                  <a:lnTo>
                    <a:pt x="847115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166950" y="9349307"/>
              <a:ext cx="4658360" cy="937894"/>
            </a:xfrm>
            <a:custGeom>
              <a:avLst/>
              <a:gdLst/>
              <a:ahLst/>
              <a:cxnLst/>
              <a:rect l="l" t="t" r="r" b="b"/>
              <a:pathLst>
                <a:path w="4658359" h="937895">
                  <a:moveTo>
                    <a:pt x="4202938" y="0"/>
                  </a:moveTo>
                  <a:lnTo>
                    <a:pt x="0" y="0"/>
                  </a:lnTo>
                  <a:lnTo>
                    <a:pt x="454957" y="481609"/>
                  </a:lnTo>
                  <a:lnTo>
                    <a:pt x="24102" y="937691"/>
                  </a:lnTo>
                  <a:lnTo>
                    <a:pt x="4227041" y="937691"/>
                  </a:lnTo>
                  <a:lnTo>
                    <a:pt x="4657902" y="481609"/>
                  </a:lnTo>
                  <a:lnTo>
                    <a:pt x="420293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707" y="9520503"/>
              <a:ext cx="810684" cy="6242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1275" y="9500425"/>
              <a:ext cx="584650" cy="6643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5549" y="9475558"/>
              <a:ext cx="714113" cy="7141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2297" y="9470681"/>
              <a:ext cx="679126" cy="76306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878" y="9470681"/>
              <a:ext cx="737426" cy="7189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7983" y="9470681"/>
              <a:ext cx="560812" cy="71898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07927"/>
            <a:ext cx="18288000" cy="9279255"/>
            <a:chOff x="0" y="1007927"/>
            <a:chExt cx="18288000" cy="92792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8471535" cy="937894"/>
            </a:xfrm>
            <a:custGeom>
              <a:avLst/>
              <a:gdLst/>
              <a:ahLst/>
              <a:cxnLst/>
              <a:rect l="l" t="t" r="r" b="b"/>
              <a:pathLst>
                <a:path w="8471535" h="937895">
                  <a:moveTo>
                    <a:pt x="1851177" y="481609"/>
                  </a:moveTo>
                  <a:lnTo>
                    <a:pt x="139622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20317" y="937691"/>
                  </a:lnTo>
                  <a:lnTo>
                    <a:pt x="1851177" y="481609"/>
                  </a:lnTo>
                  <a:close/>
                </a:path>
                <a:path w="8471535" h="937895">
                  <a:moveTo>
                    <a:pt x="3527742" y="481609"/>
                  </a:moveTo>
                  <a:lnTo>
                    <a:pt x="3072790" y="0"/>
                  </a:lnTo>
                  <a:lnTo>
                    <a:pt x="1519453" y="0"/>
                  </a:lnTo>
                  <a:lnTo>
                    <a:pt x="1974405" y="481609"/>
                  </a:lnTo>
                  <a:lnTo>
                    <a:pt x="1543545" y="937691"/>
                  </a:lnTo>
                  <a:lnTo>
                    <a:pt x="3096882" y="937691"/>
                  </a:lnTo>
                  <a:lnTo>
                    <a:pt x="3527742" y="481609"/>
                  </a:lnTo>
                  <a:close/>
                </a:path>
                <a:path w="8471535" h="937895">
                  <a:moveTo>
                    <a:pt x="5245468" y="481609"/>
                  </a:moveTo>
                  <a:lnTo>
                    <a:pt x="4790503" y="0"/>
                  </a:lnTo>
                  <a:lnTo>
                    <a:pt x="3199714" y="0"/>
                  </a:lnTo>
                  <a:lnTo>
                    <a:pt x="3654679" y="481609"/>
                  </a:lnTo>
                  <a:lnTo>
                    <a:pt x="3223818" y="937691"/>
                  </a:lnTo>
                  <a:lnTo>
                    <a:pt x="4814608" y="937691"/>
                  </a:lnTo>
                  <a:lnTo>
                    <a:pt x="5245468" y="481609"/>
                  </a:lnTo>
                  <a:close/>
                </a:path>
                <a:path w="8471535" h="937895">
                  <a:moveTo>
                    <a:pt x="6928790" y="481609"/>
                  </a:moveTo>
                  <a:lnTo>
                    <a:pt x="6473825" y="0"/>
                  </a:lnTo>
                  <a:lnTo>
                    <a:pt x="4916475" y="0"/>
                  </a:lnTo>
                  <a:lnTo>
                    <a:pt x="5371427" y="481609"/>
                  </a:lnTo>
                  <a:lnTo>
                    <a:pt x="4940566" y="937691"/>
                  </a:lnTo>
                  <a:lnTo>
                    <a:pt x="6497917" y="937691"/>
                  </a:lnTo>
                  <a:lnTo>
                    <a:pt x="6928790" y="481609"/>
                  </a:lnTo>
                  <a:close/>
                </a:path>
                <a:path w="8471535" h="937895">
                  <a:moveTo>
                    <a:pt x="8471154" y="481609"/>
                  </a:moveTo>
                  <a:lnTo>
                    <a:pt x="8016202" y="0"/>
                  </a:lnTo>
                  <a:lnTo>
                    <a:pt x="6594818" y="0"/>
                  </a:lnTo>
                  <a:lnTo>
                    <a:pt x="7049783" y="481609"/>
                  </a:lnTo>
                  <a:lnTo>
                    <a:pt x="6618922" y="937691"/>
                  </a:lnTo>
                  <a:lnTo>
                    <a:pt x="8040306" y="937691"/>
                  </a:lnTo>
                  <a:lnTo>
                    <a:pt x="847115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66950" y="9349307"/>
              <a:ext cx="4658360" cy="937894"/>
            </a:xfrm>
            <a:custGeom>
              <a:avLst/>
              <a:gdLst/>
              <a:ahLst/>
              <a:cxnLst/>
              <a:rect l="l" t="t" r="r" b="b"/>
              <a:pathLst>
                <a:path w="4658359" h="937895">
                  <a:moveTo>
                    <a:pt x="4202938" y="0"/>
                  </a:moveTo>
                  <a:lnTo>
                    <a:pt x="0" y="0"/>
                  </a:lnTo>
                  <a:lnTo>
                    <a:pt x="454957" y="481609"/>
                  </a:lnTo>
                  <a:lnTo>
                    <a:pt x="24102" y="937691"/>
                  </a:lnTo>
                  <a:lnTo>
                    <a:pt x="4227041" y="937691"/>
                  </a:lnTo>
                  <a:lnTo>
                    <a:pt x="4657902" y="481609"/>
                  </a:lnTo>
                  <a:lnTo>
                    <a:pt x="420293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707" y="9520504"/>
              <a:ext cx="810684" cy="6242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1275" y="9500425"/>
              <a:ext cx="584650" cy="664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2297" y="9470681"/>
              <a:ext cx="679126" cy="7630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5549" y="9475559"/>
              <a:ext cx="714113" cy="7141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878" y="9470681"/>
              <a:ext cx="737426" cy="7189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7983" y="9470681"/>
              <a:ext cx="560812" cy="7189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6002" y="1069840"/>
              <a:ext cx="9525" cy="716915"/>
            </a:xfrm>
            <a:custGeom>
              <a:avLst/>
              <a:gdLst/>
              <a:ahLst/>
              <a:cxnLst/>
              <a:rect l="l" t="t" r="r" b="b"/>
              <a:pathLst>
                <a:path w="9525" h="716914">
                  <a:moveTo>
                    <a:pt x="9117" y="0"/>
                  </a:moveTo>
                  <a:lnTo>
                    <a:pt x="0" y="716699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199451" y="919393"/>
            <a:ext cx="197548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65">
                <a:solidFill>
                  <a:srgbClr val="16435F"/>
                </a:solidFill>
              </a:rPr>
              <a:t>PESTLE</a:t>
            </a:r>
            <a:endParaRPr sz="4050"/>
          </a:p>
        </p:txBody>
      </p:sp>
      <p:sp>
        <p:nvSpPr>
          <p:cNvPr id="14" name="object 14"/>
          <p:cNvSpPr txBox="1"/>
          <p:nvPr/>
        </p:nvSpPr>
        <p:spPr>
          <a:xfrm>
            <a:off x="1199451" y="1308648"/>
            <a:ext cx="255524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70" b="1">
                <a:solidFill>
                  <a:srgbClr val="16435F"/>
                </a:solidFill>
                <a:latin typeface="Arial"/>
                <a:cs typeface="Arial"/>
              </a:rPr>
              <a:t>ANALYSIS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4796" y="142274"/>
            <a:ext cx="18063203" cy="1014472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555007" y="787400"/>
            <a:ext cx="16015335" cy="33020"/>
            <a:chOff x="555007" y="787400"/>
            <a:chExt cx="16015335" cy="33020"/>
          </a:xfrm>
        </p:grpSpPr>
        <p:sp>
          <p:nvSpPr>
            <p:cNvPr id="26" name="object 26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15983" y="498886"/>
            <a:ext cx="6036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Business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Overview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PESTLE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501490" y="270856"/>
            <a:ext cx="1515681" cy="15156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111716" y="2111870"/>
            <a:ext cx="417512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Government</a:t>
            </a:r>
            <a:r>
              <a:rPr dirty="0" sz="2050" spc="-9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infrastructure</a:t>
            </a:r>
            <a:r>
              <a:rPr dirty="0" sz="2050" spc="-8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spending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47513" y="1748332"/>
            <a:ext cx="12420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 b="1">
                <a:solidFill>
                  <a:srgbClr val="16435F"/>
                </a:solidFill>
                <a:latin typeface="Arial"/>
                <a:cs typeface="Arial"/>
              </a:rPr>
              <a:t>Political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5258" y="2372600"/>
            <a:ext cx="468058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supports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cement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demand,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while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industry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5066" y="2633332"/>
            <a:ext cx="413194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policies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affect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capacity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exports.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60706" y="1824646"/>
            <a:ext cx="5147945" cy="1210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Technological</a:t>
            </a:r>
            <a:endParaRPr sz="2400">
              <a:latin typeface="Arial"/>
              <a:cs typeface="Arial"/>
            </a:endParaRPr>
          </a:p>
          <a:p>
            <a:pPr algn="just" marL="12700" marR="5080">
              <a:lnSpc>
                <a:spcPts val="2050"/>
              </a:lnSpc>
              <a:spcBef>
                <a:spcPts val="350"/>
              </a:spcBef>
            </a:pP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Energy-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efficient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production,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alternative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fuels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renewable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energy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can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reduce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costs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and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improve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efficiency.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6657" y="4335576"/>
            <a:ext cx="4497070" cy="121031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5080" indent="3014980">
              <a:lnSpc>
                <a:spcPct val="89500"/>
              </a:lnSpc>
              <a:spcBef>
                <a:spcPts val="400"/>
              </a:spcBef>
            </a:pP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Economic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Construction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growth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supports</a:t>
            </a:r>
            <a:r>
              <a:rPr dirty="0" sz="2050" spc="-4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demand,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while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inflation,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FX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volatility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energy</a:t>
            </a:r>
            <a:endParaRPr sz="2050">
              <a:latin typeface="Arial"/>
              <a:cs typeface="Arial"/>
            </a:endParaRPr>
          </a:p>
          <a:p>
            <a:pPr algn="just" marL="1720214">
              <a:lnSpc>
                <a:spcPts val="2055"/>
              </a:lnSpc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costs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pressure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margins.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98221" y="4335576"/>
            <a:ext cx="4872355" cy="1210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Environmental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050"/>
              </a:lnSpc>
              <a:spcBef>
                <a:spcPts val="35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High</a:t>
            </a:r>
            <a:r>
              <a:rPr dirty="0" sz="2050" spc="-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CO</a:t>
            </a:r>
            <a:r>
              <a:rPr dirty="0" sz="2050">
                <a:solidFill>
                  <a:srgbClr val="16435F"/>
                </a:solidFill>
                <a:latin typeface="Microsoft Sans Serif"/>
                <a:cs typeface="Microsoft Sans Serif"/>
              </a:rPr>
              <a:t>₂</a:t>
            </a:r>
            <a:r>
              <a:rPr dirty="0" sz="2050" spc="25">
                <a:solidFill>
                  <a:srgbClr val="16435F"/>
                </a:solidFill>
                <a:latin typeface="Microsoft Sans Serif"/>
                <a:cs typeface="Microsoft Sans Serif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emissions</a:t>
            </a:r>
            <a:r>
              <a:rPr dirty="0" sz="205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increase pressure</a:t>
            </a:r>
            <a:r>
              <a:rPr dirty="0" sz="2050" spc="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for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cleaner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production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greater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use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of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alternative</a:t>
            </a:r>
            <a:r>
              <a:rPr dirty="0" sz="2050" spc="-9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fuels.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54044" y="6910133"/>
            <a:ext cx="4106545" cy="121031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r" marL="12700" marR="5080" indent="3183255">
              <a:lnSpc>
                <a:spcPct val="87500"/>
              </a:lnSpc>
              <a:spcBef>
                <a:spcPts val="459"/>
              </a:spcBef>
            </a:pP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Social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Population</a:t>
            </a:r>
            <a:r>
              <a:rPr dirty="0" sz="205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growth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urbanisation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drive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long-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term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housing</a:t>
            </a:r>
            <a:r>
              <a:rPr dirty="0" sz="2050" spc="-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16435F"/>
                </a:solidFill>
                <a:latin typeface="Arial"/>
                <a:cs typeface="Arial"/>
              </a:rPr>
              <a:t>and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infrastructure</a:t>
            </a:r>
            <a:r>
              <a:rPr dirty="0" sz="2050" spc="-12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needs.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60150" y="6910133"/>
            <a:ext cx="4174490" cy="1210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6435F"/>
                </a:solidFill>
                <a:latin typeface="Arial"/>
                <a:cs typeface="Arial"/>
              </a:rPr>
              <a:t>Legal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050"/>
              </a:lnSpc>
              <a:spcBef>
                <a:spcPts val="350"/>
              </a:spcBef>
            </a:pP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Stricter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environmental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4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industrial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regulations</a:t>
            </a:r>
            <a:r>
              <a:rPr dirty="0" sz="2050" spc="-35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increase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compliance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requirements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435F"/>
                </a:solidFill>
                <a:latin typeface="Arial"/>
                <a:cs typeface="Arial"/>
              </a:rPr>
              <a:t>and</a:t>
            </a:r>
            <a:r>
              <a:rPr dirty="0" sz="2050" spc="-30">
                <a:solidFill>
                  <a:srgbClr val="16435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16435F"/>
                </a:solidFill>
                <a:latin typeface="Arial"/>
                <a:cs typeface="Arial"/>
              </a:rPr>
              <a:t>costs.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007" y="270856"/>
            <a:ext cx="17462500" cy="1515745"/>
            <a:chOff x="555007" y="270856"/>
            <a:chExt cx="17462500" cy="151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7707" y="80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15983" y="498886"/>
            <a:ext cx="7179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Industry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Elasticity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Analysis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0125" y="902575"/>
            <a:ext cx="16596994" cy="167640"/>
          </a:xfrm>
          <a:custGeom>
            <a:avLst/>
            <a:gdLst/>
            <a:ahLst/>
            <a:cxnLst/>
            <a:rect l="l" t="t" r="r" b="b"/>
            <a:pathLst>
              <a:path w="16596994" h="167640">
                <a:moveTo>
                  <a:pt x="13610603" y="0"/>
                </a:moveTo>
                <a:lnTo>
                  <a:pt x="13610603" y="0"/>
                </a:lnTo>
                <a:lnTo>
                  <a:pt x="0" y="0"/>
                </a:lnTo>
                <a:lnTo>
                  <a:pt x="0" y="167640"/>
                </a:lnTo>
                <a:lnTo>
                  <a:pt x="13610603" y="167640"/>
                </a:lnTo>
                <a:lnTo>
                  <a:pt x="13610603" y="0"/>
                </a:lnTo>
                <a:close/>
              </a:path>
              <a:path w="16596994" h="167640">
                <a:moveTo>
                  <a:pt x="16596614" y="0"/>
                </a:moveTo>
                <a:lnTo>
                  <a:pt x="13610616" y="0"/>
                </a:lnTo>
                <a:lnTo>
                  <a:pt x="13610616" y="167640"/>
                </a:lnTo>
                <a:lnTo>
                  <a:pt x="16596614" y="167640"/>
                </a:lnTo>
                <a:lnTo>
                  <a:pt x="16596614" y="0"/>
                </a:lnTo>
                <a:close/>
              </a:path>
            </a:pathLst>
          </a:custGeom>
          <a:solidFill>
            <a:srgbClr val="1F37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7431" y="880926"/>
            <a:ext cx="10642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Elasticity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7431" y="1208992"/>
            <a:ext cx="96456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Driver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ACC</a:t>
            </a:r>
            <a:r>
              <a:rPr dirty="0" sz="1050" spc="-3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ASP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Real</a:t>
            </a:r>
            <a:r>
              <a:rPr dirty="0" sz="1050" spc="-1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GDP</a:t>
            </a:r>
            <a:r>
              <a:rPr dirty="0" sz="1050" spc="-1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Growth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9107" y="1208992"/>
            <a:ext cx="164211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Calibri"/>
                <a:cs typeface="Calibri"/>
              </a:rPr>
              <a:t>Correlation</a:t>
            </a:r>
            <a:r>
              <a:rPr dirty="0" sz="1050" spc="-3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with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ACC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Volume</a:t>
            </a:r>
            <a:endParaRPr sz="10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0.0689</a:t>
            </a:r>
            <a:endParaRPr sz="10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0.1027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86163" y="1208992"/>
            <a:ext cx="51879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Elasticity</a:t>
            </a:r>
            <a:endParaRPr sz="105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0.1291</a:t>
            </a:r>
            <a:endParaRPr sz="105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0.1399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4351" y="1208992"/>
            <a:ext cx="53403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Direction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Direct</a:t>
            </a:r>
            <a:r>
              <a:rPr dirty="0" sz="1050" spc="-5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(+)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Direct</a:t>
            </a:r>
            <a:r>
              <a:rPr dirty="0" sz="1050" spc="-5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(+)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12035" y="1208992"/>
            <a:ext cx="280162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58215" marR="74168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Interpretation </a:t>
            </a:r>
            <a:r>
              <a:rPr dirty="0" sz="1050">
                <a:latin typeface="Calibri"/>
                <a:cs typeface="Calibri"/>
              </a:rPr>
              <a:t>Extremely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Inelastic </a:t>
            </a:r>
            <a:r>
              <a:rPr dirty="0" sz="1050">
                <a:latin typeface="Calibri"/>
                <a:cs typeface="Calibri"/>
              </a:rPr>
              <a:t>Inelastic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/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Defensive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latin typeface="Calibri"/>
                <a:cs typeface="Calibri"/>
              </a:rPr>
              <a:t>High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Market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Beta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(Aggressive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Share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Capture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during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81864" y="1214708"/>
            <a:ext cx="443865" cy="499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240"/>
              </a:lnSpc>
              <a:spcBef>
                <a:spcPts val="100"/>
              </a:spcBef>
            </a:pPr>
            <a:r>
              <a:rPr dirty="0" sz="1050">
                <a:latin typeface="Arial"/>
                <a:cs typeface="Arial"/>
              </a:rPr>
              <a:t>R^2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Fit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ts val="1240"/>
              </a:lnSpc>
            </a:pP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431" y="1849073"/>
            <a:ext cx="18421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Total</a:t>
            </a:r>
            <a:r>
              <a:rPr dirty="0" sz="1050" spc="-4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Egypt</a:t>
            </a:r>
            <a:r>
              <a:rPr dirty="0" sz="1050" spc="-4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Cement</a:t>
            </a:r>
            <a:r>
              <a:rPr dirty="0" sz="1050" spc="-4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Consumption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02194" y="1849073"/>
            <a:ext cx="3968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0.4699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47236" y="1849073"/>
            <a:ext cx="3968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1.7663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67056" y="1849073"/>
            <a:ext cx="5289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Direct</a:t>
            </a:r>
            <a:r>
              <a:rPr dirty="0" sz="1050" spc="-5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(+)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12035" y="1849073"/>
            <a:ext cx="6680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Expansions)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675844" y="1849073"/>
            <a:ext cx="25590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15%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431" y="2122046"/>
            <a:ext cx="16071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Egypt</a:t>
            </a:r>
            <a:r>
              <a:rPr dirty="0" sz="1050" spc="-4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Headline</a:t>
            </a:r>
            <a:r>
              <a:rPr dirty="0" sz="1050" spc="-4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Inflation</a:t>
            </a:r>
            <a:r>
              <a:rPr dirty="0" sz="1050" spc="-3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(CPI)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Construction</a:t>
            </a:r>
            <a:r>
              <a:rPr dirty="0" sz="1050" spc="-4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Activity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81773" y="2122046"/>
            <a:ext cx="4375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-0.3187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-0.0532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6828" y="2122046"/>
            <a:ext cx="4375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-0.7024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-0.0419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45504" y="2122046"/>
            <a:ext cx="572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Inverse</a:t>
            </a:r>
            <a:r>
              <a:rPr dirty="0" sz="1050" spc="1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(-</a:t>
            </a:r>
            <a:r>
              <a:rPr dirty="0" sz="1050" spc="-50">
                <a:solidFill>
                  <a:srgbClr val="1F3763"/>
                </a:solidFill>
                <a:latin typeface="Calibri"/>
                <a:cs typeface="Calibri"/>
              </a:rPr>
              <a:t>)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 Inverse</a:t>
            </a:r>
            <a:r>
              <a:rPr dirty="0" sz="1050" spc="1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(-</a:t>
            </a:r>
            <a:r>
              <a:rPr dirty="0" sz="1050" spc="-50">
                <a:solidFill>
                  <a:srgbClr val="1F3763"/>
                </a:solidFill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494776" y="2122046"/>
            <a:ext cx="26422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alibri"/>
                <a:cs typeface="Calibri"/>
              </a:rPr>
              <a:t>Moderately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Inelastic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/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Resilient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against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inflation.</a:t>
            </a:r>
            <a:endParaRPr sz="105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</a:pP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Elastic</a:t>
            </a:r>
            <a:r>
              <a:rPr dirty="0" sz="1050" spc="-30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(High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F3763"/>
                </a:solidFill>
                <a:latin typeface="Calibri"/>
                <a:cs typeface="Calibri"/>
              </a:rPr>
              <a:t>Demand</a:t>
            </a: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F3763"/>
                </a:solidFill>
                <a:latin typeface="Calibri"/>
                <a:cs typeface="Calibri"/>
              </a:rPr>
              <a:t>Sensitivity)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675844" y="2122046"/>
            <a:ext cx="25590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10%</a:t>
            </a:r>
            <a:endParaRPr sz="105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</a:pPr>
            <a:r>
              <a:rPr dirty="0" sz="1050" spc="-25">
                <a:solidFill>
                  <a:srgbClr val="1F3763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131" y="2623350"/>
            <a:ext cx="16596994" cy="167640"/>
          </a:xfrm>
          <a:prstGeom prst="rect">
            <a:avLst/>
          </a:prstGeom>
          <a:solidFill>
            <a:srgbClr val="1F37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5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dirty="0" sz="11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elasticity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7431" y="2929766"/>
            <a:ext cx="13335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Driver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Calibri"/>
                <a:cs typeface="Calibri"/>
              </a:rPr>
              <a:t>ACC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COGS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/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Ton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(%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YoY)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6930" y="2929766"/>
            <a:ext cx="14268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Calibri"/>
                <a:cs typeface="Calibri"/>
              </a:rPr>
              <a:t>Correlation</a:t>
            </a:r>
            <a:r>
              <a:rPr dirty="0" sz="1050" spc="-3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with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ACC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spc="-25" b="1">
                <a:latin typeface="Calibri"/>
                <a:cs typeface="Calibri"/>
              </a:rPr>
              <a:t>ASP</a:t>
            </a:r>
            <a:endParaRPr sz="105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050" spc="-10">
                <a:latin typeface="Calibri"/>
                <a:cs typeface="Calibri"/>
              </a:rPr>
              <a:t>0.346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6163" y="2929766"/>
            <a:ext cx="35128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215" algn="l"/>
              </a:tabLst>
            </a:pPr>
            <a:r>
              <a:rPr dirty="0" sz="1050" spc="-10" b="1">
                <a:latin typeface="Calibri"/>
                <a:cs typeface="Calibri"/>
              </a:rPr>
              <a:t>Elasticity</a:t>
            </a:r>
            <a:r>
              <a:rPr dirty="0" sz="1050" b="1">
                <a:latin typeface="Calibri"/>
                <a:cs typeface="Calibri"/>
              </a:rPr>
              <a:t>	</a:t>
            </a:r>
            <a:r>
              <a:rPr dirty="0" sz="1050" spc="-10" b="1">
                <a:latin typeface="Calibri"/>
                <a:cs typeface="Calibri"/>
              </a:rPr>
              <a:t>Direction</a:t>
            </a:r>
            <a:endParaRPr sz="1050">
              <a:latin typeface="Calibri"/>
              <a:cs typeface="Calibri"/>
            </a:endParaRPr>
          </a:p>
          <a:p>
            <a:pPr marL="107314">
              <a:lnSpc>
                <a:spcPct val="100000"/>
              </a:lnSpc>
            </a:pPr>
            <a:r>
              <a:rPr dirty="0" sz="1050" spc="-10">
                <a:latin typeface="Calibri"/>
                <a:cs typeface="Calibri"/>
              </a:rPr>
              <a:t>0.422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310721" y="2947826"/>
            <a:ext cx="2989580" cy="166370"/>
            <a:chOff x="14310721" y="2947826"/>
            <a:chExt cx="2989580" cy="166370"/>
          </a:xfrm>
        </p:grpSpPr>
        <p:sp>
          <p:nvSpPr>
            <p:cNvPr id="9" name="object 9"/>
            <p:cNvSpPr/>
            <p:nvPr/>
          </p:nvSpPr>
          <p:spPr>
            <a:xfrm>
              <a:off x="14310740" y="2951010"/>
              <a:ext cx="2986405" cy="160020"/>
            </a:xfrm>
            <a:custGeom>
              <a:avLst/>
              <a:gdLst/>
              <a:ahLst/>
              <a:cxnLst/>
              <a:rect l="l" t="t" r="r" b="b"/>
              <a:pathLst>
                <a:path w="2986405" h="160019">
                  <a:moveTo>
                    <a:pt x="2985998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985998" y="160020"/>
                  </a:lnTo>
                  <a:lnTo>
                    <a:pt x="29859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310721" y="2951001"/>
              <a:ext cx="2989580" cy="160020"/>
            </a:xfrm>
            <a:custGeom>
              <a:avLst/>
              <a:gdLst/>
              <a:ahLst/>
              <a:cxnLst/>
              <a:rect l="l" t="t" r="r" b="b"/>
              <a:pathLst>
                <a:path w="2989580" h="160019">
                  <a:moveTo>
                    <a:pt x="2986023" y="0"/>
                  </a:moveTo>
                  <a:lnTo>
                    <a:pt x="2986023" y="160020"/>
                  </a:lnTo>
                </a:path>
                <a:path w="2989580" h="160019">
                  <a:moveTo>
                    <a:pt x="0" y="0"/>
                  </a:moveTo>
                  <a:lnTo>
                    <a:pt x="2982848" y="0"/>
                  </a:lnTo>
                </a:path>
                <a:path w="2989580" h="160019">
                  <a:moveTo>
                    <a:pt x="0" y="160020"/>
                  </a:moveTo>
                  <a:lnTo>
                    <a:pt x="2989198" y="160020"/>
                  </a:lnTo>
                </a:path>
              </a:pathLst>
            </a:custGeom>
            <a:ln w="6349">
              <a:solidFill>
                <a:srgbClr val="8EA9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4310740" y="2935482"/>
            <a:ext cx="29832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Arial"/>
                <a:cs typeface="Arial"/>
              </a:rPr>
              <a:t>R^2</a:t>
            </a:r>
            <a:r>
              <a:rPr dirty="0" sz="1050" spc="-25" b="1">
                <a:solidFill>
                  <a:srgbClr val="FFFFFF"/>
                </a:solidFill>
                <a:latin typeface="Arial"/>
                <a:cs typeface="Arial"/>
              </a:rPr>
              <a:t> Fit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675844" y="3089786"/>
            <a:ext cx="25590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Calibri"/>
                <a:cs typeface="Calibri"/>
              </a:rPr>
              <a:t>12%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7431" y="3385747"/>
            <a:ext cx="1197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alibri"/>
                <a:cs typeface="Calibri"/>
              </a:rPr>
              <a:t>Coal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/ </a:t>
            </a:r>
            <a:r>
              <a:rPr dirty="0" sz="1200" spc="-10">
                <a:latin typeface="Calibri"/>
                <a:cs typeface="Calibri"/>
              </a:rPr>
              <a:t>Petcoke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(EGP)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35989" y="3409826"/>
            <a:ext cx="3289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0.101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1031" y="3409826"/>
            <a:ext cx="3289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0.082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312035" y="2929766"/>
            <a:ext cx="283718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125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Calibri"/>
                <a:cs typeface="Calibri"/>
              </a:rPr>
              <a:t>Interpretation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Calibri"/>
                <a:cs typeface="Calibri"/>
              </a:rPr>
              <a:t>Strongest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direct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driver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(R^2)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50">
                <a:latin typeface="Calibri"/>
                <a:cs typeface="Calibri"/>
              </a:rPr>
              <a:t>Negligible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direct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quarterly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link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due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coal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inventory </a:t>
            </a:r>
            <a:r>
              <a:rPr dirty="0" sz="1050">
                <a:latin typeface="Calibri"/>
                <a:cs typeface="Calibri"/>
              </a:rPr>
              <a:t>lag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&amp;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multi-</a:t>
            </a:r>
            <a:r>
              <a:rPr dirty="0" sz="1050">
                <a:latin typeface="Calibri"/>
                <a:cs typeface="Calibri"/>
              </a:rPr>
              <a:t>fuel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switching.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709627" y="3409826"/>
            <a:ext cx="1885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7431" y="3819300"/>
            <a:ext cx="13430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alibri"/>
                <a:cs typeface="Calibri"/>
              </a:rPr>
              <a:t>USD/EGP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Exchange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Rate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35989" y="3819300"/>
            <a:ext cx="3289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0.138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81031" y="3819300"/>
            <a:ext cx="3289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0.726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709627" y="3819300"/>
            <a:ext cx="1885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7431" y="4139340"/>
            <a:ext cx="13227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alibri"/>
                <a:cs typeface="Calibri"/>
              </a:rPr>
              <a:t>Egypt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Headline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Inflation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15567" y="4139340"/>
            <a:ext cx="3695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-0.189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60622" y="4139340"/>
            <a:ext cx="3695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alibri"/>
                <a:cs typeface="Calibri"/>
              </a:rPr>
              <a:t>-0.222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709627" y="4139340"/>
            <a:ext cx="1885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7431" y="4459380"/>
            <a:ext cx="6322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60775" algn="l"/>
                <a:tab pos="6005830" algn="l"/>
              </a:tabLst>
            </a:pPr>
            <a:r>
              <a:rPr dirty="0" sz="1050">
                <a:latin typeface="Calibri"/>
                <a:cs typeface="Calibri"/>
              </a:rPr>
              <a:t>Egypt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Cement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Consumption</a:t>
            </a:r>
            <a:r>
              <a:rPr dirty="0" sz="1050">
                <a:latin typeface="Calibri"/>
                <a:cs typeface="Calibri"/>
              </a:rPr>
              <a:t>	</a:t>
            </a:r>
            <a:r>
              <a:rPr dirty="0" sz="1050" spc="-10">
                <a:latin typeface="Calibri"/>
                <a:cs typeface="Calibri"/>
              </a:rPr>
              <a:t>0.251</a:t>
            </a:r>
            <a:r>
              <a:rPr dirty="0" sz="1050">
                <a:latin typeface="Calibri"/>
                <a:cs typeface="Calibri"/>
              </a:rPr>
              <a:t>	</a:t>
            </a:r>
            <a:r>
              <a:rPr dirty="0" sz="1050" spc="-10">
                <a:latin typeface="Calibri"/>
                <a:cs typeface="Calibri"/>
              </a:rPr>
              <a:t>0.503</a:t>
            </a:r>
            <a:endParaRPr sz="1050">
              <a:latin typeface="Calibri"/>
              <a:cs typeface="Calibri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8338731" y="3107846"/>
          <a:ext cx="3062605" cy="152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5770"/>
              </a:tblGrid>
              <a:tr h="160020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  <a:spcBef>
                          <a:spcPts val="1190"/>
                        </a:spcBef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  <a:spcBef>
                          <a:spcPts val="1190"/>
                        </a:spcBef>
                      </a:pP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Inverse</a:t>
                      </a:r>
                      <a:r>
                        <a:rPr dirty="0" sz="1050" spc="1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 spc="-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  <a:spcBef>
                          <a:spcPts val="1190"/>
                        </a:spcBef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11312035" y="3659280"/>
            <a:ext cx="2829560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79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alibri"/>
                <a:cs typeface="Calibri"/>
              </a:rPr>
              <a:t>Heavy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devaluation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sensitivity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(0.73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beta),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but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low </a:t>
            </a:r>
            <a:r>
              <a:rPr dirty="0" sz="1050">
                <a:latin typeface="Calibri"/>
                <a:cs typeface="Calibri"/>
              </a:rPr>
              <a:t>linear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$R^2$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due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delayed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discrete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price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hikes. </a:t>
            </a:r>
            <a:r>
              <a:rPr dirty="0" sz="1050">
                <a:latin typeface="Calibri"/>
                <a:cs typeface="Calibri"/>
              </a:rPr>
              <a:t>ASP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adjustments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do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not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track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CPI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smoothly;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high </a:t>
            </a:r>
            <a:r>
              <a:rPr dirty="0" sz="1050">
                <a:latin typeface="Calibri"/>
                <a:cs typeface="Calibri"/>
              </a:rPr>
              <a:t>general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inflation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compresses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real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pricing.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50">
                <a:latin typeface="Calibri"/>
                <a:cs typeface="Calibri"/>
              </a:rPr>
              <a:t>Expanding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domestic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market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volumes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support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0.50 </a:t>
            </a:r>
            <a:r>
              <a:rPr dirty="0" sz="1050">
                <a:latin typeface="Calibri"/>
                <a:cs typeface="Calibri"/>
              </a:rPr>
              <a:t>beta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realized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price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hikes.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709627" y="4459380"/>
            <a:ext cx="1885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00131" y="4800650"/>
            <a:ext cx="16596994" cy="167640"/>
          </a:xfrm>
          <a:prstGeom prst="rect">
            <a:avLst/>
          </a:prstGeom>
          <a:solidFill>
            <a:srgbClr val="1F37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5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elasticity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8338731" y="5445179"/>
          <a:ext cx="3062605" cy="2167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5770"/>
              </a:tblGrid>
              <a:tr h="4800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Inverse</a:t>
                      </a:r>
                      <a:r>
                        <a:rPr dirty="0" sz="1050" spc="1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 spc="-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  <a:spcBef>
                          <a:spcPts val="1190"/>
                        </a:spcBef>
                      </a:pPr>
                      <a:r>
                        <a:rPr dirty="0" sz="10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050" spc="-5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(+)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Inverse</a:t>
                      </a:r>
                      <a:r>
                        <a:rPr dirty="0" sz="1050" spc="1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 spc="-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225"/>
                        </a:lnSpc>
                      </a:pP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Inverse</a:t>
                      </a:r>
                      <a:r>
                        <a:rPr dirty="0" sz="1050" spc="1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 spc="-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  <a:spcBef>
                          <a:spcPts val="1190"/>
                        </a:spcBef>
                      </a:pP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Inverse</a:t>
                      </a:r>
                      <a:r>
                        <a:rPr dirty="0" sz="1050" spc="15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 spc="-50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700131" y="5128314"/>
          <a:ext cx="16676369" cy="4086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5995"/>
                <a:gridCol w="1254759"/>
                <a:gridCol w="829945"/>
                <a:gridCol w="6296025"/>
                <a:gridCol w="2987040"/>
                <a:gridCol w="2987040"/>
              </a:tblGrid>
              <a:tr h="319405">
                <a:tc gridSpan="5">
                  <a:txBody>
                    <a:bodyPr/>
                    <a:lstStyle/>
                    <a:p>
                      <a:pPr marL="3221355">
                        <a:lnSpc>
                          <a:spcPts val="1195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Correlation</a:t>
                      </a:r>
                      <a:r>
                        <a:rPr dirty="0" sz="105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0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b="1">
                          <a:latin typeface="Calibri"/>
                          <a:cs typeface="Calibri"/>
                        </a:rPr>
                        <a:t>ACC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ts val="1225"/>
                        </a:lnSpc>
                        <a:tabLst>
                          <a:tab pos="3522345" algn="l"/>
                          <a:tab pos="5898515" algn="l"/>
                          <a:tab pos="8876665" algn="l"/>
                          <a:tab pos="11723370" algn="l"/>
                        </a:tabLst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Driver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COGS/ton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Elasticity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Direction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Interpretation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180"/>
                        </a:lnSpc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R^2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Fit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R w="6350">
                      <a:solidFill>
                        <a:srgbClr val="8EA9DB"/>
                      </a:solidFill>
                      <a:prstDash val="solid"/>
                    </a:lnR>
                    <a:lnT w="6350">
                      <a:solidFill>
                        <a:srgbClr val="8EA9DB"/>
                      </a:solidFill>
                      <a:prstDash val="solid"/>
                    </a:lnT>
                    <a:lnB w="6350">
                      <a:solidFill>
                        <a:srgbClr val="8EA9DB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Bulk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inventory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lags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blending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8EA9DB"/>
                      </a:solidFill>
                      <a:prstDash val="solid"/>
                    </a:lnT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completely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buffer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immediate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quarterly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impact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of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Coal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Petcoke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(EGP)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-0.0417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9725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-0.0063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spot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spikes.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USD/EGP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Exchange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Rate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6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0.8629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30045">
                        <a:lnSpc>
                          <a:spcPts val="116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0.4202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Severe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FX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Exposure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State-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mandated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industrial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tariff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hikes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exert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consistent,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Egypt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Natural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Gas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0.7435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30045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0.0984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statistically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significant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upward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pressure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costs.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Higher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volumes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successfully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dilute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massive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806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ACC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Domestic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Volume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-0.3968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9725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-0.1733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fixed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plant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overhead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costs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per-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ton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basis.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Inverse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suggests management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strategically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pivots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local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fuels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when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Baltic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Dry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Index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-0.5829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9725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-0.1664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global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shipping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costs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surge.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completely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unlinked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variable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quarterly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cost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Egypt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Electricity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-0.0476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9725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-0.0287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fluctuations.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22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Margin</a:t>
                      </a:r>
                      <a:r>
                        <a:rPr dirty="0" sz="11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sensitivity</a:t>
                      </a:r>
                      <a:r>
                        <a:rPr dirty="0" sz="11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(EBITDA)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F376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Driver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r" marR="8636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Elasticity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17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Interpretation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ASP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0.2246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10%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hike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realized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delivers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+2.25%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expansion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absolute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EBITDA.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Volume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0.1579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Volume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offloading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provides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steady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baseline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growth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via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fixed-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coverage.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COGS/ton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7000"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-0.4457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Strongest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negative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sensitivity;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10%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surge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unit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costs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cuts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-4.46%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Utilization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0.1513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Running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kilns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closer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nameplate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mirrors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scale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boost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(+1.51%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10%).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05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costs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0.0193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Near-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zero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sensitivity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reflects effective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mix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agility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(alternative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fuels/RDF)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inventory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lags.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6050">
                <a:tc>
                  <a:txBody>
                    <a:bodyPr/>
                    <a:lstStyle/>
                    <a:p>
                      <a:pPr>
                        <a:lnSpc>
                          <a:spcPts val="105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FX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7000">
                        <a:lnSpc>
                          <a:spcPts val="105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-0.2271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105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Devaluation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compresses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absolute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2.27%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10%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drop)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adjustments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catch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up.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7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Financials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Statements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Income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Statement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4348" y="949552"/>
            <a:ext cx="16247744" cy="283845"/>
            <a:chOff x="684348" y="949552"/>
            <a:chExt cx="16247744" cy="283845"/>
          </a:xfrm>
        </p:grpSpPr>
        <p:sp>
          <p:nvSpPr>
            <p:cNvPr id="5" name="object 5"/>
            <p:cNvSpPr/>
            <p:nvPr/>
          </p:nvSpPr>
          <p:spPr>
            <a:xfrm>
              <a:off x="690698" y="952727"/>
              <a:ext cx="16235044" cy="0"/>
            </a:xfrm>
            <a:custGeom>
              <a:avLst/>
              <a:gdLst/>
              <a:ahLst/>
              <a:cxnLst/>
              <a:rect l="l" t="t" r="r" b="b"/>
              <a:pathLst>
                <a:path w="16235044" h="0">
                  <a:moveTo>
                    <a:pt x="15183739" y="0"/>
                  </a:moveTo>
                  <a:lnTo>
                    <a:pt x="16234537" y="0"/>
                  </a:lnTo>
                </a:path>
                <a:path w="16235044" h="0">
                  <a:moveTo>
                    <a:pt x="14203044" y="0"/>
                  </a:moveTo>
                  <a:lnTo>
                    <a:pt x="15183739" y="0"/>
                  </a:lnTo>
                </a:path>
                <a:path w="16235044" h="0">
                  <a:moveTo>
                    <a:pt x="13222351" y="0"/>
                  </a:moveTo>
                  <a:lnTo>
                    <a:pt x="14203044" y="0"/>
                  </a:lnTo>
                </a:path>
                <a:path w="16235044" h="0">
                  <a:moveTo>
                    <a:pt x="12206566" y="0"/>
                  </a:moveTo>
                  <a:lnTo>
                    <a:pt x="13222351" y="0"/>
                  </a:lnTo>
                </a:path>
                <a:path w="16235044" h="0">
                  <a:moveTo>
                    <a:pt x="11225847" y="0"/>
                  </a:moveTo>
                  <a:lnTo>
                    <a:pt x="12206566" y="0"/>
                  </a:lnTo>
                </a:path>
                <a:path w="16235044" h="0">
                  <a:moveTo>
                    <a:pt x="9964902" y="0"/>
                  </a:moveTo>
                  <a:lnTo>
                    <a:pt x="11225847" y="0"/>
                  </a:lnTo>
                </a:path>
                <a:path w="16235044" h="0">
                  <a:moveTo>
                    <a:pt x="8703970" y="0"/>
                  </a:moveTo>
                  <a:lnTo>
                    <a:pt x="9964902" y="0"/>
                  </a:lnTo>
                </a:path>
                <a:path w="16235044" h="0">
                  <a:moveTo>
                    <a:pt x="7565618" y="0"/>
                  </a:moveTo>
                  <a:lnTo>
                    <a:pt x="8703970" y="0"/>
                  </a:lnTo>
                </a:path>
                <a:path w="16235044" h="0">
                  <a:moveTo>
                    <a:pt x="6427279" y="0"/>
                  </a:moveTo>
                  <a:lnTo>
                    <a:pt x="7565618" y="0"/>
                  </a:lnTo>
                </a:path>
                <a:path w="16235044" h="0">
                  <a:moveTo>
                    <a:pt x="5026240" y="0"/>
                  </a:moveTo>
                  <a:lnTo>
                    <a:pt x="6427279" y="0"/>
                  </a:lnTo>
                </a:path>
                <a:path w="16235044" h="0">
                  <a:moveTo>
                    <a:pt x="4711001" y="0"/>
                  </a:moveTo>
                  <a:lnTo>
                    <a:pt x="5026240" y="0"/>
                  </a:lnTo>
                </a:path>
                <a:path w="16235044" h="0">
                  <a:moveTo>
                    <a:pt x="0" y="0"/>
                  </a:moveTo>
                  <a:lnTo>
                    <a:pt x="4711001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0698" y="1227047"/>
              <a:ext cx="16235044" cy="0"/>
            </a:xfrm>
            <a:custGeom>
              <a:avLst/>
              <a:gdLst/>
              <a:ahLst/>
              <a:cxnLst/>
              <a:rect l="l" t="t" r="r" b="b"/>
              <a:pathLst>
                <a:path w="16235044" h="0">
                  <a:moveTo>
                    <a:pt x="15183739" y="0"/>
                  </a:moveTo>
                  <a:lnTo>
                    <a:pt x="16234537" y="0"/>
                  </a:lnTo>
                </a:path>
                <a:path w="16235044" h="0">
                  <a:moveTo>
                    <a:pt x="14203044" y="0"/>
                  </a:moveTo>
                  <a:lnTo>
                    <a:pt x="15183739" y="0"/>
                  </a:lnTo>
                </a:path>
                <a:path w="16235044" h="0">
                  <a:moveTo>
                    <a:pt x="13222351" y="0"/>
                  </a:moveTo>
                  <a:lnTo>
                    <a:pt x="14203044" y="0"/>
                  </a:lnTo>
                </a:path>
                <a:path w="16235044" h="0">
                  <a:moveTo>
                    <a:pt x="12206566" y="0"/>
                  </a:moveTo>
                  <a:lnTo>
                    <a:pt x="13222351" y="0"/>
                  </a:lnTo>
                </a:path>
                <a:path w="16235044" h="0">
                  <a:moveTo>
                    <a:pt x="11225847" y="0"/>
                  </a:moveTo>
                  <a:lnTo>
                    <a:pt x="12206566" y="0"/>
                  </a:lnTo>
                </a:path>
                <a:path w="16235044" h="0">
                  <a:moveTo>
                    <a:pt x="9964902" y="0"/>
                  </a:moveTo>
                  <a:lnTo>
                    <a:pt x="11225847" y="0"/>
                  </a:lnTo>
                </a:path>
                <a:path w="16235044" h="0">
                  <a:moveTo>
                    <a:pt x="8703970" y="0"/>
                  </a:moveTo>
                  <a:lnTo>
                    <a:pt x="9964902" y="0"/>
                  </a:lnTo>
                </a:path>
                <a:path w="16235044" h="0">
                  <a:moveTo>
                    <a:pt x="7565618" y="0"/>
                  </a:moveTo>
                  <a:lnTo>
                    <a:pt x="8703970" y="0"/>
                  </a:lnTo>
                </a:path>
                <a:path w="16235044" h="0">
                  <a:moveTo>
                    <a:pt x="6427279" y="0"/>
                  </a:moveTo>
                  <a:lnTo>
                    <a:pt x="7565618" y="0"/>
                  </a:lnTo>
                </a:path>
                <a:path w="16235044" h="0">
                  <a:moveTo>
                    <a:pt x="5026240" y="0"/>
                  </a:moveTo>
                  <a:lnTo>
                    <a:pt x="6427279" y="0"/>
                  </a:lnTo>
                </a:path>
                <a:path w="16235044" h="0">
                  <a:moveTo>
                    <a:pt x="4711001" y="0"/>
                  </a:moveTo>
                  <a:lnTo>
                    <a:pt x="5026240" y="0"/>
                  </a:lnTo>
                </a:path>
                <a:path w="16235044" h="0">
                  <a:moveTo>
                    <a:pt x="0" y="0"/>
                  </a:moveTo>
                  <a:lnTo>
                    <a:pt x="471100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0698" y="998163"/>
          <a:ext cx="16320769" cy="6289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6525"/>
                <a:gridCol w="1457325"/>
                <a:gridCol w="1137920"/>
                <a:gridCol w="1199515"/>
                <a:gridCol w="1261109"/>
                <a:gridCol w="1098550"/>
                <a:gridCol w="998854"/>
                <a:gridCol w="998855"/>
                <a:gridCol w="981075"/>
                <a:gridCol w="982344"/>
                <a:gridCol w="913765"/>
              </a:tblGrid>
              <a:tr h="239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2021A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2022A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2023A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2024A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2025A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210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10">
                        <a:lnSpc>
                          <a:spcPts val="177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Sales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2,449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4,675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6,043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8,730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12,447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14,726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16,144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17,269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18,276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19,303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Sales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(2,025)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(3,550)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(4,512)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(6,390)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(7,104)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(8,065)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(8,776)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(9,405)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(9,967)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(10,540)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Gross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Profit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1,125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1,531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2,340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5,344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6,661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7,368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7,863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8,309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8,763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Margin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45.23%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45.64%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45.53%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45.46%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45.40%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Administrative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Expenses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(181)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(380)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(433)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(479)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(515)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(547)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(577)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Gain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Disposal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Property,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Plant,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Equipment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Income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6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Operating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Income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05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05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05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EBITDA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1,004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1,345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2,039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4,940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6,200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6,858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7,315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7,728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8,150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Margin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Depreciation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(218)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(215)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(222)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(319)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(329)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(344)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(376)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Amortization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Depreciation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Amortization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(242)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(290)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(343)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(371)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05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(376)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EBIT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762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1,094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1,782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4,650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5,857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6,503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6,945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7,372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7,774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Margin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Finance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Costs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(98)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FX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exchange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(192)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(244)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Interest</a:t>
                      </a:r>
                      <a:r>
                        <a:rPr dirty="0" sz="16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Income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268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314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332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Investment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Joint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Venture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855"/>
                        </a:lnSpc>
                        <a:spcBef>
                          <a:spcPts val="70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Non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recurring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(2.57)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Bad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Debt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EBT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1,506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4,725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6,026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6,705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7,187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7,653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8,090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Margin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0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ts val="178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Income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Taxes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789"/>
                        </a:lnSpc>
                      </a:pPr>
                      <a:r>
                        <a:rPr dirty="0" sz="16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(163)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(233)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(346)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(1,125)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(1,356)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(1,509)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(1,617)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(1,722)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789"/>
                        </a:lnSpc>
                      </a:pPr>
                      <a:r>
                        <a:rPr dirty="0" sz="16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(1,820)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0698" y="7293571"/>
          <a:ext cx="16311244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3615"/>
                <a:gridCol w="3302635"/>
                <a:gridCol w="1104265"/>
                <a:gridCol w="772159"/>
                <a:gridCol w="1260475"/>
                <a:gridCol w="1524634"/>
                <a:gridCol w="997584"/>
                <a:gridCol w="997584"/>
                <a:gridCol w="979805"/>
                <a:gridCol w="1014730"/>
                <a:gridCol w="750569"/>
              </a:tblGrid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Net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Profit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91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359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654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3600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4670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5197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5570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5931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6270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Margin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917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874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654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90698" y="8055456"/>
          <a:ext cx="16311244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4965"/>
                <a:gridCol w="1835150"/>
                <a:gridCol w="591185"/>
                <a:gridCol w="1138554"/>
                <a:gridCol w="1169034"/>
                <a:gridCol w="1261109"/>
                <a:gridCol w="1191259"/>
                <a:gridCol w="989965"/>
                <a:gridCol w="1007110"/>
                <a:gridCol w="981075"/>
                <a:gridCol w="998219"/>
                <a:gridCol w="909319"/>
              </a:tblGrid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Profit</a:t>
                      </a:r>
                      <a:r>
                        <a:rPr dirty="0" sz="1600" spc="-4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Attributable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Owners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Parent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Company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0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0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3600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50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4670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5197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5570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5931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6270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Controlling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Interests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09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0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359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605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605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3600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09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4670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5197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5570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5931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35"/>
                        </a:spcBef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6270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10" i="1">
                          <a:latin typeface="Arial"/>
                          <a:cs typeface="Arial"/>
                        </a:rPr>
                        <a:t>Checker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1595"/>
                        </a:lnSpc>
                        <a:spcBef>
                          <a:spcPts val="280"/>
                        </a:spcBef>
                      </a:pPr>
                      <a:r>
                        <a:rPr dirty="0" sz="1400" spc="-20" i="1">
                          <a:latin typeface="Arial"/>
                          <a:cs typeface="Arial"/>
                        </a:rPr>
                        <a:t>TRUE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3" name="object 3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5983" y="498886"/>
            <a:ext cx="733488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Statements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Balance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Sheet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75474" y="1056077"/>
            <a:ext cx="16337280" cy="187960"/>
            <a:chOff x="975474" y="1056077"/>
            <a:chExt cx="16337280" cy="187960"/>
          </a:xfrm>
        </p:grpSpPr>
        <p:sp>
          <p:nvSpPr>
            <p:cNvPr id="7" name="object 7"/>
            <p:cNvSpPr/>
            <p:nvPr/>
          </p:nvSpPr>
          <p:spPr>
            <a:xfrm>
              <a:off x="981824" y="1059252"/>
              <a:ext cx="16324580" cy="0"/>
            </a:xfrm>
            <a:custGeom>
              <a:avLst/>
              <a:gdLst/>
              <a:ahLst/>
              <a:cxnLst/>
              <a:rect l="l" t="t" r="r" b="b"/>
              <a:pathLst>
                <a:path w="16324580" h="0">
                  <a:moveTo>
                    <a:pt x="15267813" y="0"/>
                  </a:moveTo>
                  <a:lnTo>
                    <a:pt x="16324326" y="0"/>
                  </a:lnTo>
                </a:path>
                <a:path w="16324580" h="0">
                  <a:moveTo>
                    <a:pt x="14281658" y="0"/>
                  </a:moveTo>
                  <a:lnTo>
                    <a:pt x="15267813" y="0"/>
                  </a:lnTo>
                </a:path>
                <a:path w="16324580" h="0">
                  <a:moveTo>
                    <a:pt x="13295503" y="0"/>
                  </a:moveTo>
                  <a:lnTo>
                    <a:pt x="14281658" y="0"/>
                  </a:lnTo>
                </a:path>
                <a:path w="16324580" h="0">
                  <a:moveTo>
                    <a:pt x="12274080" y="0"/>
                  </a:moveTo>
                  <a:lnTo>
                    <a:pt x="13295503" y="0"/>
                  </a:lnTo>
                </a:path>
                <a:path w="16324580" h="0">
                  <a:moveTo>
                    <a:pt x="11287925" y="0"/>
                  </a:moveTo>
                  <a:lnTo>
                    <a:pt x="12274080" y="0"/>
                  </a:lnTo>
                </a:path>
                <a:path w="16324580" h="0">
                  <a:moveTo>
                    <a:pt x="10020020" y="0"/>
                  </a:moveTo>
                  <a:lnTo>
                    <a:pt x="11287925" y="0"/>
                  </a:lnTo>
                </a:path>
                <a:path w="16324580" h="0">
                  <a:moveTo>
                    <a:pt x="8752103" y="0"/>
                  </a:moveTo>
                  <a:lnTo>
                    <a:pt x="10020020" y="0"/>
                  </a:lnTo>
                </a:path>
                <a:path w="16324580" h="0">
                  <a:moveTo>
                    <a:pt x="7607465" y="0"/>
                  </a:moveTo>
                  <a:lnTo>
                    <a:pt x="8752103" y="0"/>
                  </a:lnTo>
                </a:path>
                <a:path w="16324580" h="0">
                  <a:moveTo>
                    <a:pt x="6462826" y="0"/>
                  </a:moveTo>
                  <a:lnTo>
                    <a:pt x="7607465" y="0"/>
                  </a:lnTo>
                </a:path>
                <a:path w="16324580" h="0">
                  <a:moveTo>
                    <a:pt x="5054041" y="0"/>
                  </a:moveTo>
                  <a:lnTo>
                    <a:pt x="6462826" y="0"/>
                  </a:lnTo>
                </a:path>
                <a:path w="16324580" h="0">
                  <a:moveTo>
                    <a:pt x="4737061" y="0"/>
                  </a:moveTo>
                  <a:lnTo>
                    <a:pt x="5054041" y="0"/>
                  </a:lnTo>
                </a:path>
                <a:path w="16324580" h="0">
                  <a:moveTo>
                    <a:pt x="0" y="0"/>
                  </a:moveTo>
                  <a:lnTo>
                    <a:pt x="4737061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81824" y="1237204"/>
              <a:ext cx="16324580" cy="0"/>
            </a:xfrm>
            <a:custGeom>
              <a:avLst/>
              <a:gdLst/>
              <a:ahLst/>
              <a:cxnLst/>
              <a:rect l="l" t="t" r="r" b="b"/>
              <a:pathLst>
                <a:path w="16324580" h="0">
                  <a:moveTo>
                    <a:pt x="15267813" y="0"/>
                  </a:moveTo>
                  <a:lnTo>
                    <a:pt x="16324326" y="0"/>
                  </a:lnTo>
                </a:path>
                <a:path w="16324580" h="0">
                  <a:moveTo>
                    <a:pt x="14281658" y="0"/>
                  </a:moveTo>
                  <a:lnTo>
                    <a:pt x="15267813" y="0"/>
                  </a:lnTo>
                </a:path>
                <a:path w="16324580" h="0">
                  <a:moveTo>
                    <a:pt x="13295503" y="0"/>
                  </a:moveTo>
                  <a:lnTo>
                    <a:pt x="14281658" y="0"/>
                  </a:lnTo>
                </a:path>
                <a:path w="16324580" h="0">
                  <a:moveTo>
                    <a:pt x="12274080" y="0"/>
                  </a:moveTo>
                  <a:lnTo>
                    <a:pt x="13295503" y="0"/>
                  </a:lnTo>
                </a:path>
                <a:path w="16324580" h="0">
                  <a:moveTo>
                    <a:pt x="11287925" y="0"/>
                  </a:moveTo>
                  <a:lnTo>
                    <a:pt x="12274080" y="0"/>
                  </a:lnTo>
                </a:path>
                <a:path w="16324580" h="0">
                  <a:moveTo>
                    <a:pt x="10020020" y="0"/>
                  </a:moveTo>
                  <a:lnTo>
                    <a:pt x="11287925" y="0"/>
                  </a:lnTo>
                </a:path>
                <a:path w="16324580" h="0">
                  <a:moveTo>
                    <a:pt x="8752103" y="0"/>
                  </a:moveTo>
                  <a:lnTo>
                    <a:pt x="10020020" y="0"/>
                  </a:lnTo>
                </a:path>
                <a:path w="16324580" h="0">
                  <a:moveTo>
                    <a:pt x="7607465" y="0"/>
                  </a:moveTo>
                  <a:lnTo>
                    <a:pt x="8752103" y="0"/>
                  </a:lnTo>
                </a:path>
                <a:path w="16324580" h="0">
                  <a:moveTo>
                    <a:pt x="6462826" y="0"/>
                  </a:moveTo>
                  <a:lnTo>
                    <a:pt x="7607465" y="0"/>
                  </a:lnTo>
                </a:path>
                <a:path w="16324580" h="0">
                  <a:moveTo>
                    <a:pt x="5054041" y="0"/>
                  </a:moveTo>
                  <a:lnTo>
                    <a:pt x="6462826" y="0"/>
                  </a:lnTo>
                </a:path>
                <a:path w="16324580" h="0">
                  <a:moveTo>
                    <a:pt x="4737061" y="0"/>
                  </a:moveTo>
                  <a:lnTo>
                    <a:pt x="5054041" y="0"/>
                  </a:lnTo>
                </a:path>
                <a:path w="16324580" h="0">
                  <a:moveTo>
                    <a:pt x="0" y="0"/>
                  </a:moveTo>
                  <a:lnTo>
                    <a:pt x="473706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81824" y="1079839"/>
          <a:ext cx="16410305" cy="7924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8030"/>
                <a:gridCol w="1437639"/>
                <a:gridCol w="662939"/>
                <a:gridCol w="1144904"/>
                <a:gridCol w="1176020"/>
                <a:gridCol w="609600"/>
                <a:gridCol w="658495"/>
                <a:gridCol w="609600"/>
                <a:gridCol w="588645"/>
                <a:gridCol w="995679"/>
                <a:gridCol w="1013460"/>
                <a:gridCol w="986790"/>
                <a:gridCol w="1004569"/>
                <a:gridCol w="893444"/>
              </a:tblGrid>
              <a:tr h="331470">
                <a:tc>
                  <a:txBody>
                    <a:bodyPr/>
                    <a:lstStyle/>
                    <a:p>
                      <a:pPr>
                        <a:lnSpc>
                          <a:spcPts val="1285"/>
                        </a:lnSpc>
                        <a:spcBef>
                          <a:spcPts val="1225"/>
                        </a:spcBef>
                      </a:pP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10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5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55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2021A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2022A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2023A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2024A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2025A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7480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15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Property,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Plant,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Equipment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2,020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1,839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1,684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1,670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2,522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2,827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2,752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2,680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2,609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2,536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Assets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Construction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707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392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Intangible</a:t>
                      </a:r>
                      <a:r>
                        <a:rPr dirty="0" sz="11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219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191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163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135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Right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(0)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Other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Investment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Joint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Venture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2,263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2,050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1,862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2,516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3,021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2,908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2,805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2,703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2,609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2,536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  <a:r>
                        <a:rPr dirty="0" sz="110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4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285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Inventories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370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624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986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852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1,054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5684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1,196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1,302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1,395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6573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1,478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17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1,563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Receivables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229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160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244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289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339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359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379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Debtors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Debit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Balances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633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1,005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644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682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Due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Parties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Cash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Bank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Balances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128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818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1,687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3,459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7,053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10,416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14,031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17,888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22,014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3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3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1,721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2,025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3,333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5,762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9,092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12,637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16,410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20,408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24,677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Assets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2,973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3,771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3,888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5,849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8,784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12,000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15,442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19,113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23,017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27,214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Equity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285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Issued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Paid-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Up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Capital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5684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6573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17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Treasury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Shares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(143)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Legal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Reserve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295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380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Retained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Earnings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46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1,182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3,649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6,751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10,205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13,908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17,853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22,023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22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Equity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Attributable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Owners</a:t>
                      </a:r>
                      <a:r>
                        <a:rPr dirty="0" sz="11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Parent</a:t>
                      </a:r>
                      <a:r>
                        <a:rPr dirty="0" sz="11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Company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1,061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1,163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1,754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2,303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4,643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7,745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11,199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14,902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18,846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23,017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spc="-20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Controlling</a:t>
                      </a:r>
                      <a:r>
                        <a:rPr dirty="0" sz="11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Interests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Equity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1,061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1,163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1,754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2,304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4,643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7,745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11,199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14,903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18,847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23,017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Liablilities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10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5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285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Borrowings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273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177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889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5684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743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479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215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65735">
                        <a:lnSpc>
                          <a:spcPts val="1285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175">
                        <a:lnSpc>
                          <a:spcPts val="1285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Deferred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282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241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1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Lease</a:t>
                      </a:r>
                      <a:r>
                        <a:rPr dirty="0" sz="11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Creditors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Balances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Notes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Payable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589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286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1,247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735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471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266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256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  <a:r>
                        <a:rPr dirty="0" sz="110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4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285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Notes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Payable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694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8732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1,068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218440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839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5684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772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827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6573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877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175">
                        <a:lnSpc>
                          <a:spcPts val="128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927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1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Facilities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240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615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134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146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157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166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176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Income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Liability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43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198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374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Portion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Long-Term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Borrowings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Lease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Creditors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Balances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184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846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928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992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1,050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1,109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Due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Parties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Dividends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Payable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250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5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Provisions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199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295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396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616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3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100" spc="-3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1,323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2,153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1,848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2,881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2,894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3,256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3,507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3,739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3,904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3,941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1,912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2,608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2,133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3,545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4,141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4,255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4,242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4,210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4,170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4,196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Equity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Liabilities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2,973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3,771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3,888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5,849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8,784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12,000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15,442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19,113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23,017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27,214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10" i="1">
                          <a:latin typeface="Arial"/>
                          <a:cs typeface="Arial"/>
                        </a:rPr>
                        <a:t>Checker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355" marR="3175">
                        <a:lnSpc>
                          <a:spcPts val="1175"/>
                        </a:lnSpc>
                        <a:spcBef>
                          <a:spcPts val="45"/>
                        </a:spcBef>
                      </a:pPr>
                      <a:r>
                        <a:rPr dirty="0" sz="1050" spc="-20" i="1">
                          <a:latin typeface="Arial"/>
                          <a:cs typeface="Arial"/>
                        </a:rPr>
                        <a:t>TRUE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3" name="object 3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5983" y="498886"/>
            <a:ext cx="81661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Statements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Flow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Statement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1391" y="970165"/>
            <a:ext cx="16605250" cy="251460"/>
            <a:chOff x="841391" y="970165"/>
            <a:chExt cx="16605250" cy="251460"/>
          </a:xfrm>
        </p:grpSpPr>
        <p:sp>
          <p:nvSpPr>
            <p:cNvPr id="7" name="object 7"/>
            <p:cNvSpPr/>
            <p:nvPr/>
          </p:nvSpPr>
          <p:spPr>
            <a:xfrm>
              <a:off x="847741" y="973340"/>
              <a:ext cx="16592550" cy="0"/>
            </a:xfrm>
            <a:custGeom>
              <a:avLst/>
              <a:gdLst/>
              <a:ahLst/>
              <a:cxnLst/>
              <a:rect l="l" t="t" r="r" b="b"/>
              <a:pathLst>
                <a:path w="16592550" h="0">
                  <a:moveTo>
                    <a:pt x="15518511" y="0"/>
                  </a:moveTo>
                  <a:lnTo>
                    <a:pt x="16592550" y="0"/>
                  </a:lnTo>
                </a:path>
                <a:path w="16592550" h="0">
                  <a:moveTo>
                    <a:pt x="14516227" y="0"/>
                  </a:moveTo>
                  <a:lnTo>
                    <a:pt x="15518511" y="0"/>
                  </a:lnTo>
                </a:path>
                <a:path w="16592550" h="0">
                  <a:moveTo>
                    <a:pt x="13513816" y="0"/>
                  </a:moveTo>
                  <a:lnTo>
                    <a:pt x="14516227" y="0"/>
                  </a:lnTo>
                </a:path>
                <a:path w="16592550" h="0">
                  <a:moveTo>
                    <a:pt x="12475705" y="0"/>
                  </a:moveTo>
                  <a:lnTo>
                    <a:pt x="13513816" y="0"/>
                  </a:lnTo>
                </a:path>
                <a:path w="16592550" h="0">
                  <a:moveTo>
                    <a:pt x="11473357" y="0"/>
                  </a:moveTo>
                  <a:lnTo>
                    <a:pt x="12475705" y="0"/>
                  </a:lnTo>
                </a:path>
                <a:path w="16592550" h="0">
                  <a:moveTo>
                    <a:pt x="10184625" y="0"/>
                  </a:moveTo>
                  <a:lnTo>
                    <a:pt x="11473357" y="0"/>
                  </a:lnTo>
                </a:path>
                <a:path w="16592550" h="0">
                  <a:moveTo>
                    <a:pt x="8895880" y="0"/>
                  </a:moveTo>
                  <a:lnTo>
                    <a:pt x="10184625" y="0"/>
                  </a:lnTo>
                </a:path>
                <a:path w="16592550" h="0">
                  <a:moveTo>
                    <a:pt x="7732433" y="0"/>
                  </a:moveTo>
                  <a:lnTo>
                    <a:pt x="8895880" y="0"/>
                  </a:lnTo>
                </a:path>
                <a:path w="16592550" h="0">
                  <a:moveTo>
                    <a:pt x="6568986" y="0"/>
                  </a:moveTo>
                  <a:lnTo>
                    <a:pt x="7732433" y="0"/>
                  </a:lnTo>
                </a:path>
                <a:path w="16592550" h="0">
                  <a:moveTo>
                    <a:pt x="5137061" y="0"/>
                  </a:moveTo>
                  <a:lnTo>
                    <a:pt x="6568986" y="0"/>
                  </a:lnTo>
                </a:path>
                <a:path w="16592550" h="0">
                  <a:moveTo>
                    <a:pt x="4814874" y="0"/>
                  </a:moveTo>
                  <a:lnTo>
                    <a:pt x="5137061" y="0"/>
                  </a:lnTo>
                </a:path>
                <a:path w="16592550" h="0">
                  <a:moveTo>
                    <a:pt x="0" y="0"/>
                  </a:moveTo>
                  <a:lnTo>
                    <a:pt x="4814874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7741" y="1215262"/>
              <a:ext cx="16592550" cy="0"/>
            </a:xfrm>
            <a:custGeom>
              <a:avLst/>
              <a:gdLst/>
              <a:ahLst/>
              <a:cxnLst/>
              <a:rect l="l" t="t" r="r" b="b"/>
              <a:pathLst>
                <a:path w="16592550" h="0">
                  <a:moveTo>
                    <a:pt x="15518511" y="0"/>
                  </a:moveTo>
                  <a:lnTo>
                    <a:pt x="16592550" y="0"/>
                  </a:lnTo>
                </a:path>
                <a:path w="16592550" h="0">
                  <a:moveTo>
                    <a:pt x="14516227" y="0"/>
                  </a:moveTo>
                  <a:lnTo>
                    <a:pt x="15518511" y="0"/>
                  </a:lnTo>
                </a:path>
                <a:path w="16592550" h="0">
                  <a:moveTo>
                    <a:pt x="13513816" y="0"/>
                  </a:moveTo>
                  <a:lnTo>
                    <a:pt x="14516227" y="0"/>
                  </a:lnTo>
                </a:path>
                <a:path w="16592550" h="0">
                  <a:moveTo>
                    <a:pt x="12475705" y="0"/>
                  </a:moveTo>
                  <a:lnTo>
                    <a:pt x="13513816" y="0"/>
                  </a:lnTo>
                </a:path>
                <a:path w="16592550" h="0">
                  <a:moveTo>
                    <a:pt x="11473357" y="0"/>
                  </a:moveTo>
                  <a:lnTo>
                    <a:pt x="12475705" y="0"/>
                  </a:lnTo>
                </a:path>
                <a:path w="16592550" h="0">
                  <a:moveTo>
                    <a:pt x="10184625" y="0"/>
                  </a:moveTo>
                  <a:lnTo>
                    <a:pt x="11473357" y="0"/>
                  </a:lnTo>
                </a:path>
                <a:path w="16592550" h="0">
                  <a:moveTo>
                    <a:pt x="8895880" y="0"/>
                  </a:moveTo>
                  <a:lnTo>
                    <a:pt x="10184625" y="0"/>
                  </a:lnTo>
                </a:path>
                <a:path w="16592550" h="0">
                  <a:moveTo>
                    <a:pt x="7732433" y="0"/>
                  </a:moveTo>
                  <a:lnTo>
                    <a:pt x="8895880" y="0"/>
                  </a:lnTo>
                </a:path>
                <a:path w="16592550" h="0">
                  <a:moveTo>
                    <a:pt x="6568986" y="0"/>
                  </a:moveTo>
                  <a:lnTo>
                    <a:pt x="7732433" y="0"/>
                  </a:lnTo>
                </a:path>
                <a:path w="16592550" h="0">
                  <a:moveTo>
                    <a:pt x="5137061" y="0"/>
                  </a:moveTo>
                  <a:lnTo>
                    <a:pt x="6568986" y="0"/>
                  </a:lnTo>
                </a:path>
                <a:path w="16592550" h="0">
                  <a:moveTo>
                    <a:pt x="4814874" y="0"/>
                  </a:moveTo>
                  <a:lnTo>
                    <a:pt x="5137061" y="0"/>
                  </a:lnTo>
                </a:path>
                <a:path w="16592550" h="0">
                  <a:moveTo>
                    <a:pt x="0" y="0"/>
                  </a:moveTo>
                  <a:lnTo>
                    <a:pt x="4814874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47741" y="1014986"/>
          <a:ext cx="16678275" cy="797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8454"/>
                <a:gridCol w="1242695"/>
                <a:gridCol w="1364615"/>
                <a:gridCol w="1163320"/>
                <a:gridCol w="1194434"/>
                <a:gridCol w="1288415"/>
                <a:gridCol w="1216659"/>
                <a:gridCol w="1010920"/>
                <a:gridCol w="1028700"/>
                <a:gridCol w="1002030"/>
                <a:gridCol w="1019809"/>
                <a:gridCol w="918209"/>
              </a:tblGrid>
              <a:tr h="20701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2021A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2022A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2023A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2024A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2025A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748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10">
                        <a:lnSpc>
                          <a:spcPts val="153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Profit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697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1,160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3,600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4,670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5,197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5,570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5,931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6,270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Depreciation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Amortization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242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371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376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ADJ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293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1,417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3,889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5,014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5,552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5,940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6,287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6,646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6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Inventories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(370)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(362)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(143)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(83)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(85)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Receivables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(149)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(84)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Debtors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Debit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Balances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(153)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(46)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(383)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(372)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452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Due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Parties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Notes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Payable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694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(228)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Facilities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(271)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(515)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Income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Liability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157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Portion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Long-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Borrowings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(164)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(194)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Lease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Liabilities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Creditors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Balances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184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368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Due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Parties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Dividends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Payable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(151)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(600)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Provisions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Cashflow</a:t>
                      </a: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Operations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1,034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2,269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3,246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5,639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5,621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6,015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6,310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6,540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6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Property,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Plant,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Equipment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(2,278)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(243)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(1,142)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(648)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(280)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(298)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(285)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(304)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Assets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Construction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(704)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392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Intangible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Assets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(219)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Right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Assets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Other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Assets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Investment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Joint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Venture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Cashflow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Investing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(2,521)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(911)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(795)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(230)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(304)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6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Borrowings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6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(95)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(177)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6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768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(145)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(264)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60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(205)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60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Deferred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Liabilities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(41)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Lease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Liabilities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0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Creditors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Balances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N.C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Notes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Payable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(301)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545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change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equity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1,027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(106)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(611)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(1,260)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(1,568)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(1,743)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(1,867)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(1,987)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(2,099)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Cashflow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Financing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ts val="160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1,616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(391)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(275)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(232)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(678)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(1,815)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(2,007)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(2,131)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684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(2,192)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(2,110)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Beginning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79070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210820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(257)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210820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1,126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3906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1,772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4795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3,594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3906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3,363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3906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3,615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5684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3,857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3175">
                        <a:lnSpc>
                          <a:spcPts val="1664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4,126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Changes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545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561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1,687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3,459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7,053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10,416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7480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14,031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54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17,888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Ending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6379">
                        <a:lnSpc>
                          <a:spcPts val="1605"/>
                        </a:lnSpc>
                      </a:pPr>
                      <a:r>
                        <a:rPr dirty="0" sz="14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070">
                        <a:lnSpc>
                          <a:spcPts val="1605"/>
                        </a:lnSpc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561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1,687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3,459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7,053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10,416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14,031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7480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17,888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605"/>
                        </a:lnSpc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22,014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10" i="1">
                          <a:latin typeface="Arial"/>
                          <a:cs typeface="Arial"/>
                        </a:rPr>
                        <a:t>Checker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 marR="3175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8683" y="1071952"/>
            <a:ext cx="16821150" cy="0"/>
          </a:xfrm>
          <a:custGeom>
            <a:avLst/>
            <a:gdLst/>
            <a:ahLst/>
            <a:cxnLst/>
            <a:rect l="l" t="t" r="r" b="b"/>
            <a:pathLst>
              <a:path w="16821150" h="0">
                <a:moveTo>
                  <a:pt x="15672689" y="0"/>
                </a:moveTo>
                <a:lnTo>
                  <a:pt x="16821150" y="0"/>
                </a:lnTo>
              </a:path>
              <a:path w="16821150" h="0">
                <a:moveTo>
                  <a:pt x="14524228" y="0"/>
                </a:moveTo>
                <a:lnTo>
                  <a:pt x="15672689" y="0"/>
                </a:lnTo>
              </a:path>
              <a:path w="16821150" h="0">
                <a:moveTo>
                  <a:pt x="13375767" y="0"/>
                </a:moveTo>
                <a:lnTo>
                  <a:pt x="14524228" y="0"/>
                </a:lnTo>
              </a:path>
              <a:path w="16821150" h="0">
                <a:moveTo>
                  <a:pt x="12227394" y="0"/>
                </a:moveTo>
                <a:lnTo>
                  <a:pt x="13375767" y="0"/>
                </a:lnTo>
              </a:path>
              <a:path w="16821150" h="0">
                <a:moveTo>
                  <a:pt x="11078972" y="0"/>
                </a:moveTo>
                <a:lnTo>
                  <a:pt x="12227394" y="0"/>
                </a:lnTo>
              </a:path>
              <a:path w="16821150" h="0">
                <a:moveTo>
                  <a:pt x="9930536" y="0"/>
                </a:moveTo>
                <a:lnTo>
                  <a:pt x="11078972" y="0"/>
                </a:lnTo>
              </a:path>
              <a:path w="16821150" h="0">
                <a:moveTo>
                  <a:pt x="8782113" y="0"/>
                </a:moveTo>
                <a:lnTo>
                  <a:pt x="9930536" y="0"/>
                </a:lnTo>
              </a:path>
              <a:path w="16821150" h="0">
                <a:moveTo>
                  <a:pt x="7633677" y="0"/>
                </a:moveTo>
                <a:lnTo>
                  <a:pt x="8782113" y="0"/>
                </a:lnTo>
              </a:path>
              <a:path w="16821150" h="0">
                <a:moveTo>
                  <a:pt x="6485255" y="0"/>
                </a:moveTo>
                <a:lnTo>
                  <a:pt x="7633677" y="0"/>
                </a:lnTo>
              </a:path>
              <a:path w="16821150" h="0">
                <a:moveTo>
                  <a:pt x="5336819" y="0"/>
                </a:moveTo>
                <a:lnTo>
                  <a:pt x="6485255" y="0"/>
                </a:lnTo>
              </a:path>
              <a:path w="16821150" h="0">
                <a:moveTo>
                  <a:pt x="0" y="0"/>
                </a:moveTo>
                <a:lnTo>
                  <a:pt x="533681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55007" y="498886"/>
            <a:ext cx="1690814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7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Financials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Ratios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Efficiency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Ratios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Z-Score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000">
              <a:latin typeface="Arial"/>
              <a:cs typeface="Arial"/>
            </a:endParaRPr>
          </a:p>
          <a:p>
            <a:pPr marL="73660">
              <a:lnSpc>
                <a:spcPct val="100000"/>
              </a:lnSpc>
              <a:spcBef>
                <a:spcPts val="5"/>
              </a:spcBef>
              <a:tabLst>
                <a:tab pos="16894175" algn="l"/>
              </a:tabLst>
            </a:pPr>
            <a:r>
              <a:rPr dirty="0" u="sng" sz="1800" b="1" i="1">
                <a:solidFill>
                  <a:srgbClr val="1F376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Efficiency</a:t>
            </a:r>
            <a:r>
              <a:rPr dirty="0" u="sng" sz="1800" spc="-45" b="1" i="1">
                <a:solidFill>
                  <a:srgbClr val="1F376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 i="1">
                <a:solidFill>
                  <a:srgbClr val="1F376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Ratios</a:t>
            </a:r>
            <a:r>
              <a:rPr dirty="0" u="sng" sz="1800" b="1" i="1">
                <a:solidFill>
                  <a:srgbClr val="1F376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8683" y="1646272"/>
          <a:ext cx="16906875" cy="2748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8845"/>
                <a:gridCol w="2204085"/>
                <a:gridCol w="1148715"/>
                <a:gridCol w="1148715"/>
                <a:gridCol w="1148715"/>
                <a:gridCol w="1148715"/>
                <a:gridCol w="1148715"/>
                <a:gridCol w="1148715"/>
                <a:gridCol w="1148715"/>
                <a:gridCol w="1148715"/>
                <a:gridCol w="711200"/>
              </a:tblGrid>
              <a:tr h="335280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Inventory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Turnover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89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Inventory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DOH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Accounts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Receivables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Turnover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Accounts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Receivables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DOH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Accounts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Payables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Turnover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Accounts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Payables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DOH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PP&amp;E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Turnover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39420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66988" y="4671059"/>
            <a:ext cx="16783050" cy="0"/>
          </a:xfrm>
          <a:custGeom>
            <a:avLst/>
            <a:gdLst/>
            <a:ahLst/>
            <a:cxnLst/>
            <a:rect l="l" t="t" r="r" b="b"/>
            <a:pathLst>
              <a:path w="16783050" h="0">
                <a:moveTo>
                  <a:pt x="15588996" y="0"/>
                </a:moveTo>
                <a:lnTo>
                  <a:pt x="16782796" y="0"/>
                </a:lnTo>
              </a:path>
              <a:path w="16783050" h="0">
                <a:moveTo>
                  <a:pt x="14395323" y="0"/>
                </a:moveTo>
                <a:lnTo>
                  <a:pt x="15588996" y="0"/>
                </a:lnTo>
              </a:path>
              <a:path w="16783050" h="0">
                <a:moveTo>
                  <a:pt x="13201523" y="0"/>
                </a:moveTo>
                <a:lnTo>
                  <a:pt x="14395323" y="0"/>
                </a:lnTo>
              </a:path>
              <a:path w="16783050" h="0">
                <a:moveTo>
                  <a:pt x="12007786" y="0"/>
                </a:moveTo>
                <a:lnTo>
                  <a:pt x="13201523" y="0"/>
                </a:lnTo>
              </a:path>
              <a:path w="16783050" h="0">
                <a:moveTo>
                  <a:pt x="10814024" y="0"/>
                </a:moveTo>
                <a:lnTo>
                  <a:pt x="12007786" y="0"/>
                </a:lnTo>
              </a:path>
              <a:path w="16783050" h="0">
                <a:moveTo>
                  <a:pt x="9620275" y="0"/>
                </a:moveTo>
                <a:lnTo>
                  <a:pt x="10814024" y="0"/>
                </a:lnTo>
              </a:path>
              <a:path w="16783050" h="0">
                <a:moveTo>
                  <a:pt x="8426513" y="0"/>
                </a:moveTo>
                <a:lnTo>
                  <a:pt x="9620275" y="0"/>
                </a:lnTo>
              </a:path>
              <a:path w="16783050" h="0">
                <a:moveTo>
                  <a:pt x="7232764" y="0"/>
                </a:moveTo>
                <a:lnTo>
                  <a:pt x="8426513" y="0"/>
                </a:lnTo>
              </a:path>
              <a:path w="16783050" h="0">
                <a:moveTo>
                  <a:pt x="6039002" y="0"/>
                </a:moveTo>
                <a:lnTo>
                  <a:pt x="7232764" y="0"/>
                </a:lnTo>
              </a:path>
              <a:path w="16783050" h="0">
                <a:moveTo>
                  <a:pt x="4845240" y="0"/>
                </a:moveTo>
                <a:lnTo>
                  <a:pt x="6039002" y="0"/>
                </a:lnTo>
              </a:path>
              <a:path w="16783050" h="0">
                <a:moveTo>
                  <a:pt x="0" y="0"/>
                </a:moveTo>
                <a:lnTo>
                  <a:pt x="484524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6988" y="5209527"/>
            <a:ext cx="16783050" cy="0"/>
          </a:xfrm>
          <a:custGeom>
            <a:avLst/>
            <a:gdLst/>
            <a:ahLst/>
            <a:cxnLst/>
            <a:rect l="l" t="t" r="r" b="b"/>
            <a:pathLst>
              <a:path w="16783050" h="0">
                <a:moveTo>
                  <a:pt x="15588996" y="0"/>
                </a:moveTo>
                <a:lnTo>
                  <a:pt x="16782796" y="0"/>
                </a:lnTo>
              </a:path>
              <a:path w="16783050" h="0">
                <a:moveTo>
                  <a:pt x="14395323" y="0"/>
                </a:moveTo>
                <a:lnTo>
                  <a:pt x="15588996" y="0"/>
                </a:lnTo>
              </a:path>
              <a:path w="16783050" h="0">
                <a:moveTo>
                  <a:pt x="13201523" y="0"/>
                </a:moveTo>
                <a:lnTo>
                  <a:pt x="14395323" y="0"/>
                </a:lnTo>
              </a:path>
              <a:path w="16783050" h="0">
                <a:moveTo>
                  <a:pt x="12007786" y="0"/>
                </a:moveTo>
                <a:lnTo>
                  <a:pt x="13201523" y="0"/>
                </a:lnTo>
              </a:path>
              <a:path w="16783050" h="0">
                <a:moveTo>
                  <a:pt x="10814024" y="0"/>
                </a:moveTo>
                <a:lnTo>
                  <a:pt x="12007786" y="0"/>
                </a:lnTo>
              </a:path>
              <a:path w="16783050" h="0">
                <a:moveTo>
                  <a:pt x="9620275" y="0"/>
                </a:moveTo>
                <a:lnTo>
                  <a:pt x="10814024" y="0"/>
                </a:lnTo>
              </a:path>
              <a:path w="16783050" h="0">
                <a:moveTo>
                  <a:pt x="8426513" y="0"/>
                </a:moveTo>
                <a:lnTo>
                  <a:pt x="9620275" y="0"/>
                </a:lnTo>
              </a:path>
              <a:path w="16783050" h="0">
                <a:moveTo>
                  <a:pt x="7232764" y="0"/>
                </a:moveTo>
                <a:lnTo>
                  <a:pt x="8426513" y="0"/>
                </a:lnTo>
              </a:path>
              <a:path w="16783050" h="0">
                <a:moveTo>
                  <a:pt x="6039002" y="0"/>
                </a:moveTo>
                <a:lnTo>
                  <a:pt x="7232764" y="0"/>
                </a:lnTo>
              </a:path>
              <a:path w="16783050" h="0">
                <a:moveTo>
                  <a:pt x="4845240" y="0"/>
                </a:moveTo>
                <a:lnTo>
                  <a:pt x="6039002" y="0"/>
                </a:lnTo>
              </a:path>
              <a:path w="16783050" h="0">
                <a:moveTo>
                  <a:pt x="0" y="0"/>
                </a:moveTo>
                <a:lnTo>
                  <a:pt x="484524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0742" y="4948694"/>
            <a:ext cx="748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Z-Score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8683" y="5461895"/>
          <a:ext cx="16897350" cy="351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8155"/>
                <a:gridCol w="1789429"/>
                <a:gridCol w="1193800"/>
                <a:gridCol w="1193800"/>
                <a:gridCol w="1193800"/>
                <a:gridCol w="1193800"/>
                <a:gridCol w="1193800"/>
                <a:gridCol w="1193800"/>
                <a:gridCol w="1193800"/>
                <a:gridCol w="1193800"/>
                <a:gridCol w="1193800"/>
              </a:tblGrid>
              <a:tr h="41084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Working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Capital/Total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Assets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-0.531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-0.273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-0.091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0.003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-0.060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-0.069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-0.057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-0.050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10"/>
                        </a:lnSpc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-0.044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53784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R.E/Total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Assets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51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0.064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0.084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0.347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0.355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0.633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0.743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0.808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0.848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0.875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0.892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</a:tr>
              <a:tr h="53784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EBIT/Total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Assets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51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0.042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0.202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0.281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0.305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0.529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0.488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0.421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0.363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0.320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10">
                          <a:latin typeface="Arial"/>
                          <a:cs typeface="Arial"/>
                        </a:rPr>
                        <a:t>0.286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</a:tr>
              <a:tr h="53784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firm/Total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Liabilities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51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0.89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0.99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1.77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6.53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6.35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6.37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6.42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6.48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/>
                </a:tc>
              </a:tr>
              <a:tr h="412750">
                <a:tc>
                  <a:txBody>
                    <a:bodyPr/>
                    <a:lstStyle/>
                    <a:p>
                      <a:pPr marL="38100">
                        <a:lnSpc>
                          <a:spcPts val="1855"/>
                        </a:lnSpc>
                        <a:spcBef>
                          <a:spcPts val="130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Revenue/Total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Assets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510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1.24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1.55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1.49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1.42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1.05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0.79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810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0.71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(1.2*A)+(1.4*B)+(3.3*C)+(0.6*D)+(1.0*E)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0.95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2.29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3.92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4.08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7.90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7.58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7.31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7.07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6.91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40"/>
                        </a:lnSpc>
                        <a:spcBef>
                          <a:spcPts val="1795"/>
                        </a:spcBef>
                      </a:pPr>
                      <a:r>
                        <a:rPr dirty="0" sz="2000" spc="-20">
                          <a:latin typeface="Arial"/>
                          <a:cs typeface="Arial"/>
                        </a:rPr>
                        <a:t>6.71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2796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4995" marR="4521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Distress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Grey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39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Zone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3" name="object 3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5983" y="498886"/>
            <a:ext cx="68694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COGS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Bridge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COGS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Breakdown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683" y="1123346"/>
            <a:ext cx="17068800" cy="0"/>
          </a:xfrm>
          <a:custGeom>
            <a:avLst/>
            <a:gdLst/>
            <a:ahLst/>
            <a:cxnLst/>
            <a:rect l="l" t="t" r="r" b="b"/>
            <a:pathLst>
              <a:path w="17068800" h="0">
                <a:moveTo>
                  <a:pt x="15948406" y="0"/>
                </a:moveTo>
                <a:lnTo>
                  <a:pt x="17068800" y="0"/>
                </a:lnTo>
              </a:path>
              <a:path w="17068800" h="0">
                <a:moveTo>
                  <a:pt x="14711298" y="0"/>
                </a:moveTo>
                <a:lnTo>
                  <a:pt x="15948406" y="0"/>
                </a:lnTo>
              </a:path>
              <a:path w="17068800" h="0">
                <a:moveTo>
                  <a:pt x="13590905" y="0"/>
                </a:moveTo>
                <a:lnTo>
                  <a:pt x="14711298" y="0"/>
                </a:lnTo>
              </a:path>
              <a:path w="17068800" h="0">
                <a:moveTo>
                  <a:pt x="12470434" y="0"/>
                </a:moveTo>
                <a:lnTo>
                  <a:pt x="13590905" y="0"/>
                </a:lnTo>
              </a:path>
              <a:path w="17068800" h="0">
                <a:moveTo>
                  <a:pt x="11303330" y="0"/>
                </a:moveTo>
                <a:lnTo>
                  <a:pt x="12470434" y="0"/>
                </a:lnTo>
              </a:path>
              <a:path w="17068800" h="0">
                <a:moveTo>
                  <a:pt x="10182923" y="0"/>
                </a:moveTo>
                <a:lnTo>
                  <a:pt x="11303330" y="0"/>
                </a:lnTo>
              </a:path>
              <a:path w="17068800" h="0">
                <a:moveTo>
                  <a:pt x="9062504" y="0"/>
                </a:moveTo>
                <a:lnTo>
                  <a:pt x="10182923" y="0"/>
                </a:lnTo>
              </a:path>
              <a:path w="17068800" h="0">
                <a:moveTo>
                  <a:pt x="7942097" y="0"/>
                </a:moveTo>
                <a:lnTo>
                  <a:pt x="9062504" y="0"/>
                </a:lnTo>
              </a:path>
              <a:path w="17068800" h="0">
                <a:moveTo>
                  <a:pt x="6821678" y="0"/>
                </a:moveTo>
                <a:lnTo>
                  <a:pt x="7942097" y="0"/>
                </a:lnTo>
              </a:path>
              <a:path w="17068800" h="0">
                <a:moveTo>
                  <a:pt x="5701271" y="0"/>
                </a:moveTo>
                <a:lnTo>
                  <a:pt x="6821678" y="0"/>
                </a:lnTo>
              </a:path>
              <a:path w="17068800" h="0">
                <a:moveTo>
                  <a:pt x="4604194" y="0"/>
                </a:moveTo>
                <a:lnTo>
                  <a:pt x="5701271" y="0"/>
                </a:lnTo>
              </a:path>
              <a:path w="17068800" h="0">
                <a:moveTo>
                  <a:pt x="0" y="0"/>
                </a:moveTo>
                <a:lnTo>
                  <a:pt x="460419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7707" y="1149513"/>
          <a:ext cx="17206595" cy="779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3595"/>
                <a:gridCol w="1245235"/>
                <a:gridCol w="1226185"/>
                <a:gridCol w="1120140"/>
                <a:gridCol w="1120140"/>
                <a:gridCol w="1120140"/>
                <a:gridCol w="1156334"/>
                <a:gridCol w="1143634"/>
                <a:gridCol w="1120140"/>
                <a:gridCol w="1178559"/>
                <a:gridCol w="1178559"/>
                <a:gridCol w="883919"/>
              </a:tblGrid>
              <a:tr h="400050">
                <a:tc>
                  <a:txBody>
                    <a:bodyPr/>
                    <a:lstStyle/>
                    <a:p>
                      <a:pPr marL="60960">
                        <a:lnSpc>
                          <a:spcPts val="3055"/>
                        </a:lnSpc>
                      </a:pPr>
                      <a:r>
                        <a:rPr dirty="0" sz="280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2800" spc="-5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10" b="1" i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Bridge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2021A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2022A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2023A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2024A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2025A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9235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9235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7655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9235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spcBef>
                          <a:spcPts val="955"/>
                        </a:spcBef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12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8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Sales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60960">
                        <a:lnSpc>
                          <a:spcPts val="212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Raw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materials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4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1,706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3,119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3,780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5,225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2095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5,698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6,474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7,009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8702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7,495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7,938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8,401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Depreciation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206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218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Amortization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Licenses,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Intangible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assets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Amortization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right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Transportation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792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764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961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6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1039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1103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1163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66700">
                <a:tc>
                  <a:txBody>
                    <a:bodyPr/>
                    <a:lstStyle/>
                    <a:p>
                      <a:pPr marL="60960">
                        <a:lnSpc>
                          <a:spcPts val="20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Overhead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205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266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234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641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726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926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976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4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EGP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2281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3790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4760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6643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7389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8065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8776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9405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9967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10540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800" spc="-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60960">
                        <a:lnSpc>
                          <a:spcPts val="212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Raw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 materials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45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75%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82%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77%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Depreciation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Amortization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Licenses,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Intangible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assets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2%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Amortization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right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Transportation</a:t>
                      </a:r>
                      <a:r>
                        <a:rPr dirty="0"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39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12%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66700">
                <a:tc>
                  <a:txBody>
                    <a:bodyPr/>
                    <a:lstStyle/>
                    <a:p>
                      <a:pPr marL="60960">
                        <a:lnSpc>
                          <a:spcPts val="20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Overhead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39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800" spc="-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/Ton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60960">
                        <a:lnSpc>
                          <a:spcPts val="212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Clinker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Production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70"/>
                        </a:lnSpc>
                        <a:spcBef>
                          <a:spcPts val="4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3.19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3.92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3.93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3.61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2095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3.85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60960">
                        <a:lnSpc>
                          <a:spcPts val="20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Cement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Production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3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2.80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3.25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2.76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2.94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2095">
                        <a:lnSpc>
                          <a:spcPts val="20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3.48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Production</a:t>
                      </a:r>
                      <a:r>
                        <a:rPr dirty="0" sz="1800" spc="-6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Volume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105">
                        <a:lnSpc>
                          <a:spcPts val="1610"/>
                        </a:lnSpc>
                        <a:spcBef>
                          <a:spcPts val="4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5.99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7.17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6.69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6.54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2095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7.58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7.84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702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8.09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8.36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8.56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60960">
                        <a:lnSpc>
                          <a:spcPts val="212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RM/ton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532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12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864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1034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1174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1295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1402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1499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1588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2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1680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Transportation/ton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157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157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132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66700">
                <a:tc>
                  <a:txBody>
                    <a:bodyPr/>
                    <a:lstStyle/>
                    <a:p>
                      <a:pPr marL="60960">
                        <a:lnSpc>
                          <a:spcPts val="20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Overhead/ton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64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53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74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132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96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103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108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00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0960">
                        <a:lnSpc>
                          <a:spcPts val="2060"/>
                        </a:lnSpc>
                      </a:pPr>
                      <a:r>
                        <a:rPr dirty="0" sz="18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COGS/ton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265">
                        <a:lnSpc>
                          <a:spcPts val="2060"/>
                        </a:lnSpc>
                      </a:pPr>
                      <a:r>
                        <a:rPr dirty="0" sz="18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831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1088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59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1314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1522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1613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8600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6385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1881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1993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0"/>
                        </a:lnSpc>
                      </a:pPr>
                      <a:r>
                        <a:rPr dirty="0" sz="18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2108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COGS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Bridge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Effects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Waterfall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Bridge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873" y="1186765"/>
            <a:ext cx="16694150" cy="0"/>
          </a:xfrm>
          <a:custGeom>
            <a:avLst/>
            <a:gdLst/>
            <a:ahLst/>
            <a:cxnLst/>
            <a:rect l="l" t="t" r="r" b="b"/>
            <a:pathLst>
              <a:path w="16694150" h="0">
                <a:moveTo>
                  <a:pt x="15598267" y="0"/>
                </a:moveTo>
                <a:lnTo>
                  <a:pt x="16694023" y="0"/>
                </a:lnTo>
              </a:path>
              <a:path w="16694150" h="0">
                <a:moveTo>
                  <a:pt x="14388338" y="0"/>
                </a:moveTo>
                <a:lnTo>
                  <a:pt x="15598267" y="0"/>
                </a:lnTo>
              </a:path>
              <a:path w="16694150" h="0">
                <a:moveTo>
                  <a:pt x="13292455" y="0"/>
                </a:moveTo>
                <a:lnTo>
                  <a:pt x="14388338" y="0"/>
                </a:lnTo>
              </a:path>
              <a:path w="16694150" h="0">
                <a:moveTo>
                  <a:pt x="12196660" y="0"/>
                </a:moveTo>
                <a:lnTo>
                  <a:pt x="13292455" y="0"/>
                </a:lnTo>
              </a:path>
              <a:path w="16694150" h="0">
                <a:moveTo>
                  <a:pt x="11055184" y="0"/>
                </a:moveTo>
                <a:lnTo>
                  <a:pt x="12196660" y="0"/>
                </a:lnTo>
              </a:path>
              <a:path w="16694150" h="0">
                <a:moveTo>
                  <a:pt x="9959365" y="0"/>
                </a:moveTo>
                <a:lnTo>
                  <a:pt x="11055184" y="0"/>
                </a:lnTo>
              </a:path>
              <a:path w="16694150" h="0">
                <a:moveTo>
                  <a:pt x="8863558" y="0"/>
                </a:moveTo>
                <a:lnTo>
                  <a:pt x="9959365" y="0"/>
                </a:lnTo>
              </a:path>
              <a:path w="16694150" h="0">
                <a:moveTo>
                  <a:pt x="7767739" y="0"/>
                </a:moveTo>
                <a:lnTo>
                  <a:pt x="8863558" y="0"/>
                </a:lnTo>
              </a:path>
              <a:path w="16694150" h="0">
                <a:moveTo>
                  <a:pt x="6671919" y="0"/>
                </a:moveTo>
                <a:lnTo>
                  <a:pt x="7767739" y="0"/>
                </a:lnTo>
              </a:path>
              <a:path w="16694150" h="0">
                <a:moveTo>
                  <a:pt x="5576112" y="0"/>
                </a:moveTo>
                <a:lnTo>
                  <a:pt x="6671919" y="0"/>
                </a:lnTo>
              </a:path>
              <a:path w="16694150" h="0">
                <a:moveTo>
                  <a:pt x="4503115" y="0"/>
                </a:moveTo>
                <a:lnTo>
                  <a:pt x="5576112" y="0"/>
                </a:lnTo>
              </a:path>
              <a:path w="16694150" h="0">
                <a:moveTo>
                  <a:pt x="0" y="0"/>
                </a:moveTo>
                <a:lnTo>
                  <a:pt x="4503115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4873" y="1201721"/>
          <a:ext cx="16779875" cy="785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3595"/>
                <a:gridCol w="2208529"/>
                <a:gridCol w="1096009"/>
                <a:gridCol w="1096009"/>
                <a:gridCol w="1096009"/>
                <a:gridCol w="1107440"/>
                <a:gridCol w="1130300"/>
                <a:gridCol w="1096009"/>
                <a:gridCol w="1124584"/>
                <a:gridCol w="1181734"/>
                <a:gridCol w="935355"/>
              </a:tblGrid>
              <a:tr h="228600">
                <a:tc>
                  <a:txBody>
                    <a:bodyPr/>
                    <a:lstStyle/>
                    <a:p>
                      <a:pPr marL="55880">
                        <a:lnSpc>
                          <a:spcPts val="170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10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0190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399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1038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492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/Ton</a:t>
                      </a:r>
                      <a:r>
                        <a:rPr dirty="0" sz="1600" spc="4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666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1369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2044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7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292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172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Change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1509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746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562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572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839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715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Δ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Production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Volume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1.19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-0.48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-0.15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0.20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RM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415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153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Transportation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Volume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55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6854"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Overhead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413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388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839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715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ts val="188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/Ton</a:t>
                      </a:r>
                      <a:r>
                        <a:rPr dirty="0" sz="1600" spc="4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666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1369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2044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8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292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8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172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ts val="2055"/>
                        </a:lnSpc>
                      </a:pPr>
                      <a:r>
                        <a:rPr dirty="0" sz="180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Δ </a:t>
                      </a:r>
                      <a:r>
                        <a:rPr dirty="0" sz="1800" spc="-25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RM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1413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1446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473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486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463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</a:tr>
              <a:tr h="244475">
                <a:tc>
                  <a:txBody>
                    <a:bodyPr/>
                    <a:lstStyle/>
                    <a:p>
                      <a:pPr>
                        <a:lnSpc>
                          <a:spcPts val="182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RM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1076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455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ts val="2055"/>
                        </a:lnSpc>
                      </a:pPr>
                      <a:r>
                        <a:rPr dirty="0" sz="180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Δ </a:t>
                      </a:r>
                      <a:r>
                        <a:rPr dirty="0" sz="1800" spc="-1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Transportation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</a:tr>
              <a:tr h="244475">
                <a:tc>
                  <a:txBody>
                    <a:bodyPr/>
                    <a:lstStyle/>
                    <a:p>
                      <a:pPr>
                        <a:lnSpc>
                          <a:spcPts val="182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Transportation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 Cost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317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2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ts val="2055"/>
                        </a:lnSpc>
                      </a:pPr>
                      <a:r>
                        <a:rPr dirty="0" sz="180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Δ</a:t>
                      </a:r>
                      <a:r>
                        <a:rPr dirty="0" sz="1800" spc="-1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 Overhead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32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05"/>
                        </a:lnSpc>
                        <a:spcBef>
                          <a:spcPts val="145"/>
                        </a:spcBef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415"/>
                </a:tc>
              </a:tr>
              <a:tr h="236854"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Overhead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149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164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1457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Depreciation</a:t>
                      </a:r>
                      <a:r>
                        <a:rPr dirty="0" sz="1600" spc="-5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5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Amortization</a:t>
                      </a:r>
                      <a:r>
                        <a:rPr dirty="0" sz="1600" spc="-5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Waterfall</a:t>
                      </a:r>
                      <a:r>
                        <a:rPr dirty="0" sz="1600" spc="-10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Bridge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0190"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Prior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COGS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2281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3790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4760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6643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7389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8065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9405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9967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187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413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1457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2065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443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Depreciation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Amortization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2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6854">
                <a:tc>
                  <a:txBody>
                    <a:bodyPr/>
                    <a:lstStyle/>
                    <a:p>
                      <a:pPr>
                        <a:lnSpc>
                          <a:spcPts val="17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6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COGS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2281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3790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4760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6643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7389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8065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9405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77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9967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77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10540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2281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3790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4760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6643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7389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8065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9405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20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9967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820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10540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10" i="1">
                          <a:latin typeface="Arial"/>
                          <a:cs typeface="Arial"/>
                        </a:rPr>
                        <a:t>Checker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 marR="3175">
                        <a:lnSpc>
                          <a:spcPts val="1355"/>
                        </a:lnSpc>
                        <a:spcBef>
                          <a:spcPts val="365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94873" y="2405965"/>
            <a:ext cx="16694150" cy="0"/>
          </a:xfrm>
          <a:custGeom>
            <a:avLst/>
            <a:gdLst/>
            <a:ahLst/>
            <a:cxnLst/>
            <a:rect l="l" t="t" r="r" b="b"/>
            <a:pathLst>
              <a:path w="16694150" h="0">
                <a:moveTo>
                  <a:pt x="15598267" y="0"/>
                </a:moveTo>
                <a:lnTo>
                  <a:pt x="16694023" y="0"/>
                </a:lnTo>
              </a:path>
              <a:path w="16694150" h="0">
                <a:moveTo>
                  <a:pt x="14388338" y="0"/>
                </a:moveTo>
                <a:lnTo>
                  <a:pt x="15598267" y="0"/>
                </a:lnTo>
              </a:path>
              <a:path w="16694150" h="0">
                <a:moveTo>
                  <a:pt x="13292455" y="0"/>
                </a:moveTo>
                <a:lnTo>
                  <a:pt x="14388338" y="0"/>
                </a:lnTo>
              </a:path>
              <a:path w="16694150" h="0">
                <a:moveTo>
                  <a:pt x="12196660" y="0"/>
                </a:moveTo>
                <a:lnTo>
                  <a:pt x="13292455" y="0"/>
                </a:lnTo>
              </a:path>
              <a:path w="16694150" h="0">
                <a:moveTo>
                  <a:pt x="11055184" y="0"/>
                </a:moveTo>
                <a:lnTo>
                  <a:pt x="12196660" y="0"/>
                </a:lnTo>
              </a:path>
              <a:path w="16694150" h="0">
                <a:moveTo>
                  <a:pt x="9959365" y="0"/>
                </a:moveTo>
                <a:lnTo>
                  <a:pt x="11055184" y="0"/>
                </a:lnTo>
              </a:path>
              <a:path w="16694150" h="0">
                <a:moveTo>
                  <a:pt x="8863558" y="0"/>
                </a:moveTo>
                <a:lnTo>
                  <a:pt x="9959365" y="0"/>
                </a:lnTo>
              </a:path>
              <a:path w="16694150" h="0">
                <a:moveTo>
                  <a:pt x="7767739" y="0"/>
                </a:moveTo>
                <a:lnTo>
                  <a:pt x="8863558" y="0"/>
                </a:lnTo>
              </a:path>
              <a:path w="16694150" h="0">
                <a:moveTo>
                  <a:pt x="6671919" y="0"/>
                </a:moveTo>
                <a:lnTo>
                  <a:pt x="7767739" y="0"/>
                </a:lnTo>
              </a:path>
              <a:path w="16694150" h="0">
                <a:moveTo>
                  <a:pt x="5576112" y="0"/>
                </a:moveTo>
                <a:lnTo>
                  <a:pt x="6671919" y="0"/>
                </a:lnTo>
              </a:path>
              <a:path w="16694150" h="0">
                <a:moveTo>
                  <a:pt x="4503115" y="0"/>
                </a:moveTo>
                <a:lnTo>
                  <a:pt x="5576112" y="0"/>
                </a:lnTo>
              </a:path>
              <a:path w="16694150" h="0">
                <a:moveTo>
                  <a:pt x="0" y="0"/>
                </a:moveTo>
                <a:lnTo>
                  <a:pt x="4503115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4873" y="4112845"/>
            <a:ext cx="16694150" cy="0"/>
          </a:xfrm>
          <a:custGeom>
            <a:avLst/>
            <a:gdLst/>
            <a:ahLst/>
            <a:cxnLst/>
            <a:rect l="l" t="t" r="r" b="b"/>
            <a:pathLst>
              <a:path w="16694150" h="0">
                <a:moveTo>
                  <a:pt x="15598267" y="0"/>
                </a:moveTo>
                <a:lnTo>
                  <a:pt x="16694023" y="0"/>
                </a:lnTo>
              </a:path>
              <a:path w="16694150" h="0">
                <a:moveTo>
                  <a:pt x="14388338" y="0"/>
                </a:moveTo>
                <a:lnTo>
                  <a:pt x="15598267" y="0"/>
                </a:lnTo>
              </a:path>
              <a:path w="16694150" h="0">
                <a:moveTo>
                  <a:pt x="13292455" y="0"/>
                </a:moveTo>
                <a:lnTo>
                  <a:pt x="14388338" y="0"/>
                </a:lnTo>
              </a:path>
              <a:path w="16694150" h="0">
                <a:moveTo>
                  <a:pt x="12196660" y="0"/>
                </a:moveTo>
                <a:lnTo>
                  <a:pt x="13292455" y="0"/>
                </a:lnTo>
              </a:path>
              <a:path w="16694150" h="0">
                <a:moveTo>
                  <a:pt x="11055184" y="0"/>
                </a:moveTo>
                <a:lnTo>
                  <a:pt x="12196660" y="0"/>
                </a:lnTo>
              </a:path>
              <a:path w="16694150" h="0">
                <a:moveTo>
                  <a:pt x="9959365" y="0"/>
                </a:moveTo>
                <a:lnTo>
                  <a:pt x="11055184" y="0"/>
                </a:lnTo>
              </a:path>
              <a:path w="16694150" h="0">
                <a:moveTo>
                  <a:pt x="8863558" y="0"/>
                </a:moveTo>
                <a:lnTo>
                  <a:pt x="9959365" y="0"/>
                </a:lnTo>
              </a:path>
              <a:path w="16694150" h="0">
                <a:moveTo>
                  <a:pt x="7767739" y="0"/>
                </a:moveTo>
                <a:lnTo>
                  <a:pt x="8863558" y="0"/>
                </a:lnTo>
              </a:path>
              <a:path w="16694150" h="0">
                <a:moveTo>
                  <a:pt x="6671919" y="0"/>
                </a:moveTo>
                <a:lnTo>
                  <a:pt x="7767739" y="0"/>
                </a:lnTo>
              </a:path>
              <a:path w="16694150" h="0">
                <a:moveTo>
                  <a:pt x="5576112" y="0"/>
                </a:moveTo>
                <a:lnTo>
                  <a:pt x="6671919" y="0"/>
                </a:lnTo>
              </a:path>
              <a:path w="16694150" h="0">
                <a:moveTo>
                  <a:pt x="4503115" y="0"/>
                </a:moveTo>
                <a:lnTo>
                  <a:pt x="5576112" y="0"/>
                </a:lnTo>
              </a:path>
              <a:path w="16694150" h="0">
                <a:moveTo>
                  <a:pt x="0" y="0"/>
                </a:moveTo>
                <a:lnTo>
                  <a:pt x="4503115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COGS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Bridge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RM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Cost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Driver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Analysis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8684" y="1059252"/>
            <a:ext cx="17049750" cy="0"/>
          </a:xfrm>
          <a:custGeom>
            <a:avLst/>
            <a:gdLst/>
            <a:ahLst/>
            <a:cxnLst/>
            <a:rect l="l" t="t" r="r" b="b"/>
            <a:pathLst>
              <a:path w="17049750" h="0">
                <a:moveTo>
                  <a:pt x="15930498" y="0"/>
                </a:moveTo>
                <a:lnTo>
                  <a:pt x="17049750" y="0"/>
                </a:lnTo>
              </a:path>
              <a:path w="17049750" h="0">
                <a:moveTo>
                  <a:pt x="14694789" y="0"/>
                </a:moveTo>
                <a:lnTo>
                  <a:pt x="15930498" y="0"/>
                </a:lnTo>
              </a:path>
              <a:path w="17049750" h="0">
                <a:moveTo>
                  <a:pt x="13575665" y="0"/>
                </a:moveTo>
                <a:lnTo>
                  <a:pt x="14694789" y="0"/>
                </a:lnTo>
              </a:path>
              <a:path w="17049750" h="0">
                <a:moveTo>
                  <a:pt x="12456490" y="0"/>
                </a:moveTo>
                <a:lnTo>
                  <a:pt x="13575665" y="0"/>
                </a:lnTo>
              </a:path>
              <a:path w="17049750" h="0">
                <a:moveTo>
                  <a:pt x="11290693" y="0"/>
                </a:moveTo>
                <a:lnTo>
                  <a:pt x="12456490" y="0"/>
                </a:lnTo>
              </a:path>
              <a:path w="17049750" h="0">
                <a:moveTo>
                  <a:pt x="10171531" y="0"/>
                </a:moveTo>
                <a:lnTo>
                  <a:pt x="11290693" y="0"/>
                </a:lnTo>
              </a:path>
              <a:path w="17049750" h="0">
                <a:moveTo>
                  <a:pt x="9052382" y="0"/>
                </a:moveTo>
                <a:lnTo>
                  <a:pt x="10171531" y="0"/>
                </a:lnTo>
              </a:path>
              <a:path w="17049750" h="0">
                <a:moveTo>
                  <a:pt x="7933220" y="0"/>
                </a:moveTo>
                <a:lnTo>
                  <a:pt x="9052382" y="0"/>
                </a:lnTo>
              </a:path>
              <a:path w="17049750" h="0">
                <a:moveTo>
                  <a:pt x="6814058" y="0"/>
                </a:moveTo>
                <a:lnTo>
                  <a:pt x="7933220" y="0"/>
                </a:lnTo>
              </a:path>
              <a:path w="17049750" h="0">
                <a:moveTo>
                  <a:pt x="5694895" y="0"/>
                </a:moveTo>
                <a:lnTo>
                  <a:pt x="6814058" y="0"/>
                </a:lnTo>
              </a:path>
              <a:path w="17049750" h="0">
                <a:moveTo>
                  <a:pt x="4599051" y="0"/>
                </a:moveTo>
                <a:lnTo>
                  <a:pt x="5694895" y="0"/>
                </a:lnTo>
              </a:path>
              <a:path w="17049750" h="0">
                <a:moveTo>
                  <a:pt x="0" y="0"/>
                </a:moveTo>
                <a:lnTo>
                  <a:pt x="459905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8684" y="1078665"/>
          <a:ext cx="17125950" cy="7176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2200"/>
                <a:gridCol w="2135504"/>
                <a:gridCol w="1221740"/>
                <a:gridCol w="1118870"/>
                <a:gridCol w="1118870"/>
                <a:gridCol w="1118870"/>
                <a:gridCol w="1113790"/>
                <a:gridCol w="1170940"/>
                <a:gridCol w="1118869"/>
                <a:gridCol w="1148080"/>
                <a:gridCol w="1206500"/>
                <a:gridCol w="942975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ts val="1700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RM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Driver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Analysis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7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RM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Cost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25755">
                        <a:lnSpc>
                          <a:spcPts val="1435"/>
                        </a:lnSpc>
                        <a:spcBef>
                          <a:spcPts val="489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EGP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Mn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1706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3119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3780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5225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5698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6474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7009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7938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8401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Production</a:t>
                      </a:r>
                      <a:r>
                        <a:rPr dirty="0" sz="16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Volume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1430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ton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7.17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6.69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6.54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7.58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8.09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8.36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8.56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RM/ton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1430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Mn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ton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532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864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1034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1295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1588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1680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RM/ton</a:t>
                      </a:r>
                      <a:r>
                        <a:rPr dirty="0" sz="16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GR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5465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Egypt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Inflation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5465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EX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71145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USD/EGP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FX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Depreciation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5465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48%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Coal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Price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5755">
                        <a:lnSpc>
                          <a:spcPts val="1435"/>
                        </a:lnSpc>
                        <a:spcBef>
                          <a:spcPts val="4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USD/ton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370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140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113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116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123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127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Coal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GR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5465">
                        <a:lnSpc>
                          <a:spcPts val="1365"/>
                        </a:lnSpc>
                        <a:spcBef>
                          <a:spcPts val="415"/>
                        </a:spcBef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101%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63%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Inflation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RM/ton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1188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1329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1439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1592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1673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Inflation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EGP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1633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1175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Residual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Other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557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1584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724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948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817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748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608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FX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COGS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FX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Elasticty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26%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FX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Impact/ton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60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FX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COGS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2356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2693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78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85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FX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RM</a:t>
                      </a:r>
                      <a:r>
                        <a:rPr dirty="0" sz="1600" spc="-5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Waterfall</a:t>
                      </a:r>
                      <a:r>
                        <a:rPr dirty="0" sz="16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Bridge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Prior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1706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3119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3780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5225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5698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6474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7009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7938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RM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effect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810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415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153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356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384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415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338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Inflation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Impact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503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1633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1554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1129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1175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1126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919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776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734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FX-Impact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1052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1634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122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23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14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Residual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Other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1609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1590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1463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839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925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839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755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622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6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1706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3119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3780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5225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5698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6474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7009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7938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8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8401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3119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3780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5225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5698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6474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7009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7495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7938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8401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10" i="1">
                          <a:latin typeface="Arial"/>
                          <a:cs typeface="Arial"/>
                        </a:rPr>
                        <a:t>Checker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10" i="1">
                          <a:latin typeface="Arial"/>
                          <a:cs typeface="Arial"/>
                        </a:rPr>
                        <a:t>FALSE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355"/>
                        </a:lnSpc>
                        <a:spcBef>
                          <a:spcPts val="489"/>
                        </a:spcBef>
                      </a:pPr>
                      <a:r>
                        <a:rPr dirty="0" sz="1200" spc="-20" i="1">
                          <a:latin typeface="Arial"/>
                          <a:cs typeface="Arial"/>
                        </a:rPr>
                        <a:t>TRUE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6934" y="8800209"/>
          <a:ext cx="17189450" cy="19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/>
                <a:gridCol w="2233295"/>
                <a:gridCol w="1118870"/>
                <a:gridCol w="1118870"/>
                <a:gridCol w="1118870"/>
                <a:gridCol w="1142365"/>
                <a:gridCol w="1142365"/>
                <a:gridCol w="1118870"/>
                <a:gridCol w="1177290"/>
                <a:gridCol w="1177290"/>
                <a:gridCol w="843280"/>
              </a:tblGrid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1465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COGS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Depreciation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Depreciation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1765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99.0%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46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98.7%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707" y="787400"/>
            <a:ext cx="15989935" cy="33020"/>
            <a:chOff x="567707" y="787400"/>
            <a:chExt cx="15989935" cy="33020"/>
          </a:xfrm>
        </p:grpSpPr>
        <p:sp>
          <p:nvSpPr>
            <p:cNvPr id="3" name="object 3"/>
            <p:cNvSpPr/>
            <p:nvPr/>
          </p:nvSpPr>
          <p:spPr>
            <a:xfrm>
              <a:off x="567707" y="820099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7707" y="800100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5983" y="498886"/>
            <a:ext cx="32708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Valuation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DCF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56346" y="1076553"/>
            <a:ext cx="7415530" cy="0"/>
          </a:xfrm>
          <a:custGeom>
            <a:avLst/>
            <a:gdLst/>
            <a:ahLst/>
            <a:cxnLst/>
            <a:rect l="l" t="t" r="r" b="b"/>
            <a:pathLst>
              <a:path w="7415530" h="0">
                <a:moveTo>
                  <a:pt x="6501231" y="0"/>
                </a:moveTo>
                <a:lnTo>
                  <a:pt x="7415377" y="0"/>
                </a:lnTo>
              </a:path>
              <a:path w="7415530" h="0">
                <a:moveTo>
                  <a:pt x="5587085" y="0"/>
                </a:moveTo>
                <a:lnTo>
                  <a:pt x="6501231" y="0"/>
                </a:lnTo>
              </a:path>
              <a:path w="7415530" h="0">
                <a:moveTo>
                  <a:pt x="4672939" y="0"/>
                </a:moveTo>
                <a:lnTo>
                  <a:pt x="5587085" y="0"/>
                </a:lnTo>
              </a:path>
              <a:path w="7415530" h="0">
                <a:moveTo>
                  <a:pt x="3758793" y="0"/>
                </a:moveTo>
                <a:lnTo>
                  <a:pt x="4672939" y="0"/>
                </a:lnTo>
              </a:path>
              <a:path w="7415530" h="0">
                <a:moveTo>
                  <a:pt x="2844584" y="0"/>
                </a:moveTo>
                <a:lnTo>
                  <a:pt x="3758793" y="0"/>
                </a:lnTo>
              </a:path>
              <a:path w="7415530" h="0">
                <a:moveTo>
                  <a:pt x="0" y="0"/>
                </a:moveTo>
                <a:lnTo>
                  <a:pt x="284458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5082" y="8487244"/>
          <a:ext cx="7399655" cy="22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4570"/>
                <a:gridCol w="933450"/>
                <a:gridCol w="2844164"/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50"/>
                        </a:spcBef>
                        <a:tabLst>
                          <a:tab pos="2834640" algn="l"/>
                        </a:tabLst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Fair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Share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128.46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Buy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9.57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5082" y="1076553"/>
          <a:ext cx="16643350" cy="7850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2230"/>
                <a:gridCol w="942340"/>
                <a:gridCol w="933450"/>
                <a:gridCol w="1062354"/>
                <a:gridCol w="932179"/>
                <a:gridCol w="849629"/>
                <a:gridCol w="1828165"/>
                <a:gridCol w="2393950"/>
                <a:gridCol w="1364615"/>
                <a:gridCol w="914400"/>
                <a:gridCol w="914400"/>
                <a:gridCol w="914400"/>
                <a:gridCol w="915034"/>
              </a:tblGrid>
              <a:tr h="2362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WACC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Assumptions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748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2026F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2027F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2028F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2029F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2030F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Interest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Share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Price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266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Shares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Outstanding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Debt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Cap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r" marR="20193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25553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25553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25553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25553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25553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RFR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Interest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Bearing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Debt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6695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1,142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637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Beta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Capitalization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193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26696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26444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26190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25935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25740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Equity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Premium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Terminal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Growth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2004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Equity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R-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114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Weight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Debt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Weight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Equity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 t-bonds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320040">
                        <a:lnSpc>
                          <a:spcPts val="1610"/>
                        </a:lnSpc>
                        <a:spcBef>
                          <a:spcPts val="70"/>
                        </a:spcBef>
                      </a:pPr>
                      <a:r>
                        <a:rPr dirty="0" sz="1400" spc="-25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WACC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EGP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inf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r" marR="27114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inf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r" marR="320040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/>
                </a:tc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55"/>
                        </a:spcBef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Income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Valuation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DCF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EBIT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5,920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6,573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7,019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7,450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7,856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Buy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after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 algn="r" marR="22669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86.23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Tax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Hold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until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2266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73.45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NOPAT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4,588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5,094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5,440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5,774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6,089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Cash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Items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343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371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356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376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95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Change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WC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(198)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(71)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(60)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(54)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(55)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CAPEX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(623)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(254)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(272)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(288)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(304)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Free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Flow</a:t>
                      </a:r>
                      <a:r>
                        <a:rPr dirty="0" sz="1400" spc="-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(FCF)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529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4,110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5,124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5,478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23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5,788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6,107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Period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6129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PV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FCF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3303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3400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3177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2973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2738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TV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"GGM"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51715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PV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ts val="161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23190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Enterprice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38782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61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0.597968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Add: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Cash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7,053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Less: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Debt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1,142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7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Less: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Controlling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Interest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ts val="1610"/>
                        </a:lnSpc>
                        <a:spcBef>
                          <a:spcPts val="17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Equity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ts val="1610"/>
                        </a:lnSpc>
                        <a:spcBef>
                          <a:spcPts val="5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44693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1615"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  <a:spcBef>
                          <a:spcPts val="5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Upside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ts val="1595"/>
                        </a:lnSpc>
                        <a:spcBef>
                          <a:spcPts val="5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75%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Valuation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Multiples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Methods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3262" y="1152578"/>
            <a:ext cx="17021810" cy="0"/>
          </a:xfrm>
          <a:custGeom>
            <a:avLst/>
            <a:gdLst/>
            <a:ahLst/>
            <a:cxnLst/>
            <a:rect l="l" t="t" r="r" b="b"/>
            <a:pathLst>
              <a:path w="17021810" h="0">
                <a:moveTo>
                  <a:pt x="14851380" y="0"/>
                </a:moveTo>
                <a:lnTo>
                  <a:pt x="17021429" y="0"/>
                </a:lnTo>
              </a:path>
              <a:path w="17021810" h="0">
                <a:moveTo>
                  <a:pt x="12681343" y="0"/>
                </a:moveTo>
                <a:lnTo>
                  <a:pt x="14851380" y="0"/>
                </a:lnTo>
              </a:path>
              <a:path w="17021810" h="0">
                <a:moveTo>
                  <a:pt x="10409555" y="0"/>
                </a:moveTo>
                <a:lnTo>
                  <a:pt x="12681343" y="0"/>
                </a:lnTo>
              </a:path>
              <a:path w="17021810" h="0">
                <a:moveTo>
                  <a:pt x="8239480" y="0"/>
                </a:moveTo>
                <a:lnTo>
                  <a:pt x="10409555" y="0"/>
                </a:lnTo>
              </a:path>
              <a:path w="17021810" h="0">
                <a:moveTo>
                  <a:pt x="6205042" y="0"/>
                </a:moveTo>
                <a:lnTo>
                  <a:pt x="8239480" y="0"/>
                </a:lnTo>
              </a:path>
              <a:path w="17021810" h="0">
                <a:moveTo>
                  <a:pt x="0" y="0"/>
                </a:moveTo>
                <a:lnTo>
                  <a:pt x="6205042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3262" y="3199945"/>
          <a:ext cx="1709801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9759"/>
                <a:gridCol w="2170429"/>
                <a:gridCol w="6612255"/>
              </a:tblGrid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  <a:tabLst>
                          <a:tab pos="7094855" algn="l"/>
                        </a:tabLst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P/E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Fair</a:t>
                      </a:r>
                      <a:r>
                        <a:rPr dirty="0" sz="12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2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Share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Buy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3262" y="7102668"/>
          <a:ext cx="17098010" cy="371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9759"/>
                <a:gridCol w="2170429"/>
                <a:gridCol w="6612255"/>
              </a:tblGrid>
              <a:tr h="371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365"/>
                        </a:lnSpc>
                        <a:tabLst>
                          <a:tab pos="7985125" algn="l"/>
                        </a:tabLst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EV/EBITDA</a:t>
                      </a:r>
                      <a:r>
                        <a:rPr dirty="0" sz="1200" spc="-3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Fair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Share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Buy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3262" y="980921"/>
          <a:ext cx="17107535" cy="810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245"/>
                <a:gridCol w="2814320"/>
                <a:gridCol w="636270"/>
                <a:gridCol w="1374140"/>
                <a:gridCol w="821690"/>
                <a:gridCol w="644525"/>
                <a:gridCol w="1638300"/>
                <a:gridCol w="634365"/>
                <a:gridCol w="1528445"/>
                <a:gridCol w="652780"/>
                <a:gridCol w="2171065"/>
              </a:tblGrid>
              <a:tr h="366395">
                <a:tc>
                  <a:txBody>
                    <a:bodyPr/>
                    <a:lstStyle/>
                    <a:p>
                      <a:pPr>
                        <a:lnSpc>
                          <a:spcPts val="1325"/>
                        </a:lnSpc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Multiples</a:t>
                      </a:r>
                      <a:r>
                        <a:rPr dirty="0" sz="1200" spc="-7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365"/>
                        </a:lnSpc>
                        <a:spcBef>
                          <a:spcPts val="95"/>
                        </a:spcBef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P/E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Ratio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ts val="1415"/>
                        </a:lnSpc>
                        <a:spcBef>
                          <a:spcPts val="1370"/>
                        </a:spcBef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MCQE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ts val="1415"/>
                        </a:lnSpc>
                        <a:spcBef>
                          <a:spcPts val="1370"/>
                        </a:spcBef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SCEM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265">
                        <a:lnSpc>
                          <a:spcPts val="1415"/>
                        </a:lnSpc>
                        <a:spcBef>
                          <a:spcPts val="1370"/>
                        </a:spcBef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SVCE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8920">
                        <a:lnSpc>
                          <a:spcPts val="1415"/>
                        </a:lnSpc>
                        <a:spcBef>
                          <a:spcPts val="1370"/>
                        </a:spcBef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MBSC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  <a:spcBef>
                          <a:spcPts val="1370"/>
                        </a:spcBef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NCEM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39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Profit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4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2600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14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3217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82980">
                        <a:lnSpc>
                          <a:spcPts val="141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280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65430">
                        <a:lnSpc>
                          <a:spcPts val="14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3456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No.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Shares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96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838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482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012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Earnings per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Share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143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8070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012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66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Share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235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092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418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P/E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1435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0925"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92430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4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Median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P/E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0165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No.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Shares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348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Profit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"NTM"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4670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EPS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Upside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54%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EV/EBITDA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ts val="1365"/>
                        </a:lnSpc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MCQE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ts val="1365"/>
                        </a:lnSpc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SCEM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8369">
                        <a:lnSpc>
                          <a:spcPts val="1365"/>
                        </a:lnSpc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SVCE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0820">
                        <a:lnSpc>
                          <a:spcPts val="1365"/>
                        </a:lnSpc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MBSC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dirty="0" sz="12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NCEM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Share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4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235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4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4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4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418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No.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Shares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558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96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482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Cap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22560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26156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5947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21970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Long-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2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Debt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558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1142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Short-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2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Debt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206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50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1232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166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Interest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Bearing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Debt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162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2373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235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Cash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1672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4762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579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Enterprice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21180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21555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8265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21625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EBITDA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4210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3675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246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365"/>
                        </a:lnSpc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2950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EV/EBITDA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0489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65"/>
                        </a:lnSpc>
                      </a:pPr>
                      <a:r>
                        <a:rPr dirty="0" sz="1200" spc="-5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4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Median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EV/EBITDA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110489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16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EBITDA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"NTM"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6,200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Enterprice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40906.9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Net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Debt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1,142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Shareholder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Equity Fair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36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39,765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36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ARCC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No.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Shares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365"/>
                        </a:lnSpc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348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Upside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56%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45"/>
                        </a:lnSpc>
                        <a:spcBef>
                          <a:spcPts val="1165"/>
                        </a:spcBef>
                      </a:pP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Fair</a:t>
                      </a:r>
                      <a:r>
                        <a:rPr dirty="0" sz="11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9925">
                        <a:lnSpc>
                          <a:spcPts val="1245"/>
                        </a:lnSpc>
                        <a:spcBef>
                          <a:spcPts val="1165"/>
                        </a:spcBef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Weights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45"/>
                        </a:lnSpc>
                        <a:spcBef>
                          <a:spcPts val="1165"/>
                        </a:spcBef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Weighted</a:t>
                      </a:r>
                      <a:r>
                        <a:rPr dirty="0" sz="1100" spc="-1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AVG</a:t>
                      </a: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FV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DCF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128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70%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90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P/E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113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15%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2085">
                <a:tc>
                  <a:txBody>
                    <a:bodyPr/>
                    <a:lstStyle/>
                    <a:p>
                      <a:pPr>
                        <a:lnSpc>
                          <a:spcPts val="1245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EV/EBITDA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ts val="1245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114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15%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  <a:spcBef>
                          <a:spcPts val="1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ts val="1245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  <a:spcBef>
                          <a:spcPts val="120"/>
                        </a:spcBef>
                      </a:pPr>
                      <a:r>
                        <a:rPr dirty="0" sz="1100" spc="-20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  <a:spcBef>
                          <a:spcPts val="120"/>
                        </a:spcBef>
                      </a:pPr>
                      <a:r>
                        <a:rPr dirty="0" sz="11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124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0830">
                        <a:lnSpc>
                          <a:spcPts val="1365"/>
                        </a:lnSpc>
                      </a:pPr>
                      <a:r>
                        <a:rPr dirty="0" sz="1200" spc="-25" b="1">
                          <a:solidFill>
                            <a:srgbClr val="1F3763"/>
                          </a:solidFill>
                          <a:latin typeface="Arial"/>
                          <a:cs typeface="Arial"/>
                        </a:rPr>
                        <a:t>Buy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ts val="135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Upside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5680">
                        <a:lnSpc>
                          <a:spcPts val="1235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69%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Materiality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Weighting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508" y="1225048"/>
          <a:ext cx="16922750" cy="774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/>
                <a:gridCol w="669925"/>
                <a:gridCol w="4036695"/>
                <a:gridCol w="2222500"/>
                <a:gridCol w="1439545"/>
                <a:gridCol w="1158240"/>
                <a:gridCol w="4742180"/>
                <a:gridCol w="1139825"/>
              </a:tblGrid>
              <a:tr h="467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Sub-Pillar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404495" marR="407670" indent="2813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Stakeholders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(Y)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220979" marR="95250" indent="-1289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Importance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for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Industry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0165" marR="43180" indent="882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Materiality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 (I x 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R)^p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93239" marR="17862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within Pillar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273685" marR="192405" indent="-749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Effective Weight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Thermal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Substitution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Rate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(TSR)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Clinker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Factor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(Clinker-to-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Cement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Ratio)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Renewable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Electricity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Capacity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6.45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6.7%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2.5%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₂</a:t>
                      </a:r>
                      <a:r>
                        <a:rPr dirty="0" sz="1400" spc="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ton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cementitious</a:t>
                      </a:r>
                      <a:r>
                        <a:rPr dirty="0"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product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Scope 1</a:t>
                      </a:r>
                      <a:r>
                        <a:rPr dirty="0"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₂</a:t>
                      </a:r>
                      <a:r>
                        <a:rPr dirty="0" sz="1400" spc="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Reduction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Execution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11.7%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Low-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Carbon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Portfolio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(SCMs)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9.46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9.9%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3.6%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Emissions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Auditing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8.00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8.4%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3.1%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Long-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Decarbonization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Roadmap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9.46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9.9%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3.6%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Dust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Filtration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Technology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8.00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8.4%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3.1%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Water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Conservation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5.20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5.4%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2.0%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Quarry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Rehabilitation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1.68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1.8%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0.6%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E3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610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EMS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Auditing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2344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1185" marR="3175">
                        <a:lnSpc>
                          <a:spcPts val="1610"/>
                        </a:lnSpc>
                      </a:pP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2.83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3.0%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7030">
                        <a:lnSpc>
                          <a:spcPts val="1610"/>
                        </a:lnSpc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1.1%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06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58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Pillar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Environmental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10"/>
                        </a:lnSpc>
                        <a:spcBef>
                          <a:spcPts val="58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95.79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0">
                          <a:latin typeface="Calibri"/>
                          <a:cs typeface="Calibri"/>
                        </a:rPr>
                        <a:t>36.6%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Materiality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Weighting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508" y="1118166"/>
          <a:ext cx="16922750" cy="787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/>
                <a:gridCol w="669925"/>
                <a:gridCol w="4036695"/>
                <a:gridCol w="2222500"/>
                <a:gridCol w="1439545"/>
                <a:gridCol w="1158240"/>
                <a:gridCol w="4742180"/>
                <a:gridCol w="1139825"/>
              </a:tblGrid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404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Lagging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Safety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Performance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(LTIFR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Fatalities)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9539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11.18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15.9%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4.3%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Safety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Systems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(ISO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45001)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11.4%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3.1%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Hazard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Controls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Training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8.00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11.4%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3.1%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Executive</a:t>
                      </a:r>
                      <a:r>
                        <a:rPr dirty="0" sz="16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Accountability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Strategic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Community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Investment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(CSR)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3.83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Stakeholder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Engagement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Grievance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Employment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Prioritization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3.83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Community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Health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Infrastructure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6.45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9.2%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Employee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Training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Development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Labor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Relations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Collective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Bargaining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Diversity,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Equity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Inclusion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(DEI)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4.0%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1.1%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855"/>
                        </a:lnSpc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S3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776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Talent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Retention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Performance Management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9539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5200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73405" marR="3175">
                        <a:lnSpc>
                          <a:spcPts val="1855"/>
                        </a:lnSpc>
                      </a:pPr>
                      <a:r>
                        <a:rPr dirty="0" sz="16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5.20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7.4%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ts val="1855"/>
                        </a:lnSpc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2.0%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55"/>
                        </a:lnSpc>
                        <a:spcBef>
                          <a:spcPts val="52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Pillar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Social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70.10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15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26.8%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Materiality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Weighting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3606" y="1118166"/>
          <a:ext cx="16941800" cy="769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3195"/>
                <a:gridCol w="671194"/>
                <a:gridCol w="4045585"/>
                <a:gridCol w="2217420"/>
                <a:gridCol w="1432559"/>
                <a:gridCol w="1160145"/>
                <a:gridCol w="4752340"/>
                <a:gridCol w="1141730"/>
              </a:tblGrid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Independent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Directors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9.46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9.9%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3.6%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Board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Diversity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CEO</a:t>
                      </a:r>
                      <a:r>
                        <a:rPr dirty="0" sz="18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= Chair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Duality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Director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Tenure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Staggered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Board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Entrenchment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Controlling</a:t>
                      </a:r>
                      <a:r>
                        <a:rPr dirty="0" sz="18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Shareholder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11.18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11.7%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4.3%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ESG-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Linked</a:t>
                      </a:r>
                      <a:r>
                        <a:rPr dirty="0" sz="18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Metrics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Pay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Transparency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Auditor</a:t>
                      </a:r>
                      <a:r>
                        <a:rPr dirty="0"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Tenure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5.4%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2.0%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Material</a:t>
                      </a:r>
                      <a:r>
                        <a:rPr dirty="0"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Weakness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11.18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11.7%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4.3%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Whistleblowing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5.0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11.18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11.7%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4.3%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25" b="1">
                          <a:latin typeface="Arial"/>
                          <a:cs typeface="Arial"/>
                        </a:rPr>
                        <a:t>G3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Anti-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Bribery</a:t>
                      </a:r>
                      <a:r>
                        <a:rPr dirty="0" sz="18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Training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4.0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8.4%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0515">
                        <a:lnSpc>
                          <a:spcPts val="2100"/>
                        </a:lnSpc>
                      </a:pPr>
                      <a:r>
                        <a:rPr dirty="0" sz="1800" spc="-20">
                          <a:latin typeface="Arial"/>
                          <a:cs typeface="Arial"/>
                        </a:rPr>
                        <a:t>3.1%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Pillar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Governance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95.78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10540">
                        <a:lnSpc>
                          <a:spcPts val="227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36.6%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GRAND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MATERIALITY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261.68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758649" y="8867223"/>
            <a:ext cx="34569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85858"/>
                </a:solidFill>
                <a:latin typeface="Arial"/>
                <a:cs typeface="Arial"/>
              </a:rPr>
              <a:t>Check:</a:t>
            </a:r>
            <a:r>
              <a:rPr dirty="0" sz="1600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858"/>
                </a:solidFill>
                <a:latin typeface="Arial"/>
                <a:cs typeface="Arial"/>
              </a:rPr>
              <a:t>effective</a:t>
            </a:r>
            <a:r>
              <a:rPr dirty="0" sz="16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858"/>
                </a:solidFill>
                <a:latin typeface="Arial"/>
                <a:cs typeface="Arial"/>
              </a:rPr>
              <a:t>weights</a:t>
            </a:r>
            <a:r>
              <a:rPr dirty="0" sz="16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858"/>
                </a:solidFill>
                <a:latin typeface="Arial"/>
                <a:cs typeface="Arial"/>
              </a:rPr>
              <a:t>sum</a:t>
            </a:r>
            <a:r>
              <a:rPr dirty="0" sz="1600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16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Arial"/>
                <a:cs typeface="Arial"/>
              </a:rPr>
              <a:t>100%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97154" y="8867223"/>
            <a:ext cx="7143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585858"/>
                </a:solidFill>
                <a:latin typeface="Arial"/>
                <a:cs typeface="Arial"/>
              </a:rPr>
              <a:t>100.0%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Scorecard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(ARCC)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059255"/>
            <a:ext cx="16840200" cy="195580"/>
          </a:xfrm>
          <a:custGeom>
            <a:avLst/>
            <a:gdLst/>
            <a:ahLst/>
            <a:cxnLst/>
            <a:rect l="l" t="t" r="r" b="b"/>
            <a:pathLst>
              <a:path w="16840200" h="195580">
                <a:moveTo>
                  <a:pt x="9839884" y="0"/>
                </a:moveTo>
                <a:lnTo>
                  <a:pt x="9839884" y="0"/>
                </a:lnTo>
                <a:lnTo>
                  <a:pt x="0" y="0"/>
                </a:lnTo>
                <a:lnTo>
                  <a:pt x="0" y="195478"/>
                </a:lnTo>
                <a:lnTo>
                  <a:pt x="9839884" y="195478"/>
                </a:lnTo>
                <a:lnTo>
                  <a:pt x="9839884" y="0"/>
                </a:lnTo>
                <a:close/>
              </a:path>
              <a:path w="16840200" h="195580">
                <a:moveTo>
                  <a:pt x="15467572" y="0"/>
                </a:moveTo>
                <a:lnTo>
                  <a:pt x="14094981" y="0"/>
                </a:lnTo>
                <a:lnTo>
                  <a:pt x="11641442" y="0"/>
                </a:lnTo>
                <a:lnTo>
                  <a:pt x="9839896" y="0"/>
                </a:lnTo>
                <a:lnTo>
                  <a:pt x="9839896" y="195478"/>
                </a:lnTo>
                <a:lnTo>
                  <a:pt x="11641442" y="195478"/>
                </a:lnTo>
                <a:lnTo>
                  <a:pt x="14094968" y="195478"/>
                </a:lnTo>
                <a:lnTo>
                  <a:pt x="15467572" y="195478"/>
                </a:lnTo>
                <a:lnTo>
                  <a:pt x="15467572" y="0"/>
                </a:lnTo>
                <a:close/>
              </a:path>
              <a:path w="16840200" h="195580">
                <a:moveTo>
                  <a:pt x="16840188" y="0"/>
                </a:moveTo>
                <a:lnTo>
                  <a:pt x="15467584" y="0"/>
                </a:lnTo>
                <a:lnTo>
                  <a:pt x="15467584" y="195478"/>
                </a:lnTo>
                <a:lnTo>
                  <a:pt x="16840188" y="195478"/>
                </a:lnTo>
                <a:lnTo>
                  <a:pt x="16840188" y="0"/>
                </a:lnTo>
                <a:close/>
              </a:path>
            </a:pathLst>
          </a:custGeom>
          <a:solidFill>
            <a:srgbClr val="1F376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62000" y="1100198"/>
          <a:ext cx="16916400" cy="8042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8285"/>
                <a:gridCol w="3063875"/>
                <a:gridCol w="3976370"/>
                <a:gridCol w="1280795"/>
                <a:gridCol w="1849120"/>
                <a:gridCol w="2315209"/>
                <a:gridCol w="1536700"/>
                <a:gridCol w="1299209"/>
              </a:tblGrid>
              <a:tr h="314325">
                <a:tc>
                  <a:txBody>
                    <a:bodyPr/>
                    <a:lstStyle/>
                    <a:p>
                      <a:pPr>
                        <a:lnSpc>
                          <a:spcPts val="1140"/>
                        </a:lnSpc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Scorecard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524000">
                        <a:lnSpc>
                          <a:spcPts val="1370"/>
                        </a:lnSpc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9E0F1"/>
                    </a:solidFill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Pillars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60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05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Theme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60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 Issues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Weights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Risk-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5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5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Issue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Opportunity-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5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5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Issue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60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05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Score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60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AVG</a:t>
                      </a:r>
                      <a:r>
                        <a:rPr dirty="0" sz="105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Score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Environmental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21334">
                        <a:lnSpc>
                          <a:spcPts val="1160"/>
                        </a:lnSpc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37%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9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Fuels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9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Thermal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Substitution</a:t>
                      </a:r>
                      <a:r>
                        <a:rPr dirty="0" sz="10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Rate</a:t>
                      </a:r>
                      <a:r>
                        <a:rPr dirty="0" sz="10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(TSR)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Factor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(Clinker-to-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Ratio)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Renewable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0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Capacity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CO₂ / ton of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cementitious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product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GHG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decarbonization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Scope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CO₂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Reduction Execution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0.32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Low-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(SCMs)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Auditing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Long-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Term</a:t>
                      </a:r>
                      <a:r>
                        <a:rPr dirty="0" sz="10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Decarbonization</a:t>
                      </a:r>
                      <a:r>
                        <a:rPr dirty="0" sz="10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Roadmap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Air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quality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Scarcity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Dust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Filtration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Technology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Conservation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Quarry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Rehabilitation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0.05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EMS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Auditing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0.09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Social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21334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27.1%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Occupational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health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safety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(OHS)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Lagging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Safety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(LTIFR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Fatalities)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0.35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Safety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Systems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(ISO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45001)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Hazard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Controls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Training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Executive</a:t>
                      </a:r>
                      <a:r>
                        <a:rPr dirty="0" sz="10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Accountability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Community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impact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social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license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Strategic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Community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(CSR)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9.0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Local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Stakeholder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Engagement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Grievance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Local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Employment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Prioritization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Community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Health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Infrastructure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Labor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Relations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Human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Capital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Development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4.9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Labor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Relations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Collective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Bargaining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4.2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24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Diversity,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Equity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Inclusion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(DEI)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24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24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24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4.6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24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0.07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24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Talent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Retention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Management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4.9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6.4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Governance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21334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36.9%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160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105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Deducted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ts val="1160"/>
                        </a:lnSpc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Score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160"/>
                        </a:lnSpc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Max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Corporate</a:t>
                      </a:r>
                      <a:r>
                        <a:rPr dirty="0" sz="10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Governance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A)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Board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(58)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Independent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Directors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3.6%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7.24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Board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Diversity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10.00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CEO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Chair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Duality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10.00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0.31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Avg.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Director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Tenure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7.24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B)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Ownership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(29)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Staggered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Board /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Entrenchment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7.24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Controlling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Shareholder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4.48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14.5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C)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Pay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(22)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ESG-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Linked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Metrics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0.03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Pay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Transparency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4.55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0.09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D)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0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(17)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Tenure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2.0%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7.65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0.15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070"/>
                        </a:lnSpc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Weakness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07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10.00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0.43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8.5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 i="1">
                          <a:latin typeface="Calibri"/>
                          <a:cs typeface="Calibri"/>
                        </a:rPr>
                        <a:t>Total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60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29.5%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6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6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6.20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6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Corporate</a:t>
                      </a:r>
                      <a:r>
                        <a:rPr dirty="0" sz="10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latin typeface="Calibri"/>
                          <a:cs typeface="Calibri"/>
                        </a:rPr>
                        <a:t>Behaviour</a:t>
                      </a:r>
                      <a:r>
                        <a:rPr dirty="0" sz="10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 b="1">
                          <a:latin typeface="Calibri"/>
                          <a:cs typeface="Calibri"/>
                        </a:rPr>
                        <a:t>(59)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Whistleblowing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4.3%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8.47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0.36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19.7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Anti-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Bribery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Training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3.1%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7.97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0.25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19.7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dirty="0" sz="1050" spc="-10" b="1" i="1">
                          <a:latin typeface="Calibri"/>
                          <a:cs typeface="Calibri"/>
                        </a:rPr>
                        <a:t>Total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0700">
                        <a:lnSpc>
                          <a:spcPts val="116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7.4%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Calibri"/>
                          <a:cs typeface="Calibri"/>
                        </a:rPr>
                        <a:t>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60"/>
                        </a:lnSpc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8.60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6040">
                        <a:lnSpc>
                          <a:spcPts val="1160"/>
                        </a:lnSpc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50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Scorecard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Peers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Con’t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197" y="270856"/>
            <a:ext cx="17560290" cy="984885"/>
            <a:chOff x="457197" y="270856"/>
            <a:chExt cx="17560290" cy="984885"/>
          </a:xfrm>
        </p:grpSpPr>
        <p:sp>
          <p:nvSpPr>
            <p:cNvPr id="7" name="object 7"/>
            <p:cNvSpPr/>
            <p:nvPr/>
          </p:nvSpPr>
          <p:spPr>
            <a:xfrm>
              <a:off x="457187" y="1059255"/>
              <a:ext cx="17373600" cy="196215"/>
            </a:xfrm>
            <a:custGeom>
              <a:avLst/>
              <a:gdLst/>
              <a:ahLst/>
              <a:cxnLst/>
              <a:rect l="l" t="t" r="r" b="b"/>
              <a:pathLst>
                <a:path w="17373600" h="196215">
                  <a:moveTo>
                    <a:pt x="1199870" y="0"/>
                  </a:moveTo>
                  <a:lnTo>
                    <a:pt x="0" y="0"/>
                  </a:lnTo>
                  <a:lnTo>
                    <a:pt x="0" y="196138"/>
                  </a:lnTo>
                  <a:lnTo>
                    <a:pt x="1199870" y="196138"/>
                  </a:lnTo>
                  <a:lnTo>
                    <a:pt x="1199870" y="0"/>
                  </a:lnTo>
                  <a:close/>
                </a:path>
                <a:path w="17373600" h="196215">
                  <a:moveTo>
                    <a:pt x="3777996" y="0"/>
                  </a:moveTo>
                  <a:lnTo>
                    <a:pt x="2857246" y="0"/>
                  </a:lnTo>
                  <a:lnTo>
                    <a:pt x="1199883" y="0"/>
                  </a:lnTo>
                  <a:lnTo>
                    <a:pt x="1199883" y="196138"/>
                  </a:lnTo>
                  <a:lnTo>
                    <a:pt x="2857233" y="196138"/>
                  </a:lnTo>
                  <a:lnTo>
                    <a:pt x="3777996" y="196138"/>
                  </a:lnTo>
                  <a:lnTo>
                    <a:pt x="3777996" y="0"/>
                  </a:lnTo>
                  <a:close/>
                </a:path>
                <a:path w="17373600" h="196215">
                  <a:moveTo>
                    <a:pt x="4295927" y="0"/>
                  </a:moveTo>
                  <a:lnTo>
                    <a:pt x="3778008" y="0"/>
                  </a:lnTo>
                  <a:lnTo>
                    <a:pt x="3778008" y="196138"/>
                  </a:lnTo>
                  <a:lnTo>
                    <a:pt x="4295927" y="196138"/>
                  </a:lnTo>
                  <a:lnTo>
                    <a:pt x="4295927" y="0"/>
                  </a:lnTo>
                  <a:close/>
                </a:path>
                <a:path w="17373600" h="196215">
                  <a:moveTo>
                    <a:pt x="7153161" y="0"/>
                  </a:moveTo>
                  <a:lnTo>
                    <a:pt x="5495798" y="0"/>
                  </a:lnTo>
                  <a:lnTo>
                    <a:pt x="4295940" y="0"/>
                  </a:lnTo>
                  <a:lnTo>
                    <a:pt x="4295940" y="196138"/>
                  </a:lnTo>
                  <a:lnTo>
                    <a:pt x="5495798" y="196138"/>
                  </a:lnTo>
                  <a:lnTo>
                    <a:pt x="7153161" y="196138"/>
                  </a:lnTo>
                  <a:lnTo>
                    <a:pt x="7153161" y="0"/>
                  </a:lnTo>
                  <a:close/>
                </a:path>
                <a:path w="17373600" h="196215">
                  <a:moveTo>
                    <a:pt x="8073923" y="0"/>
                  </a:moveTo>
                  <a:lnTo>
                    <a:pt x="7153173" y="0"/>
                  </a:lnTo>
                  <a:lnTo>
                    <a:pt x="7153173" y="196138"/>
                  </a:lnTo>
                  <a:lnTo>
                    <a:pt x="8073923" y="196138"/>
                  </a:lnTo>
                  <a:lnTo>
                    <a:pt x="8073923" y="0"/>
                  </a:lnTo>
                  <a:close/>
                </a:path>
                <a:path w="17373600" h="196215">
                  <a:moveTo>
                    <a:pt x="9791713" y="0"/>
                  </a:moveTo>
                  <a:lnTo>
                    <a:pt x="8591855" y="0"/>
                  </a:lnTo>
                  <a:lnTo>
                    <a:pt x="8073936" y="0"/>
                  </a:lnTo>
                  <a:lnTo>
                    <a:pt x="8073936" y="196138"/>
                  </a:lnTo>
                  <a:lnTo>
                    <a:pt x="8591855" y="196138"/>
                  </a:lnTo>
                  <a:lnTo>
                    <a:pt x="9791713" y="196138"/>
                  </a:lnTo>
                  <a:lnTo>
                    <a:pt x="9791713" y="0"/>
                  </a:lnTo>
                  <a:close/>
                </a:path>
                <a:path w="17373600" h="196215">
                  <a:moveTo>
                    <a:pt x="11449088" y="0"/>
                  </a:moveTo>
                  <a:lnTo>
                    <a:pt x="9791725" y="0"/>
                  </a:lnTo>
                  <a:lnTo>
                    <a:pt x="9791725" y="196138"/>
                  </a:lnTo>
                  <a:lnTo>
                    <a:pt x="11449088" y="196138"/>
                  </a:lnTo>
                  <a:lnTo>
                    <a:pt x="11449088" y="0"/>
                  </a:lnTo>
                  <a:close/>
                </a:path>
                <a:path w="17373600" h="196215">
                  <a:moveTo>
                    <a:pt x="12982689" y="0"/>
                  </a:moveTo>
                  <a:lnTo>
                    <a:pt x="12369851" y="0"/>
                  </a:lnTo>
                  <a:lnTo>
                    <a:pt x="11449101" y="0"/>
                  </a:lnTo>
                  <a:lnTo>
                    <a:pt x="11449101" y="196138"/>
                  </a:lnTo>
                  <a:lnTo>
                    <a:pt x="12369813" y="196138"/>
                  </a:lnTo>
                  <a:lnTo>
                    <a:pt x="12982689" y="196138"/>
                  </a:lnTo>
                  <a:lnTo>
                    <a:pt x="12982689" y="0"/>
                  </a:lnTo>
                  <a:close/>
                </a:path>
                <a:path w="17373600" h="196215">
                  <a:moveTo>
                    <a:pt x="14182573" y="0"/>
                  </a:moveTo>
                  <a:lnTo>
                    <a:pt x="12982715" y="0"/>
                  </a:lnTo>
                  <a:lnTo>
                    <a:pt x="12982715" y="196138"/>
                  </a:lnTo>
                  <a:lnTo>
                    <a:pt x="14182573" y="196138"/>
                  </a:lnTo>
                  <a:lnTo>
                    <a:pt x="14182573" y="0"/>
                  </a:lnTo>
                  <a:close/>
                </a:path>
                <a:path w="17373600" h="196215">
                  <a:moveTo>
                    <a:pt x="17373588" y="0"/>
                  </a:moveTo>
                  <a:lnTo>
                    <a:pt x="16760711" y="0"/>
                  </a:lnTo>
                  <a:lnTo>
                    <a:pt x="15839974" y="0"/>
                  </a:lnTo>
                  <a:lnTo>
                    <a:pt x="14182611" y="0"/>
                  </a:lnTo>
                  <a:lnTo>
                    <a:pt x="14182611" y="196138"/>
                  </a:lnTo>
                  <a:lnTo>
                    <a:pt x="15839961" y="196138"/>
                  </a:lnTo>
                  <a:lnTo>
                    <a:pt x="16760711" y="196138"/>
                  </a:lnTo>
                  <a:lnTo>
                    <a:pt x="17373588" y="196138"/>
                  </a:lnTo>
                  <a:lnTo>
                    <a:pt x="17373588" y="0"/>
                  </a:lnTo>
                  <a:close/>
                </a:path>
              </a:pathLst>
            </a:custGeom>
            <a:solidFill>
              <a:srgbClr val="1F37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25289" y="270856"/>
              <a:ext cx="1091877" cy="963206"/>
            </a:xfrm>
            <a:prstGeom prst="rect">
              <a:avLst/>
            </a:prstGeom>
          </p:spPr>
        </p:pic>
      </p:grp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7197" y="1407794"/>
          <a:ext cx="17449800" cy="61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5775"/>
                <a:gridCol w="4295775"/>
                <a:gridCol w="4391025"/>
                <a:gridCol w="4391025"/>
              </a:tblGrid>
              <a:tr h="156845">
                <a:tc rowSpan="2"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MBSC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 marL="377761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AVG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 marR="48895">
                        <a:lnSpc>
                          <a:spcPts val="1165"/>
                        </a:lnSpc>
                        <a:tabLst>
                          <a:tab pos="3834129" algn="l"/>
                        </a:tabLst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Risk-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60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Opportunity-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 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10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SCEM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99A8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MCQE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647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51637C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919854">
                        <a:lnSpc>
                          <a:spcPts val="113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AVG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57150">
                        <a:lnSpc>
                          <a:spcPts val="1165"/>
                        </a:lnSpc>
                        <a:tabLst>
                          <a:tab pos="3891279" algn="l"/>
                          <a:tab pos="4352925" algn="l"/>
                        </a:tabLst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Risk-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60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Opportunity-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 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10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Risk-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54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Opportunity-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 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04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 Score</a:t>
                      </a:r>
                      <a:r>
                        <a:rPr dirty="0" sz="1000" spc="3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AVG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000" spc="4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Risk-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Issue</a:t>
                      </a:r>
                      <a:r>
                        <a:rPr dirty="0" sz="1000" spc="254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Opportunity-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based Key Issue</a:t>
                      </a:r>
                      <a:r>
                        <a:rPr dirty="0" sz="1000" spc="204" b="1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000" spc="3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AVG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CAD2D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684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7197" y="2054551"/>
          <a:ext cx="17449800" cy="706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960"/>
                <a:gridCol w="1221740"/>
                <a:gridCol w="1005839"/>
                <a:gridCol w="622935"/>
                <a:gridCol w="1447164"/>
                <a:gridCol w="1231900"/>
                <a:gridCol w="986790"/>
                <a:gridCol w="632459"/>
                <a:gridCol w="1447165"/>
                <a:gridCol w="1231900"/>
                <a:gridCol w="1010284"/>
                <a:gridCol w="680084"/>
                <a:gridCol w="1471294"/>
                <a:gridCol w="1231900"/>
                <a:gridCol w="1010284"/>
                <a:gridCol w="692150"/>
              </a:tblGrid>
              <a:tr h="141605">
                <a:tc>
                  <a:txBody>
                    <a:bodyPr/>
                    <a:lstStyle/>
                    <a:p>
                      <a:pPr algn="ctr" marR="250825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95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95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95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95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95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0.01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0035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1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1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1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1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1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10.0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589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 algn="ctr" marR="2508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10.0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540"/>
                </a:tc>
              </a:tr>
              <a:tr h="300355">
                <a:tc>
                  <a:txBody>
                    <a:bodyPr/>
                    <a:lstStyle/>
                    <a:p>
                      <a:pPr algn="ctr" marR="2508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324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27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9.5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1460">
                        <a:lnSpc>
                          <a:spcPts val="113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Deducted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97840">
                        <a:lnSpc>
                          <a:spcPts val="113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13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Max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13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Deducted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24815">
                        <a:lnSpc>
                          <a:spcPts val="113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ts val="113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Max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2890">
                        <a:lnSpc>
                          <a:spcPts val="113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Deducted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08000">
                        <a:lnSpc>
                          <a:spcPts val="113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13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Max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9395">
                        <a:lnSpc>
                          <a:spcPts val="113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Deducted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24815">
                        <a:lnSpc>
                          <a:spcPts val="113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Score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ts val="113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Max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BEDF0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5019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499109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4701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8064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61620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57834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3749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89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61620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54038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616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9080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3749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57834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616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8.62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634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8.62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8.62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6.55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0.91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0.91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6.36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0.59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7.65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43510">
                <a:tc>
                  <a:txBody>
                    <a:bodyPr/>
                    <a:lstStyle/>
                    <a:p>
                      <a:pPr algn="ctr" marR="250190">
                        <a:lnSpc>
                          <a:spcPts val="103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99109">
                        <a:lnSpc>
                          <a:spcPts val="103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3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03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3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3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3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03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3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08634">
                        <a:lnSpc>
                          <a:spcPts val="103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3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3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3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3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3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03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6.60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8125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8.20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5019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53086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5.42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4701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8064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6162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57834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9.49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3749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489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6162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54038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6.44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616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9080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3749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261620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algn="ctr" marR="250190">
                        <a:lnSpc>
                          <a:spcPts val="1070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4.92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70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9.49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5.93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070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07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1620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07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25019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0860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6.20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13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1620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ts val="113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7490">
                        <a:lnSpc>
                          <a:spcPts val="113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ts val="113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ts val="11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5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MSCI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IAS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Table</a:t>
            </a:r>
            <a:r>
              <a:rPr dirty="0" u="sng" sz="2000" spc="-2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Summary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7707" y="1807552"/>
            <a:ext cx="17298035" cy="300990"/>
          </a:xfrm>
          <a:prstGeom prst="rect">
            <a:avLst/>
          </a:prstGeom>
          <a:solidFill>
            <a:srgbClr val="1F3763"/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MSCI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Calculations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Summary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(Peer's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Comparison)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67707" y="2496045"/>
          <a:ext cx="17374235" cy="2420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939"/>
                <a:gridCol w="3893185"/>
                <a:gridCol w="2980054"/>
                <a:gridCol w="1788160"/>
                <a:gridCol w="1784350"/>
                <a:gridCol w="2110105"/>
                <a:gridCol w="1607184"/>
                <a:gridCol w="1458594"/>
              </a:tblGrid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Summary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WAKIS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378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latin typeface="Calibri"/>
                          <a:cs typeface="Calibri"/>
                        </a:rPr>
                        <a:t>TAS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286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latin typeface="Calibri"/>
                          <a:cs typeface="Calibri"/>
                        </a:rPr>
                        <a:t>FSP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latin typeface="Calibri"/>
                          <a:cs typeface="Calibri"/>
                        </a:rPr>
                        <a:t>IMIN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latin typeface="Calibri"/>
                          <a:cs typeface="Calibri"/>
                        </a:rPr>
                        <a:t>IMAX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781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latin typeface="Calibri"/>
                          <a:cs typeface="Calibri"/>
                        </a:rPr>
                        <a:t>IAS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Grade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</a:tr>
              <a:tr h="547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5" b="1">
                          <a:latin typeface="Calibri"/>
                          <a:cs typeface="Calibri"/>
                        </a:rPr>
                        <a:t>ACC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7.20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0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72%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3.383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89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8.2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AA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63195">
                    <a:solidFill>
                      <a:srgbClr val="EBEDF0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 b="1">
                          <a:latin typeface="Calibri"/>
                          <a:cs typeface="Calibri"/>
                        </a:rPr>
                        <a:t>MBSC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3.12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0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31%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3.383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241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0.00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CCC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 b="1">
                          <a:latin typeface="Calibri"/>
                          <a:cs typeface="Calibri"/>
                        </a:rPr>
                        <a:t>SCEM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7.19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0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72%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3.383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89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8.2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AA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 b="1">
                          <a:latin typeface="Calibri"/>
                          <a:cs typeface="Calibri"/>
                        </a:rPr>
                        <a:t>MCQE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4.42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0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44%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3.383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89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 b="1">
                          <a:latin typeface="Calibri"/>
                          <a:cs typeface="Calibri"/>
                        </a:rPr>
                        <a:t>SC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8.24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0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82%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3.383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0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AAA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67707" y="5307025"/>
            <a:ext cx="17298035" cy="306705"/>
          </a:xfrm>
          <a:prstGeom prst="rect">
            <a:avLst/>
          </a:prstGeom>
          <a:solidFill>
            <a:srgbClr val="1F3763"/>
          </a:solidFill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ESG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Pillar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Scores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(Peer's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Comparison)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67707" y="6001245"/>
          <a:ext cx="14554200" cy="154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939"/>
                <a:gridCol w="3776345"/>
                <a:gridCol w="3110865"/>
                <a:gridCol w="1795779"/>
                <a:gridCol w="1813560"/>
                <a:gridCol w="2303780"/>
              </a:tblGrid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Summary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ACC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924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MBSC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SCEM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22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MCQE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marL="9169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SC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Environmental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918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9906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6.5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291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3.2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8826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7.9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solidFill>
                      <a:srgbClr val="EBEDF0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Social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7.0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91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2.7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9906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6.8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29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4.1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8826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7.8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Governance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CAD2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7.40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91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4.80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10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8.10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29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5.75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marL="8178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9.10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EBEDF0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Pillars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Peers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Comparison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Charts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0" name="object 8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04722" y="2418867"/>
            <a:ext cx="5519420" cy="5249545"/>
            <a:chOff x="504722" y="2418867"/>
            <a:chExt cx="5519420" cy="5249545"/>
          </a:xfrm>
        </p:grpSpPr>
        <p:sp>
          <p:nvSpPr>
            <p:cNvPr id="14" name="object 14"/>
            <p:cNvSpPr/>
            <p:nvPr/>
          </p:nvSpPr>
          <p:spPr>
            <a:xfrm>
              <a:off x="509484" y="2423629"/>
              <a:ext cx="5509895" cy="5240020"/>
            </a:xfrm>
            <a:custGeom>
              <a:avLst/>
              <a:gdLst/>
              <a:ahLst/>
              <a:cxnLst/>
              <a:rect l="l" t="t" r="r" b="b"/>
              <a:pathLst>
                <a:path w="5509895" h="5240020">
                  <a:moveTo>
                    <a:pt x="2754739" y="0"/>
                  </a:moveTo>
                  <a:lnTo>
                    <a:pt x="5509496" y="2001431"/>
                  </a:lnTo>
                  <a:lnTo>
                    <a:pt x="4457275" y="5239829"/>
                  </a:lnTo>
                  <a:lnTo>
                    <a:pt x="1052219" y="5239829"/>
                  </a:lnTo>
                  <a:lnTo>
                    <a:pt x="0" y="2001431"/>
                  </a:lnTo>
                  <a:lnTo>
                    <a:pt x="2754739" y="0"/>
                  </a:lnTo>
                </a:path>
                <a:path w="5509895" h="5240020">
                  <a:moveTo>
                    <a:pt x="2754739" y="362064"/>
                  </a:moveTo>
                  <a:lnTo>
                    <a:pt x="5165148" y="2113318"/>
                  </a:lnTo>
                  <a:lnTo>
                    <a:pt x="4244449" y="4946916"/>
                  </a:lnTo>
                  <a:lnTo>
                    <a:pt x="1265029" y="4946916"/>
                  </a:lnTo>
                  <a:lnTo>
                    <a:pt x="344342" y="2113318"/>
                  </a:lnTo>
                  <a:lnTo>
                    <a:pt x="2754739" y="362064"/>
                  </a:lnTo>
                </a:path>
                <a:path w="5509895" h="5240020">
                  <a:moveTo>
                    <a:pt x="2754739" y="724128"/>
                  </a:moveTo>
                  <a:lnTo>
                    <a:pt x="4820800" y="2225205"/>
                  </a:lnTo>
                  <a:lnTo>
                    <a:pt x="4031635" y="4654003"/>
                  </a:lnTo>
                  <a:lnTo>
                    <a:pt x="1477855" y="4654003"/>
                  </a:lnTo>
                  <a:lnTo>
                    <a:pt x="688686" y="2225205"/>
                  </a:lnTo>
                  <a:lnTo>
                    <a:pt x="2754739" y="724128"/>
                  </a:lnTo>
                </a:path>
                <a:path w="5509895" h="5240020">
                  <a:moveTo>
                    <a:pt x="2754739" y="1086192"/>
                  </a:moveTo>
                  <a:lnTo>
                    <a:pt x="4476465" y="2337092"/>
                  </a:lnTo>
                  <a:lnTo>
                    <a:pt x="3818821" y="4361091"/>
                  </a:lnTo>
                  <a:lnTo>
                    <a:pt x="1690669" y="4361091"/>
                  </a:lnTo>
                  <a:lnTo>
                    <a:pt x="1033029" y="2337092"/>
                  </a:lnTo>
                  <a:lnTo>
                    <a:pt x="2754739" y="1086192"/>
                  </a:lnTo>
                </a:path>
                <a:path w="5509895" h="5240020">
                  <a:moveTo>
                    <a:pt x="2754739" y="1448257"/>
                  </a:moveTo>
                  <a:lnTo>
                    <a:pt x="4132117" y="2448966"/>
                  </a:lnTo>
                  <a:lnTo>
                    <a:pt x="3606007" y="4068165"/>
                  </a:lnTo>
                  <a:lnTo>
                    <a:pt x="1903483" y="4068165"/>
                  </a:lnTo>
                  <a:lnTo>
                    <a:pt x="1377373" y="2448966"/>
                  </a:lnTo>
                  <a:lnTo>
                    <a:pt x="2754739" y="1448257"/>
                  </a:lnTo>
                </a:path>
                <a:path w="5509895" h="5240020">
                  <a:moveTo>
                    <a:pt x="2754739" y="1810321"/>
                  </a:moveTo>
                  <a:lnTo>
                    <a:pt x="3787769" y="2560853"/>
                  </a:lnTo>
                  <a:lnTo>
                    <a:pt x="3393193" y="3775252"/>
                  </a:lnTo>
                  <a:lnTo>
                    <a:pt x="2116297" y="3775252"/>
                  </a:lnTo>
                  <a:lnTo>
                    <a:pt x="1721721" y="2560853"/>
                  </a:lnTo>
                  <a:lnTo>
                    <a:pt x="2754739" y="1810321"/>
                  </a:lnTo>
                </a:path>
                <a:path w="5509895" h="5240020">
                  <a:moveTo>
                    <a:pt x="2754739" y="2172373"/>
                  </a:moveTo>
                  <a:lnTo>
                    <a:pt x="3443434" y="2672740"/>
                  </a:lnTo>
                  <a:lnTo>
                    <a:pt x="3180379" y="3482340"/>
                  </a:lnTo>
                  <a:lnTo>
                    <a:pt x="2329111" y="3482340"/>
                  </a:lnTo>
                  <a:lnTo>
                    <a:pt x="2066056" y="2672740"/>
                  </a:lnTo>
                  <a:lnTo>
                    <a:pt x="2754739" y="2172373"/>
                  </a:lnTo>
                </a:path>
                <a:path w="5509895" h="5240020">
                  <a:moveTo>
                    <a:pt x="2754739" y="2534437"/>
                  </a:moveTo>
                  <a:lnTo>
                    <a:pt x="3099087" y="2784627"/>
                  </a:lnTo>
                  <a:lnTo>
                    <a:pt x="2967565" y="3189427"/>
                  </a:lnTo>
                  <a:lnTo>
                    <a:pt x="2541925" y="3189427"/>
                  </a:lnTo>
                  <a:lnTo>
                    <a:pt x="2410404" y="2784627"/>
                  </a:lnTo>
                  <a:lnTo>
                    <a:pt x="2754739" y="2534437"/>
                  </a:lnTo>
                </a:path>
                <a:path w="5509895" h="5240020">
                  <a:moveTo>
                    <a:pt x="2754739" y="2896501"/>
                  </a:moveTo>
                  <a:lnTo>
                    <a:pt x="2754739" y="2896501"/>
                  </a:lnTo>
                  <a:lnTo>
                    <a:pt x="2754739" y="2896501"/>
                  </a:lnTo>
                </a:path>
              </a:pathLst>
            </a:custGeom>
            <a:ln w="9524">
              <a:solidFill>
                <a:srgbClr val="D3E2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8854" y="2701582"/>
              <a:ext cx="4116070" cy="4518660"/>
            </a:xfrm>
            <a:custGeom>
              <a:avLst/>
              <a:gdLst/>
              <a:ahLst/>
              <a:cxnLst/>
              <a:rect l="l" t="t" r="r" b="b"/>
              <a:pathLst>
                <a:path w="4116070" h="4518659">
                  <a:moveTo>
                    <a:pt x="2735369" y="0"/>
                  </a:moveTo>
                  <a:lnTo>
                    <a:pt x="3259778" y="2448166"/>
                  </a:lnTo>
                  <a:lnTo>
                    <a:pt x="4115580" y="4518240"/>
                  </a:lnTo>
                  <a:lnTo>
                    <a:pt x="2064124" y="3542461"/>
                  </a:lnTo>
                  <a:lnTo>
                    <a:pt x="0" y="1729778"/>
                  </a:lnTo>
                  <a:lnTo>
                    <a:pt x="2735369" y="0"/>
                  </a:lnTo>
                  <a:close/>
                </a:path>
              </a:pathLst>
            </a:custGeom>
            <a:ln w="31749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157670" y="2450255"/>
            <a:ext cx="213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ACC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37191" y="1817929"/>
            <a:ext cx="1888489" cy="67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487C"/>
                </a:solidFill>
                <a:latin typeface="Calibri"/>
                <a:cs typeface="Calibri"/>
              </a:rPr>
              <a:t>Environmental</a:t>
            </a:r>
            <a:endParaRPr sz="2400">
              <a:latin typeface="Calibri"/>
              <a:cs typeface="Calibri"/>
            </a:endParaRPr>
          </a:p>
          <a:p>
            <a:pPr marL="586740">
              <a:lnSpc>
                <a:spcPct val="100000"/>
              </a:lnSpc>
              <a:spcBef>
                <a:spcPts val="1175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8.0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11773" y="2695295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7.0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4260" y="2595067"/>
            <a:ext cx="777875" cy="280670"/>
          </a:xfrm>
          <a:prstGeom prst="rect">
            <a:avLst/>
          </a:prstGeom>
          <a:solidFill>
            <a:srgbClr val="DCEAF7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 b="1">
                <a:solidFill>
                  <a:srgbClr val="16375E"/>
                </a:solidFill>
                <a:latin typeface="Calibri"/>
                <a:cs typeface="Calibri"/>
              </a:rPr>
              <a:t>ACC,</a:t>
            </a:r>
            <a:r>
              <a:rPr dirty="0" sz="1600" spc="-45" b="1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16375E"/>
                </a:solidFill>
                <a:latin typeface="Calibri"/>
                <a:cs typeface="Calibri"/>
              </a:rPr>
              <a:t>7.2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11773" y="3057359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6.0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11773" y="341942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5.0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3210" y="3707244"/>
            <a:ext cx="63690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SC,</a:t>
            </a:r>
            <a:r>
              <a:rPr dirty="0" sz="1600" spc="-1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7.9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11773" y="3781488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4.0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11773" y="4143552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3.0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9250" y="4322203"/>
            <a:ext cx="139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29750" y="4322203"/>
            <a:ext cx="2990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MBSC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11773" y="4505617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2.0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8968" y="4669574"/>
            <a:ext cx="92138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MBSC,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1.5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11773" y="4867681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1.0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11773" y="5229745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0.0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88521" y="6142367"/>
            <a:ext cx="95313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MCQE,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 3.2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65700" y="7491831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MCQE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8702" y="7443393"/>
            <a:ext cx="90995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SCEM,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6.5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45500" y="7491831"/>
            <a:ext cx="292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SCEM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61811" y="2489555"/>
            <a:ext cx="5519420" cy="5249545"/>
            <a:chOff x="6261811" y="2489555"/>
            <a:chExt cx="5519420" cy="5249545"/>
          </a:xfrm>
        </p:grpSpPr>
        <p:sp>
          <p:nvSpPr>
            <p:cNvPr id="37" name="object 37"/>
            <p:cNvSpPr/>
            <p:nvPr/>
          </p:nvSpPr>
          <p:spPr>
            <a:xfrm>
              <a:off x="6266573" y="2494318"/>
              <a:ext cx="5509895" cy="5240020"/>
            </a:xfrm>
            <a:custGeom>
              <a:avLst/>
              <a:gdLst/>
              <a:ahLst/>
              <a:cxnLst/>
              <a:rect l="l" t="t" r="r" b="b"/>
              <a:pathLst>
                <a:path w="5509895" h="5240020">
                  <a:moveTo>
                    <a:pt x="2754744" y="0"/>
                  </a:moveTo>
                  <a:lnTo>
                    <a:pt x="5509488" y="2001431"/>
                  </a:lnTo>
                  <a:lnTo>
                    <a:pt x="4457268" y="5239829"/>
                  </a:lnTo>
                  <a:lnTo>
                    <a:pt x="1052219" y="5239829"/>
                  </a:lnTo>
                  <a:lnTo>
                    <a:pt x="0" y="2001431"/>
                  </a:lnTo>
                  <a:lnTo>
                    <a:pt x="2754744" y="0"/>
                  </a:lnTo>
                </a:path>
                <a:path w="5509895" h="5240020">
                  <a:moveTo>
                    <a:pt x="2754744" y="362064"/>
                  </a:moveTo>
                  <a:lnTo>
                    <a:pt x="5165153" y="2113318"/>
                  </a:lnTo>
                  <a:lnTo>
                    <a:pt x="4244454" y="4946916"/>
                  </a:lnTo>
                  <a:lnTo>
                    <a:pt x="1265034" y="4946916"/>
                  </a:lnTo>
                  <a:lnTo>
                    <a:pt x="344342" y="2113318"/>
                  </a:lnTo>
                  <a:lnTo>
                    <a:pt x="2754744" y="362064"/>
                  </a:lnTo>
                </a:path>
                <a:path w="5509895" h="5240020">
                  <a:moveTo>
                    <a:pt x="2754744" y="724128"/>
                  </a:moveTo>
                  <a:lnTo>
                    <a:pt x="4820805" y="2225205"/>
                  </a:lnTo>
                  <a:lnTo>
                    <a:pt x="4031640" y="4654003"/>
                  </a:lnTo>
                  <a:lnTo>
                    <a:pt x="1477848" y="4654003"/>
                  </a:lnTo>
                  <a:lnTo>
                    <a:pt x="688686" y="2225205"/>
                  </a:lnTo>
                  <a:lnTo>
                    <a:pt x="2754744" y="724128"/>
                  </a:lnTo>
                </a:path>
                <a:path w="5509895" h="5240020">
                  <a:moveTo>
                    <a:pt x="2754744" y="1086192"/>
                  </a:moveTo>
                  <a:lnTo>
                    <a:pt x="4476457" y="2337092"/>
                  </a:lnTo>
                  <a:lnTo>
                    <a:pt x="3818826" y="4361091"/>
                  </a:lnTo>
                  <a:lnTo>
                    <a:pt x="1690661" y="4361091"/>
                  </a:lnTo>
                  <a:lnTo>
                    <a:pt x="1033029" y="2337092"/>
                  </a:lnTo>
                  <a:lnTo>
                    <a:pt x="2754744" y="1086192"/>
                  </a:lnTo>
                </a:path>
                <a:path w="5509895" h="5240020">
                  <a:moveTo>
                    <a:pt x="2754744" y="1448257"/>
                  </a:moveTo>
                  <a:lnTo>
                    <a:pt x="4132122" y="2448966"/>
                  </a:lnTo>
                  <a:lnTo>
                    <a:pt x="3606012" y="4068165"/>
                  </a:lnTo>
                  <a:lnTo>
                    <a:pt x="1903488" y="4068165"/>
                  </a:lnTo>
                  <a:lnTo>
                    <a:pt x="1377378" y="2448966"/>
                  </a:lnTo>
                  <a:lnTo>
                    <a:pt x="2754744" y="1448257"/>
                  </a:lnTo>
                </a:path>
                <a:path w="5509895" h="5240020">
                  <a:moveTo>
                    <a:pt x="2754744" y="1810321"/>
                  </a:moveTo>
                  <a:lnTo>
                    <a:pt x="3787774" y="2560853"/>
                  </a:lnTo>
                  <a:lnTo>
                    <a:pt x="3393198" y="3775252"/>
                  </a:lnTo>
                  <a:lnTo>
                    <a:pt x="2116302" y="3775252"/>
                  </a:lnTo>
                  <a:lnTo>
                    <a:pt x="1721713" y="2560853"/>
                  </a:lnTo>
                  <a:lnTo>
                    <a:pt x="2754744" y="1810321"/>
                  </a:lnTo>
                </a:path>
                <a:path w="5509895" h="5240020">
                  <a:moveTo>
                    <a:pt x="2754744" y="2172373"/>
                  </a:moveTo>
                  <a:lnTo>
                    <a:pt x="3443427" y="2672740"/>
                  </a:lnTo>
                  <a:lnTo>
                    <a:pt x="3180371" y="3482340"/>
                  </a:lnTo>
                  <a:lnTo>
                    <a:pt x="2329116" y="3482340"/>
                  </a:lnTo>
                  <a:lnTo>
                    <a:pt x="2066061" y="2672740"/>
                  </a:lnTo>
                  <a:lnTo>
                    <a:pt x="2754744" y="2172373"/>
                  </a:lnTo>
                </a:path>
                <a:path w="5509895" h="5240020">
                  <a:moveTo>
                    <a:pt x="2754744" y="2534437"/>
                  </a:moveTo>
                  <a:lnTo>
                    <a:pt x="3099091" y="2784627"/>
                  </a:lnTo>
                  <a:lnTo>
                    <a:pt x="2967558" y="3189427"/>
                  </a:lnTo>
                  <a:lnTo>
                    <a:pt x="2541930" y="3189427"/>
                  </a:lnTo>
                  <a:lnTo>
                    <a:pt x="2410396" y="2784627"/>
                  </a:lnTo>
                  <a:lnTo>
                    <a:pt x="2754744" y="2534437"/>
                  </a:lnTo>
                </a:path>
                <a:path w="5509895" h="5240020">
                  <a:moveTo>
                    <a:pt x="2754744" y="2896501"/>
                  </a:moveTo>
                  <a:lnTo>
                    <a:pt x="2754744" y="2896501"/>
                  </a:lnTo>
                  <a:lnTo>
                    <a:pt x="2754744" y="2896501"/>
                  </a:lnTo>
                </a:path>
              </a:pathLst>
            </a:custGeom>
            <a:ln w="9524">
              <a:solidFill>
                <a:srgbClr val="D3E2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18942" y="2857131"/>
              <a:ext cx="4158615" cy="4538345"/>
            </a:xfrm>
            <a:custGeom>
              <a:avLst/>
              <a:gdLst/>
              <a:ahLst/>
              <a:cxnLst/>
              <a:rect l="l" t="t" r="r" b="b"/>
              <a:pathLst>
                <a:path w="4158615" h="4538345">
                  <a:moveTo>
                    <a:pt x="2702375" y="0"/>
                  </a:moveTo>
                  <a:lnTo>
                    <a:pt x="3622058" y="2234869"/>
                  </a:lnTo>
                  <a:lnTo>
                    <a:pt x="4158392" y="4537722"/>
                  </a:lnTo>
                  <a:lnTo>
                    <a:pt x="1831828" y="3731907"/>
                  </a:lnTo>
                  <a:lnTo>
                    <a:pt x="0" y="1655635"/>
                  </a:lnTo>
                  <a:lnTo>
                    <a:pt x="2702375" y="0"/>
                  </a:lnTo>
                  <a:close/>
                </a:path>
              </a:pathLst>
            </a:custGeom>
            <a:ln w="31749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758012" y="1888617"/>
            <a:ext cx="761365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487C"/>
                </a:solidFill>
                <a:latin typeface="Calibri"/>
                <a:cs typeface="Calibri"/>
              </a:rPr>
              <a:t>Social</a:t>
            </a:r>
            <a:endParaRPr sz="2400">
              <a:latin typeface="Calibri"/>
              <a:cs typeface="Calibri"/>
            </a:endParaRPr>
          </a:p>
          <a:p>
            <a:pPr marL="23495">
              <a:lnSpc>
                <a:spcPts val="1010"/>
              </a:lnSpc>
              <a:spcBef>
                <a:spcPts val="1175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8.0</a:t>
            </a:r>
            <a:endParaRPr sz="900">
              <a:latin typeface="Calibri"/>
              <a:cs typeface="Calibri"/>
            </a:endParaRPr>
          </a:p>
          <a:p>
            <a:pPr marL="169545">
              <a:lnSpc>
                <a:spcPts val="1010"/>
              </a:lnSpc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ACC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 descr="$PPTXTitle"/>
          <p:cNvSpPr txBox="1">
            <a:spLocks noGrp="1"/>
          </p:cNvSpPr>
          <p:nvPr>
            <p:ph type="title"/>
          </p:nvPr>
        </p:nvSpPr>
        <p:spPr>
          <a:xfrm>
            <a:off x="14150725" y="1758339"/>
            <a:ext cx="15481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1F487C"/>
                </a:solidFill>
                <a:latin typeface="Calibri"/>
                <a:cs typeface="Calibri"/>
              </a:rPr>
              <a:t>Governance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768867" y="276598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7.0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06813" y="2628643"/>
            <a:ext cx="777875" cy="280670"/>
          </a:xfrm>
          <a:prstGeom prst="rect">
            <a:avLst/>
          </a:prstGeom>
          <a:solidFill>
            <a:srgbClr val="DCEAF7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 b="1">
                <a:solidFill>
                  <a:srgbClr val="16375E"/>
                </a:solidFill>
                <a:latin typeface="Calibri"/>
                <a:cs typeface="Calibri"/>
              </a:rPr>
              <a:t>ACC,</a:t>
            </a:r>
            <a:r>
              <a:rPr dirty="0" sz="1600" spc="-45" b="1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16375E"/>
                </a:solidFill>
                <a:latin typeface="Calibri"/>
                <a:cs typeface="Calibri"/>
              </a:rPr>
              <a:t>7.0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68867" y="3128047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6.0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68867" y="3490112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5.0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52286" y="3890289"/>
            <a:ext cx="63690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SC,</a:t>
            </a:r>
            <a:r>
              <a:rPr dirty="0" sz="1600" spc="-1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7.8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68867" y="3852176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4.0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68867" y="4214240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3.0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18326" y="4393501"/>
            <a:ext cx="139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585016" y="4393501"/>
            <a:ext cx="2990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MBSC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68867" y="4576305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2.0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83279" y="4672812"/>
            <a:ext cx="92138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MBSC,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2.7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68867" y="4938369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1.0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68867" y="5300433"/>
            <a:ext cx="170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0.0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46314" y="6487350"/>
            <a:ext cx="95313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MCQE,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 4.1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2048219" y="2359279"/>
            <a:ext cx="5519420" cy="5249545"/>
            <a:chOff x="12048219" y="2359279"/>
            <a:chExt cx="5519420" cy="5249545"/>
          </a:xfrm>
        </p:grpSpPr>
        <p:sp>
          <p:nvSpPr>
            <p:cNvPr id="58" name="object 58"/>
            <p:cNvSpPr/>
            <p:nvPr/>
          </p:nvSpPr>
          <p:spPr>
            <a:xfrm>
              <a:off x="12052982" y="2364041"/>
              <a:ext cx="5509895" cy="5240020"/>
            </a:xfrm>
            <a:custGeom>
              <a:avLst/>
              <a:gdLst/>
              <a:ahLst/>
              <a:cxnLst/>
              <a:rect l="l" t="t" r="r" b="b"/>
              <a:pathLst>
                <a:path w="5509894" h="5240020">
                  <a:moveTo>
                    <a:pt x="2754747" y="0"/>
                  </a:moveTo>
                  <a:lnTo>
                    <a:pt x="5509492" y="2001431"/>
                  </a:lnTo>
                  <a:lnTo>
                    <a:pt x="4457271" y="5239829"/>
                  </a:lnTo>
                  <a:lnTo>
                    <a:pt x="1052218" y="5239829"/>
                  </a:lnTo>
                  <a:lnTo>
                    <a:pt x="0" y="2001431"/>
                  </a:lnTo>
                  <a:lnTo>
                    <a:pt x="2754747" y="0"/>
                  </a:lnTo>
                </a:path>
                <a:path w="5509894" h="5240020">
                  <a:moveTo>
                    <a:pt x="2754747" y="289648"/>
                  </a:moveTo>
                  <a:lnTo>
                    <a:pt x="5234016" y="2090940"/>
                  </a:lnTo>
                  <a:lnTo>
                    <a:pt x="4287015" y="5005501"/>
                  </a:lnTo>
                  <a:lnTo>
                    <a:pt x="1222472" y="5005501"/>
                  </a:lnTo>
                  <a:lnTo>
                    <a:pt x="275474" y="2090940"/>
                  </a:lnTo>
                  <a:lnTo>
                    <a:pt x="2754747" y="289648"/>
                  </a:lnTo>
                </a:path>
                <a:path w="5509894" h="5240020">
                  <a:moveTo>
                    <a:pt x="2754747" y="579297"/>
                  </a:moveTo>
                  <a:lnTo>
                    <a:pt x="4958540" y="2180450"/>
                  </a:lnTo>
                  <a:lnTo>
                    <a:pt x="4116771" y="4771161"/>
                  </a:lnTo>
                  <a:lnTo>
                    <a:pt x="1392723" y="4771161"/>
                  </a:lnTo>
                  <a:lnTo>
                    <a:pt x="550949" y="2180450"/>
                  </a:lnTo>
                  <a:lnTo>
                    <a:pt x="2754747" y="579297"/>
                  </a:lnTo>
                </a:path>
                <a:path w="5509894" h="5240020">
                  <a:moveTo>
                    <a:pt x="2754747" y="868946"/>
                  </a:moveTo>
                  <a:lnTo>
                    <a:pt x="4683064" y="2269959"/>
                  </a:lnTo>
                  <a:lnTo>
                    <a:pt x="3946515" y="4536833"/>
                  </a:lnTo>
                  <a:lnTo>
                    <a:pt x="1562979" y="4536833"/>
                  </a:lnTo>
                  <a:lnTo>
                    <a:pt x="826424" y="2269959"/>
                  </a:lnTo>
                  <a:lnTo>
                    <a:pt x="2754747" y="868946"/>
                  </a:lnTo>
                </a:path>
                <a:path w="5509894" h="5240020">
                  <a:moveTo>
                    <a:pt x="2754747" y="1158595"/>
                  </a:moveTo>
                  <a:lnTo>
                    <a:pt x="4407589" y="2359469"/>
                  </a:lnTo>
                  <a:lnTo>
                    <a:pt x="3776259" y="4302506"/>
                  </a:lnTo>
                  <a:lnTo>
                    <a:pt x="1733235" y="4302506"/>
                  </a:lnTo>
                  <a:lnTo>
                    <a:pt x="1101898" y="2359469"/>
                  </a:lnTo>
                  <a:lnTo>
                    <a:pt x="2754747" y="1158595"/>
                  </a:lnTo>
                </a:path>
                <a:path w="5509894" h="5240020">
                  <a:moveTo>
                    <a:pt x="2754747" y="1448257"/>
                  </a:moveTo>
                  <a:lnTo>
                    <a:pt x="4132113" y="2448966"/>
                  </a:lnTo>
                  <a:lnTo>
                    <a:pt x="3606003" y="4068165"/>
                  </a:lnTo>
                  <a:lnTo>
                    <a:pt x="1903479" y="4068165"/>
                  </a:lnTo>
                  <a:lnTo>
                    <a:pt x="1377369" y="2448966"/>
                  </a:lnTo>
                  <a:lnTo>
                    <a:pt x="2754747" y="1448257"/>
                  </a:lnTo>
                </a:path>
                <a:path w="5509894" h="5240020">
                  <a:moveTo>
                    <a:pt x="2754747" y="1737906"/>
                  </a:moveTo>
                  <a:lnTo>
                    <a:pt x="3856637" y="2538476"/>
                  </a:lnTo>
                  <a:lnTo>
                    <a:pt x="3435759" y="3833837"/>
                  </a:lnTo>
                  <a:lnTo>
                    <a:pt x="2073735" y="3833837"/>
                  </a:lnTo>
                  <a:lnTo>
                    <a:pt x="1652844" y="2538476"/>
                  </a:lnTo>
                  <a:lnTo>
                    <a:pt x="2754747" y="1737906"/>
                  </a:lnTo>
                </a:path>
                <a:path w="5509894" h="5240020">
                  <a:moveTo>
                    <a:pt x="2754747" y="2027554"/>
                  </a:moveTo>
                  <a:lnTo>
                    <a:pt x="3581174" y="2627985"/>
                  </a:lnTo>
                  <a:lnTo>
                    <a:pt x="3265503" y="3599510"/>
                  </a:lnTo>
                  <a:lnTo>
                    <a:pt x="2243991" y="3599510"/>
                  </a:lnTo>
                  <a:lnTo>
                    <a:pt x="1928320" y="2627985"/>
                  </a:lnTo>
                  <a:lnTo>
                    <a:pt x="2754747" y="2027554"/>
                  </a:lnTo>
                </a:path>
                <a:path w="5509894" h="5240020">
                  <a:moveTo>
                    <a:pt x="2754747" y="2317203"/>
                  </a:moveTo>
                  <a:lnTo>
                    <a:pt x="3305699" y="2717495"/>
                  </a:lnTo>
                  <a:lnTo>
                    <a:pt x="3095247" y="3365169"/>
                  </a:lnTo>
                  <a:lnTo>
                    <a:pt x="2414235" y="3365169"/>
                  </a:lnTo>
                  <a:lnTo>
                    <a:pt x="2203796" y="2717495"/>
                  </a:lnTo>
                  <a:lnTo>
                    <a:pt x="2754747" y="2317203"/>
                  </a:lnTo>
                </a:path>
                <a:path w="5509894" h="5240020">
                  <a:moveTo>
                    <a:pt x="2754747" y="2606852"/>
                  </a:moveTo>
                  <a:lnTo>
                    <a:pt x="3030223" y="2807004"/>
                  </a:lnTo>
                  <a:lnTo>
                    <a:pt x="2925003" y="3130842"/>
                  </a:lnTo>
                  <a:lnTo>
                    <a:pt x="2584491" y="3130842"/>
                  </a:lnTo>
                  <a:lnTo>
                    <a:pt x="2479272" y="2807004"/>
                  </a:lnTo>
                  <a:lnTo>
                    <a:pt x="2754747" y="2606852"/>
                  </a:lnTo>
                </a:path>
                <a:path w="5509894" h="5240020">
                  <a:moveTo>
                    <a:pt x="2754747" y="2896501"/>
                  </a:moveTo>
                  <a:lnTo>
                    <a:pt x="2754747" y="2896501"/>
                  </a:lnTo>
                  <a:lnTo>
                    <a:pt x="2754747" y="2896501"/>
                  </a:lnTo>
                </a:path>
              </a:pathLst>
            </a:custGeom>
            <a:ln w="9524">
              <a:solidFill>
                <a:srgbClr val="D3E2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2300908" y="3204019"/>
              <a:ext cx="3851910" cy="3907790"/>
            </a:xfrm>
            <a:custGeom>
              <a:avLst/>
              <a:gdLst/>
              <a:ahLst/>
              <a:cxnLst/>
              <a:rect l="l" t="t" r="r" b="b"/>
              <a:pathLst>
                <a:path w="3851909" h="3907790">
                  <a:moveTo>
                    <a:pt x="2506821" y="0"/>
                  </a:moveTo>
                  <a:lnTo>
                    <a:pt x="3608711" y="1698498"/>
                  </a:lnTo>
                  <a:lnTo>
                    <a:pt x="3851814" y="3907751"/>
                  </a:lnTo>
                  <a:lnTo>
                    <a:pt x="1630013" y="3263341"/>
                  </a:lnTo>
                  <a:lnTo>
                    <a:pt x="0" y="1242009"/>
                  </a:lnTo>
                  <a:lnTo>
                    <a:pt x="2506821" y="0"/>
                  </a:lnTo>
                  <a:close/>
                </a:path>
              </a:pathLst>
            </a:custGeom>
            <a:ln w="31749">
              <a:solidFill>
                <a:srgbClr val="375F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14439417" y="2273642"/>
            <a:ext cx="4756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dirty="0" sz="900" spc="-10">
                <a:solidFill>
                  <a:srgbClr val="1F487C"/>
                </a:solidFill>
                <a:latin typeface="Calibri"/>
                <a:cs typeface="Calibri"/>
              </a:rPr>
              <a:t>10.00</a:t>
            </a:r>
            <a:endParaRPr sz="900">
              <a:latin typeface="Calibri"/>
              <a:cs typeface="Calibri"/>
            </a:endParaRPr>
          </a:p>
          <a:p>
            <a:pPr marL="274320">
              <a:lnSpc>
                <a:spcPts val="975"/>
              </a:lnSpc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ACC</a:t>
            </a: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325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9.00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4497341" y="2852944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8.00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493708" y="2853566"/>
            <a:ext cx="881380" cy="280670"/>
          </a:xfrm>
          <a:prstGeom prst="rect">
            <a:avLst/>
          </a:prstGeom>
          <a:solidFill>
            <a:srgbClr val="DCEAF7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 b="1">
                <a:solidFill>
                  <a:srgbClr val="16375E"/>
                </a:solidFill>
                <a:latin typeface="Calibri"/>
                <a:cs typeface="Calibri"/>
              </a:rPr>
              <a:t>ACC,</a:t>
            </a:r>
            <a:r>
              <a:rPr dirty="0" sz="1600" spc="-45" b="1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6375E"/>
                </a:solidFill>
                <a:latin typeface="Calibri"/>
                <a:cs typeface="Calibri"/>
              </a:rPr>
              <a:t>7.10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497341" y="3142601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7.00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497341" y="3432250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6.00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4497341" y="3721899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5.00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030747" y="3941991"/>
            <a:ext cx="73977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SC,</a:t>
            </a:r>
            <a:r>
              <a:rPr dirty="0" sz="1600" spc="-1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9.10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4497341" y="4011548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4.00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098058" y="4260773"/>
            <a:ext cx="139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F487C"/>
                </a:solidFill>
                <a:latin typeface="Calibri"/>
                <a:cs typeface="Calibri"/>
              </a:rPr>
              <a:t>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4497341" y="4301197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3.00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378717" y="4260773"/>
            <a:ext cx="2990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MBSC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497341" y="4590846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2.00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579673" y="4460087"/>
            <a:ext cx="102425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MBSC,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4.00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497341" y="4880508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1.00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4497341" y="5170157"/>
            <a:ext cx="227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374978" y="6365684"/>
            <a:ext cx="105600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MCQE,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5.15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24775" y="7560919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MCQE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69729" y="7496467"/>
            <a:ext cx="90995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SCEM,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75E"/>
                </a:solidFill>
                <a:latin typeface="Calibri"/>
                <a:cs typeface="Calibri"/>
              </a:rPr>
              <a:t>6.8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905778" y="7437069"/>
            <a:ext cx="31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MCQE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00766" y="7560919"/>
            <a:ext cx="292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SCEM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161843" y="7482446"/>
            <a:ext cx="1012825" cy="280670"/>
          </a:xfrm>
          <a:prstGeom prst="rect">
            <a:avLst/>
          </a:prstGeom>
          <a:solidFill>
            <a:srgbClr val="FFFFFF"/>
          </a:solidFill>
          <a:ln w="12699">
            <a:solidFill>
              <a:srgbClr val="BEBEBE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40"/>
              </a:spcBef>
            </a:pPr>
            <a:r>
              <a:rPr dirty="0" sz="1600">
                <a:solidFill>
                  <a:srgbClr val="16375E"/>
                </a:solidFill>
                <a:latin typeface="Calibri"/>
                <a:cs typeface="Calibri"/>
              </a:rPr>
              <a:t>SCEM,</a:t>
            </a:r>
            <a:r>
              <a:rPr dirty="0" sz="1600" spc="-20">
                <a:solidFill>
                  <a:srgbClr val="16375E"/>
                </a:solidFill>
                <a:latin typeface="Calibri"/>
                <a:cs typeface="Calibri"/>
              </a:rPr>
              <a:t> 7.90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391928" y="7437069"/>
            <a:ext cx="292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F487C"/>
                </a:solidFill>
                <a:latin typeface="Calibri"/>
                <a:cs typeface="Calibri"/>
              </a:rPr>
              <a:t>SCEM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349307"/>
              <a:ext cx="8471535" cy="937894"/>
            </a:xfrm>
            <a:custGeom>
              <a:avLst/>
              <a:gdLst/>
              <a:ahLst/>
              <a:cxnLst/>
              <a:rect l="l" t="t" r="r" b="b"/>
              <a:pathLst>
                <a:path w="8471535" h="937895">
                  <a:moveTo>
                    <a:pt x="1851177" y="481609"/>
                  </a:moveTo>
                  <a:lnTo>
                    <a:pt x="139622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20317" y="937691"/>
                  </a:lnTo>
                  <a:lnTo>
                    <a:pt x="1851177" y="481609"/>
                  </a:lnTo>
                  <a:close/>
                </a:path>
                <a:path w="8471535" h="937895">
                  <a:moveTo>
                    <a:pt x="3527742" y="481609"/>
                  </a:moveTo>
                  <a:lnTo>
                    <a:pt x="3072790" y="0"/>
                  </a:lnTo>
                  <a:lnTo>
                    <a:pt x="1519453" y="0"/>
                  </a:lnTo>
                  <a:lnTo>
                    <a:pt x="1974405" y="481609"/>
                  </a:lnTo>
                  <a:lnTo>
                    <a:pt x="1543545" y="937691"/>
                  </a:lnTo>
                  <a:lnTo>
                    <a:pt x="3096882" y="937691"/>
                  </a:lnTo>
                  <a:lnTo>
                    <a:pt x="3527742" y="481609"/>
                  </a:lnTo>
                  <a:close/>
                </a:path>
                <a:path w="8471535" h="937895">
                  <a:moveTo>
                    <a:pt x="5245468" y="481609"/>
                  </a:moveTo>
                  <a:lnTo>
                    <a:pt x="4790503" y="0"/>
                  </a:lnTo>
                  <a:lnTo>
                    <a:pt x="3199714" y="0"/>
                  </a:lnTo>
                  <a:lnTo>
                    <a:pt x="3654679" y="481609"/>
                  </a:lnTo>
                  <a:lnTo>
                    <a:pt x="3223818" y="937691"/>
                  </a:lnTo>
                  <a:lnTo>
                    <a:pt x="4814608" y="937691"/>
                  </a:lnTo>
                  <a:lnTo>
                    <a:pt x="5245468" y="481609"/>
                  </a:lnTo>
                  <a:close/>
                </a:path>
                <a:path w="8471535" h="937895">
                  <a:moveTo>
                    <a:pt x="6928790" y="481609"/>
                  </a:moveTo>
                  <a:lnTo>
                    <a:pt x="6473825" y="0"/>
                  </a:lnTo>
                  <a:lnTo>
                    <a:pt x="4916475" y="0"/>
                  </a:lnTo>
                  <a:lnTo>
                    <a:pt x="5371427" y="481609"/>
                  </a:lnTo>
                  <a:lnTo>
                    <a:pt x="4940566" y="937691"/>
                  </a:lnTo>
                  <a:lnTo>
                    <a:pt x="6497917" y="937691"/>
                  </a:lnTo>
                  <a:lnTo>
                    <a:pt x="6928790" y="481609"/>
                  </a:lnTo>
                  <a:close/>
                </a:path>
                <a:path w="8471535" h="937895">
                  <a:moveTo>
                    <a:pt x="8471154" y="481609"/>
                  </a:moveTo>
                  <a:lnTo>
                    <a:pt x="8016202" y="0"/>
                  </a:lnTo>
                  <a:lnTo>
                    <a:pt x="6594818" y="0"/>
                  </a:lnTo>
                  <a:lnTo>
                    <a:pt x="7049783" y="481609"/>
                  </a:lnTo>
                  <a:lnTo>
                    <a:pt x="6618922" y="937691"/>
                  </a:lnTo>
                  <a:lnTo>
                    <a:pt x="8040306" y="937691"/>
                  </a:lnTo>
                  <a:lnTo>
                    <a:pt x="847115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66950" y="9349307"/>
              <a:ext cx="4658360" cy="937894"/>
            </a:xfrm>
            <a:custGeom>
              <a:avLst/>
              <a:gdLst/>
              <a:ahLst/>
              <a:cxnLst/>
              <a:rect l="l" t="t" r="r" b="b"/>
              <a:pathLst>
                <a:path w="4658359" h="937895">
                  <a:moveTo>
                    <a:pt x="4202938" y="0"/>
                  </a:moveTo>
                  <a:lnTo>
                    <a:pt x="0" y="0"/>
                  </a:lnTo>
                  <a:lnTo>
                    <a:pt x="454957" y="481609"/>
                  </a:lnTo>
                  <a:lnTo>
                    <a:pt x="24102" y="937691"/>
                  </a:lnTo>
                  <a:lnTo>
                    <a:pt x="4227041" y="937691"/>
                  </a:lnTo>
                  <a:lnTo>
                    <a:pt x="4657902" y="481609"/>
                  </a:lnTo>
                  <a:lnTo>
                    <a:pt x="420293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707" y="9520503"/>
              <a:ext cx="810684" cy="6242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1275" y="9500425"/>
              <a:ext cx="584650" cy="664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2297" y="9470681"/>
              <a:ext cx="679126" cy="7630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5549" y="9475558"/>
              <a:ext cx="714113" cy="7141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878" y="9470681"/>
              <a:ext cx="737426" cy="7189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7983" y="9470681"/>
              <a:ext cx="560812" cy="718985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Scenario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Integration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Inputs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Assumption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70273" y="925362"/>
            <a:ext cx="925830" cy="182880"/>
          </a:xfrm>
          <a:custGeom>
            <a:avLst/>
            <a:gdLst/>
            <a:ahLst/>
            <a:cxnLst/>
            <a:rect l="l" t="t" r="r" b="b"/>
            <a:pathLst>
              <a:path w="925830" h="182880">
                <a:moveTo>
                  <a:pt x="925473" y="0"/>
                </a:moveTo>
                <a:lnTo>
                  <a:pt x="0" y="0"/>
                </a:lnTo>
                <a:lnTo>
                  <a:pt x="0" y="182879"/>
                </a:lnTo>
                <a:lnTo>
                  <a:pt x="925473" y="182879"/>
                </a:lnTo>
                <a:lnTo>
                  <a:pt x="925473" y="0"/>
                </a:lnTo>
                <a:close/>
              </a:path>
            </a:pathLst>
          </a:custGeom>
          <a:solidFill>
            <a:srgbClr val="0A2F4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8683" y="925362"/>
          <a:ext cx="17465040" cy="7963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210"/>
                <a:gridCol w="1791969"/>
                <a:gridCol w="1137284"/>
                <a:gridCol w="7166610"/>
                <a:gridCol w="750569"/>
                <a:gridCol w="1355090"/>
                <a:gridCol w="670559"/>
                <a:gridCol w="421640"/>
              </a:tblGrid>
              <a:tr h="182880">
                <a:tc>
                  <a:txBody>
                    <a:bodyPr/>
                    <a:lstStyle/>
                    <a:p>
                      <a:pPr>
                        <a:lnSpc>
                          <a:spcPts val="1340"/>
                        </a:lnSpc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A: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Inputs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Assumptions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225"/>
                        </a:lnSpc>
                        <a:spcBef>
                          <a:spcPts val="110"/>
                        </a:spcBef>
                      </a:pPr>
                      <a:r>
                        <a:rPr dirty="0" sz="1050" spc="-20" b="1" i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ts val="1290"/>
                        </a:lnSpc>
                        <a:spcBef>
                          <a:spcPts val="5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290"/>
                        </a:lnSpc>
                        <a:spcBef>
                          <a:spcPts val="5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A: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volume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(2025)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4813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Mn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tonnes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98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8159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4.85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46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RB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46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669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volume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(2025)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813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Mn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tonnes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ts val="1155"/>
                        </a:lnSpc>
                      </a:pP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RB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volume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(2025)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algn="r" marR="481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Mn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tonnes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RB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Raw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materials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(2025)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mn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5698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749425" algn="l"/>
                          <a:tab pos="2675255" algn="l"/>
                          <a:tab pos="3646804" algn="l"/>
                          <a:tab pos="4664710" algn="l"/>
                          <a:tab pos="5315585" algn="l"/>
                        </a:tabLst>
                      </a:pP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6474</a:t>
                      </a:r>
                      <a:r>
                        <a:rPr dirty="0" sz="110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7009</a:t>
                      </a:r>
                      <a:r>
                        <a:rPr dirty="0" sz="110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7495</a:t>
                      </a:r>
                      <a:r>
                        <a:rPr dirty="0" sz="110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7938</a:t>
                      </a:r>
                      <a:r>
                        <a:rPr dirty="0" sz="110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8401</a:t>
                      </a:r>
                      <a:r>
                        <a:rPr dirty="0" sz="110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COGS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Fossil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share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100" spc="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share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Linked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RM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cost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Fossil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Cost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mn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2279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ts val="1155"/>
                        </a:lnSpc>
                        <a:tabLst>
                          <a:tab pos="1749425" algn="l"/>
                          <a:tab pos="2675255" algn="l"/>
                          <a:tab pos="3646804" algn="l"/>
                          <a:tab pos="4664710" algn="l"/>
                        </a:tabLst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2590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2803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2998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3175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3360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RM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cost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mn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3419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ts val="1155"/>
                        </a:lnSpc>
                        <a:tabLst>
                          <a:tab pos="1749425" algn="l"/>
                          <a:tab pos="2675255" algn="l"/>
                          <a:tab pos="3646804" algn="l"/>
                          <a:tab pos="4664710" algn="l"/>
                        </a:tabLst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3885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4205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4497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4763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5041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volume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235394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Unknown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company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mix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secondary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use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secondary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use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7.63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factor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  <a:spcBef>
                          <a:spcPts val="475"/>
                        </a:spcBef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B:Alternative</a:t>
                      </a:r>
                      <a:r>
                        <a:rPr dirty="0" sz="1200" spc="-4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200" spc="-4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03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  <a:spcBef>
                          <a:spcPts val="86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Thermal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substitution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rate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(TSR)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9855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225"/>
                        </a:lnSpc>
                        <a:spcBef>
                          <a:spcPts val="930"/>
                        </a:spcBef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811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290"/>
                        </a:lnSpc>
                        <a:spcBef>
                          <a:spcPts val="8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9855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290"/>
                        </a:lnSpc>
                        <a:spcBef>
                          <a:spcPts val="865"/>
                        </a:spcBef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Company's</a:t>
                      </a:r>
                      <a:r>
                        <a:rPr dirty="0" u="sng" sz="1100" spc="-4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Disclosure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98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1290"/>
                        </a:lnSpc>
                        <a:spcBef>
                          <a:spcPts val="8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Analyst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1C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TSR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255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25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250"/>
                        </a:lnSpc>
                        <a:tabLst>
                          <a:tab pos="531558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IR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Disclosure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Alt</a:t>
                      </a:r>
                      <a:r>
                        <a:rPr dirty="0" u="sng" sz="1100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Fuel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 Breakdown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3355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Biogenic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25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Fuel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25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TSR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2030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target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5315585" algn="l"/>
                        </a:tabLst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Company's</a:t>
                      </a:r>
                      <a:r>
                        <a:rPr dirty="0" u="sng" sz="1100" spc="-4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Disclosure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Agricultural</a:t>
                      </a:r>
                      <a:r>
                        <a:rPr dirty="0" sz="11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Waste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399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fossil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cost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1428750" algn="l"/>
                          <a:tab pos="531558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IR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Disclosure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20%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2025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30%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2026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Sewage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Sludge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399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90%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Alternative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GHG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intensity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fossil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thermal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fuel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1428750" algn="l"/>
                          <a:tab pos="5315585" algn="l"/>
                        </a:tabLst>
                      </a:pP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UNFCCC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Used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estimate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avoided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emissions.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RDF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399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capex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mn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ts val="115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281.2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5315585" algn="l"/>
                        </a:tabLst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Mar</a:t>
                      </a:r>
                      <a:r>
                        <a:rPr dirty="0" u="sng" sz="1100" spc="-3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26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Interim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Financial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Statement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ALT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GHG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Intensity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399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591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Alternative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commissioning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year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315">
                        <a:lnSpc>
                          <a:spcPts val="1160"/>
                        </a:lnSpc>
                      </a:pPr>
                      <a:r>
                        <a:rPr dirty="0" sz="1050" spc="-20" i="1">
                          <a:latin typeface="Calibri"/>
                          <a:cs typeface="Calibri"/>
                        </a:rPr>
                        <a:t>Year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Mar</a:t>
                      </a:r>
                      <a:r>
                        <a:rPr dirty="0" u="sng" sz="1100" spc="-3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26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Interim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Financial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6"/>
                        </a:rPr>
                        <a:t>Statement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16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C: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CBAM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GWP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(A1–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A3)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4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468630">
                        <a:lnSpc>
                          <a:spcPct val="10000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35940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962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7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GWP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(A1–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A3)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GWP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(A1–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A3)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A3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manufacturing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emissions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883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7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calcination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emissions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539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7"/>
                        </a:rPr>
                        <a:t>EPD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Thermal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calcination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eligible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benefit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A3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manufacturing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calcination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GWP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8630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CO2e</a:t>
                      </a:r>
                      <a:r>
                        <a:rPr dirty="0" sz="105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EU-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bound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sales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668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2353945" algn="l"/>
                          <a:tab pos="624078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Analyst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No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official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Disclosures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Supporting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percisely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Closest</a:t>
                      </a:r>
                      <a:r>
                        <a:rPr dirty="0" u="sng" sz="1100" spc="-3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source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EU-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bound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sales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6685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2353945" algn="l"/>
                          <a:tab pos="624078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Analyst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No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official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Disclosures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Supporting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percisely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Closest</a:t>
                      </a:r>
                      <a:r>
                        <a:rPr dirty="0" u="sng" sz="1100" spc="-3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8"/>
                        </a:rPr>
                        <a:t>source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EU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(2027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base)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926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EUR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0" i="1">
                          <a:latin typeface="Calibri"/>
                          <a:cs typeface="Calibri"/>
                        </a:rPr>
                        <a:t> tCO2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ts val="115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75.28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Taxation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and</a:t>
                      </a:r>
                      <a:r>
                        <a:rPr dirty="0" u="sng" sz="1100" spc="-2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Customs</a:t>
                      </a:r>
                      <a:r>
                        <a:rPr dirty="0" u="sng" sz="1100" spc="-2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 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9"/>
                        </a:rPr>
                        <a:t>Union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EUR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FX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466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EUR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ts val="115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59.21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FX</a:t>
                      </a:r>
                      <a:r>
                        <a:rPr dirty="0" u="sng" sz="1100" spc="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observed</a:t>
                      </a:r>
                      <a:r>
                        <a:rPr dirty="0" u="sng" sz="1100" spc="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 </a:t>
                      </a:r>
                      <a:r>
                        <a:rPr dirty="0" u="sng" sz="1100" spc="-2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2026-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09-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0"/>
                        </a:rPr>
                        <a:t>07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benchmark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6415">
                        <a:lnSpc>
                          <a:spcPts val="1160"/>
                        </a:lnSpc>
                      </a:pPr>
                      <a:r>
                        <a:rPr dirty="0" sz="1050" i="1">
                          <a:latin typeface="Calibri"/>
                          <a:cs typeface="Calibri"/>
                        </a:rPr>
                        <a:t>tCO2e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i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50" i="1">
                          <a:latin typeface="Calibri"/>
                          <a:cs typeface="Calibri"/>
                        </a:rPr>
                        <a:t>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8159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EBRD</a:t>
                      </a:r>
                      <a:r>
                        <a:rPr dirty="0" u="sng" sz="1100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&amp;</a:t>
                      </a:r>
                      <a:r>
                        <a:rPr dirty="0" u="sng" sz="1100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A3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1"/>
                        </a:rPr>
                        <a:t> Cement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ACC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burden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share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importer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cost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year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315">
                        <a:lnSpc>
                          <a:spcPts val="1160"/>
                        </a:lnSpc>
                      </a:pPr>
                      <a:r>
                        <a:rPr dirty="0" sz="1050" spc="-20" i="1">
                          <a:latin typeface="Calibri"/>
                          <a:cs typeface="Calibri"/>
                        </a:rPr>
                        <a:t>Year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ts val="115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Annual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escalation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34950">
                        <a:lnSpc>
                          <a:spcPts val="1160"/>
                        </a:lnSpc>
                      </a:pPr>
                      <a:r>
                        <a:rPr dirty="0" sz="1050" spc="-50" i="1">
                          <a:latin typeface="Calibri"/>
                          <a:cs typeface="Calibri"/>
                        </a:rPr>
                        <a:t>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15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55"/>
                        </a:lnSpc>
                        <a:tabLst>
                          <a:tab pos="3279775" algn="l"/>
                        </a:tabLst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Conservative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CAGR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Assumption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2"/>
                        </a:rPr>
                        <a:t>Source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  <a:spcBef>
                          <a:spcPts val="475"/>
                        </a:spcBef>
                      </a:pP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D: CBAM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Free-Allocation</a:t>
                      </a:r>
                      <a:r>
                        <a:rPr dirty="0" sz="12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290"/>
                        </a:lnSpc>
                        <a:spcBef>
                          <a:spcPts val="605"/>
                        </a:spcBef>
                      </a:pP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Source:</a:t>
                      </a:r>
                      <a:r>
                        <a:rPr dirty="0" u="sng" sz="1100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EU</a:t>
                      </a:r>
                      <a:r>
                        <a:rPr dirty="0" u="sng" sz="1100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 </a:t>
                      </a:r>
                      <a:r>
                        <a:rPr dirty="0" u="sng" sz="1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Law</a:t>
                      </a:r>
                      <a:r>
                        <a:rPr dirty="0" u="sng" sz="1100" spc="-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 EUR-</a:t>
                      </a:r>
                      <a:r>
                        <a:rPr dirty="0" u="sng" sz="1100" spc="-2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13"/>
                        </a:rPr>
                        <a:t>LEX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8683" y="8905623"/>
          <a:ext cx="15192375" cy="331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3980"/>
                <a:gridCol w="2264410"/>
                <a:gridCol w="1421129"/>
                <a:gridCol w="1204595"/>
                <a:gridCol w="885190"/>
                <a:gridCol w="1095375"/>
                <a:gridCol w="1098550"/>
                <a:gridCol w="1017904"/>
                <a:gridCol w="971550"/>
                <a:gridCol w="960754"/>
                <a:gridCol w="925194"/>
                <a:gridCol w="636269"/>
              </a:tblGrid>
              <a:tr h="164465">
                <a:tc>
                  <a:txBody>
                    <a:bodyPr/>
                    <a:lstStyle/>
                    <a:p>
                      <a:pPr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Year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9095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8330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1195"/>
                        </a:lnSpc>
                      </a:pPr>
                      <a:r>
                        <a:rPr dirty="0" sz="1050" spc="-20" b="1" i="1">
                          <a:latin typeface="Calibri"/>
                          <a:cs typeface="Calibri"/>
                        </a:rPr>
                        <a:t>2028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4930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2100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2100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5745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1305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4135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2035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ts val="122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Free-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allocation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factor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7909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100.00%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8330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97.50%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2560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95.00%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1220"/>
                        </a:lnSpc>
                      </a:pPr>
                      <a:r>
                        <a:rPr dirty="0" sz="1100" spc="-10" i="1">
                          <a:latin typeface="Calibri"/>
                          <a:cs typeface="Calibri"/>
                        </a:rPr>
                        <a:t>90.00%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556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77.50%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2100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51.50%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2100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39.00%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6379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26.50%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8130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14.00%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Scenario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Integration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Financial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Bridge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9600" y="913758"/>
          <a:ext cx="17484090" cy="8057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6930"/>
                <a:gridCol w="3421379"/>
                <a:gridCol w="1762759"/>
                <a:gridCol w="1648459"/>
                <a:gridCol w="1322704"/>
                <a:gridCol w="1294764"/>
                <a:gridCol w="1357630"/>
                <a:gridCol w="1390015"/>
                <a:gridCol w="561975"/>
              </a:tblGrid>
              <a:tr h="243840">
                <a:tc>
                  <a:txBody>
                    <a:bodyPr/>
                    <a:lstStyle/>
                    <a:p>
                      <a:pPr>
                        <a:lnSpc>
                          <a:spcPts val="182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B: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Bridge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ts val="1290"/>
                        </a:lnSpc>
                        <a:spcBef>
                          <a:spcPts val="530"/>
                        </a:spcBef>
                      </a:pPr>
                      <a:r>
                        <a:rPr dirty="0" sz="1100" spc="-20" b="1" i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6920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8955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  <a:spcBef>
                          <a:spcPts val="40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 algn="r" marR="77597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4.85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75970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1.91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1.71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1.68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1.61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75970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3.49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3.32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3.35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3.39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Thermal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substitution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 rate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(TSR)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spc="-50" i="1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7978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118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43%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49%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TSR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increase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vs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2025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spc="-25" i="1">
                          <a:latin typeface="Calibri"/>
                          <a:cs typeface="Calibri"/>
                        </a:rPr>
                        <a:t>ppt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731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118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A: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Operating</a:t>
                      </a:r>
                      <a:r>
                        <a:rPr dirty="0" sz="1600" spc="-1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Savings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Full-fossil-equivalent</a:t>
                      </a:r>
                      <a:r>
                        <a:rPr dirty="0" sz="12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2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cost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75692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2713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52895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3083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905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3337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3569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3780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Counterfactual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20%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56920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2279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89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2590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2803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2998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3175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3360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higher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56920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2279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89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2343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2370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2355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2306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2240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Annual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savings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7055">
                        <a:lnSpc>
                          <a:spcPts val="1290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290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434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290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642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290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869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RM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ESG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692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5698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895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6228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6575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6852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7069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7281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uplift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CBAM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5670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434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642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869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B:</a:t>
                      </a:r>
                      <a:r>
                        <a:rPr dirty="0" sz="1600" spc="-4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600" spc="-3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Emission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2025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mix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28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Mt </a:t>
                      </a:r>
                      <a:r>
                        <a:rPr dirty="0" sz="1100" spc="-20" i="1">
                          <a:latin typeface="Calibri"/>
                          <a:cs typeface="Calibri"/>
                        </a:rPr>
                        <a:t>CO2e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775970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54800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905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Clinker-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equivalent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75970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4.99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Avoided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higher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Mt </a:t>
                      </a:r>
                      <a:r>
                        <a:rPr dirty="0" sz="1100" spc="-20" i="1">
                          <a:latin typeface="Calibri"/>
                          <a:cs typeface="Calibri"/>
                        </a:rPr>
                        <a:t>CO2e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0.114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0.186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0.257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0.328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0.399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emissions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Mt </a:t>
                      </a:r>
                      <a:r>
                        <a:rPr dirty="0" sz="1100" spc="-20" i="1">
                          <a:latin typeface="Calibri"/>
                          <a:cs typeface="Calibri"/>
                        </a:rPr>
                        <a:t>CO2e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75970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4.64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3.95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3.87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Emissions reduction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vs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2025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spc="-50" i="1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00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2130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2.7%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4.3%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6.0%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7.7%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9.3%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Adjusted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GWP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10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CO2e/t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9502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7117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937.23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921.75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4323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906.27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890.79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875.31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Adjusted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blended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GWP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kg</a:t>
                      </a:r>
                      <a:r>
                        <a:rPr dirty="0" sz="110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CO2e/t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95020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803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7117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781.15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767.49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4323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753.84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740.18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726.53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C:</a:t>
                      </a:r>
                      <a:r>
                        <a:rPr dirty="0" sz="1600" spc="-3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600" spc="-3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600" spc="-25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Financial</a:t>
                      </a:r>
                      <a:r>
                        <a:rPr dirty="0" sz="1600" spc="-3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F3763"/>
                          </a:solidFill>
                          <a:latin typeface="Calibri"/>
                          <a:cs typeface="Calibri"/>
                        </a:rPr>
                        <a:t>Integration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EU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73787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50927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0.087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905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0.085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0.084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0.083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0.080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EU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volume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Mn </a:t>
                      </a:r>
                      <a:r>
                        <a:rPr dirty="0" sz="1100" spc="-50" i="1">
                          <a:latin typeface="Calibri"/>
                          <a:cs typeface="Calibri"/>
                        </a:rPr>
                        <a:t>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733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free-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allocation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factor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spc="-50" i="1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4104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33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97.5%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95.0%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6609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90.0%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77.5%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51.5%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Carbon</a:t>
                      </a:r>
                      <a:r>
                        <a:rPr dirty="0" sz="12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price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ct val="100000"/>
                        </a:lnSpc>
                      </a:pPr>
                      <a:r>
                        <a:rPr dirty="0" sz="1100" spc="-10" i="1">
                          <a:latin typeface="Calibri"/>
                          <a:cs typeface="Calibri"/>
                        </a:rPr>
                        <a:t>EUR/tCO2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75.28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82.81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91.09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100.20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110.22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Clinker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certificates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required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09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tCO2/t</a:t>
                      </a:r>
                      <a:r>
                        <a:rPr dirty="0" sz="11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product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0.53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certificates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required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09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tCO2/t</a:t>
                      </a:r>
                      <a:r>
                        <a:rPr dirty="0" sz="11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latin typeface="Calibri"/>
                          <a:cs typeface="Calibri"/>
                        </a:rPr>
                        <a:t>product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800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0.38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cost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71170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109.88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119.27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43230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137.18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181.92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278.55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ACC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burden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54.94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59.64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68.59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90.96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139.27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5670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778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fuel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capex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29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281.2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capex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ts val="129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281.2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  <a:spcBef>
                          <a:spcPts val="30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L="2667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89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778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3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Cumulative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9360">
                        <a:lnSpc>
                          <a:spcPct val="10000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EGP</a:t>
                      </a:r>
                      <a:r>
                        <a:rPr dirty="0" sz="1100" spc="-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i="1">
                          <a:latin typeface="Calibri"/>
                          <a:cs typeface="Calibri"/>
                        </a:rPr>
                        <a:t>mn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3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6700">
                        <a:lnSpc>
                          <a:spcPts val="13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89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285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859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1637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2618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4625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impact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tonne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28725">
                        <a:lnSpc>
                          <a:spcPts val="1275"/>
                        </a:lnSpc>
                      </a:pPr>
                      <a:r>
                        <a:rPr dirty="0" sz="1100" spc="-10" i="1">
                          <a:latin typeface="Calibri"/>
                          <a:cs typeface="Calibri"/>
                        </a:rPr>
                        <a:t>EGP/t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ts val="127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9270">
                        <a:lnSpc>
                          <a:spcPts val="127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38.34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27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74.84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43230">
                        <a:lnSpc>
                          <a:spcPts val="127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114.76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27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155.69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196.17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ESG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Scenario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Integration</a:t>
            </a:r>
            <a:r>
              <a:rPr dirty="0" u="sng" sz="2000" spc="-4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Valuation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Bridge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3900" y="1338795"/>
          <a:ext cx="16917035" cy="633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9020"/>
                <a:gridCol w="2312670"/>
                <a:gridCol w="1948815"/>
                <a:gridCol w="1996440"/>
                <a:gridCol w="1628775"/>
                <a:gridCol w="1322070"/>
                <a:gridCol w="1288414"/>
                <a:gridCol w="1489075"/>
                <a:gridCol w="1263650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D: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Valuation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Bridge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7325">
                        <a:lnSpc>
                          <a:spcPts val="1989"/>
                        </a:lnSpc>
                      </a:pPr>
                      <a:r>
                        <a:rPr dirty="0" sz="1800" spc="-20" b="1" i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1980"/>
                        </a:lnSpc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marL="680085">
                        <a:lnSpc>
                          <a:spcPts val="1980"/>
                        </a:lnSpc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980"/>
                        </a:lnSpc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980"/>
                        </a:lnSpc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ts val="1980"/>
                        </a:lnSpc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2F40"/>
                    </a:solidFill>
                  </a:tcPr>
                </a:tc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2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Benefit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247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434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642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869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1120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8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CBAM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Cost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-54.94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5496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-59.64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-68.59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7780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-90.96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-139.27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CAPEX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9380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-281.2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47015">
                        <a:lnSpc>
                          <a:spcPts val="2100"/>
                        </a:lnSpc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2100"/>
                        </a:lnSpc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2100"/>
                        </a:lnSpc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2240">
                        <a:lnSpc>
                          <a:spcPts val="2100"/>
                        </a:lnSpc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FCF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Impact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89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4855">
                        <a:lnSpc>
                          <a:spcPts val="2100"/>
                        </a:lnSpc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374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2100"/>
                        </a:lnSpc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574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2100"/>
                        </a:lnSpc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778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ts val="2100"/>
                        </a:lnSpc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981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Discount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Factor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80.36%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2260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66.36%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58.00%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51.36%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44.84%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PV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FCF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-71.92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8930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248.33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332.79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399.83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287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439.84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1348.87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TV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8307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5"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10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10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10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10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PV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TV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3724.9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2000" b="1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Valuation</a:t>
                      </a:r>
                      <a:r>
                        <a:rPr dirty="0" sz="20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latin typeface="Calibri"/>
                          <a:cs typeface="Calibri"/>
                        </a:rPr>
                        <a:t>Impact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Pre-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Enterprise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Value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r" marR="857885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38781.8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27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PV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Incremental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FCF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5073.76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Post-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Enterprise</a:t>
                      </a:r>
                      <a:r>
                        <a:rPr dirty="0" sz="2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Value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43856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Valuation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Impact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49766.65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Valuation</a:t>
                      </a:r>
                      <a:r>
                        <a:rPr dirty="0" sz="2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Uplift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128.3%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143.04870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Post-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Fair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Share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100"/>
                        </a:lnSpc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uplift</a:t>
                      </a:r>
                      <a:r>
                        <a:rPr dirty="0" sz="2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vs.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pre-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ESG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fair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value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57885">
                        <a:lnSpc>
                          <a:spcPts val="208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96936" y="8053831"/>
            <a:ext cx="12802235" cy="94043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Analyst’s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Disclosure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About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ESG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Integration: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*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Scenario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assumptions: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EU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exposure,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importer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burden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sharing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20" i="1">
                <a:solidFill>
                  <a:srgbClr val="808080"/>
                </a:solidFill>
                <a:latin typeface="Calibri"/>
                <a:cs typeface="Calibri"/>
              </a:rPr>
              <a:t>carbon-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price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trajectory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are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analyst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assumptions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based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on</a:t>
            </a:r>
            <a:r>
              <a:rPr dirty="0" sz="1600" spc="-4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any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public</a:t>
            </a:r>
            <a:r>
              <a:rPr dirty="0" sz="16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disclosures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**ESG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impact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presented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illustrative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scenario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embedded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1600" spc="-2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808080"/>
                </a:solidFill>
                <a:latin typeface="Calibri"/>
                <a:cs typeface="Calibri"/>
              </a:rPr>
              <a:t>Core</a:t>
            </a:r>
            <a:r>
              <a:rPr dirty="0" sz="16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808080"/>
                </a:solidFill>
                <a:latin typeface="Calibri"/>
                <a:cs typeface="Calibri"/>
              </a:rPr>
              <a:t>Case.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71126" y="951788"/>
            <a:ext cx="123825" cy="816610"/>
          </a:xfrm>
          <a:custGeom>
            <a:avLst/>
            <a:gdLst/>
            <a:ahLst/>
            <a:cxnLst/>
            <a:rect l="l" t="t" r="r" b="b"/>
            <a:pathLst>
              <a:path w="123825" h="816610">
                <a:moveTo>
                  <a:pt x="123824" y="816597"/>
                </a:moveTo>
                <a:lnTo>
                  <a:pt x="0" y="816597"/>
                </a:lnTo>
                <a:lnTo>
                  <a:pt x="0" y="0"/>
                </a:lnTo>
                <a:lnTo>
                  <a:pt x="123824" y="0"/>
                </a:lnTo>
                <a:lnTo>
                  <a:pt x="123824" y="816597"/>
                </a:lnTo>
                <a:close/>
              </a:path>
            </a:pathLst>
          </a:custGeom>
          <a:solidFill>
            <a:srgbClr val="1643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870666" y="270856"/>
            <a:ext cx="17417415" cy="10016490"/>
            <a:chOff x="870666" y="270856"/>
            <a:chExt cx="17417415" cy="1001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579" y="1769414"/>
              <a:ext cx="9795421" cy="8517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666" y="1769414"/>
              <a:ext cx="16712565" cy="7337425"/>
            </a:xfrm>
            <a:custGeom>
              <a:avLst/>
              <a:gdLst/>
              <a:ahLst/>
              <a:cxnLst/>
              <a:rect l="l" t="t" r="r" b="b"/>
              <a:pathLst>
                <a:path w="16712565" h="7337425">
                  <a:moveTo>
                    <a:pt x="15988157" y="0"/>
                  </a:moveTo>
                  <a:lnTo>
                    <a:pt x="724263" y="0"/>
                  </a:lnTo>
                  <a:lnTo>
                    <a:pt x="676939" y="1552"/>
                  </a:lnTo>
                  <a:lnTo>
                    <a:pt x="630389" y="6146"/>
                  </a:lnTo>
                  <a:lnTo>
                    <a:pt x="584711" y="13680"/>
                  </a:lnTo>
                  <a:lnTo>
                    <a:pt x="540005" y="24058"/>
                  </a:lnTo>
                  <a:lnTo>
                    <a:pt x="496369" y="37181"/>
                  </a:lnTo>
                  <a:lnTo>
                    <a:pt x="453900" y="52949"/>
                  </a:lnTo>
                  <a:lnTo>
                    <a:pt x="412699" y="71265"/>
                  </a:lnTo>
                  <a:lnTo>
                    <a:pt x="372863" y="92031"/>
                  </a:lnTo>
                  <a:lnTo>
                    <a:pt x="334490" y="115146"/>
                  </a:lnTo>
                  <a:lnTo>
                    <a:pt x="297680" y="140514"/>
                  </a:lnTo>
                  <a:lnTo>
                    <a:pt x="262531" y="168035"/>
                  </a:lnTo>
                  <a:lnTo>
                    <a:pt x="229141" y="197611"/>
                  </a:lnTo>
                  <a:lnTo>
                    <a:pt x="197609" y="229143"/>
                  </a:lnTo>
                  <a:lnTo>
                    <a:pt x="168033" y="262534"/>
                  </a:lnTo>
                  <a:lnTo>
                    <a:pt x="140512" y="297683"/>
                  </a:lnTo>
                  <a:lnTo>
                    <a:pt x="115145" y="334494"/>
                  </a:lnTo>
                  <a:lnTo>
                    <a:pt x="92029" y="372867"/>
                  </a:lnTo>
                  <a:lnTo>
                    <a:pt x="71264" y="412703"/>
                  </a:lnTo>
                  <a:lnTo>
                    <a:pt x="52949" y="453905"/>
                  </a:lnTo>
                  <a:lnTo>
                    <a:pt x="37180" y="496373"/>
                  </a:lnTo>
                  <a:lnTo>
                    <a:pt x="24058" y="540010"/>
                  </a:lnTo>
                  <a:lnTo>
                    <a:pt x="13680" y="584716"/>
                  </a:lnTo>
                  <a:lnTo>
                    <a:pt x="6145" y="630394"/>
                  </a:lnTo>
                  <a:lnTo>
                    <a:pt x="1552" y="676944"/>
                  </a:lnTo>
                  <a:lnTo>
                    <a:pt x="0" y="724268"/>
                  </a:lnTo>
                  <a:lnTo>
                    <a:pt x="0" y="6613017"/>
                  </a:lnTo>
                  <a:lnTo>
                    <a:pt x="1552" y="6660341"/>
                  </a:lnTo>
                  <a:lnTo>
                    <a:pt x="6145" y="6706891"/>
                  </a:lnTo>
                  <a:lnTo>
                    <a:pt x="13680" y="6752568"/>
                  </a:lnTo>
                  <a:lnTo>
                    <a:pt x="24058" y="6797274"/>
                  </a:lnTo>
                  <a:lnTo>
                    <a:pt x="37180" y="6840911"/>
                  </a:lnTo>
                  <a:lnTo>
                    <a:pt x="52949" y="6883380"/>
                  </a:lnTo>
                  <a:lnTo>
                    <a:pt x="71264" y="6924581"/>
                  </a:lnTo>
                  <a:lnTo>
                    <a:pt x="92029" y="6964418"/>
                  </a:lnTo>
                  <a:lnTo>
                    <a:pt x="115145" y="7002791"/>
                  </a:lnTo>
                  <a:lnTo>
                    <a:pt x="140512" y="7039601"/>
                  </a:lnTo>
                  <a:lnTo>
                    <a:pt x="168033" y="7074751"/>
                  </a:lnTo>
                  <a:lnTo>
                    <a:pt x="197609" y="7108141"/>
                  </a:lnTo>
                  <a:lnTo>
                    <a:pt x="229141" y="7139673"/>
                  </a:lnTo>
                  <a:lnTo>
                    <a:pt x="262531" y="7169249"/>
                  </a:lnTo>
                  <a:lnTo>
                    <a:pt x="297680" y="7196770"/>
                  </a:lnTo>
                  <a:lnTo>
                    <a:pt x="334490" y="7222138"/>
                  </a:lnTo>
                  <a:lnTo>
                    <a:pt x="372863" y="7245254"/>
                  </a:lnTo>
                  <a:lnTo>
                    <a:pt x="412699" y="7266019"/>
                  </a:lnTo>
                  <a:lnTo>
                    <a:pt x="453900" y="7284335"/>
                  </a:lnTo>
                  <a:lnTo>
                    <a:pt x="496369" y="7300104"/>
                  </a:lnTo>
                  <a:lnTo>
                    <a:pt x="540005" y="7313226"/>
                  </a:lnTo>
                  <a:lnTo>
                    <a:pt x="584711" y="7323604"/>
                  </a:lnTo>
                  <a:lnTo>
                    <a:pt x="630389" y="7331139"/>
                  </a:lnTo>
                  <a:lnTo>
                    <a:pt x="676939" y="7335732"/>
                  </a:lnTo>
                  <a:lnTo>
                    <a:pt x="724263" y="7337285"/>
                  </a:lnTo>
                  <a:lnTo>
                    <a:pt x="15988157" y="7337285"/>
                  </a:lnTo>
                  <a:lnTo>
                    <a:pt x="16035488" y="7335732"/>
                  </a:lnTo>
                  <a:lnTo>
                    <a:pt x="16082044" y="7331139"/>
                  </a:lnTo>
                  <a:lnTo>
                    <a:pt x="16127726" y="7323604"/>
                  </a:lnTo>
                  <a:lnTo>
                    <a:pt x="16172437" y="7313226"/>
                  </a:lnTo>
                  <a:lnTo>
                    <a:pt x="16216077" y="7300104"/>
                  </a:lnTo>
                  <a:lnTo>
                    <a:pt x="16258548" y="7284335"/>
                  </a:lnTo>
                  <a:lnTo>
                    <a:pt x="16299751" y="7266019"/>
                  </a:lnTo>
                  <a:lnTo>
                    <a:pt x="16339589" y="7245254"/>
                  </a:lnTo>
                  <a:lnTo>
                    <a:pt x="16377962" y="7222138"/>
                  </a:lnTo>
                  <a:lnTo>
                    <a:pt x="16414773" y="7196770"/>
                  </a:lnTo>
                  <a:lnTo>
                    <a:pt x="16449922" y="7169249"/>
                  </a:lnTo>
                  <a:lnTo>
                    <a:pt x="16483312" y="7139673"/>
                  </a:lnTo>
                  <a:lnTo>
                    <a:pt x="16514843" y="7108141"/>
                  </a:lnTo>
                  <a:lnTo>
                    <a:pt x="16544417" y="7074751"/>
                  </a:lnTo>
                  <a:lnTo>
                    <a:pt x="16571937" y="7039601"/>
                  </a:lnTo>
                  <a:lnTo>
                    <a:pt x="16597303" y="7002791"/>
                  </a:lnTo>
                  <a:lnTo>
                    <a:pt x="16620417" y="6964418"/>
                  </a:lnTo>
                  <a:lnTo>
                    <a:pt x="16641180" y="6924581"/>
                  </a:lnTo>
                  <a:lnTo>
                    <a:pt x="16659494" y="6883380"/>
                  </a:lnTo>
                  <a:lnTo>
                    <a:pt x="16675261" y="6840911"/>
                  </a:lnTo>
                  <a:lnTo>
                    <a:pt x="16688382" y="6797274"/>
                  </a:lnTo>
                  <a:lnTo>
                    <a:pt x="16698759" y="6752568"/>
                  </a:lnTo>
                  <a:lnTo>
                    <a:pt x="16706292" y="6706891"/>
                  </a:lnTo>
                  <a:lnTo>
                    <a:pt x="16710885" y="6660341"/>
                  </a:lnTo>
                  <a:lnTo>
                    <a:pt x="16712438" y="6613017"/>
                  </a:lnTo>
                  <a:lnTo>
                    <a:pt x="16712438" y="724268"/>
                  </a:lnTo>
                  <a:lnTo>
                    <a:pt x="16710885" y="676944"/>
                  </a:lnTo>
                  <a:lnTo>
                    <a:pt x="16706292" y="630394"/>
                  </a:lnTo>
                  <a:lnTo>
                    <a:pt x="16698759" y="584716"/>
                  </a:lnTo>
                  <a:lnTo>
                    <a:pt x="16688382" y="540010"/>
                  </a:lnTo>
                  <a:lnTo>
                    <a:pt x="16675261" y="496373"/>
                  </a:lnTo>
                  <a:lnTo>
                    <a:pt x="16659494" y="453905"/>
                  </a:lnTo>
                  <a:lnTo>
                    <a:pt x="16641180" y="412703"/>
                  </a:lnTo>
                  <a:lnTo>
                    <a:pt x="16620417" y="372867"/>
                  </a:lnTo>
                  <a:lnTo>
                    <a:pt x="16597303" y="334494"/>
                  </a:lnTo>
                  <a:lnTo>
                    <a:pt x="16571937" y="297683"/>
                  </a:lnTo>
                  <a:lnTo>
                    <a:pt x="16544417" y="262534"/>
                  </a:lnTo>
                  <a:lnTo>
                    <a:pt x="16514843" y="229143"/>
                  </a:lnTo>
                  <a:lnTo>
                    <a:pt x="16483312" y="197611"/>
                  </a:lnTo>
                  <a:lnTo>
                    <a:pt x="16449922" y="168035"/>
                  </a:lnTo>
                  <a:lnTo>
                    <a:pt x="16414773" y="140514"/>
                  </a:lnTo>
                  <a:lnTo>
                    <a:pt x="16377962" y="115146"/>
                  </a:lnTo>
                  <a:lnTo>
                    <a:pt x="16339589" y="92031"/>
                  </a:lnTo>
                  <a:lnTo>
                    <a:pt x="16299751" y="71265"/>
                  </a:lnTo>
                  <a:lnTo>
                    <a:pt x="16258548" y="52949"/>
                  </a:lnTo>
                  <a:lnTo>
                    <a:pt x="16216077" y="37181"/>
                  </a:lnTo>
                  <a:lnTo>
                    <a:pt x="16172437" y="24058"/>
                  </a:lnTo>
                  <a:lnTo>
                    <a:pt x="16127726" y="13680"/>
                  </a:lnTo>
                  <a:lnTo>
                    <a:pt x="16082044" y="6146"/>
                  </a:lnTo>
                  <a:lnTo>
                    <a:pt x="16035488" y="1552"/>
                  </a:lnTo>
                  <a:lnTo>
                    <a:pt x="15988157" y="0"/>
                  </a:lnTo>
                  <a:close/>
                </a:path>
              </a:pathLst>
            </a:custGeom>
            <a:solidFill>
              <a:srgbClr val="FFFFFF">
                <a:alpha val="7764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57994" y="828930"/>
            <a:ext cx="13560425" cy="1003935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/>
              <a:t>ESG</a:t>
            </a:r>
            <a:r>
              <a:rPr dirty="0" spc="-45"/>
              <a:t> </a:t>
            </a:r>
            <a:r>
              <a:rPr dirty="0"/>
              <a:t>Scenario:</a:t>
            </a:r>
            <a:r>
              <a:rPr dirty="0" spc="-45"/>
              <a:t> </a:t>
            </a:r>
            <a:r>
              <a:rPr dirty="0"/>
              <a:t>Quantifying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Financial</a:t>
            </a:r>
            <a:r>
              <a:rPr dirty="0" spc="-45"/>
              <a:t> </a:t>
            </a:r>
            <a:r>
              <a:rPr dirty="0"/>
              <a:t>Impact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Higher</a:t>
            </a:r>
            <a:r>
              <a:rPr dirty="0" spc="-45"/>
              <a:t> </a:t>
            </a:r>
            <a:r>
              <a:rPr dirty="0" spc="-25"/>
              <a:t>TSR</a:t>
            </a:r>
          </a:p>
          <a:p>
            <a:pPr marL="19050">
              <a:lnSpc>
                <a:spcPct val="100000"/>
              </a:lnSpc>
              <a:spcBef>
                <a:spcPts val="350"/>
              </a:spcBef>
            </a:pPr>
            <a:r>
              <a:rPr dirty="0" sz="2000"/>
              <a:t>A</a:t>
            </a:r>
            <a:r>
              <a:rPr dirty="0" sz="2000" spc="-35"/>
              <a:t> </a:t>
            </a:r>
            <a:r>
              <a:rPr dirty="0" sz="2000"/>
              <a:t>55%</a:t>
            </a:r>
            <a:r>
              <a:rPr dirty="0" sz="2000" spc="-35"/>
              <a:t> </a:t>
            </a:r>
            <a:r>
              <a:rPr dirty="0" sz="2000"/>
              <a:t>TSR</a:t>
            </a:r>
            <a:r>
              <a:rPr dirty="0" sz="2000" spc="-35"/>
              <a:t> </a:t>
            </a:r>
            <a:r>
              <a:rPr dirty="0" sz="2000"/>
              <a:t>scenario</a:t>
            </a:r>
            <a:r>
              <a:rPr dirty="0" sz="2000" spc="-35"/>
              <a:t> </a:t>
            </a:r>
            <a:r>
              <a:rPr dirty="0" sz="2000"/>
              <a:t>illustrates</a:t>
            </a:r>
            <a:r>
              <a:rPr dirty="0" sz="2000" spc="-35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potential</a:t>
            </a:r>
            <a:r>
              <a:rPr dirty="0" sz="2000" spc="-35"/>
              <a:t> </a:t>
            </a:r>
            <a:r>
              <a:rPr dirty="0" sz="2000"/>
              <a:t>operating</a:t>
            </a:r>
            <a:r>
              <a:rPr dirty="0" sz="2000" spc="-35"/>
              <a:t> </a:t>
            </a:r>
            <a:r>
              <a:rPr dirty="0" sz="2000"/>
              <a:t>and</a:t>
            </a:r>
            <a:r>
              <a:rPr dirty="0" sz="2000" spc="-35"/>
              <a:t> </a:t>
            </a:r>
            <a:r>
              <a:rPr dirty="0" sz="2000" spc="-10"/>
              <a:t>carbon-</a:t>
            </a:r>
            <a:r>
              <a:rPr dirty="0" sz="2000"/>
              <a:t>cost</a:t>
            </a:r>
            <a:r>
              <a:rPr dirty="0" sz="2000" spc="-35"/>
              <a:t> </a:t>
            </a:r>
            <a:r>
              <a:rPr dirty="0" sz="2000"/>
              <a:t>implications</a:t>
            </a:r>
            <a:r>
              <a:rPr dirty="0" sz="2000" spc="-30"/>
              <a:t> </a:t>
            </a:r>
            <a:r>
              <a:rPr dirty="0" sz="2000"/>
              <a:t>through</a:t>
            </a:r>
            <a:r>
              <a:rPr dirty="0" sz="2000" spc="-35"/>
              <a:t> </a:t>
            </a:r>
            <a:r>
              <a:rPr dirty="0" sz="2000" spc="-20"/>
              <a:t>2030</a:t>
            </a:r>
            <a:endParaRPr sz="2000"/>
          </a:p>
        </p:txBody>
      </p:sp>
      <p:sp>
        <p:nvSpPr>
          <p:cNvPr id="19" name="object 19"/>
          <p:cNvSpPr txBox="1"/>
          <p:nvPr/>
        </p:nvSpPr>
        <p:spPr>
          <a:xfrm>
            <a:off x="1967953" y="2552750"/>
            <a:ext cx="3932554" cy="77724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Thermal</a:t>
            </a:r>
            <a:r>
              <a:rPr dirty="0" sz="20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Substitution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Rate</a:t>
            </a:r>
            <a:r>
              <a:rPr dirty="0" sz="20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(TSR)</a:t>
            </a:r>
            <a:endParaRPr sz="2000">
              <a:latin typeface="Arial"/>
              <a:cs typeface="Arial"/>
            </a:endParaRPr>
          </a:p>
          <a:p>
            <a:pPr marL="2669540">
              <a:lnSpc>
                <a:spcPct val="100000"/>
              </a:lnSpc>
              <a:spcBef>
                <a:spcPts val="560"/>
              </a:spcBef>
            </a:pP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55%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14969" y="2612173"/>
            <a:ext cx="2324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Operational</a:t>
            </a:r>
            <a:r>
              <a:rPr dirty="0" sz="2000" spc="-6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473520" y="2784157"/>
            <a:ext cx="2439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Key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Outcomes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48027" y="3534028"/>
            <a:ext cx="9699625" cy="3354070"/>
            <a:chOff x="2148027" y="3534028"/>
            <a:chExt cx="9699625" cy="3354070"/>
          </a:xfrm>
        </p:grpSpPr>
        <p:sp>
          <p:nvSpPr>
            <p:cNvPr id="9" name="object 9"/>
            <p:cNvSpPr/>
            <p:nvPr/>
          </p:nvSpPr>
          <p:spPr>
            <a:xfrm>
              <a:off x="6377254" y="5106314"/>
              <a:ext cx="567690" cy="1731010"/>
            </a:xfrm>
            <a:custGeom>
              <a:avLst/>
              <a:gdLst/>
              <a:ahLst/>
              <a:cxnLst/>
              <a:rect l="l" t="t" r="r" b="b"/>
              <a:pathLst>
                <a:path w="567690" h="1731009">
                  <a:moveTo>
                    <a:pt x="283762" y="0"/>
                  </a:moveTo>
                  <a:lnTo>
                    <a:pt x="0" y="0"/>
                  </a:lnTo>
                  <a:lnTo>
                    <a:pt x="283762" y="865289"/>
                  </a:lnTo>
                  <a:lnTo>
                    <a:pt x="0" y="1730565"/>
                  </a:lnTo>
                  <a:lnTo>
                    <a:pt x="283762" y="1730565"/>
                  </a:lnTo>
                  <a:lnTo>
                    <a:pt x="567524" y="865289"/>
                  </a:lnTo>
                  <a:lnTo>
                    <a:pt x="283762" y="0"/>
                  </a:lnTo>
                  <a:close/>
                </a:path>
              </a:pathLst>
            </a:custGeom>
            <a:solidFill>
              <a:srgbClr val="94B3D6">
                <a:alpha val="8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377662" y="5157114"/>
              <a:ext cx="469900" cy="1731010"/>
            </a:xfrm>
            <a:custGeom>
              <a:avLst/>
              <a:gdLst/>
              <a:ahLst/>
              <a:cxnLst/>
              <a:rect l="l" t="t" r="r" b="b"/>
              <a:pathLst>
                <a:path w="469900" h="1731009">
                  <a:moveTo>
                    <a:pt x="234693" y="0"/>
                  </a:moveTo>
                  <a:lnTo>
                    <a:pt x="0" y="0"/>
                  </a:lnTo>
                  <a:lnTo>
                    <a:pt x="234693" y="865289"/>
                  </a:lnTo>
                  <a:lnTo>
                    <a:pt x="0" y="1730565"/>
                  </a:lnTo>
                  <a:lnTo>
                    <a:pt x="234693" y="1730565"/>
                  </a:lnTo>
                  <a:lnTo>
                    <a:pt x="469385" y="865289"/>
                  </a:lnTo>
                  <a:lnTo>
                    <a:pt x="234693" y="0"/>
                  </a:lnTo>
                  <a:close/>
                </a:path>
              </a:pathLst>
            </a:custGeom>
            <a:solidFill>
              <a:srgbClr val="000000">
                <a:alpha val="2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377662" y="5106314"/>
              <a:ext cx="469900" cy="1731010"/>
            </a:xfrm>
            <a:custGeom>
              <a:avLst/>
              <a:gdLst/>
              <a:ahLst/>
              <a:cxnLst/>
              <a:rect l="l" t="t" r="r" b="b"/>
              <a:pathLst>
                <a:path w="469900" h="1731009">
                  <a:moveTo>
                    <a:pt x="234693" y="0"/>
                  </a:moveTo>
                  <a:lnTo>
                    <a:pt x="0" y="0"/>
                  </a:lnTo>
                  <a:lnTo>
                    <a:pt x="234693" y="865289"/>
                  </a:lnTo>
                  <a:lnTo>
                    <a:pt x="0" y="1730565"/>
                  </a:lnTo>
                  <a:lnTo>
                    <a:pt x="234693" y="1730565"/>
                  </a:lnTo>
                  <a:lnTo>
                    <a:pt x="469385" y="865289"/>
                  </a:lnTo>
                  <a:lnTo>
                    <a:pt x="234693" y="0"/>
                  </a:lnTo>
                  <a:close/>
                </a:path>
              </a:pathLst>
            </a:custGeom>
            <a:solidFill>
              <a:srgbClr val="20B95C">
                <a:alpha val="4862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33924" y="4961267"/>
              <a:ext cx="808990" cy="806450"/>
            </a:xfrm>
            <a:custGeom>
              <a:avLst/>
              <a:gdLst/>
              <a:ahLst/>
              <a:cxnLst/>
              <a:rect l="l" t="t" r="r" b="b"/>
              <a:pathLst>
                <a:path w="808989" h="806450">
                  <a:moveTo>
                    <a:pt x="808626" y="0"/>
                  </a:moveTo>
                  <a:lnTo>
                    <a:pt x="0" y="0"/>
                  </a:lnTo>
                  <a:lnTo>
                    <a:pt x="0" y="806043"/>
                  </a:lnTo>
                  <a:lnTo>
                    <a:pt x="808626" y="806043"/>
                  </a:lnTo>
                  <a:lnTo>
                    <a:pt x="808626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04817" y="3534028"/>
              <a:ext cx="808990" cy="2233295"/>
            </a:xfrm>
            <a:custGeom>
              <a:avLst/>
              <a:gdLst/>
              <a:ahLst/>
              <a:cxnLst/>
              <a:rect l="l" t="t" r="r" b="b"/>
              <a:pathLst>
                <a:path w="808989" h="2233295">
                  <a:moveTo>
                    <a:pt x="808634" y="0"/>
                  </a:moveTo>
                  <a:lnTo>
                    <a:pt x="0" y="0"/>
                  </a:lnTo>
                  <a:lnTo>
                    <a:pt x="0" y="2233282"/>
                  </a:lnTo>
                  <a:lnTo>
                    <a:pt x="808634" y="2233282"/>
                  </a:lnTo>
                  <a:lnTo>
                    <a:pt x="808634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52789" y="5776836"/>
              <a:ext cx="3542029" cy="47625"/>
            </a:xfrm>
            <a:custGeom>
              <a:avLst/>
              <a:gdLst/>
              <a:ahLst/>
              <a:cxnLst/>
              <a:rect l="l" t="t" r="r" b="b"/>
              <a:pathLst>
                <a:path w="3542029" h="47625">
                  <a:moveTo>
                    <a:pt x="0" y="0"/>
                  </a:moveTo>
                  <a:lnTo>
                    <a:pt x="3541788" y="0"/>
                  </a:lnTo>
                </a:path>
                <a:path w="3542029" h="47625">
                  <a:moveTo>
                    <a:pt x="0" y="0"/>
                  </a:moveTo>
                  <a:lnTo>
                    <a:pt x="0" y="47625"/>
                  </a:lnTo>
                </a:path>
                <a:path w="3542029" h="47625">
                  <a:moveTo>
                    <a:pt x="1770900" y="0"/>
                  </a:moveTo>
                  <a:lnTo>
                    <a:pt x="1770900" y="47625"/>
                  </a:lnTo>
                </a:path>
                <a:path w="3542029" h="47625">
                  <a:moveTo>
                    <a:pt x="3541788" y="0"/>
                  </a:moveTo>
                  <a:lnTo>
                    <a:pt x="3541788" y="47625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4273" y="3918206"/>
              <a:ext cx="1261487" cy="126148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893463" y="4382592"/>
            <a:ext cx="534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20%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25274" y="5928017"/>
            <a:ext cx="8261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33E"/>
                </a:solidFill>
                <a:latin typeface="Arial"/>
                <a:cs typeface="Arial"/>
              </a:rPr>
              <a:t>TSR</a:t>
            </a:r>
            <a:r>
              <a:rPr dirty="0" sz="1400" spc="-20" b="1">
                <a:solidFill>
                  <a:srgbClr val="10233E"/>
                </a:solidFill>
                <a:latin typeface="Arial"/>
                <a:cs typeface="Arial"/>
              </a:rPr>
              <a:t> 2025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4486" y="5928017"/>
            <a:ext cx="13690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33E"/>
                </a:solidFill>
                <a:latin typeface="Arial"/>
                <a:cs typeface="Arial"/>
              </a:rPr>
              <a:t>TSR</a:t>
            </a:r>
            <a:r>
              <a:rPr dirty="0" sz="1400" spc="-20" b="1">
                <a:solidFill>
                  <a:srgbClr val="10233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33E"/>
                </a:solidFill>
                <a:latin typeface="Arial"/>
                <a:cs typeface="Arial"/>
              </a:rPr>
              <a:t>2030</a:t>
            </a:r>
            <a:r>
              <a:rPr dirty="0" sz="1400" spc="-15" b="1">
                <a:solidFill>
                  <a:srgbClr val="10233E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33E"/>
                </a:solidFill>
                <a:latin typeface="Arial"/>
                <a:cs typeface="Arial"/>
              </a:rPr>
              <a:t>target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8964" y="6494297"/>
            <a:ext cx="1306207" cy="219396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31972" y="6788277"/>
            <a:ext cx="20707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Greater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use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of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20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Fuels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48622" y="7421702"/>
            <a:ext cx="23964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Waste</a:t>
            </a:r>
            <a:r>
              <a:rPr dirty="0" sz="1600" spc="-3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derived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1600" spc="-2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bio-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mass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31972" y="7849692"/>
            <a:ext cx="291782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reliance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fossil fuels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6617" y="8271523"/>
            <a:ext cx="19342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CBAM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Burden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032904" y="3368281"/>
            <a:ext cx="1369060" cy="5062220"/>
            <a:chOff x="7032904" y="3368281"/>
            <a:chExt cx="1369060" cy="5062220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2904" y="5995517"/>
              <a:ext cx="1368602" cy="243467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33602" y="3368281"/>
              <a:ext cx="1298190" cy="247347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249449" y="3749331"/>
            <a:ext cx="2762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TSR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49449" y="4917922"/>
            <a:ext cx="2028189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fossil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fuel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consumption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65452" y="6229781"/>
            <a:ext cx="279082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energy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and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emissions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27275" y="7583487"/>
            <a:ext cx="201422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Reduced</a:t>
            </a:r>
            <a:r>
              <a:rPr dirty="0" sz="2000" spc="-10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carbon exposure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37017" y="3581527"/>
            <a:ext cx="7298690" cy="4512945"/>
            <a:chOff x="8937017" y="3581527"/>
            <a:chExt cx="7298690" cy="4512945"/>
          </a:xfrm>
        </p:grpSpPr>
        <p:sp>
          <p:nvSpPr>
            <p:cNvPr id="34" name="object 34"/>
            <p:cNvSpPr/>
            <p:nvPr/>
          </p:nvSpPr>
          <p:spPr>
            <a:xfrm>
              <a:off x="9015120" y="4382960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10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44700" y="4709109"/>
              <a:ext cx="152383" cy="1533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007436" y="7086892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09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37017" y="7413040"/>
              <a:ext cx="152383" cy="1533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015120" y="5576671"/>
              <a:ext cx="8255" cy="461009"/>
            </a:xfrm>
            <a:custGeom>
              <a:avLst/>
              <a:gdLst/>
              <a:ahLst/>
              <a:cxnLst/>
              <a:rect l="l" t="t" r="r" b="b"/>
              <a:pathLst>
                <a:path w="8254" h="461010">
                  <a:moveTo>
                    <a:pt x="0" y="0"/>
                  </a:moveTo>
                  <a:lnTo>
                    <a:pt x="7677" y="460438"/>
                  </a:lnTo>
                </a:path>
              </a:pathLst>
            </a:custGeom>
            <a:ln w="380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44700" y="5902820"/>
              <a:ext cx="152383" cy="1533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459332" y="7906410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59" h="187959">
                  <a:moveTo>
                    <a:pt x="100114" y="0"/>
                  </a:moveTo>
                  <a:lnTo>
                    <a:pt x="0" y="187553"/>
                  </a:lnTo>
                  <a:lnTo>
                    <a:pt x="200228" y="187553"/>
                  </a:lnTo>
                  <a:lnTo>
                    <a:pt x="10011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2495796" y="3581527"/>
              <a:ext cx="3740150" cy="1458595"/>
            </a:xfrm>
            <a:custGeom>
              <a:avLst/>
              <a:gdLst/>
              <a:ahLst/>
              <a:cxnLst/>
              <a:rect l="l" t="t" r="r" b="b"/>
              <a:pathLst>
                <a:path w="3740150" h="1458595">
                  <a:moveTo>
                    <a:pt x="3496906" y="0"/>
                  </a:moveTo>
                  <a:lnTo>
                    <a:pt x="243009" y="0"/>
                  </a:lnTo>
                  <a:lnTo>
                    <a:pt x="194292" y="4974"/>
                  </a:lnTo>
                  <a:lnTo>
                    <a:pt x="148798" y="19224"/>
                  </a:lnTo>
                  <a:lnTo>
                    <a:pt x="107535" y="41740"/>
                  </a:lnTo>
                  <a:lnTo>
                    <a:pt x="71513" y="71515"/>
                  </a:lnTo>
                  <a:lnTo>
                    <a:pt x="41739" y="107538"/>
                  </a:lnTo>
                  <a:lnTo>
                    <a:pt x="19223" y="148802"/>
                  </a:lnTo>
                  <a:lnTo>
                    <a:pt x="4973" y="194297"/>
                  </a:lnTo>
                  <a:lnTo>
                    <a:pt x="0" y="243014"/>
                  </a:lnTo>
                  <a:lnTo>
                    <a:pt x="0" y="1215021"/>
                  </a:lnTo>
                  <a:lnTo>
                    <a:pt x="4973" y="1263738"/>
                  </a:lnTo>
                  <a:lnTo>
                    <a:pt x="19223" y="1309233"/>
                  </a:lnTo>
                  <a:lnTo>
                    <a:pt x="41739" y="1350497"/>
                  </a:lnTo>
                  <a:lnTo>
                    <a:pt x="71513" y="1386520"/>
                  </a:lnTo>
                  <a:lnTo>
                    <a:pt x="107535" y="1416295"/>
                  </a:lnTo>
                  <a:lnTo>
                    <a:pt x="148798" y="1438812"/>
                  </a:lnTo>
                  <a:lnTo>
                    <a:pt x="194292" y="1453062"/>
                  </a:lnTo>
                  <a:lnTo>
                    <a:pt x="243009" y="1458036"/>
                  </a:lnTo>
                  <a:lnTo>
                    <a:pt x="3496906" y="1458036"/>
                  </a:lnTo>
                  <a:lnTo>
                    <a:pt x="3545623" y="1453062"/>
                  </a:lnTo>
                  <a:lnTo>
                    <a:pt x="3591116" y="1438812"/>
                  </a:lnTo>
                  <a:lnTo>
                    <a:pt x="3632378" y="1416295"/>
                  </a:lnTo>
                  <a:lnTo>
                    <a:pt x="3668399" y="1386520"/>
                  </a:lnTo>
                  <a:lnTo>
                    <a:pt x="3698172" y="1350497"/>
                  </a:lnTo>
                  <a:lnTo>
                    <a:pt x="3720686" y="1309233"/>
                  </a:lnTo>
                  <a:lnTo>
                    <a:pt x="3734935" y="1263738"/>
                  </a:lnTo>
                  <a:lnTo>
                    <a:pt x="3739908" y="1215021"/>
                  </a:lnTo>
                  <a:lnTo>
                    <a:pt x="3739908" y="243014"/>
                  </a:lnTo>
                  <a:lnTo>
                    <a:pt x="3734935" y="194297"/>
                  </a:lnTo>
                  <a:lnTo>
                    <a:pt x="3720686" y="148802"/>
                  </a:lnTo>
                  <a:lnTo>
                    <a:pt x="3698172" y="107538"/>
                  </a:lnTo>
                  <a:lnTo>
                    <a:pt x="3668399" y="71515"/>
                  </a:lnTo>
                  <a:lnTo>
                    <a:pt x="3632378" y="41740"/>
                  </a:lnTo>
                  <a:lnTo>
                    <a:pt x="3591116" y="19224"/>
                  </a:lnTo>
                  <a:lnTo>
                    <a:pt x="3545623" y="4974"/>
                  </a:lnTo>
                  <a:lnTo>
                    <a:pt x="3496906" y="0"/>
                  </a:lnTo>
                  <a:close/>
                </a:path>
              </a:pathLst>
            </a:custGeom>
            <a:solidFill>
              <a:srgbClr val="00AF50">
                <a:alpha val="2470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95796" y="3799687"/>
              <a:ext cx="903823" cy="102172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391007" y="3784828"/>
            <a:ext cx="2441575" cy="10331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15"/>
              </a:lnSpc>
              <a:spcBef>
                <a:spcPts val="100"/>
              </a:spcBef>
            </a:pPr>
            <a:r>
              <a:rPr dirty="0" sz="3200" b="1">
                <a:solidFill>
                  <a:srgbClr val="00461F"/>
                </a:solidFill>
                <a:latin typeface="Arial"/>
                <a:cs typeface="Arial"/>
              </a:rPr>
              <a:t>EGP</a:t>
            </a:r>
            <a:r>
              <a:rPr dirty="0" sz="3200" spc="-30" b="1">
                <a:solidFill>
                  <a:srgbClr val="00461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0461F"/>
                </a:solidFill>
                <a:latin typeface="Arial"/>
                <a:cs typeface="Arial"/>
              </a:rPr>
              <a:t>1.12</a:t>
            </a:r>
            <a:r>
              <a:rPr dirty="0" sz="3200" spc="-25" b="1">
                <a:solidFill>
                  <a:srgbClr val="00461F"/>
                </a:solidFill>
                <a:latin typeface="Arial"/>
                <a:cs typeface="Arial"/>
              </a:rPr>
              <a:t> Bn</a:t>
            </a:r>
            <a:endParaRPr sz="3200">
              <a:latin typeface="Arial"/>
              <a:cs typeface="Arial"/>
            </a:endParaRPr>
          </a:p>
          <a:p>
            <a:pPr marL="47625">
              <a:lnSpc>
                <a:spcPts val="1695"/>
              </a:lnSpc>
            </a:pP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Annual</a:t>
            </a:r>
            <a:r>
              <a:rPr dirty="0" sz="1600" spc="-3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fuel</a:t>
            </a:r>
            <a:r>
              <a:rPr dirty="0" sz="1600" spc="-3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cost</a:t>
            </a:r>
            <a:r>
              <a:rPr dirty="0" sz="1600" spc="-25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00632C"/>
                </a:solidFill>
                <a:latin typeface="Arial"/>
                <a:cs typeface="Arial"/>
              </a:rPr>
              <a:t>savings</a:t>
            </a:r>
            <a:endParaRPr sz="16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solidFill>
                  <a:srgbClr val="00632C"/>
                </a:solidFill>
                <a:latin typeface="Arial"/>
                <a:cs typeface="Arial"/>
              </a:rPr>
              <a:t>Vs.</a:t>
            </a:r>
            <a:r>
              <a:rPr dirty="0" sz="1400" spc="-2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32C"/>
                </a:solidFill>
                <a:latin typeface="Arial"/>
                <a:cs typeface="Arial"/>
              </a:rPr>
              <a:t>Base</a:t>
            </a:r>
            <a:r>
              <a:rPr dirty="0" sz="1400" spc="-15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0632C"/>
                </a:solidFill>
                <a:latin typeface="Arial"/>
                <a:cs typeface="Arial"/>
              </a:rPr>
              <a:t>case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411265" y="4584344"/>
            <a:ext cx="3824604" cy="2129155"/>
            <a:chOff x="12411265" y="4584344"/>
            <a:chExt cx="3824604" cy="2129155"/>
          </a:xfrm>
        </p:grpSpPr>
        <p:sp>
          <p:nvSpPr>
            <p:cNvPr id="46" name="object 46"/>
            <p:cNvSpPr/>
            <p:nvPr/>
          </p:nvSpPr>
          <p:spPr>
            <a:xfrm>
              <a:off x="13377722" y="4584344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59" h="187960">
                  <a:moveTo>
                    <a:pt x="100113" y="187553"/>
                  </a:moveTo>
                  <a:lnTo>
                    <a:pt x="200228" y="0"/>
                  </a:lnTo>
                  <a:lnTo>
                    <a:pt x="0" y="0"/>
                  </a:lnTo>
                  <a:lnTo>
                    <a:pt x="100113" y="18755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497790" y="5255069"/>
              <a:ext cx="3738245" cy="1458595"/>
            </a:xfrm>
            <a:custGeom>
              <a:avLst/>
              <a:gdLst/>
              <a:ahLst/>
              <a:cxnLst/>
              <a:rect l="l" t="t" r="r" b="b"/>
              <a:pathLst>
                <a:path w="3738244" h="1458595">
                  <a:moveTo>
                    <a:pt x="3494913" y="0"/>
                  </a:moveTo>
                  <a:lnTo>
                    <a:pt x="243009" y="0"/>
                  </a:lnTo>
                  <a:lnTo>
                    <a:pt x="194292" y="4974"/>
                  </a:lnTo>
                  <a:lnTo>
                    <a:pt x="148798" y="19224"/>
                  </a:lnTo>
                  <a:lnTo>
                    <a:pt x="107535" y="41740"/>
                  </a:lnTo>
                  <a:lnTo>
                    <a:pt x="71513" y="71515"/>
                  </a:lnTo>
                  <a:lnTo>
                    <a:pt x="41739" y="107538"/>
                  </a:lnTo>
                  <a:lnTo>
                    <a:pt x="19223" y="148802"/>
                  </a:lnTo>
                  <a:lnTo>
                    <a:pt x="4973" y="194297"/>
                  </a:lnTo>
                  <a:lnTo>
                    <a:pt x="0" y="243014"/>
                  </a:lnTo>
                  <a:lnTo>
                    <a:pt x="0" y="1215021"/>
                  </a:lnTo>
                  <a:lnTo>
                    <a:pt x="4973" y="1263738"/>
                  </a:lnTo>
                  <a:lnTo>
                    <a:pt x="19223" y="1309233"/>
                  </a:lnTo>
                  <a:lnTo>
                    <a:pt x="41739" y="1350497"/>
                  </a:lnTo>
                  <a:lnTo>
                    <a:pt x="71513" y="1386520"/>
                  </a:lnTo>
                  <a:lnTo>
                    <a:pt x="107535" y="1416295"/>
                  </a:lnTo>
                  <a:lnTo>
                    <a:pt x="148798" y="1438812"/>
                  </a:lnTo>
                  <a:lnTo>
                    <a:pt x="194292" y="1453062"/>
                  </a:lnTo>
                  <a:lnTo>
                    <a:pt x="243009" y="1458036"/>
                  </a:lnTo>
                  <a:lnTo>
                    <a:pt x="3494913" y="1458036"/>
                  </a:lnTo>
                  <a:lnTo>
                    <a:pt x="3543630" y="1453062"/>
                  </a:lnTo>
                  <a:lnTo>
                    <a:pt x="3589124" y="1438812"/>
                  </a:lnTo>
                  <a:lnTo>
                    <a:pt x="3630388" y="1416295"/>
                  </a:lnTo>
                  <a:lnTo>
                    <a:pt x="3666412" y="1386520"/>
                  </a:lnTo>
                  <a:lnTo>
                    <a:pt x="3696186" y="1350497"/>
                  </a:lnTo>
                  <a:lnTo>
                    <a:pt x="3718703" y="1309233"/>
                  </a:lnTo>
                  <a:lnTo>
                    <a:pt x="3732953" y="1263738"/>
                  </a:lnTo>
                  <a:lnTo>
                    <a:pt x="3737927" y="1215021"/>
                  </a:lnTo>
                  <a:lnTo>
                    <a:pt x="3737927" y="243014"/>
                  </a:lnTo>
                  <a:lnTo>
                    <a:pt x="3732953" y="194297"/>
                  </a:lnTo>
                  <a:lnTo>
                    <a:pt x="3718703" y="148802"/>
                  </a:lnTo>
                  <a:lnTo>
                    <a:pt x="3696186" y="107538"/>
                  </a:lnTo>
                  <a:lnTo>
                    <a:pt x="3666412" y="71515"/>
                  </a:lnTo>
                  <a:lnTo>
                    <a:pt x="3630388" y="41740"/>
                  </a:lnTo>
                  <a:lnTo>
                    <a:pt x="3589124" y="19224"/>
                  </a:lnTo>
                  <a:lnTo>
                    <a:pt x="3543630" y="4974"/>
                  </a:lnTo>
                  <a:lnTo>
                    <a:pt x="3494913" y="0"/>
                  </a:lnTo>
                  <a:close/>
                </a:path>
              </a:pathLst>
            </a:custGeom>
            <a:solidFill>
              <a:srgbClr val="006FC0">
                <a:alpha val="2470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11265" y="5504497"/>
              <a:ext cx="1123142" cy="95918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3430504" y="5371782"/>
            <a:ext cx="24193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244060"/>
                </a:solidFill>
                <a:latin typeface="Arial"/>
                <a:cs typeface="Arial"/>
              </a:rPr>
              <a:t>0.39</a:t>
            </a: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 MtCO</a:t>
            </a:r>
            <a:r>
              <a:rPr dirty="0" sz="3200" spc="-10" b="1">
                <a:solidFill>
                  <a:srgbClr val="244060"/>
                </a:solidFill>
                <a:latin typeface="Trebuchet MS"/>
                <a:cs typeface="Trebuchet MS"/>
              </a:rPr>
              <a:t>₂</a:t>
            </a:r>
            <a:r>
              <a:rPr dirty="0" sz="3200" spc="-10" b="1">
                <a:solidFill>
                  <a:srgbClr val="244060"/>
                </a:solidFill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489305" y="5765774"/>
            <a:ext cx="18542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00632C"/>
                </a:solidFill>
                <a:latin typeface="Arial"/>
                <a:cs typeface="Arial"/>
              </a:rPr>
              <a:t>Incremental avoided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489305" y="5918174"/>
            <a:ext cx="24758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emissions</a:t>
            </a:r>
            <a:r>
              <a:rPr dirty="0" sz="1600" spc="-15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from</a:t>
            </a:r>
            <a:r>
              <a:rPr dirty="0" sz="1600" spc="-1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higher</a:t>
            </a:r>
            <a:r>
              <a:rPr dirty="0" sz="1600" spc="-15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00632C"/>
                </a:solidFill>
                <a:latin typeface="Arial"/>
                <a:cs typeface="Arial"/>
              </a:rPr>
              <a:t>TSR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731747" y="6167488"/>
            <a:ext cx="7270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44060"/>
                </a:solidFill>
                <a:latin typeface="Arial"/>
                <a:cs typeface="Arial"/>
              </a:rPr>
              <a:t>Vs.</a:t>
            </a:r>
            <a:r>
              <a:rPr dirty="0" sz="14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244060"/>
                </a:solidFill>
                <a:latin typeface="Arial"/>
                <a:cs typeface="Arial"/>
              </a:rPr>
              <a:t>2025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2534328" y="6215024"/>
            <a:ext cx="3701415" cy="2171700"/>
            <a:chOff x="12534328" y="6215024"/>
            <a:chExt cx="3701415" cy="2171700"/>
          </a:xfrm>
        </p:grpSpPr>
        <p:sp>
          <p:nvSpPr>
            <p:cNvPr id="54" name="object 54"/>
            <p:cNvSpPr/>
            <p:nvPr/>
          </p:nvSpPr>
          <p:spPr>
            <a:xfrm>
              <a:off x="13482244" y="6215024"/>
              <a:ext cx="200660" cy="187960"/>
            </a:xfrm>
            <a:custGeom>
              <a:avLst/>
              <a:gdLst/>
              <a:ahLst/>
              <a:cxnLst/>
              <a:rect l="l" t="t" r="r" b="b"/>
              <a:pathLst>
                <a:path w="200659" h="187960">
                  <a:moveTo>
                    <a:pt x="100113" y="187553"/>
                  </a:moveTo>
                  <a:lnTo>
                    <a:pt x="200228" y="0"/>
                  </a:lnTo>
                  <a:lnTo>
                    <a:pt x="0" y="0"/>
                  </a:lnTo>
                  <a:lnTo>
                    <a:pt x="100113" y="18755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2534328" y="6928612"/>
              <a:ext cx="3701415" cy="1458595"/>
            </a:xfrm>
            <a:custGeom>
              <a:avLst/>
              <a:gdLst/>
              <a:ahLst/>
              <a:cxnLst/>
              <a:rect l="l" t="t" r="r" b="b"/>
              <a:pathLst>
                <a:path w="3701415" h="1458595">
                  <a:moveTo>
                    <a:pt x="3458375" y="0"/>
                  </a:moveTo>
                  <a:lnTo>
                    <a:pt x="243009" y="0"/>
                  </a:lnTo>
                  <a:lnTo>
                    <a:pt x="194292" y="4974"/>
                  </a:lnTo>
                  <a:lnTo>
                    <a:pt x="148798" y="19224"/>
                  </a:lnTo>
                  <a:lnTo>
                    <a:pt x="107535" y="41740"/>
                  </a:lnTo>
                  <a:lnTo>
                    <a:pt x="71513" y="71515"/>
                  </a:lnTo>
                  <a:lnTo>
                    <a:pt x="41739" y="107538"/>
                  </a:lnTo>
                  <a:lnTo>
                    <a:pt x="19223" y="148802"/>
                  </a:lnTo>
                  <a:lnTo>
                    <a:pt x="4973" y="194297"/>
                  </a:lnTo>
                  <a:lnTo>
                    <a:pt x="0" y="243014"/>
                  </a:lnTo>
                  <a:lnTo>
                    <a:pt x="0" y="1215021"/>
                  </a:lnTo>
                  <a:lnTo>
                    <a:pt x="4973" y="1263738"/>
                  </a:lnTo>
                  <a:lnTo>
                    <a:pt x="19223" y="1309233"/>
                  </a:lnTo>
                  <a:lnTo>
                    <a:pt x="41739" y="1350497"/>
                  </a:lnTo>
                  <a:lnTo>
                    <a:pt x="71513" y="1386520"/>
                  </a:lnTo>
                  <a:lnTo>
                    <a:pt x="107535" y="1416295"/>
                  </a:lnTo>
                  <a:lnTo>
                    <a:pt x="148798" y="1438812"/>
                  </a:lnTo>
                  <a:lnTo>
                    <a:pt x="194292" y="1453062"/>
                  </a:lnTo>
                  <a:lnTo>
                    <a:pt x="243009" y="1458036"/>
                  </a:lnTo>
                  <a:lnTo>
                    <a:pt x="3458375" y="1458036"/>
                  </a:lnTo>
                  <a:lnTo>
                    <a:pt x="3507092" y="1453062"/>
                  </a:lnTo>
                  <a:lnTo>
                    <a:pt x="3552587" y="1438812"/>
                  </a:lnTo>
                  <a:lnTo>
                    <a:pt x="3593850" y="1416295"/>
                  </a:lnTo>
                  <a:lnTo>
                    <a:pt x="3629874" y="1386520"/>
                  </a:lnTo>
                  <a:lnTo>
                    <a:pt x="3659648" y="1350497"/>
                  </a:lnTo>
                  <a:lnTo>
                    <a:pt x="3682165" y="1309233"/>
                  </a:lnTo>
                  <a:lnTo>
                    <a:pt x="3696415" y="1263738"/>
                  </a:lnTo>
                  <a:lnTo>
                    <a:pt x="3701389" y="1215021"/>
                  </a:lnTo>
                  <a:lnTo>
                    <a:pt x="3701389" y="243014"/>
                  </a:lnTo>
                  <a:lnTo>
                    <a:pt x="3696415" y="194297"/>
                  </a:lnTo>
                  <a:lnTo>
                    <a:pt x="3682165" y="148802"/>
                  </a:lnTo>
                  <a:lnTo>
                    <a:pt x="3659648" y="107538"/>
                  </a:lnTo>
                  <a:lnTo>
                    <a:pt x="3629874" y="71515"/>
                  </a:lnTo>
                  <a:lnTo>
                    <a:pt x="3593850" y="41740"/>
                  </a:lnTo>
                  <a:lnTo>
                    <a:pt x="3552587" y="19224"/>
                  </a:lnTo>
                  <a:lnTo>
                    <a:pt x="3507092" y="4974"/>
                  </a:lnTo>
                  <a:lnTo>
                    <a:pt x="3458375" y="0"/>
                  </a:lnTo>
                  <a:close/>
                </a:path>
              </a:pathLst>
            </a:custGeom>
            <a:solidFill>
              <a:srgbClr val="20B95C">
                <a:alpha val="2470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13405992" y="7083576"/>
            <a:ext cx="24415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461F"/>
                </a:solidFill>
                <a:latin typeface="Arial"/>
                <a:cs typeface="Arial"/>
              </a:rPr>
              <a:t>EGP</a:t>
            </a:r>
            <a:r>
              <a:rPr dirty="0" sz="3200" spc="-30" b="1">
                <a:solidFill>
                  <a:srgbClr val="00461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0461F"/>
                </a:solidFill>
                <a:latin typeface="Arial"/>
                <a:cs typeface="Arial"/>
              </a:rPr>
              <a:t>0.98</a:t>
            </a:r>
            <a:r>
              <a:rPr dirty="0" sz="3200" spc="-25" b="1">
                <a:solidFill>
                  <a:srgbClr val="00461F"/>
                </a:solidFill>
                <a:latin typeface="Arial"/>
                <a:cs typeface="Arial"/>
              </a:rPr>
              <a:t> Bn</a:t>
            </a:r>
            <a:endParaRPr sz="3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436854" y="7510665"/>
            <a:ext cx="2271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Net ESG </a:t>
            </a:r>
            <a:r>
              <a:rPr dirty="0" sz="1600" spc="-520">
                <a:solidFill>
                  <a:srgbClr val="00632C"/>
                </a:solidFill>
                <a:latin typeface="Arial"/>
                <a:cs typeface="Arial"/>
              </a:rPr>
              <a:t>E</a:t>
            </a:r>
            <a:r>
              <a:rPr dirty="0" baseline="4629" sz="2700" spc="-37">
                <a:solidFill>
                  <a:srgbClr val="FFFFFF"/>
                </a:solidFill>
                <a:latin typeface="Calibri"/>
                <a:cs typeface="Calibri"/>
              </a:rPr>
              <a:t>`</a:t>
            </a:r>
            <a:r>
              <a:rPr dirty="0" sz="1600" spc="-5">
                <a:solidFill>
                  <a:srgbClr val="00632C"/>
                </a:solidFill>
                <a:latin typeface="Arial"/>
                <a:cs typeface="Arial"/>
              </a:rPr>
              <a:t>BIT</a:t>
            </a:r>
            <a:r>
              <a:rPr dirty="0" sz="1600" spc="-10">
                <a:solidFill>
                  <a:srgbClr val="00632C"/>
                </a:solidFill>
                <a:latin typeface="Arial"/>
                <a:cs typeface="Arial"/>
              </a:rPr>
              <a:t>D</a:t>
            </a:r>
            <a:r>
              <a:rPr dirty="0" sz="1600" spc="-5">
                <a:solidFill>
                  <a:srgbClr val="00632C"/>
                </a:solidFill>
                <a:latin typeface="Arial"/>
                <a:cs typeface="Arial"/>
              </a:rPr>
              <a:t>A</a:t>
            </a:r>
            <a:r>
              <a:rPr dirty="0" sz="160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00632C"/>
                </a:solidFill>
                <a:latin typeface="Arial"/>
                <a:cs typeface="Arial"/>
              </a:rPr>
              <a:t>impact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697838" y="7877974"/>
            <a:ext cx="6781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0632C"/>
                </a:solidFill>
                <a:latin typeface="Arial"/>
                <a:cs typeface="Arial"/>
              </a:rPr>
              <a:t>By</a:t>
            </a:r>
            <a:r>
              <a:rPr dirty="0" sz="1400" spc="-10">
                <a:solidFill>
                  <a:srgbClr val="00632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0632C"/>
                </a:solidFill>
                <a:latin typeface="Arial"/>
                <a:cs typeface="Arial"/>
              </a:rPr>
              <a:t>2030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55007" y="808777"/>
            <a:ext cx="16015335" cy="7595234"/>
            <a:chOff x="555007" y="808777"/>
            <a:chExt cx="16015335" cy="7595234"/>
          </a:xfrm>
        </p:grpSpPr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412039" y="7119835"/>
              <a:ext cx="1246229" cy="128360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615983" y="498886"/>
            <a:ext cx="6374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Scenario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Integration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96936" y="8825166"/>
            <a:ext cx="83673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*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Scenario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assumptions: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EU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exposure,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importer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burden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sharing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808080"/>
                </a:solidFill>
                <a:latin typeface="Calibri"/>
                <a:cs typeface="Calibri"/>
              </a:rPr>
              <a:t>carbon-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price</a:t>
            </a:r>
            <a:r>
              <a:rPr dirty="0" sz="1400" spc="-30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trajectory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are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808080"/>
                </a:solidFill>
                <a:latin typeface="Calibri"/>
                <a:cs typeface="Calibri"/>
              </a:rPr>
              <a:t>analyst</a:t>
            </a:r>
            <a:r>
              <a:rPr dirty="0" sz="1400" spc="-35" i="1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808080"/>
                </a:solidFill>
                <a:latin typeface="Calibri"/>
                <a:cs typeface="Calibri"/>
              </a:rPr>
              <a:t>assumptions.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0" y="9349307"/>
              <a:ext cx="8471535" cy="937894"/>
            </a:xfrm>
            <a:custGeom>
              <a:avLst/>
              <a:gdLst/>
              <a:ahLst/>
              <a:cxnLst/>
              <a:rect l="l" t="t" r="r" b="b"/>
              <a:pathLst>
                <a:path w="8471535" h="937895">
                  <a:moveTo>
                    <a:pt x="1851177" y="481609"/>
                  </a:moveTo>
                  <a:lnTo>
                    <a:pt x="139622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20317" y="937691"/>
                  </a:lnTo>
                  <a:lnTo>
                    <a:pt x="1851177" y="481609"/>
                  </a:lnTo>
                  <a:close/>
                </a:path>
                <a:path w="8471535" h="937895">
                  <a:moveTo>
                    <a:pt x="3527742" y="481609"/>
                  </a:moveTo>
                  <a:lnTo>
                    <a:pt x="3072790" y="0"/>
                  </a:lnTo>
                  <a:lnTo>
                    <a:pt x="1519453" y="0"/>
                  </a:lnTo>
                  <a:lnTo>
                    <a:pt x="1974405" y="481609"/>
                  </a:lnTo>
                  <a:lnTo>
                    <a:pt x="1543545" y="937691"/>
                  </a:lnTo>
                  <a:lnTo>
                    <a:pt x="3096882" y="937691"/>
                  </a:lnTo>
                  <a:lnTo>
                    <a:pt x="3527742" y="481609"/>
                  </a:lnTo>
                  <a:close/>
                </a:path>
                <a:path w="8471535" h="937895">
                  <a:moveTo>
                    <a:pt x="5245468" y="481609"/>
                  </a:moveTo>
                  <a:lnTo>
                    <a:pt x="4790503" y="0"/>
                  </a:lnTo>
                  <a:lnTo>
                    <a:pt x="3199714" y="0"/>
                  </a:lnTo>
                  <a:lnTo>
                    <a:pt x="3654679" y="481609"/>
                  </a:lnTo>
                  <a:lnTo>
                    <a:pt x="3223818" y="937691"/>
                  </a:lnTo>
                  <a:lnTo>
                    <a:pt x="4814608" y="937691"/>
                  </a:lnTo>
                  <a:lnTo>
                    <a:pt x="5245468" y="481609"/>
                  </a:lnTo>
                  <a:close/>
                </a:path>
                <a:path w="8471535" h="937895">
                  <a:moveTo>
                    <a:pt x="6928790" y="481609"/>
                  </a:moveTo>
                  <a:lnTo>
                    <a:pt x="6473825" y="0"/>
                  </a:lnTo>
                  <a:lnTo>
                    <a:pt x="4916475" y="0"/>
                  </a:lnTo>
                  <a:lnTo>
                    <a:pt x="5371427" y="481609"/>
                  </a:lnTo>
                  <a:lnTo>
                    <a:pt x="4940566" y="937691"/>
                  </a:lnTo>
                  <a:lnTo>
                    <a:pt x="6497917" y="937691"/>
                  </a:lnTo>
                  <a:lnTo>
                    <a:pt x="6928790" y="481609"/>
                  </a:lnTo>
                  <a:close/>
                </a:path>
                <a:path w="8471535" h="937895">
                  <a:moveTo>
                    <a:pt x="8471154" y="481609"/>
                  </a:moveTo>
                  <a:lnTo>
                    <a:pt x="8016202" y="0"/>
                  </a:lnTo>
                  <a:lnTo>
                    <a:pt x="6594818" y="0"/>
                  </a:lnTo>
                  <a:lnTo>
                    <a:pt x="7049783" y="481609"/>
                  </a:lnTo>
                  <a:lnTo>
                    <a:pt x="6618922" y="937691"/>
                  </a:lnTo>
                  <a:lnTo>
                    <a:pt x="8040306" y="937691"/>
                  </a:lnTo>
                  <a:lnTo>
                    <a:pt x="847115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8166950" y="9349307"/>
              <a:ext cx="4658360" cy="937894"/>
            </a:xfrm>
            <a:custGeom>
              <a:avLst/>
              <a:gdLst/>
              <a:ahLst/>
              <a:cxnLst/>
              <a:rect l="l" t="t" r="r" b="b"/>
              <a:pathLst>
                <a:path w="4658359" h="937895">
                  <a:moveTo>
                    <a:pt x="4202938" y="0"/>
                  </a:moveTo>
                  <a:lnTo>
                    <a:pt x="0" y="0"/>
                  </a:lnTo>
                  <a:lnTo>
                    <a:pt x="454957" y="481609"/>
                  </a:lnTo>
                  <a:lnTo>
                    <a:pt x="24102" y="937691"/>
                  </a:lnTo>
                  <a:lnTo>
                    <a:pt x="4227041" y="937691"/>
                  </a:lnTo>
                  <a:lnTo>
                    <a:pt x="4657902" y="481609"/>
                  </a:lnTo>
                  <a:lnTo>
                    <a:pt x="420293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707" y="9520503"/>
              <a:ext cx="810684" cy="62423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31275" y="9500425"/>
              <a:ext cx="584650" cy="66437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65549" y="9475558"/>
              <a:ext cx="714113" cy="71410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8878" y="9470681"/>
              <a:ext cx="737426" cy="71898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82297" y="9470681"/>
              <a:ext cx="679126" cy="76306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07983" y="9470681"/>
              <a:ext cx="560812" cy="718985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0465" y="270856"/>
            <a:ext cx="17757775" cy="10016490"/>
            <a:chOff x="530465" y="270856"/>
            <a:chExt cx="17757775" cy="1001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2579" y="1769414"/>
              <a:ext cx="9795421" cy="8517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666" y="1769414"/>
              <a:ext cx="16712565" cy="7337425"/>
            </a:xfrm>
            <a:custGeom>
              <a:avLst/>
              <a:gdLst/>
              <a:ahLst/>
              <a:cxnLst/>
              <a:rect l="l" t="t" r="r" b="b"/>
              <a:pathLst>
                <a:path w="16712565" h="7337425">
                  <a:moveTo>
                    <a:pt x="15988157" y="0"/>
                  </a:moveTo>
                  <a:lnTo>
                    <a:pt x="724263" y="0"/>
                  </a:lnTo>
                  <a:lnTo>
                    <a:pt x="676939" y="1552"/>
                  </a:lnTo>
                  <a:lnTo>
                    <a:pt x="630389" y="6146"/>
                  </a:lnTo>
                  <a:lnTo>
                    <a:pt x="584711" y="13680"/>
                  </a:lnTo>
                  <a:lnTo>
                    <a:pt x="540005" y="24058"/>
                  </a:lnTo>
                  <a:lnTo>
                    <a:pt x="496369" y="37181"/>
                  </a:lnTo>
                  <a:lnTo>
                    <a:pt x="453900" y="52949"/>
                  </a:lnTo>
                  <a:lnTo>
                    <a:pt x="412699" y="71265"/>
                  </a:lnTo>
                  <a:lnTo>
                    <a:pt x="372863" y="92031"/>
                  </a:lnTo>
                  <a:lnTo>
                    <a:pt x="334490" y="115146"/>
                  </a:lnTo>
                  <a:lnTo>
                    <a:pt x="297680" y="140514"/>
                  </a:lnTo>
                  <a:lnTo>
                    <a:pt x="262531" y="168035"/>
                  </a:lnTo>
                  <a:lnTo>
                    <a:pt x="229141" y="197611"/>
                  </a:lnTo>
                  <a:lnTo>
                    <a:pt x="197609" y="229143"/>
                  </a:lnTo>
                  <a:lnTo>
                    <a:pt x="168033" y="262534"/>
                  </a:lnTo>
                  <a:lnTo>
                    <a:pt x="140512" y="297683"/>
                  </a:lnTo>
                  <a:lnTo>
                    <a:pt x="115145" y="334494"/>
                  </a:lnTo>
                  <a:lnTo>
                    <a:pt x="92029" y="372867"/>
                  </a:lnTo>
                  <a:lnTo>
                    <a:pt x="71264" y="412703"/>
                  </a:lnTo>
                  <a:lnTo>
                    <a:pt x="52949" y="453905"/>
                  </a:lnTo>
                  <a:lnTo>
                    <a:pt x="37180" y="496373"/>
                  </a:lnTo>
                  <a:lnTo>
                    <a:pt x="24058" y="540010"/>
                  </a:lnTo>
                  <a:lnTo>
                    <a:pt x="13680" y="584716"/>
                  </a:lnTo>
                  <a:lnTo>
                    <a:pt x="6145" y="630394"/>
                  </a:lnTo>
                  <a:lnTo>
                    <a:pt x="1552" y="676944"/>
                  </a:lnTo>
                  <a:lnTo>
                    <a:pt x="0" y="724268"/>
                  </a:lnTo>
                  <a:lnTo>
                    <a:pt x="0" y="6613017"/>
                  </a:lnTo>
                  <a:lnTo>
                    <a:pt x="1552" y="6660341"/>
                  </a:lnTo>
                  <a:lnTo>
                    <a:pt x="6145" y="6706891"/>
                  </a:lnTo>
                  <a:lnTo>
                    <a:pt x="13680" y="6752568"/>
                  </a:lnTo>
                  <a:lnTo>
                    <a:pt x="24058" y="6797274"/>
                  </a:lnTo>
                  <a:lnTo>
                    <a:pt x="37180" y="6840911"/>
                  </a:lnTo>
                  <a:lnTo>
                    <a:pt x="52949" y="6883380"/>
                  </a:lnTo>
                  <a:lnTo>
                    <a:pt x="71264" y="6924581"/>
                  </a:lnTo>
                  <a:lnTo>
                    <a:pt x="92029" y="6964418"/>
                  </a:lnTo>
                  <a:lnTo>
                    <a:pt x="115145" y="7002791"/>
                  </a:lnTo>
                  <a:lnTo>
                    <a:pt x="140512" y="7039601"/>
                  </a:lnTo>
                  <a:lnTo>
                    <a:pt x="168033" y="7074751"/>
                  </a:lnTo>
                  <a:lnTo>
                    <a:pt x="197609" y="7108141"/>
                  </a:lnTo>
                  <a:lnTo>
                    <a:pt x="229141" y="7139673"/>
                  </a:lnTo>
                  <a:lnTo>
                    <a:pt x="262531" y="7169249"/>
                  </a:lnTo>
                  <a:lnTo>
                    <a:pt x="297680" y="7196770"/>
                  </a:lnTo>
                  <a:lnTo>
                    <a:pt x="334490" y="7222138"/>
                  </a:lnTo>
                  <a:lnTo>
                    <a:pt x="372863" y="7245254"/>
                  </a:lnTo>
                  <a:lnTo>
                    <a:pt x="412699" y="7266019"/>
                  </a:lnTo>
                  <a:lnTo>
                    <a:pt x="453900" y="7284335"/>
                  </a:lnTo>
                  <a:lnTo>
                    <a:pt x="496369" y="7300104"/>
                  </a:lnTo>
                  <a:lnTo>
                    <a:pt x="540005" y="7313226"/>
                  </a:lnTo>
                  <a:lnTo>
                    <a:pt x="584711" y="7323604"/>
                  </a:lnTo>
                  <a:lnTo>
                    <a:pt x="630389" y="7331139"/>
                  </a:lnTo>
                  <a:lnTo>
                    <a:pt x="676939" y="7335732"/>
                  </a:lnTo>
                  <a:lnTo>
                    <a:pt x="724263" y="7337285"/>
                  </a:lnTo>
                  <a:lnTo>
                    <a:pt x="15988157" y="7337285"/>
                  </a:lnTo>
                  <a:lnTo>
                    <a:pt x="16035488" y="7335732"/>
                  </a:lnTo>
                  <a:lnTo>
                    <a:pt x="16082044" y="7331139"/>
                  </a:lnTo>
                  <a:lnTo>
                    <a:pt x="16127726" y="7323604"/>
                  </a:lnTo>
                  <a:lnTo>
                    <a:pt x="16172437" y="7313226"/>
                  </a:lnTo>
                  <a:lnTo>
                    <a:pt x="16216077" y="7300104"/>
                  </a:lnTo>
                  <a:lnTo>
                    <a:pt x="16258548" y="7284335"/>
                  </a:lnTo>
                  <a:lnTo>
                    <a:pt x="16299751" y="7266019"/>
                  </a:lnTo>
                  <a:lnTo>
                    <a:pt x="16339589" y="7245254"/>
                  </a:lnTo>
                  <a:lnTo>
                    <a:pt x="16377962" y="7222138"/>
                  </a:lnTo>
                  <a:lnTo>
                    <a:pt x="16414773" y="7196770"/>
                  </a:lnTo>
                  <a:lnTo>
                    <a:pt x="16449922" y="7169249"/>
                  </a:lnTo>
                  <a:lnTo>
                    <a:pt x="16483312" y="7139673"/>
                  </a:lnTo>
                  <a:lnTo>
                    <a:pt x="16514843" y="7108141"/>
                  </a:lnTo>
                  <a:lnTo>
                    <a:pt x="16544417" y="7074751"/>
                  </a:lnTo>
                  <a:lnTo>
                    <a:pt x="16571937" y="7039601"/>
                  </a:lnTo>
                  <a:lnTo>
                    <a:pt x="16597303" y="7002791"/>
                  </a:lnTo>
                  <a:lnTo>
                    <a:pt x="16620417" y="6964418"/>
                  </a:lnTo>
                  <a:lnTo>
                    <a:pt x="16641180" y="6924581"/>
                  </a:lnTo>
                  <a:lnTo>
                    <a:pt x="16659494" y="6883380"/>
                  </a:lnTo>
                  <a:lnTo>
                    <a:pt x="16675261" y="6840911"/>
                  </a:lnTo>
                  <a:lnTo>
                    <a:pt x="16688382" y="6797274"/>
                  </a:lnTo>
                  <a:lnTo>
                    <a:pt x="16698759" y="6752568"/>
                  </a:lnTo>
                  <a:lnTo>
                    <a:pt x="16706292" y="6706891"/>
                  </a:lnTo>
                  <a:lnTo>
                    <a:pt x="16710885" y="6660341"/>
                  </a:lnTo>
                  <a:lnTo>
                    <a:pt x="16712438" y="6613017"/>
                  </a:lnTo>
                  <a:lnTo>
                    <a:pt x="16712438" y="724268"/>
                  </a:lnTo>
                  <a:lnTo>
                    <a:pt x="16710885" y="676944"/>
                  </a:lnTo>
                  <a:lnTo>
                    <a:pt x="16706292" y="630394"/>
                  </a:lnTo>
                  <a:lnTo>
                    <a:pt x="16698759" y="584716"/>
                  </a:lnTo>
                  <a:lnTo>
                    <a:pt x="16688382" y="540010"/>
                  </a:lnTo>
                  <a:lnTo>
                    <a:pt x="16675261" y="496373"/>
                  </a:lnTo>
                  <a:lnTo>
                    <a:pt x="16659494" y="453905"/>
                  </a:lnTo>
                  <a:lnTo>
                    <a:pt x="16641180" y="412703"/>
                  </a:lnTo>
                  <a:lnTo>
                    <a:pt x="16620417" y="372867"/>
                  </a:lnTo>
                  <a:lnTo>
                    <a:pt x="16597303" y="334494"/>
                  </a:lnTo>
                  <a:lnTo>
                    <a:pt x="16571937" y="297683"/>
                  </a:lnTo>
                  <a:lnTo>
                    <a:pt x="16544417" y="262534"/>
                  </a:lnTo>
                  <a:lnTo>
                    <a:pt x="16514843" y="229143"/>
                  </a:lnTo>
                  <a:lnTo>
                    <a:pt x="16483312" y="197611"/>
                  </a:lnTo>
                  <a:lnTo>
                    <a:pt x="16449922" y="168035"/>
                  </a:lnTo>
                  <a:lnTo>
                    <a:pt x="16414773" y="140514"/>
                  </a:lnTo>
                  <a:lnTo>
                    <a:pt x="16377962" y="115146"/>
                  </a:lnTo>
                  <a:lnTo>
                    <a:pt x="16339589" y="92031"/>
                  </a:lnTo>
                  <a:lnTo>
                    <a:pt x="16299751" y="71265"/>
                  </a:lnTo>
                  <a:lnTo>
                    <a:pt x="16258548" y="52949"/>
                  </a:lnTo>
                  <a:lnTo>
                    <a:pt x="16216077" y="37181"/>
                  </a:lnTo>
                  <a:lnTo>
                    <a:pt x="16172437" y="24058"/>
                  </a:lnTo>
                  <a:lnTo>
                    <a:pt x="16127726" y="13680"/>
                  </a:lnTo>
                  <a:lnTo>
                    <a:pt x="16082044" y="6146"/>
                  </a:lnTo>
                  <a:lnTo>
                    <a:pt x="16035488" y="1552"/>
                  </a:lnTo>
                  <a:lnTo>
                    <a:pt x="15988157" y="0"/>
                  </a:lnTo>
                  <a:close/>
                </a:path>
              </a:pathLst>
            </a:custGeom>
            <a:solidFill>
              <a:srgbClr val="FFFFFF">
                <a:alpha val="7764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1490" y="270856"/>
              <a:ext cx="1515681" cy="15156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2377" y="900855"/>
              <a:ext cx="34290" cy="922019"/>
            </a:xfrm>
            <a:custGeom>
              <a:avLst/>
              <a:gdLst/>
              <a:ahLst/>
              <a:cxnLst/>
              <a:rect l="l" t="t" r="r" b="b"/>
              <a:pathLst>
                <a:path w="34290" h="922019">
                  <a:moveTo>
                    <a:pt x="34025" y="0"/>
                  </a:moveTo>
                  <a:lnTo>
                    <a:pt x="0" y="921499"/>
                  </a:lnTo>
                </a:path>
              </a:pathLst>
            </a:custGeom>
            <a:ln w="123824">
              <a:solidFill>
                <a:srgbClr val="164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/>
          <p:cNvGrpSpPr/>
          <p:nvPr/>
        </p:nvGrpSpPr>
        <p:grpSpPr>
          <a:xfrm>
            <a:off x="555007" y="808777"/>
            <a:ext cx="16015335" cy="33020"/>
            <a:chOff x="555007" y="808777"/>
            <a:chExt cx="16015335" cy="33020"/>
          </a:xfrm>
        </p:grpSpPr>
        <p:sp>
          <p:nvSpPr>
            <p:cNvPr id="59" name="object 59"/>
            <p:cNvSpPr/>
            <p:nvPr/>
          </p:nvSpPr>
          <p:spPr>
            <a:xfrm>
              <a:off x="567707" y="84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15989935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764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67707" y="821477"/>
              <a:ext cx="15989935" cy="0"/>
            </a:xfrm>
            <a:custGeom>
              <a:avLst/>
              <a:gdLst/>
              <a:ahLst/>
              <a:cxnLst/>
              <a:rect l="l" t="t" r="r" b="b"/>
              <a:pathLst>
                <a:path w="15989935" h="0">
                  <a:moveTo>
                    <a:pt x="0" y="0"/>
                  </a:moveTo>
                  <a:lnTo>
                    <a:pt x="15989935" y="0"/>
                  </a:lnTo>
                </a:path>
              </a:pathLst>
            </a:custGeom>
            <a:ln w="25399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15983" y="498886"/>
            <a:ext cx="106781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Appendix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Scenario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Integration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|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SDG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Contributions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24224" y="1020985"/>
            <a:ext cx="117805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ESG</a:t>
            </a:r>
            <a:r>
              <a:rPr dirty="0" spc="-70"/>
              <a:t> </a:t>
            </a:r>
            <a:r>
              <a:rPr dirty="0"/>
              <a:t>Transition:</a:t>
            </a:r>
            <a:r>
              <a:rPr dirty="0" spc="-65"/>
              <a:t> </a:t>
            </a:r>
            <a:r>
              <a:rPr dirty="0"/>
              <a:t>Upfront</a:t>
            </a:r>
            <a:r>
              <a:rPr dirty="0" spc="-65"/>
              <a:t> </a:t>
            </a:r>
            <a:r>
              <a:rPr dirty="0"/>
              <a:t>Investment,</a:t>
            </a:r>
            <a:r>
              <a:rPr dirty="0" spc="-65"/>
              <a:t> </a:t>
            </a:r>
            <a:r>
              <a:rPr dirty="0" spc="-30"/>
              <a:t>Long-</a:t>
            </a:r>
            <a:r>
              <a:rPr dirty="0"/>
              <a:t>Term</a:t>
            </a:r>
            <a:r>
              <a:rPr dirty="0" spc="-70"/>
              <a:t> </a:t>
            </a:r>
            <a:r>
              <a:rPr dirty="0" spc="-10"/>
              <a:t>Value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4224" y="1556436"/>
            <a:ext cx="112121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Initial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Illustrative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transition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offset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growing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benefits</a:t>
            </a:r>
            <a:r>
              <a:rPr dirty="0" sz="20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through</a:t>
            </a:r>
            <a:r>
              <a:rPr dirty="0" sz="20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983860" y="2240826"/>
            <a:ext cx="396240" cy="237490"/>
          </a:xfrm>
          <a:custGeom>
            <a:avLst/>
            <a:gdLst/>
            <a:ahLst/>
            <a:cxnLst/>
            <a:rect l="l" t="t" r="r" b="b"/>
            <a:pathLst>
              <a:path w="396239" h="237489">
                <a:moveTo>
                  <a:pt x="395627" y="0"/>
                </a:moveTo>
                <a:lnTo>
                  <a:pt x="0" y="0"/>
                </a:lnTo>
                <a:lnTo>
                  <a:pt x="0" y="237070"/>
                </a:lnTo>
                <a:lnTo>
                  <a:pt x="395627" y="237070"/>
                </a:lnTo>
                <a:lnTo>
                  <a:pt x="395627" y="0"/>
                </a:lnTo>
                <a:close/>
              </a:path>
            </a:pathLst>
          </a:custGeom>
          <a:solidFill>
            <a:srgbClr val="46C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410301" y="2214689"/>
            <a:ext cx="42862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2070" algn="l"/>
              </a:tabLst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Annual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Net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	Cumulative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3904" y="2921177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3000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10535" y="2915965"/>
            <a:ext cx="488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A2F40"/>
                </a:solidFill>
                <a:latin typeface="Calibri"/>
                <a:cs typeface="Calibri"/>
              </a:rPr>
              <a:t>2734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3904" y="3432127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3904" y="3943078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2000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88605" y="3218548"/>
            <a:ext cx="8243570" cy="3034665"/>
            <a:chOff x="1288605" y="3218548"/>
            <a:chExt cx="8243570" cy="3034665"/>
          </a:xfrm>
        </p:grpSpPr>
        <p:sp>
          <p:nvSpPr>
            <p:cNvPr id="10" name="object 10"/>
            <p:cNvSpPr/>
            <p:nvPr/>
          </p:nvSpPr>
          <p:spPr>
            <a:xfrm>
              <a:off x="1636436" y="6077267"/>
              <a:ext cx="686435" cy="0"/>
            </a:xfrm>
            <a:custGeom>
              <a:avLst/>
              <a:gdLst/>
              <a:ahLst/>
              <a:cxnLst/>
              <a:rect l="l" t="t" r="r" b="b"/>
              <a:pathLst>
                <a:path w="686435" h="0">
                  <a:moveTo>
                    <a:pt x="686134" y="0"/>
                  </a:moveTo>
                  <a:lnTo>
                    <a:pt x="0" y="0"/>
                  </a:lnTo>
                  <a:lnTo>
                    <a:pt x="686134" y="0"/>
                  </a:lnTo>
                  <a:close/>
                </a:path>
              </a:pathLst>
            </a:custGeom>
            <a:solidFill>
              <a:srgbClr val="00AF50">
                <a:alpha val="7176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08713" y="6077267"/>
              <a:ext cx="686435" cy="111125"/>
            </a:xfrm>
            <a:custGeom>
              <a:avLst/>
              <a:gdLst/>
              <a:ahLst/>
              <a:cxnLst/>
              <a:rect l="l" t="t" r="r" b="b"/>
              <a:pathLst>
                <a:path w="686435" h="111125">
                  <a:moveTo>
                    <a:pt x="686142" y="0"/>
                  </a:moveTo>
                  <a:lnTo>
                    <a:pt x="0" y="0"/>
                  </a:lnTo>
                  <a:lnTo>
                    <a:pt x="0" y="110794"/>
                  </a:lnTo>
                  <a:lnTo>
                    <a:pt x="686142" y="110794"/>
                  </a:lnTo>
                  <a:lnTo>
                    <a:pt x="686142" y="0"/>
                  </a:lnTo>
                  <a:close/>
                </a:path>
              </a:pathLst>
            </a:custGeom>
            <a:solidFill>
              <a:srgbClr val="EC8B8B">
                <a:alpha val="7176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80979" y="4956784"/>
              <a:ext cx="4803140" cy="1120775"/>
            </a:xfrm>
            <a:custGeom>
              <a:avLst/>
              <a:gdLst/>
              <a:ahLst/>
              <a:cxnLst/>
              <a:rect l="l" t="t" r="r" b="b"/>
              <a:pathLst>
                <a:path w="4803140" h="1120775">
                  <a:moveTo>
                    <a:pt x="686142" y="760336"/>
                  </a:moveTo>
                  <a:lnTo>
                    <a:pt x="0" y="760336"/>
                  </a:lnTo>
                  <a:lnTo>
                    <a:pt x="0" y="1120482"/>
                  </a:lnTo>
                  <a:lnTo>
                    <a:pt x="686142" y="1120482"/>
                  </a:lnTo>
                  <a:lnTo>
                    <a:pt x="686142" y="760336"/>
                  </a:lnTo>
                  <a:close/>
                </a:path>
                <a:path w="4803140" h="1120775">
                  <a:moveTo>
                    <a:pt x="2058416" y="536829"/>
                  </a:moveTo>
                  <a:lnTo>
                    <a:pt x="1372273" y="536829"/>
                  </a:lnTo>
                  <a:lnTo>
                    <a:pt x="1372273" y="1120482"/>
                  </a:lnTo>
                  <a:lnTo>
                    <a:pt x="2058416" y="1120482"/>
                  </a:lnTo>
                  <a:lnTo>
                    <a:pt x="2058416" y="536829"/>
                  </a:lnTo>
                  <a:close/>
                </a:path>
                <a:path w="4803140" h="1120775">
                  <a:moveTo>
                    <a:pt x="3430689" y="280250"/>
                  </a:moveTo>
                  <a:lnTo>
                    <a:pt x="2744559" y="280250"/>
                  </a:lnTo>
                  <a:lnTo>
                    <a:pt x="2744559" y="1120482"/>
                  </a:lnTo>
                  <a:lnTo>
                    <a:pt x="3430689" y="1120482"/>
                  </a:lnTo>
                  <a:lnTo>
                    <a:pt x="3430689" y="280250"/>
                  </a:lnTo>
                  <a:close/>
                </a:path>
                <a:path w="4803140" h="1120775">
                  <a:moveTo>
                    <a:pt x="4802975" y="0"/>
                  </a:moveTo>
                  <a:lnTo>
                    <a:pt x="4116832" y="0"/>
                  </a:lnTo>
                  <a:lnTo>
                    <a:pt x="4116832" y="1120482"/>
                  </a:lnTo>
                  <a:lnTo>
                    <a:pt x="4802975" y="1120482"/>
                  </a:lnTo>
                  <a:lnTo>
                    <a:pt x="4802975" y="0"/>
                  </a:lnTo>
                  <a:close/>
                </a:path>
              </a:pathLst>
            </a:custGeom>
            <a:solidFill>
              <a:srgbClr val="00AF50">
                <a:alpha val="7176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93367" y="6077267"/>
              <a:ext cx="8234045" cy="47625"/>
            </a:xfrm>
            <a:custGeom>
              <a:avLst/>
              <a:gdLst/>
              <a:ahLst/>
              <a:cxnLst/>
              <a:rect l="l" t="t" r="r" b="b"/>
              <a:pathLst>
                <a:path w="8234045" h="47625">
                  <a:moveTo>
                    <a:pt x="0" y="0"/>
                  </a:moveTo>
                  <a:lnTo>
                    <a:pt x="8233658" y="0"/>
                  </a:lnTo>
                </a:path>
                <a:path w="8234045" h="47625">
                  <a:moveTo>
                    <a:pt x="0" y="0"/>
                  </a:moveTo>
                  <a:lnTo>
                    <a:pt x="0" y="47625"/>
                  </a:lnTo>
                </a:path>
                <a:path w="8234045" h="47625">
                  <a:moveTo>
                    <a:pt x="1372280" y="0"/>
                  </a:moveTo>
                  <a:lnTo>
                    <a:pt x="1372280" y="47625"/>
                  </a:lnTo>
                </a:path>
                <a:path w="8234045" h="47625">
                  <a:moveTo>
                    <a:pt x="2744553" y="0"/>
                  </a:moveTo>
                  <a:lnTo>
                    <a:pt x="2744553" y="47625"/>
                  </a:lnTo>
                </a:path>
                <a:path w="8234045" h="47625">
                  <a:moveTo>
                    <a:pt x="4116826" y="0"/>
                  </a:moveTo>
                  <a:lnTo>
                    <a:pt x="4116826" y="47625"/>
                  </a:lnTo>
                </a:path>
                <a:path w="8234045" h="47625">
                  <a:moveTo>
                    <a:pt x="5489100" y="0"/>
                  </a:moveTo>
                  <a:lnTo>
                    <a:pt x="5489100" y="47625"/>
                  </a:lnTo>
                </a:path>
                <a:path w="8234045" h="47625">
                  <a:moveTo>
                    <a:pt x="6861385" y="0"/>
                  </a:moveTo>
                  <a:lnTo>
                    <a:pt x="6861385" y="47625"/>
                  </a:lnTo>
                </a:path>
                <a:path w="8234045" h="47625">
                  <a:moveTo>
                    <a:pt x="8233658" y="0"/>
                  </a:moveTo>
                  <a:lnTo>
                    <a:pt x="8233658" y="47625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79505" y="3283534"/>
              <a:ext cx="6861809" cy="2905125"/>
            </a:xfrm>
            <a:custGeom>
              <a:avLst/>
              <a:gdLst/>
              <a:ahLst/>
              <a:cxnLst/>
              <a:rect l="l" t="t" r="r" b="b"/>
              <a:pathLst>
                <a:path w="6861809" h="2905125">
                  <a:moveTo>
                    <a:pt x="0" y="2793733"/>
                  </a:moveTo>
                  <a:lnTo>
                    <a:pt x="1372273" y="2904528"/>
                  </a:lnTo>
                </a:path>
                <a:path w="6861809" h="2905125">
                  <a:moveTo>
                    <a:pt x="1372273" y="2904528"/>
                  </a:moveTo>
                  <a:lnTo>
                    <a:pt x="2744558" y="2544368"/>
                  </a:lnTo>
                </a:path>
                <a:path w="6861809" h="2905125">
                  <a:moveTo>
                    <a:pt x="2744558" y="2544368"/>
                  </a:moveTo>
                  <a:lnTo>
                    <a:pt x="4116831" y="1960714"/>
                  </a:lnTo>
                </a:path>
                <a:path w="6861809" h="2905125">
                  <a:moveTo>
                    <a:pt x="4116831" y="1960714"/>
                  </a:moveTo>
                  <a:lnTo>
                    <a:pt x="5489105" y="1120482"/>
                  </a:lnTo>
                </a:path>
                <a:path w="6861809" h="2905125">
                  <a:moveTo>
                    <a:pt x="5489105" y="1120482"/>
                  </a:moveTo>
                  <a:lnTo>
                    <a:pt x="6861378" y="0"/>
                  </a:lnTo>
                </a:path>
              </a:pathLst>
            </a:custGeom>
            <a:ln w="34924">
              <a:solidFill>
                <a:srgbClr val="2440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521" y="6012281"/>
              <a:ext cx="129970" cy="1299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6792" y="6123076"/>
              <a:ext cx="129971" cy="1299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9078" y="5762917"/>
              <a:ext cx="129971" cy="1299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1352" y="5179263"/>
              <a:ext cx="129971" cy="12997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3625" y="4339031"/>
              <a:ext cx="129971" cy="1299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5898" y="3218548"/>
              <a:ext cx="129971" cy="12995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238262" y="4036453"/>
            <a:ext cx="488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A2F40"/>
                </a:solidFill>
                <a:latin typeface="Calibri"/>
                <a:cs typeface="Calibri"/>
              </a:rPr>
              <a:t>1637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3904" y="4454029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3904" y="496497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1000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23913" y="4876685"/>
            <a:ext cx="373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0A2F40"/>
                </a:solidFill>
                <a:latin typeface="Calibri"/>
                <a:cs typeface="Calibri"/>
              </a:rPr>
              <a:t>815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11835" y="5475922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51640" y="5460339"/>
            <a:ext cx="373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0A2F40"/>
                </a:solidFill>
                <a:latin typeface="Calibri"/>
                <a:cs typeface="Calibri"/>
              </a:rPr>
              <a:t>244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85276" y="2289378"/>
            <a:ext cx="5946775" cy="3311525"/>
            <a:chOff x="1985276" y="2289378"/>
            <a:chExt cx="5946775" cy="3311525"/>
          </a:xfrm>
        </p:grpSpPr>
        <p:sp>
          <p:nvSpPr>
            <p:cNvPr id="44" name="object 44"/>
            <p:cNvSpPr/>
            <p:nvPr/>
          </p:nvSpPr>
          <p:spPr>
            <a:xfrm>
              <a:off x="7318539" y="2395232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5" h="0">
                  <a:moveTo>
                    <a:pt x="594406" y="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3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318539" y="2372232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5" h="0">
                  <a:moveTo>
                    <a:pt x="0" y="0"/>
                  </a:moveTo>
                  <a:lnTo>
                    <a:pt x="594406" y="0"/>
                  </a:lnTo>
                </a:path>
              </a:pathLst>
            </a:custGeom>
            <a:ln w="38099">
              <a:solidFill>
                <a:srgbClr val="0A2F4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18044" y="2289378"/>
              <a:ext cx="177799" cy="17740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85276" y="3878922"/>
              <a:ext cx="2739390" cy="1722120"/>
            </a:xfrm>
            <a:custGeom>
              <a:avLst/>
              <a:gdLst/>
              <a:ahLst/>
              <a:cxnLst/>
              <a:rect l="l" t="t" r="r" b="b"/>
              <a:pathLst>
                <a:path w="2739390" h="1722120">
                  <a:moveTo>
                    <a:pt x="2452154" y="0"/>
                  </a:moveTo>
                  <a:lnTo>
                    <a:pt x="286967" y="0"/>
                  </a:lnTo>
                  <a:lnTo>
                    <a:pt x="240678" y="3784"/>
                  </a:lnTo>
                  <a:lnTo>
                    <a:pt x="196671" y="14731"/>
                  </a:lnTo>
                  <a:lnTo>
                    <a:pt x="155558" y="32231"/>
                  </a:lnTo>
                  <a:lnTo>
                    <a:pt x="117947" y="55673"/>
                  </a:lnTo>
                  <a:lnTo>
                    <a:pt x="84449" y="84448"/>
                  </a:lnTo>
                  <a:lnTo>
                    <a:pt x="55674" y="117946"/>
                  </a:lnTo>
                  <a:lnTo>
                    <a:pt x="32231" y="155557"/>
                  </a:lnTo>
                  <a:lnTo>
                    <a:pt x="14731" y="196671"/>
                  </a:lnTo>
                  <a:lnTo>
                    <a:pt x="3784" y="240678"/>
                  </a:lnTo>
                  <a:lnTo>
                    <a:pt x="0" y="286969"/>
                  </a:lnTo>
                  <a:lnTo>
                    <a:pt x="0" y="1434807"/>
                  </a:lnTo>
                  <a:lnTo>
                    <a:pt x="3784" y="1481098"/>
                  </a:lnTo>
                  <a:lnTo>
                    <a:pt x="14731" y="1525105"/>
                  </a:lnTo>
                  <a:lnTo>
                    <a:pt x="32231" y="1566219"/>
                  </a:lnTo>
                  <a:lnTo>
                    <a:pt x="55674" y="1603830"/>
                  </a:lnTo>
                  <a:lnTo>
                    <a:pt x="84449" y="1637328"/>
                  </a:lnTo>
                  <a:lnTo>
                    <a:pt x="117947" y="1666103"/>
                  </a:lnTo>
                  <a:lnTo>
                    <a:pt x="155558" y="1689545"/>
                  </a:lnTo>
                  <a:lnTo>
                    <a:pt x="196671" y="1707045"/>
                  </a:lnTo>
                  <a:lnTo>
                    <a:pt x="240678" y="1717992"/>
                  </a:lnTo>
                  <a:lnTo>
                    <a:pt x="286967" y="1721777"/>
                  </a:lnTo>
                  <a:lnTo>
                    <a:pt x="2452154" y="1721777"/>
                  </a:lnTo>
                  <a:lnTo>
                    <a:pt x="2498444" y="1717992"/>
                  </a:lnTo>
                  <a:lnTo>
                    <a:pt x="2542451" y="1707045"/>
                  </a:lnTo>
                  <a:lnTo>
                    <a:pt x="2583565" y="1689545"/>
                  </a:lnTo>
                  <a:lnTo>
                    <a:pt x="2621176" y="1666103"/>
                  </a:lnTo>
                  <a:lnTo>
                    <a:pt x="2654674" y="1637328"/>
                  </a:lnTo>
                  <a:lnTo>
                    <a:pt x="2683449" y="1603830"/>
                  </a:lnTo>
                  <a:lnTo>
                    <a:pt x="2706892" y="1566219"/>
                  </a:lnTo>
                  <a:lnTo>
                    <a:pt x="2724391" y="1525105"/>
                  </a:lnTo>
                  <a:lnTo>
                    <a:pt x="2735338" y="1481098"/>
                  </a:lnTo>
                  <a:lnTo>
                    <a:pt x="2739123" y="1434807"/>
                  </a:lnTo>
                  <a:lnTo>
                    <a:pt x="2739123" y="286969"/>
                  </a:lnTo>
                  <a:lnTo>
                    <a:pt x="2735338" y="240678"/>
                  </a:lnTo>
                  <a:lnTo>
                    <a:pt x="2724391" y="196671"/>
                  </a:lnTo>
                  <a:lnTo>
                    <a:pt x="2706892" y="155557"/>
                  </a:lnTo>
                  <a:lnTo>
                    <a:pt x="2683449" y="117946"/>
                  </a:lnTo>
                  <a:lnTo>
                    <a:pt x="2654674" y="84448"/>
                  </a:lnTo>
                  <a:lnTo>
                    <a:pt x="2621176" y="55673"/>
                  </a:lnTo>
                  <a:lnTo>
                    <a:pt x="2583565" y="32231"/>
                  </a:lnTo>
                  <a:lnTo>
                    <a:pt x="2542451" y="14731"/>
                  </a:lnTo>
                  <a:lnTo>
                    <a:pt x="2498444" y="3784"/>
                  </a:lnTo>
                  <a:lnTo>
                    <a:pt x="2452154" y="0"/>
                  </a:lnTo>
                  <a:close/>
                </a:path>
              </a:pathLst>
            </a:custGeom>
            <a:solidFill>
              <a:srgbClr val="FF0000">
                <a:alpha val="11764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52012" y="2011438"/>
            <a:ext cx="1298448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  <a:tabLst>
                <a:tab pos="8993505" algn="l"/>
              </a:tabLst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Cumulative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Cash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Impact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	Contribution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to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priority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UN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SDGs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(EGP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Mn)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87511" y="4066883"/>
            <a:ext cx="2040255" cy="1122045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EGP</a:t>
            </a:r>
            <a:r>
              <a:rPr dirty="0" sz="2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281.2</a:t>
            </a:r>
            <a:r>
              <a:rPr dirty="0" sz="2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C00000"/>
                </a:solidFill>
                <a:latin typeface="Arial"/>
                <a:cs typeface="Arial"/>
              </a:rPr>
              <a:t>Mn</a:t>
            </a:r>
            <a:endParaRPr sz="2400">
              <a:latin typeface="Arial"/>
              <a:cs typeface="Arial"/>
            </a:endParaRPr>
          </a:p>
          <a:p>
            <a:pPr marL="33655" marR="107314">
              <a:lnSpc>
                <a:spcPct val="100000"/>
              </a:lnSpc>
              <a:spcBef>
                <a:spcPts val="615"/>
              </a:spcBef>
            </a:pP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Alternative-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fuel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transition</a:t>
            </a:r>
            <a:r>
              <a:rPr dirty="0" sz="1800" spc="-6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27697" y="598688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22951" y="6115862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0A2F4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4379" y="6226644"/>
            <a:ext cx="443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108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09098" y="5045712"/>
            <a:ext cx="1284384" cy="128438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976844" y="6497828"/>
            <a:ext cx="234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60829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2025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3110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2026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05383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2027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77656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2028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49929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2029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22215" y="6730161"/>
            <a:ext cx="4375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0A2F40"/>
                </a:solidFill>
                <a:latin typeface="Calibri"/>
                <a:cs typeface="Calibri"/>
              </a:rPr>
              <a:t>2030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1475" y="2321826"/>
            <a:ext cx="5924702" cy="715534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2637268" y="2593632"/>
            <a:ext cx="2922270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fuels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TSR: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20%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 -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&gt;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55%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(2025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-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&gt;2030)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718736" y="4271276"/>
            <a:ext cx="2856230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Low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carbon</a:t>
            </a:r>
            <a:r>
              <a:rPr dirty="0" sz="18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Infrastructure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EGP</a:t>
            </a:r>
            <a:r>
              <a:rPr dirty="0" sz="18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281.2</a:t>
            </a:r>
            <a:r>
              <a:rPr dirty="0" sz="1800" spc="49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Mn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Alternative</a:t>
            </a:r>
            <a:r>
              <a:rPr dirty="0" sz="1600" spc="-5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fuel</a:t>
            </a:r>
            <a:r>
              <a:rPr dirty="0" sz="1600" spc="-5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system</a:t>
            </a:r>
            <a:r>
              <a:rPr dirty="0" sz="1600" spc="-5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684251" y="6014846"/>
            <a:ext cx="3874770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Resource</a:t>
            </a:r>
            <a:r>
              <a:rPr dirty="0" sz="18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efficiency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lower</a:t>
            </a:r>
            <a:r>
              <a:rPr dirty="0" sz="1800" spc="-2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clinker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Intensity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Higher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use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of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secondary</a:t>
            </a:r>
            <a:r>
              <a:rPr dirty="0" sz="1600" spc="-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52012" y="7519923"/>
            <a:ext cx="85159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Upfront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CAPEX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is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outweighed</a:t>
            </a:r>
            <a:r>
              <a:rPr dirty="0" sz="2000" spc="-5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accelerating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operating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benefits,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2012" y="7862823"/>
            <a:ext cx="55829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turning</a:t>
            </a:r>
            <a:r>
              <a:rPr dirty="0" sz="2000" spc="-1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into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a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long-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term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cash-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flow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 driver.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07279" y="7842669"/>
            <a:ext cx="4241165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Emissions</a:t>
            </a:r>
            <a:r>
              <a:rPr dirty="0" sz="1800" spc="-4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reduction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climate</a:t>
            </a:r>
            <a:r>
              <a:rPr dirty="0" sz="1800" spc="-3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resilience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244060"/>
                </a:solidFill>
                <a:latin typeface="Arial"/>
                <a:cs typeface="Arial"/>
              </a:rPr>
              <a:t>0.54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 MtCO</a:t>
            </a:r>
            <a:r>
              <a:rPr dirty="0" sz="1800" spc="-10" b="1">
                <a:solidFill>
                  <a:srgbClr val="244060"/>
                </a:solidFill>
                <a:latin typeface="Trebuchet MS"/>
                <a:cs typeface="Trebuchet MS"/>
              </a:rPr>
              <a:t>₂</a:t>
            </a:r>
            <a:r>
              <a:rPr dirty="0" sz="1800" spc="-10" b="1">
                <a:solidFill>
                  <a:srgbClr val="24406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Avoided</a:t>
            </a:r>
            <a:r>
              <a:rPr dirty="0" sz="1600" spc="-15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44060"/>
                </a:solidFill>
                <a:latin typeface="Arial"/>
                <a:cs typeface="Arial"/>
              </a:rPr>
              <a:t>by</a:t>
            </a:r>
            <a:r>
              <a:rPr dirty="0" sz="1600" spc="-1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44060"/>
                </a:solidFill>
                <a:latin typeface="Arial"/>
                <a:cs typeface="Arial"/>
              </a:rPr>
              <a:t>2030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0" y="9349307"/>
            <a:ext cx="18288000" cy="937894"/>
            <a:chOff x="0" y="9349307"/>
            <a:chExt cx="18288000" cy="937894"/>
          </a:xfrm>
        </p:grpSpPr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9349307"/>
              <a:ext cx="18288000" cy="93769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0" y="9349307"/>
              <a:ext cx="8471535" cy="937894"/>
            </a:xfrm>
            <a:custGeom>
              <a:avLst/>
              <a:gdLst/>
              <a:ahLst/>
              <a:cxnLst/>
              <a:rect l="l" t="t" r="r" b="b"/>
              <a:pathLst>
                <a:path w="8471535" h="937895">
                  <a:moveTo>
                    <a:pt x="1851177" y="481609"/>
                  </a:moveTo>
                  <a:lnTo>
                    <a:pt x="1396225" y="0"/>
                  </a:lnTo>
                  <a:lnTo>
                    <a:pt x="0" y="0"/>
                  </a:lnTo>
                  <a:lnTo>
                    <a:pt x="0" y="937691"/>
                  </a:lnTo>
                  <a:lnTo>
                    <a:pt x="1420317" y="937691"/>
                  </a:lnTo>
                  <a:lnTo>
                    <a:pt x="1851177" y="481609"/>
                  </a:lnTo>
                  <a:close/>
                </a:path>
                <a:path w="8471535" h="937895">
                  <a:moveTo>
                    <a:pt x="3527742" y="481609"/>
                  </a:moveTo>
                  <a:lnTo>
                    <a:pt x="3072790" y="0"/>
                  </a:lnTo>
                  <a:lnTo>
                    <a:pt x="1519453" y="0"/>
                  </a:lnTo>
                  <a:lnTo>
                    <a:pt x="1974405" y="481609"/>
                  </a:lnTo>
                  <a:lnTo>
                    <a:pt x="1543545" y="937691"/>
                  </a:lnTo>
                  <a:lnTo>
                    <a:pt x="3096882" y="937691"/>
                  </a:lnTo>
                  <a:lnTo>
                    <a:pt x="3527742" y="481609"/>
                  </a:lnTo>
                  <a:close/>
                </a:path>
                <a:path w="8471535" h="937895">
                  <a:moveTo>
                    <a:pt x="5245468" y="481609"/>
                  </a:moveTo>
                  <a:lnTo>
                    <a:pt x="4790503" y="0"/>
                  </a:lnTo>
                  <a:lnTo>
                    <a:pt x="3199714" y="0"/>
                  </a:lnTo>
                  <a:lnTo>
                    <a:pt x="3654679" y="481609"/>
                  </a:lnTo>
                  <a:lnTo>
                    <a:pt x="3223818" y="937691"/>
                  </a:lnTo>
                  <a:lnTo>
                    <a:pt x="4814608" y="937691"/>
                  </a:lnTo>
                  <a:lnTo>
                    <a:pt x="5245468" y="481609"/>
                  </a:lnTo>
                  <a:close/>
                </a:path>
                <a:path w="8471535" h="937895">
                  <a:moveTo>
                    <a:pt x="6928790" y="481609"/>
                  </a:moveTo>
                  <a:lnTo>
                    <a:pt x="6473825" y="0"/>
                  </a:lnTo>
                  <a:lnTo>
                    <a:pt x="4916475" y="0"/>
                  </a:lnTo>
                  <a:lnTo>
                    <a:pt x="5371427" y="481609"/>
                  </a:lnTo>
                  <a:lnTo>
                    <a:pt x="4940566" y="937691"/>
                  </a:lnTo>
                  <a:lnTo>
                    <a:pt x="6497917" y="937691"/>
                  </a:lnTo>
                  <a:lnTo>
                    <a:pt x="6928790" y="481609"/>
                  </a:lnTo>
                  <a:close/>
                </a:path>
                <a:path w="8471535" h="937895">
                  <a:moveTo>
                    <a:pt x="8471154" y="481609"/>
                  </a:moveTo>
                  <a:lnTo>
                    <a:pt x="8016202" y="0"/>
                  </a:lnTo>
                  <a:lnTo>
                    <a:pt x="6594818" y="0"/>
                  </a:lnTo>
                  <a:lnTo>
                    <a:pt x="7049783" y="481609"/>
                  </a:lnTo>
                  <a:lnTo>
                    <a:pt x="6618922" y="937691"/>
                  </a:lnTo>
                  <a:lnTo>
                    <a:pt x="8040306" y="937691"/>
                  </a:lnTo>
                  <a:lnTo>
                    <a:pt x="8471154" y="481609"/>
                  </a:lnTo>
                  <a:close/>
                </a:path>
              </a:pathLst>
            </a:custGeom>
            <a:solidFill>
              <a:srgbClr val="C7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166950" y="9349307"/>
              <a:ext cx="4658360" cy="937894"/>
            </a:xfrm>
            <a:custGeom>
              <a:avLst/>
              <a:gdLst/>
              <a:ahLst/>
              <a:cxnLst/>
              <a:rect l="l" t="t" r="r" b="b"/>
              <a:pathLst>
                <a:path w="4658359" h="937895">
                  <a:moveTo>
                    <a:pt x="4202938" y="0"/>
                  </a:moveTo>
                  <a:lnTo>
                    <a:pt x="0" y="0"/>
                  </a:lnTo>
                  <a:lnTo>
                    <a:pt x="454957" y="481609"/>
                  </a:lnTo>
                  <a:lnTo>
                    <a:pt x="24102" y="937691"/>
                  </a:lnTo>
                  <a:lnTo>
                    <a:pt x="4227041" y="937691"/>
                  </a:lnTo>
                  <a:lnTo>
                    <a:pt x="4657902" y="481609"/>
                  </a:lnTo>
                  <a:lnTo>
                    <a:pt x="4202938" y="0"/>
                  </a:lnTo>
                  <a:close/>
                </a:path>
              </a:pathLst>
            </a:custGeom>
            <a:solidFill>
              <a:srgbClr val="244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707" y="9520503"/>
              <a:ext cx="810684" cy="62423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31275" y="9500425"/>
              <a:ext cx="584650" cy="6643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65549" y="9475558"/>
              <a:ext cx="714113" cy="71410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82297" y="9470681"/>
              <a:ext cx="679126" cy="76306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8878" y="9470681"/>
              <a:ext cx="737426" cy="71898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07983" y="9470681"/>
              <a:ext cx="560812" cy="718985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325025"/>
            <a:ext cx="16015335" cy="860361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References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370"/>
              </a:spcBef>
            </a:pP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A.</a:t>
            </a:r>
            <a:r>
              <a:rPr dirty="0" sz="2000" spc="-2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Equity</a:t>
            </a:r>
            <a:r>
              <a:rPr dirty="0" sz="2000" spc="-2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Story</a:t>
            </a:r>
            <a:r>
              <a:rPr dirty="0" sz="2000" spc="-2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&amp;</a:t>
            </a:r>
            <a:r>
              <a:rPr dirty="0" sz="2000" spc="-2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1F5F"/>
                </a:solidFill>
                <a:latin typeface="Arial"/>
                <a:cs typeface="Arial"/>
              </a:rPr>
              <a:t>Company</a:t>
            </a:r>
            <a:endParaRPr sz="20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5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Mubasher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Info.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(ARCC)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Profile.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Sustainable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Development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Quality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Certifications.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Mubasher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Info.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ACC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Aridos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Jativa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S.L.U.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Al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Mosalah.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Andalus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Ready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Mix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Concrete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Overview.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Al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Mosalah.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Andalus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Ready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Mix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Concrete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Services.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Al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Mosalah.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Andalus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Ready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Mix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Concrete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Profile.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Management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Systems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CSR.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5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Egyptian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Exchange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(EGX).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Condensed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Separate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Interim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Financial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Statements.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9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507365" indent="-342265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50736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Org.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Cementos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La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Union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(CLU)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0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Grokipedia.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CemNet.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Commissions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Second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Line,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2026: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Heating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Up.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IMARC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Group.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4"/>
              </a:rPr>
              <a:t>Source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B.</a:t>
            </a:r>
            <a:r>
              <a:rPr dirty="0" sz="2000" spc="-2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Industry</a:t>
            </a:r>
            <a:r>
              <a:rPr dirty="0" sz="2000" spc="-2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&amp;</a:t>
            </a:r>
            <a:r>
              <a:rPr dirty="0" sz="2000" spc="-2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1F5F"/>
                </a:solidFill>
                <a:latin typeface="Arial"/>
                <a:cs typeface="Arial"/>
              </a:rPr>
              <a:t>Market</a:t>
            </a:r>
            <a:endParaRPr sz="20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5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EnterpriseAM.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How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Egypt’s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Mapping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Out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New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Strategy.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Constrack360.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Size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Forecast.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EnterpriseAM.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How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Did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Egypt’s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Fare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2025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—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What’s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Next?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CemNet.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Exports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Advance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49%.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Vocal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Media.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Construction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Report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2026–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2034: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Infrastructure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Demand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Forecast.</a:t>
            </a:r>
            <a:r>
              <a:rPr dirty="0" sz="1800" spc="4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9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Business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Research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Insights.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Global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0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LinkedIn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Ahmed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Samir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Riyad.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MENA: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Challenges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Opportunities.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6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CemNet.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Egypt’s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Consumption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Expected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to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Fall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to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45Mt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2024.</a:t>
            </a:r>
            <a:r>
              <a:rPr dirty="0" sz="1800" spc="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1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CemNet.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Egypt’s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Up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18%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2025.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35000" indent="-469900">
              <a:lnSpc>
                <a:spcPct val="100000"/>
              </a:lnSpc>
              <a:spcBef>
                <a:spcPts val="240"/>
              </a:spcBef>
              <a:buFont typeface="Arial"/>
              <a:buAutoNum type="arabicPlain" startAt="14"/>
              <a:tabLst>
                <a:tab pos="63500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Global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Update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October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2025.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3"/>
              </a:rPr>
              <a:t>Source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25823"/>
            <a:ext cx="16015335" cy="8650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References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  <a:p>
            <a:pPr marL="145415">
              <a:lnSpc>
                <a:spcPts val="2300"/>
              </a:lnSpc>
              <a:spcBef>
                <a:spcPts val="575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C.</a:t>
            </a:r>
            <a:r>
              <a:rPr dirty="0" sz="2000" spc="-5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Macroeconomic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Financial</a:t>
            </a:r>
            <a:r>
              <a:rPr dirty="0" sz="2000" spc="-4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244060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615315" indent="-469900">
              <a:lnSpc>
                <a:spcPts val="198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GDP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Growth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(Annual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%)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Egypt,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Rep.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Ministry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Planning,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Economic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Development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Cooperation.</a:t>
            </a:r>
            <a:r>
              <a:rPr dirty="0" sz="1800" spc="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GDP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Developments.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Statista.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Average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10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Monetary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Fund.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Economic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Outlook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Rate,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Average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Consumer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Prices.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10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Monetary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Fund.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GDP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Growth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Monetary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Fund.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Rate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Monetary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Fund.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Population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950" indent="-469900">
              <a:lnSpc>
                <a:spcPts val="2000"/>
              </a:lnSpc>
              <a:buFont typeface="Arial"/>
              <a:buAutoNum type="arabicPlain" startAt="24"/>
              <a:tabLst>
                <a:tab pos="61595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International</a:t>
            </a:r>
            <a:r>
              <a:rPr dirty="0" sz="1800" spc="-3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Monetary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Fund.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Inflation.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950" indent="-469900">
              <a:lnSpc>
                <a:spcPts val="2000"/>
              </a:lnSpc>
              <a:buFont typeface="Arial"/>
              <a:buAutoNum type="arabicPlain" startAt="24"/>
              <a:tabLst>
                <a:tab pos="615950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Central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Exchange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Rates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Historical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Data.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Central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Exchange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Rates.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Central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Egypt.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Economic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Time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Series.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Traders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Union.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Long-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Term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USD/EGP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Forecast.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Traders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Union.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Long-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Term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EUR/EGP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Forecast.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Investing.com.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USD/EGP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Historical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Data.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9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80"/>
              </a:lnSpc>
              <a:buFont typeface="Arial"/>
              <a:buAutoNum type="arabicPlain" startAt="24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CME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Group.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FedWatch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Tool.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0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145415">
              <a:lnSpc>
                <a:spcPts val="2300"/>
              </a:lnSpc>
              <a:spcBef>
                <a:spcPts val="1639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D.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Commodity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Cost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Drivers</a:t>
            </a:r>
            <a:endParaRPr sz="2000">
              <a:latin typeface="Arial"/>
              <a:cs typeface="Arial"/>
            </a:endParaRPr>
          </a:p>
          <a:p>
            <a:pPr marL="615315" indent="-469900">
              <a:lnSpc>
                <a:spcPts val="198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Commodity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Pink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Sheet.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Commodity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June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2026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Pink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Sheet.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23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Federal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Reserve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St.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Louis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(FRED).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Brent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Crude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Oil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Investing.com.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Baltic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Supramax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Historical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Data.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4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Investing.com.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Baltic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Dry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Historical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Data.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19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Oil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Gas.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Raises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Industrial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Gas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Floor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to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$6.50/MMBtu.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Manassa.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Industrial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Electricity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Pricing.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Trading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Economics.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Inflation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Industrial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Electricity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Tariff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Data.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J2T.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Coal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Prediction.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9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Mordor</a:t>
            </a:r>
            <a:r>
              <a:rPr dirty="0" sz="1800" spc="-4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Intelligence.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Residential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Construction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0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Business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Wire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ResearchAndMarkets.com.</a:t>
            </a:r>
            <a:r>
              <a:rPr dirty="0" sz="1800" spc="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Construction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Report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Market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Forecast.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1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HC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Securities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Investment.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Shows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Agility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Amid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Changing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Dynamics.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0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HC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Securities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Investment.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Diligently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Navigating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Headwinds.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ts val="2080"/>
              </a:lnSpc>
              <a:buFont typeface="Arial"/>
              <a:buAutoNum type="arabicPlain" startAt="39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Simply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Wall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St.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Company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Future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Valuation.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4"/>
              </a:rPr>
              <a:t>Source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384383"/>
            <a:ext cx="16015335" cy="635127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References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E.</a:t>
            </a:r>
            <a:r>
              <a:rPr dirty="0" sz="2000" spc="-30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ESG,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CBAM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44060"/>
                </a:solidFill>
                <a:latin typeface="Arial"/>
                <a:cs typeface="Arial"/>
              </a:rPr>
              <a:t>&amp;</a:t>
            </a:r>
            <a:r>
              <a:rPr dirty="0" sz="2000" spc="-25" b="1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44060"/>
                </a:solidFill>
                <a:latin typeface="Arial"/>
                <a:cs typeface="Arial"/>
              </a:rPr>
              <a:t>Decarbonization</a:t>
            </a:r>
            <a:endParaRPr sz="20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spcBef>
                <a:spcPts val="5"/>
              </a:spcBef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Sustainability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Report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2024.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Company.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&amp;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Services.</a:t>
            </a:r>
            <a:r>
              <a:rPr dirty="0" sz="1800" spc="-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Environdec.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Environmental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Declaration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Clinker.</a:t>
            </a:r>
            <a:r>
              <a:rPr dirty="0" sz="1800" spc="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30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Environdec.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Environmental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Declaration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Mosalah.</a:t>
            </a:r>
            <a:r>
              <a:rPr dirty="0" sz="1800" spc="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30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Environdec.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Environmental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Declaration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–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El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Nasr.</a:t>
            </a:r>
            <a:r>
              <a:rPr dirty="0" sz="1800" spc="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30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August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European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Commission.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Carbon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Border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Adjustment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Mechanism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(CBAM).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European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Commission.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CBAM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Certificate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Prices.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53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OECD.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Carbon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Border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Adjustment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Mechanism: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What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It,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How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Does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Work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What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the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Effects?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endParaRPr sz="18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</a:pP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9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PwC.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Carbon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Border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Adjustment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Mechanism.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0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EUR-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Lex.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Emissions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Trading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System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Directive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Free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Allocation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Framework.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1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CBAM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Guide.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CBAM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Free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Allocation.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GMK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Center.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Carbon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Price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the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ETS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to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Hit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€126/t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by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2030.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3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Wikipedia.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Carbon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Border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Adjustment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Mechanism.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4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Wikipedia.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European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Union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Emissions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Trading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System.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1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5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A3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Cement.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Decarbonizing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Arabian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Cement: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Data-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Driven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Model.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UNFCCC</a:t>
            </a:r>
            <a:r>
              <a:rPr dirty="0" sz="1800" spc="-4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Clean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Development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Mechanism.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Alternative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Fuel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3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Project</a:t>
            </a:r>
            <a:r>
              <a:rPr dirty="0" sz="1800" spc="-3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Documentation.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3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3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6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European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Reconstruction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Development.</a:t>
            </a:r>
            <a:r>
              <a:rPr dirty="0" sz="1800" spc="1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Alternative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Fuel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Project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2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Loan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Documentation.</a:t>
            </a:r>
            <a:r>
              <a:rPr dirty="0" sz="1800" spc="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2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7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GIZ.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Guidelines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for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Pre-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Processing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and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808080"/>
                </a:solidFill>
                <a:latin typeface="Arial"/>
                <a:cs typeface="Arial"/>
              </a:rPr>
              <a:t>Co-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Processing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of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Waste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Production.</a:t>
            </a:r>
            <a:r>
              <a:rPr dirty="0" sz="1800" spc="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u="sng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8"/>
              </a:rPr>
              <a:t>Source</a:t>
            </a:r>
            <a:endParaRPr sz="1800">
              <a:latin typeface="Arial"/>
              <a:cs typeface="Arial"/>
            </a:endParaRPr>
          </a:p>
          <a:p>
            <a:pPr marL="615315" indent="-469900">
              <a:lnSpc>
                <a:spcPct val="100000"/>
              </a:lnSpc>
              <a:buFont typeface="Arial"/>
              <a:buAutoNum type="arabicPlain" startAt="61"/>
              <a:tabLst>
                <a:tab pos="615315" algn="l"/>
              </a:tabLst>
            </a:pP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World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Bank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/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IFC.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Alternative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Fuels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the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Egyptian</a:t>
            </a:r>
            <a:r>
              <a:rPr dirty="0" sz="1800" spc="-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Cement</a:t>
            </a:r>
            <a:r>
              <a:rPr dirty="0" sz="1800" spc="-20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808080"/>
                </a:solidFill>
                <a:latin typeface="Arial"/>
                <a:cs typeface="Arial"/>
              </a:rPr>
              <a:t>Industry.</a:t>
            </a:r>
            <a:r>
              <a:rPr dirty="0" sz="1800" spc="15" i="1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Accessed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8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September</a:t>
            </a:r>
            <a:r>
              <a:rPr dirty="0" sz="1800" spc="-2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08080"/>
                </a:solidFill>
                <a:latin typeface="Arial"/>
                <a:cs typeface="Arial"/>
              </a:rPr>
              <a:t>2026.</a:t>
            </a:r>
            <a:r>
              <a:rPr dirty="0" sz="1800" spc="-15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8080"/>
                </a:solidFill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925289" y="270856"/>
            <a:ext cx="1091877" cy="963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707" y="820099"/>
            <a:ext cx="15989935" cy="0"/>
          </a:xfrm>
          <a:custGeom>
            <a:avLst/>
            <a:gdLst/>
            <a:ahLst/>
            <a:cxnLst/>
            <a:rect l="l" t="t" r="r" b="b"/>
            <a:pathLst>
              <a:path w="15989935" h="0">
                <a:moveTo>
                  <a:pt x="15989935" y="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3764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5007" y="498886"/>
            <a:ext cx="16015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0" algn="l"/>
              </a:tabLst>
            </a:pPr>
            <a:r>
              <a:rPr dirty="0" u="sng" sz="2000" spc="-6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Appendix</a:t>
            </a:r>
            <a:r>
              <a:rPr dirty="0" u="sng" sz="2000" spc="-35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|</a:t>
            </a:r>
            <a:r>
              <a:rPr dirty="0" u="sng" sz="2000" spc="-3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Disclosures</a:t>
            </a:r>
            <a:r>
              <a:rPr dirty="0" u="sng" sz="2000" b="1">
                <a:solidFill>
                  <a:srgbClr val="244060"/>
                </a:solidFill>
                <a:uFill>
                  <a:solidFill>
                    <a:srgbClr val="244060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8712" y="270855"/>
            <a:ext cx="1398460" cy="12150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1603" y="3560317"/>
            <a:ext cx="14922500" cy="5335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Research</a:t>
            </a:r>
            <a:r>
              <a:rPr dirty="0" sz="2000" spc="-9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Challenge</a:t>
            </a:r>
            <a:r>
              <a:rPr dirty="0" sz="2000" spc="-8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Disclaimer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This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report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has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been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prepared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by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team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university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students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part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CFA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Institute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Research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Challenge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should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considered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a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professional</a:t>
            </a:r>
            <a:r>
              <a:rPr dirty="0" sz="2000" spc="-6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investment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research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report.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2000" spc="-6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based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on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publicly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available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information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believed</a:t>
            </a:r>
            <a:r>
              <a:rPr dirty="0" sz="2000" spc="-6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be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reliable;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however,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808080"/>
                </a:solidFill>
                <a:latin typeface="Calibri"/>
                <a:cs typeface="Calibri"/>
              </a:rPr>
              <a:t>no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representation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warranty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made</a:t>
            </a:r>
            <a:r>
              <a:rPr dirty="0" sz="2000" spc="-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its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accuracy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completeness.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information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presented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2000" spc="-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for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educational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purposes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only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3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does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808080"/>
                </a:solidFill>
                <a:latin typeface="Calibri"/>
                <a:cs typeface="Calibri"/>
              </a:rPr>
              <a:t>not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constitute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investment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advice,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offer,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solicitation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buy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sell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any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security.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valuation,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forecasts,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assumptions,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investment recommendation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reflect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authors’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independent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are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subject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to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risks,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uncertainties,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changes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market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spcBef>
                <a:spcPts val="1010"/>
              </a:spcBef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Ownership</a:t>
            </a:r>
            <a:r>
              <a:rPr dirty="0" sz="2000" spc="-4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&amp;</a:t>
            </a:r>
            <a:r>
              <a:rPr dirty="0" sz="2000" spc="-4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Conflicts</a:t>
            </a:r>
            <a:r>
              <a:rPr dirty="0" sz="2000" spc="-4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dirty="0" sz="20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Interest</a:t>
            </a:r>
            <a:endParaRPr sz="2000">
              <a:latin typeface="Calibri"/>
              <a:cs typeface="Calibri"/>
            </a:endParaRPr>
          </a:p>
          <a:p>
            <a:pPr marL="58419" marR="3438525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their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immediate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family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members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do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hold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financial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interest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2000" spc="-5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Company.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are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aware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37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any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material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conflicts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interest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that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could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bias</a:t>
            </a:r>
            <a:r>
              <a:rPr dirty="0" sz="2000" spc="-3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this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report.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Compensation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do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receive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compensation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based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investment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banking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revenue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performance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Corporate</a:t>
            </a:r>
            <a:r>
              <a:rPr dirty="0" sz="2000" spc="-8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Relationship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do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serve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officers,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directors,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or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advisory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board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members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Company.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Market</a:t>
            </a:r>
            <a:r>
              <a:rPr dirty="0" sz="2000" spc="-6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Making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authors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do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act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market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makers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Arabian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Cement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Company</a:t>
            </a:r>
            <a:r>
              <a:rPr dirty="0" sz="2000" spc="-4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securities.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ESG</a:t>
            </a:r>
            <a:r>
              <a:rPr dirty="0" sz="2000" spc="-4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585858"/>
                </a:solidFill>
                <a:latin typeface="Calibri"/>
                <a:cs typeface="Calibri"/>
              </a:rPr>
              <a:t>Scenario</a:t>
            </a:r>
            <a:r>
              <a:rPr dirty="0" sz="2000" spc="-4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585858"/>
                </a:solidFill>
                <a:latin typeface="Calibri"/>
                <a:cs typeface="Calibri"/>
              </a:rPr>
              <a:t>Disclosure</a:t>
            </a:r>
            <a:endParaRPr sz="20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ESG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valuation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scenario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represents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illustrative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sensitivity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analysis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is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not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incorporated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into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Core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Case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808080"/>
                </a:solidFill>
                <a:latin typeface="Calibri"/>
                <a:cs typeface="Calibri"/>
              </a:rPr>
              <a:t>target</a:t>
            </a:r>
            <a:r>
              <a:rPr dirty="0" sz="2000" spc="-5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808080"/>
                </a:solidFill>
                <a:latin typeface="Calibri"/>
                <a:cs typeface="Calibri"/>
              </a:rPr>
              <a:t>price.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9998" y="9709690"/>
            <a:ext cx="118237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2026-09-29T19:03:37Z</dcterms:created>
  <dcterms:modified xsi:type="dcterms:W3CDTF">2026-09-29T19:03:37Z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2026-09-29T00:00:00Z</vt:filetime>
  </property>
  <property fmtid="{D5CDD505-2E9C-101B-9397-08002B2CF9AE}" pid="4" name="LastSaved">
    <vt:filetime>2026-09-29T00:00:00Z</vt:filetime>
  </property>
  <property fmtid="{D5CDD505-2E9C-101B-9397-08002B2CF9AE}" pid="5" name="Producer">
    <vt:lpwstr>3-Heights(TM) PDF Security Shell 4.8.25.2 (http://www.pdf-tools.com)</vt:lpwstr>
  </property>
</Properties>
</file>